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image" Target="../media/image-2-44.png"/><Relationship Id="rId45" Type="http://schemas.openxmlformats.org/officeDocument/2006/relationships/image" Target="../media/image-2-45.png"/><Relationship Id="rId46" Type="http://schemas.openxmlformats.org/officeDocument/2006/relationships/image" Target="../media/image-2-46.png"/><Relationship Id="rId47" Type="http://schemas.openxmlformats.org/officeDocument/2006/relationships/image" Target="../media/image-2-47.png"/><Relationship Id="rId48" Type="http://schemas.openxmlformats.org/officeDocument/2006/relationships/image" Target="../media/image-2-48.png"/><Relationship Id="rId49" Type="http://schemas.openxmlformats.org/officeDocument/2006/relationships/image" Target="../media/image-2-49.png"/><Relationship Id="rId50" Type="http://schemas.openxmlformats.org/officeDocument/2006/relationships/image" Target="../media/image-2-50.pn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image" Target="../media/image-9-27.png"/><Relationship Id="rId28" Type="http://schemas.openxmlformats.org/officeDocument/2006/relationships/image" Target="../media/image-9-28.png"/><Relationship Id="rId29" Type="http://schemas.openxmlformats.org/officeDocument/2006/relationships/image" Target="../media/image-9-29.png"/><Relationship Id="rId30" Type="http://schemas.openxmlformats.org/officeDocument/2006/relationships/image" Target="../media/image-9-30.png"/><Relationship Id="rId31" Type="http://schemas.openxmlformats.org/officeDocument/2006/relationships/image" Target="../media/image-9-31.png"/><Relationship Id="rId32" Type="http://schemas.openxmlformats.org/officeDocument/2006/relationships/image" Target="../media/image-9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pn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pn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png"/><Relationship Id="rId35" Type="http://schemas.openxmlformats.org/officeDocument/2006/relationships/image" Target="../media/image-10-35.png"/><Relationship Id="rId36" Type="http://schemas.openxmlformats.org/officeDocument/2006/relationships/image" Target="../media/image-10-36.png"/><Relationship Id="rId37" Type="http://schemas.openxmlformats.org/officeDocument/2006/relationships/image" Target="../media/image-10-37.png"/><Relationship Id="rId38" Type="http://schemas.openxmlformats.org/officeDocument/2006/relationships/image" Target="../media/image-10-38.png"/><Relationship Id="rId39" Type="http://schemas.openxmlformats.org/officeDocument/2006/relationships/image" Target="../media/image-10-39.png"/><Relationship Id="rId40" Type="http://schemas.openxmlformats.org/officeDocument/2006/relationships/image" Target="../media/image-10-40.png"/><Relationship Id="rId41" Type="http://schemas.openxmlformats.org/officeDocument/2006/relationships/image" Target="../media/image-10-41.png"/><Relationship Id="rId42" Type="http://schemas.openxmlformats.org/officeDocument/2006/relationships/image" Target="../media/image-10-42.png"/><Relationship Id="rId43" Type="http://schemas.openxmlformats.org/officeDocument/2006/relationships/image" Target="../media/image-10-43.pn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pn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pn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pn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png"/><Relationship Id="rId37" Type="http://schemas.openxmlformats.org/officeDocument/2006/relationships/image" Target="../media/image-11-37.png"/><Relationship Id="rId38" Type="http://schemas.openxmlformats.org/officeDocument/2006/relationships/image" Target="../media/image-11-38.png"/><Relationship Id="rId39" Type="http://schemas.openxmlformats.org/officeDocument/2006/relationships/image" Target="../media/image-11-39.png"/><Relationship Id="rId40" Type="http://schemas.openxmlformats.org/officeDocument/2006/relationships/image" Target="../media/image-11-40.png"/><Relationship Id="rId41" Type="http://schemas.openxmlformats.org/officeDocument/2006/relationships/image" Target="../media/image-11-41.png"/><Relationship Id="rId42" Type="http://schemas.openxmlformats.org/officeDocument/2006/relationships/image" Target="../media/image-11-42.png"/><Relationship Id="rId43" Type="http://schemas.openxmlformats.org/officeDocument/2006/relationships/image" Target="../media/image-11-43.png"/><Relationship Id="rId44" Type="http://schemas.openxmlformats.org/officeDocument/2006/relationships/image" Target="../media/image-11-44.png"/><Relationship Id="rId45" Type="http://schemas.openxmlformats.org/officeDocument/2006/relationships/image" Target="../media/image-11-45.png"/><Relationship Id="rId46" Type="http://schemas.openxmlformats.org/officeDocument/2006/relationships/image" Target="../media/image-11-46.png"/><Relationship Id="rId47" Type="http://schemas.openxmlformats.org/officeDocument/2006/relationships/image" Target="../media/image-11-47.png"/><Relationship Id="rId48" Type="http://schemas.openxmlformats.org/officeDocument/2006/relationships/image" Target="../media/image-11-48.png"/><Relationship Id="rId49" Type="http://schemas.openxmlformats.org/officeDocument/2006/relationships/image" Target="../media/image-11-49.png"/><Relationship Id="rId50" Type="http://schemas.openxmlformats.org/officeDocument/2006/relationships/image" Target="../media/image-11-50.png"/><Relationship Id="rId51" Type="http://schemas.openxmlformats.org/officeDocument/2006/relationships/image" Target="../media/image-11-51.png"/><Relationship Id="rId52" Type="http://schemas.openxmlformats.org/officeDocument/2006/relationships/image" Target="../media/image-11-52.png"/><Relationship Id="rId53" Type="http://schemas.openxmlformats.org/officeDocument/2006/relationships/image" Target="../media/image-11-53.png"/><Relationship Id="rId54" Type="http://schemas.openxmlformats.org/officeDocument/2006/relationships/image" Target="../media/image-11-54.png"/><Relationship Id="rId55" Type="http://schemas.openxmlformats.org/officeDocument/2006/relationships/image" Target="../media/image-11-55.png"/><Relationship Id="rId56" Type="http://schemas.openxmlformats.org/officeDocument/2006/relationships/image" Target="../media/image-11-56.png"/><Relationship Id="rId57" Type="http://schemas.openxmlformats.org/officeDocument/2006/relationships/image" Target="../media/image-11-57.png"/><Relationship Id="rId58" Type="http://schemas.openxmlformats.org/officeDocument/2006/relationships/image" Target="../media/image-11-58.png"/><Relationship Id="rId59" Type="http://schemas.openxmlformats.org/officeDocument/2006/relationships/image" Target="../media/image-11-59.png"/><Relationship Id="rId60" Type="http://schemas.openxmlformats.org/officeDocument/2006/relationships/image" Target="../media/image-11-60.png"/><Relationship Id="rId61" Type="http://schemas.openxmlformats.org/officeDocument/2006/relationships/image" Target="../media/image-11-61.png"/><Relationship Id="rId62" Type="http://schemas.openxmlformats.org/officeDocument/2006/relationships/image" Target="../media/image-11-62.png"/><Relationship Id="rId63" Type="http://schemas.openxmlformats.org/officeDocument/2006/relationships/image" Target="../media/image-11-63.png"/><Relationship Id="rId64" Type="http://schemas.openxmlformats.org/officeDocument/2006/relationships/slideLayout" Target="../slideLayouts/slideLayout1.xml"/><Relationship Id="rId6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pn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png"/><Relationship Id="rId29" Type="http://schemas.openxmlformats.org/officeDocument/2006/relationships/image" Target="../media/image-13-29.png"/><Relationship Id="rId30" Type="http://schemas.openxmlformats.org/officeDocument/2006/relationships/image" Target="../media/image-13-30.png"/><Relationship Id="rId31" Type="http://schemas.openxmlformats.org/officeDocument/2006/relationships/image" Target="../media/image-13-31.png"/><Relationship Id="rId32" Type="http://schemas.openxmlformats.org/officeDocument/2006/relationships/image" Target="../media/image-13-32.png"/><Relationship Id="rId33" Type="http://schemas.openxmlformats.org/officeDocument/2006/relationships/image" Target="../media/image-13-33.png"/><Relationship Id="rId34" Type="http://schemas.openxmlformats.org/officeDocument/2006/relationships/image" Target="../media/image-13-34.png"/><Relationship Id="rId35" Type="http://schemas.openxmlformats.org/officeDocument/2006/relationships/image" Target="../media/image-13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png"/><Relationship Id="rId29" Type="http://schemas.openxmlformats.org/officeDocument/2006/relationships/image" Target="../media/image-14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pn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png"/><Relationship Id="rId27" Type="http://schemas.openxmlformats.org/officeDocument/2006/relationships/image" Target="../media/image-15-27.png"/><Relationship Id="rId28" Type="http://schemas.openxmlformats.org/officeDocument/2006/relationships/image" Target="../media/image-15-28.png"/><Relationship Id="rId29" Type="http://schemas.openxmlformats.org/officeDocument/2006/relationships/image" Target="../media/image-15-29.png"/><Relationship Id="rId30" Type="http://schemas.openxmlformats.org/officeDocument/2006/relationships/image" Target="../media/image-15-30.png"/><Relationship Id="rId31" Type="http://schemas.openxmlformats.org/officeDocument/2006/relationships/image" Target="../media/image-15-31.png"/><Relationship Id="rId32" Type="http://schemas.openxmlformats.org/officeDocument/2006/relationships/image" Target="../media/image-15-32.png"/><Relationship Id="rId33" Type="http://schemas.openxmlformats.org/officeDocument/2006/relationships/image" Target="../media/image-15-33.png"/><Relationship Id="rId34" Type="http://schemas.openxmlformats.org/officeDocument/2006/relationships/image" Target="../media/image-15-34.png"/><Relationship Id="rId35" Type="http://schemas.openxmlformats.org/officeDocument/2006/relationships/image" Target="../media/image-15-35.png"/><Relationship Id="rId36" Type="http://schemas.openxmlformats.org/officeDocument/2006/relationships/image" Target="../media/image-15-36.png"/><Relationship Id="rId37" Type="http://schemas.openxmlformats.org/officeDocument/2006/relationships/image" Target="../media/image-15-37.png"/><Relationship Id="rId38" Type="http://schemas.openxmlformats.org/officeDocument/2006/relationships/image" Target="../media/image-15-38.png"/><Relationship Id="rId39" Type="http://schemas.openxmlformats.org/officeDocument/2006/relationships/image" Target="../media/image-15-39.png"/><Relationship Id="rId40" Type="http://schemas.openxmlformats.org/officeDocument/2006/relationships/image" Target="../media/image-15-40.png"/><Relationship Id="rId41" Type="http://schemas.openxmlformats.org/officeDocument/2006/relationships/image" Target="../media/image-15-41.png"/><Relationship Id="rId42" Type="http://schemas.openxmlformats.org/officeDocument/2006/relationships/image" Target="../media/image-15-42.png"/><Relationship Id="rId43" Type="http://schemas.openxmlformats.org/officeDocument/2006/relationships/image" Target="../media/image-15-43.png"/><Relationship Id="rId44" Type="http://schemas.openxmlformats.org/officeDocument/2006/relationships/image" Target="../media/image-15-44.png"/><Relationship Id="rId45" Type="http://schemas.openxmlformats.org/officeDocument/2006/relationships/slideLayout" Target="../slideLayouts/slideLayout1.xml"/><Relationship Id="rId4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pn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png"/><Relationship Id="rId23" Type="http://schemas.openxmlformats.org/officeDocument/2006/relationships/image" Target="../media/image-16-23.png"/><Relationship Id="rId24" Type="http://schemas.openxmlformats.org/officeDocument/2006/relationships/image" Target="../media/image-16-24.png"/><Relationship Id="rId25" Type="http://schemas.openxmlformats.org/officeDocument/2006/relationships/image" Target="../media/image-16-25.png"/><Relationship Id="rId26" Type="http://schemas.openxmlformats.org/officeDocument/2006/relationships/image" Target="../media/image-16-26.png"/><Relationship Id="rId27" Type="http://schemas.openxmlformats.org/officeDocument/2006/relationships/image" Target="../media/image-16-27.png"/><Relationship Id="rId28" Type="http://schemas.openxmlformats.org/officeDocument/2006/relationships/image" Target="../media/image-16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png"/><Relationship Id="rId25" Type="http://schemas.openxmlformats.org/officeDocument/2006/relationships/image" Target="../media/image-17-25.png"/><Relationship Id="rId26" Type="http://schemas.openxmlformats.org/officeDocument/2006/relationships/image" Target="../media/image-17-26.png"/><Relationship Id="rId27" Type="http://schemas.openxmlformats.org/officeDocument/2006/relationships/image" Target="../media/image-17-27.png"/><Relationship Id="rId28" Type="http://schemas.openxmlformats.org/officeDocument/2006/relationships/image" Target="../media/image-17-28.png"/><Relationship Id="rId29" Type="http://schemas.openxmlformats.org/officeDocument/2006/relationships/image" Target="../media/image-17-29.png"/><Relationship Id="rId30" Type="http://schemas.openxmlformats.org/officeDocument/2006/relationships/image" Target="../media/image-17-30.png"/><Relationship Id="rId31" Type="http://schemas.openxmlformats.org/officeDocument/2006/relationships/image" Target="../media/image-17-31.png"/><Relationship Id="rId32" Type="http://schemas.openxmlformats.org/officeDocument/2006/relationships/image" Target="../media/image-17-32.png"/><Relationship Id="rId33" Type="http://schemas.openxmlformats.org/officeDocument/2006/relationships/image" Target="../media/image-17-33.png"/><Relationship Id="rId34" Type="http://schemas.openxmlformats.org/officeDocument/2006/relationships/image" Target="../media/image-17-34.png"/><Relationship Id="rId35" Type="http://schemas.openxmlformats.org/officeDocument/2006/relationships/image" Target="../media/image-17-35.png"/><Relationship Id="rId36" Type="http://schemas.openxmlformats.org/officeDocument/2006/relationships/image" Target="../media/image-17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pn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png"/><Relationship Id="rId21" Type="http://schemas.openxmlformats.org/officeDocument/2006/relationships/image" Target="../media/image-18-21.png"/><Relationship Id="rId22" Type="http://schemas.openxmlformats.org/officeDocument/2006/relationships/image" Target="../media/image-18-22.png"/><Relationship Id="rId23" Type="http://schemas.openxmlformats.org/officeDocument/2006/relationships/image" Target="../media/image-18-23.png"/><Relationship Id="rId24" Type="http://schemas.openxmlformats.org/officeDocument/2006/relationships/image" Target="../media/image-18-24.png"/><Relationship Id="rId25" Type="http://schemas.openxmlformats.org/officeDocument/2006/relationships/image" Target="../media/image-18-25.png"/><Relationship Id="rId26" Type="http://schemas.openxmlformats.org/officeDocument/2006/relationships/image" Target="../media/image-18-26.png"/><Relationship Id="rId27" Type="http://schemas.openxmlformats.org/officeDocument/2006/relationships/image" Target="../media/image-18-27.png"/><Relationship Id="rId28" Type="http://schemas.openxmlformats.org/officeDocument/2006/relationships/image" Target="../media/image-18-28.png"/><Relationship Id="rId29" Type="http://schemas.openxmlformats.org/officeDocument/2006/relationships/image" Target="../media/image-18-29.png"/><Relationship Id="rId30" Type="http://schemas.openxmlformats.org/officeDocument/2006/relationships/image" Target="../media/image-18-30.png"/><Relationship Id="rId31" Type="http://schemas.openxmlformats.org/officeDocument/2006/relationships/image" Target="../media/image-18-31.png"/><Relationship Id="rId32" Type="http://schemas.openxmlformats.org/officeDocument/2006/relationships/image" Target="../media/image-18-32.png"/><Relationship Id="rId33" Type="http://schemas.openxmlformats.org/officeDocument/2006/relationships/image" Target="../media/image-18-33.png"/><Relationship Id="rId34" Type="http://schemas.openxmlformats.org/officeDocument/2006/relationships/image" Target="../media/image-18-34.png"/><Relationship Id="rId35" Type="http://schemas.openxmlformats.org/officeDocument/2006/relationships/image" Target="../media/image-18-35.png"/><Relationship Id="rId36" Type="http://schemas.openxmlformats.org/officeDocument/2006/relationships/image" Target="../media/image-18-36.png"/><Relationship Id="rId37" Type="http://schemas.openxmlformats.org/officeDocument/2006/relationships/image" Target="../media/image-18-37.png"/><Relationship Id="rId38" Type="http://schemas.openxmlformats.org/officeDocument/2006/relationships/image" Target="../media/image-18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png"/><Relationship Id="rId27" Type="http://schemas.openxmlformats.org/officeDocument/2006/relationships/image" Target="../media/image-19-27.png"/><Relationship Id="rId28" Type="http://schemas.openxmlformats.org/officeDocument/2006/relationships/image" Target="../media/image-19-28.png"/><Relationship Id="rId29" Type="http://schemas.openxmlformats.org/officeDocument/2006/relationships/image" Target="../media/image-19-29.png"/><Relationship Id="rId30" Type="http://schemas.openxmlformats.org/officeDocument/2006/relationships/image" Target="../media/image-19-30.png"/><Relationship Id="rId31" Type="http://schemas.openxmlformats.org/officeDocument/2006/relationships/image" Target="../media/image-19-31.png"/><Relationship Id="rId32" Type="http://schemas.openxmlformats.org/officeDocument/2006/relationships/image" Target="../media/image-19-32.png"/><Relationship Id="rId33" Type="http://schemas.openxmlformats.org/officeDocument/2006/relationships/image" Target="../media/image-19-33.png"/><Relationship Id="rId34" Type="http://schemas.openxmlformats.org/officeDocument/2006/relationships/image" Target="../media/image-19-34.png"/><Relationship Id="rId35" Type="http://schemas.openxmlformats.org/officeDocument/2006/relationships/image" Target="../media/image-19-35.png"/><Relationship Id="rId36" Type="http://schemas.openxmlformats.org/officeDocument/2006/relationships/image" Target="../media/image-19-36.png"/><Relationship Id="rId37" Type="http://schemas.openxmlformats.org/officeDocument/2006/relationships/image" Target="../media/image-19-37.png"/><Relationship Id="rId38" Type="http://schemas.openxmlformats.org/officeDocument/2006/relationships/image" Target="../media/image-19-38.png"/><Relationship Id="rId39" Type="http://schemas.openxmlformats.org/officeDocument/2006/relationships/image" Target="../media/image-19-39.png"/><Relationship Id="rId40" Type="http://schemas.openxmlformats.org/officeDocument/2006/relationships/image" Target="../media/image-19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png"/><Relationship Id="rId23" Type="http://schemas.openxmlformats.org/officeDocument/2006/relationships/image" Target="../media/image-20-23.png"/><Relationship Id="rId24" Type="http://schemas.openxmlformats.org/officeDocument/2006/relationships/image" Target="../media/image-20-24.png"/><Relationship Id="rId25" Type="http://schemas.openxmlformats.org/officeDocument/2006/relationships/image" Target="../media/image-20-25.png"/><Relationship Id="rId26" Type="http://schemas.openxmlformats.org/officeDocument/2006/relationships/image" Target="../media/image-20-26.png"/><Relationship Id="rId27" Type="http://schemas.openxmlformats.org/officeDocument/2006/relationships/image" Target="../media/image-20-27.png"/><Relationship Id="rId28" Type="http://schemas.openxmlformats.org/officeDocument/2006/relationships/image" Target="../media/image-20-28.png"/><Relationship Id="rId29" Type="http://schemas.openxmlformats.org/officeDocument/2006/relationships/image" Target="../media/image-20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762000"/>
            <a:ext cx="571500" cy="57150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867251"/>
            <a:ext cx="10287000" cy="857250"/>
          </a:xfrm>
          <a:prstGeom prst="rect">
            <a:avLst/>
          </a:prstGeom>
        </p:spPr>
      </p:pic>
      <p:sp>
        <p:nvSpPr>
          <p:cNvPr id="5" name="SK-1-text-4"/>
          <p:cNvSpPr/>
          <p:nvPr/>
        </p:nvSpPr>
        <p:spPr>
          <a:xfrm>
            <a:off x="952500" y="1219200"/>
            <a:ext cx="60521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spc="162" kern="0" dirty="0">
                <a:solidFill>
                  <a:srgbClr val="005AEE"/>
                </a:solidFill>
              </a:rPr>
              <a:t>ENGINEERING DIAGNOSTIC REPORT</a:t>
            </a:r>
            <a:endParaRPr lang="en-US" sz="1350" dirty="0"/>
          </a:p>
        </p:txBody>
      </p:sp>
      <p:sp>
        <p:nvSpPr>
          <p:cNvPr id="6" name="SK-1-text-5"/>
          <p:cNvSpPr/>
          <p:nvPr/>
        </p:nvSpPr>
        <p:spPr>
          <a:xfrm>
            <a:off x="952500" y="1685925"/>
            <a:ext cx="8572500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610"/>
              </a:lnSpc>
              <a:buNone/>
            </a:pPr>
            <a:r>
              <a:rPr lang="en-US" sz="5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프로젝트 진단 및 AI Agent 개선안</a:t>
            </a:r>
            <a:endParaRPr lang="en-US" sz="5100" dirty="0"/>
          </a:p>
        </p:txBody>
      </p:sp>
      <p:sp>
        <p:nvSpPr>
          <p:cNvPr id="7" name="SK-1-text-6"/>
          <p:cNvSpPr/>
          <p:nvPr/>
        </p:nvSpPr>
        <p:spPr>
          <a:xfrm>
            <a:off x="952500" y="3301305"/>
            <a:ext cx="1090803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SW PM Competition 2026 본선 발표</a:t>
            </a:r>
            <a:endParaRPr lang="en-US" sz="2100" dirty="0"/>
          </a:p>
        </p:txBody>
      </p:sp>
      <p:sp>
        <p:nvSpPr>
          <p:cNvPr id="8" name="SK-1-text-7"/>
          <p:cNvSpPr/>
          <p:nvPr/>
        </p:nvSpPr>
        <p:spPr>
          <a:xfrm>
            <a:off x="952500" y="3952726"/>
            <a:ext cx="10363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사건번호 PMB-2026-0826</a:t>
            </a:r>
            <a:endParaRPr lang="en-US" sz="1050" dirty="0"/>
          </a:p>
        </p:txBody>
      </p:sp>
      <p:sp>
        <p:nvSpPr>
          <p:cNvPr id="9" name="SK-1-text-8"/>
          <p:cNvSpPr/>
          <p:nvPr/>
        </p:nvSpPr>
        <p:spPr>
          <a:xfrm>
            <a:off x="952500" y="6248251"/>
            <a:ext cx="17221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CURRENT DATE</a:t>
            </a:r>
            <a:endParaRPr lang="en-US" sz="900" dirty="0"/>
          </a:p>
        </p:txBody>
      </p:sp>
      <p:sp>
        <p:nvSpPr>
          <p:cNvPr id="10" name="SK-1-text-9"/>
          <p:cNvSpPr/>
          <p:nvPr/>
        </p:nvSpPr>
        <p:spPr>
          <a:xfrm>
            <a:off x="952500" y="6495901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</a:rPr>
              <a:t>2026-08-26</a:t>
            </a:r>
            <a:endParaRPr lang="en-US" sz="1200" dirty="0"/>
          </a:p>
        </p:txBody>
      </p:sp>
      <p:sp>
        <p:nvSpPr>
          <p:cNvPr id="11" name="SK-1-text-10"/>
          <p:cNvSpPr/>
          <p:nvPr/>
        </p:nvSpPr>
        <p:spPr>
          <a:xfrm>
            <a:off x="2476500" y="6248251"/>
            <a:ext cx="3409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ASSESSMENT FRAMEWORK</a:t>
            </a:r>
            <a:endParaRPr lang="en-US" sz="900" dirty="0"/>
          </a:p>
        </p:txBody>
      </p:sp>
      <p:sp>
        <p:nvSpPr>
          <p:cNvPr id="12" name="SK-1-text-11"/>
          <p:cNvSpPr/>
          <p:nvPr/>
        </p:nvSpPr>
        <p:spPr>
          <a:xfrm>
            <a:off x="2476500" y="6495901"/>
            <a:ext cx="659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</a:rPr>
              <a:t>PMBOK 8th Edition &amp; Value-Driven AI</a:t>
            </a:r>
            <a:endParaRPr lang="en-US" sz="1200" dirty="0"/>
          </a:p>
        </p:txBody>
      </p:sp>
      <p:sp>
        <p:nvSpPr>
          <p:cNvPr id="13" name="SK-1-text-12"/>
          <p:cNvSpPr/>
          <p:nvPr/>
        </p:nvSpPr>
        <p:spPr>
          <a:xfrm>
            <a:off x="6381750" y="6248251"/>
            <a:ext cx="1790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STATUS</a:t>
            </a:r>
            <a:endParaRPr lang="en-US" sz="900" dirty="0"/>
          </a:p>
        </p:txBody>
      </p:sp>
      <p:sp>
        <p:nvSpPr>
          <p:cNvPr id="14" name="SK-1-text-13"/>
          <p:cNvSpPr/>
          <p:nvPr/>
        </p:nvSpPr>
        <p:spPr>
          <a:xfrm>
            <a:off x="6381750" y="6495901"/>
            <a:ext cx="336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F4444"/>
                </a:solidFill>
              </a:rPr>
              <a:t>CRITICAL DIAGNOSIS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71600"/>
            <a:ext cx="11049000" cy="242888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95463"/>
            <a:ext cx="11049000" cy="4281488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95463"/>
            <a:ext cx="476250" cy="3905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750" y="1795463"/>
            <a:ext cx="2095500" cy="3905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3250" y="1795463"/>
            <a:ext cx="2786807" cy="390525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0057" y="1795463"/>
            <a:ext cx="2767459" cy="3905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7516" y="1795463"/>
            <a:ext cx="2922984" cy="3905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185988"/>
            <a:ext cx="476250" cy="834777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7750" y="2185988"/>
            <a:ext cx="2095500" cy="834777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43250" y="2185988"/>
            <a:ext cx="2786807" cy="834777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5650" y="2348508"/>
            <a:ext cx="1747838" cy="295275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90900" y="2427536"/>
            <a:ext cx="166688" cy="137220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30057" y="2185988"/>
            <a:ext cx="2767459" cy="834777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82457" y="2348508"/>
            <a:ext cx="1528763" cy="295275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77707" y="2427536"/>
            <a:ext cx="166688" cy="137220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97516" y="2185988"/>
            <a:ext cx="2922984" cy="834777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020764"/>
            <a:ext cx="476250" cy="598587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7750" y="3020764"/>
            <a:ext cx="2095500" cy="598587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143250" y="3020764"/>
            <a:ext cx="2786807" cy="598587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95650" y="3172420"/>
            <a:ext cx="1181100" cy="295275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30057" y="3020764"/>
            <a:ext cx="2767459" cy="598587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82457" y="3172420"/>
            <a:ext cx="1276350" cy="295275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697516" y="3020764"/>
            <a:ext cx="2922984" cy="598587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3619351"/>
            <a:ext cx="476250" cy="819150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47750" y="3619351"/>
            <a:ext cx="2095500" cy="819150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43250" y="3619351"/>
            <a:ext cx="2786807" cy="819150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295650" y="3781276"/>
            <a:ext cx="1304925" cy="295275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930057" y="3619351"/>
            <a:ext cx="2767459" cy="819150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082457" y="3781276"/>
            <a:ext cx="1114425" cy="295275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697516" y="3619351"/>
            <a:ext cx="2922984" cy="819150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71500" y="4438501"/>
            <a:ext cx="476250" cy="819150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7750" y="4438501"/>
            <a:ext cx="2095500" cy="81915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143250" y="4438501"/>
            <a:ext cx="2786807" cy="81915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295650" y="4700439"/>
            <a:ext cx="1162050" cy="295275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930057" y="4438501"/>
            <a:ext cx="2767459" cy="81915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082457" y="4600426"/>
            <a:ext cx="1162050" cy="295275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697516" y="4438501"/>
            <a:ext cx="2922984" cy="819150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71500" y="5257651"/>
            <a:ext cx="476250" cy="819299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47750" y="5257651"/>
            <a:ext cx="2095500" cy="819299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143250" y="5257651"/>
            <a:ext cx="2786807" cy="819299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295650" y="5519589"/>
            <a:ext cx="1476375" cy="295275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930057" y="5257651"/>
            <a:ext cx="2767459" cy="819299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082457" y="5419576"/>
            <a:ext cx="1343025" cy="295275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697516" y="5257651"/>
            <a:ext cx="2922984" cy="819299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110413" y="6384578"/>
            <a:ext cx="166688" cy="137220"/>
          </a:xfrm>
          <a:prstGeom prst="rect">
            <a:avLst/>
          </a:prstGeom>
        </p:spPr>
      </p:pic>
      <p:sp>
        <p:nvSpPr>
          <p:cNvPr id="51" name="SK-2-text-50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52" name="SK-2-text-51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A-1. 이상징후 식별: 수박 프로젝트의 실체 (1-5)</a:t>
            </a:r>
            <a:endParaRPr lang="en-US" sz="2550" dirty="0"/>
          </a:p>
        </p:txBody>
      </p:sp>
      <p:sp>
        <p:nvSpPr>
          <p:cNvPr id="53" name="SK-2-text-52"/>
          <p:cNvSpPr/>
          <p:nvPr/>
        </p:nvSpPr>
        <p:spPr>
          <a:xfrm>
            <a:off x="723900" y="1371600"/>
            <a:ext cx="114681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이상: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"수박 프로젝트"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보고된 지표는 정상(Green)이나 프로젝트의 실질적 가치는 결함(Red) 상태임</a:t>
            </a:r>
            <a:endParaRPr lang="en-US" sz="1275" dirty="0"/>
          </a:p>
        </p:txBody>
      </p:sp>
      <p:sp>
        <p:nvSpPr>
          <p:cNvPr id="54" name="SK-2-text-53"/>
          <p:cNvSpPr/>
          <p:nvPr/>
        </p:nvSpPr>
        <p:spPr>
          <a:xfrm>
            <a:off x="723900" y="1795463"/>
            <a:ext cx="2476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050" dirty="0"/>
          </a:p>
        </p:txBody>
      </p:sp>
      <p:sp>
        <p:nvSpPr>
          <p:cNvPr id="55" name="SK-2-text-54"/>
          <p:cNvSpPr/>
          <p:nvPr/>
        </p:nvSpPr>
        <p:spPr>
          <a:xfrm>
            <a:off x="1200150" y="1795463"/>
            <a:ext cx="18669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</a:t>
            </a:r>
            <a:endParaRPr lang="en-US" sz="1050" dirty="0"/>
          </a:p>
        </p:txBody>
      </p:sp>
      <p:sp>
        <p:nvSpPr>
          <p:cNvPr id="56" name="SK-2-text-55"/>
          <p:cNvSpPr/>
          <p:nvPr/>
        </p:nvSpPr>
        <p:spPr>
          <a:xfrm>
            <a:off x="3295650" y="1795463"/>
            <a:ext cx="255820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(겉)</a:t>
            </a:r>
            <a:endParaRPr lang="en-US" sz="1050" dirty="0"/>
          </a:p>
        </p:txBody>
      </p:sp>
      <p:sp>
        <p:nvSpPr>
          <p:cNvPr id="57" name="SK-2-text-56"/>
          <p:cNvSpPr/>
          <p:nvPr/>
        </p:nvSpPr>
        <p:spPr>
          <a:xfrm>
            <a:off x="6082457" y="1795463"/>
            <a:ext cx="253885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(속)</a:t>
            </a:r>
            <a:endParaRPr lang="en-US" sz="1050" dirty="0"/>
          </a:p>
        </p:txBody>
      </p:sp>
      <p:sp>
        <p:nvSpPr>
          <p:cNvPr id="58" name="SK-2-text-57"/>
          <p:cNvSpPr/>
          <p:nvPr/>
        </p:nvSpPr>
        <p:spPr>
          <a:xfrm>
            <a:off x="8849916" y="1795463"/>
            <a:ext cx="269438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1050" dirty="0"/>
          </a:p>
        </p:txBody>
      </p:sp>
      <p:sp>
        <p:nvSpPr>
          <p:cNvPr id="59" name="SK-2-text-58"/>
          <p:cNvSpPr/>
          <p:nvPr/>
        </p:nvSpPr>
        <p:spPr>
          <a:xfrm>
            <a:off x="723900" y="2185988"/>
            <a:ext cx="247650" cy="8347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1</a:t>
            </a:r>
            <a:endParaRPr lang="en-US" sz="1125" dirty="0"/>
          </a:p>
        </p:txBody>
      </p:sp>
      <p:sp>
        <p:nvSpPr>
          <p:cNvPr id="60" name="SK-2-text-59"/>
          <p:cNvSpPr/>
          <p:nvPr/>
        </p:nvSpPr>
        <p:spPr>
          <a:xfrm>
            <a:off x="1200150" y="2185988"/>
            <a:ext cx="1866900" cy="8347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상태</a:t>
            </a:r>
            <a:endParaRPr lang="en-US" sz="1125" dirty="0"/>
          </a:p>
        </p:txBody>
      </p:sp>
      <p:sp>
        <p:nvSpPr>
          <p:cNvPr id="61" name="SK-2-text-60"/>
          <p:cNvSpPr/>
          <p:nvPr/>
        </p:nvSpPr>
        <p:spPr>
          <a:xfrm>
            <a:off x="3633788" y="2348508"/>
            <a:ext cx="24713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ALL GREEN</a:t>
            </a:r>
            <a:endParaRPr lang="en-US" sz="1050" dirty="0"/>
          </a:p>
        </p:txBody>
      </p:sp>
      <p:sp>
        <p:nvSpPr>
          <p:cNvPr id="62" name="SK-2-text-61"/>
          <p:cNvSpPr/>
          <p:nvPr/>
        </p:nvSpPr>
        <p:spPr>
          <a:xfrm>
            <a:off x="3295650" y="2672358"/>
            <a:ext cx="26022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 지표 정상. 이상 없음."</a:t>
            </a:r>
            <a:endParaRPr lang="en-US" sz="975" dirty="0"/>
          </a:p>
        </p:txBody>
      </p:sp>
      <p:sp>
        <p:nvSpPr>
          <p:cNvPr id="63" name="SK-2-text-62"/>
          <p:cNvSpPr/>
          <p:nvPr/>
        </p:nvSpPr>
        <p:spPr>
          <a:xfrm>
            <a:off x="6420594" y="2348508"/>
            <a:ext cx="13382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무개입완주율 급락</a:t>
            </a:r>
            <a:endParaRPr lang="en-US" sz="1050" dirty="0"/>
          </a:p>
        </p:txBody>
      </p:sp>
      <p:sp>
        <p:nvSpPr>
          <p:cNvPr id="64" name="SK-2-text-63"/>
          <p:cNvSpPr/>
          <p:nvPr/>
        </p:nvSpPr>
        <p:spPr>
          <a:xfrm>
            <a:off x="6082457" y="2672358"/>
            <a:ext cx="30975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18.4% → 6.1% (심각)</a:t>
            </a:r>
            <a:endParaRPr lang="en-US" sz="975" dirty="0"/>
          </a:p>
        </p:txBody>
      </p:sp>
      <p:sp>
        <p:nvSpPr>
          <p:cNvPr id="65" name="SK-2-textBg-64"/>
          <p:cNvSpPr/>
          <p:nvPr/>
        </p:nvSpPr>
        <p:spPr>
          <a:xfrm>
            <a:off x="8849916" y="2515195"/>
            <a:ext cx="184785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6" name="SK-2-text-65"/>
          <p:cNvSpPr/>
          <p:nvPr/>
        </p:nvSpPr>
        <p:spPr>
          <a:xfrm>
            <a:off x="8907066" y="2515195"/>
            <a:ext cx="32849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08_ai_weekly, 09_telemetry</a:t>
            </a:r>
            <a:endParaRPr lang="en-US" sz="900" dirty="0"/>
          </a:p>
        </p:txBody>
      </p:sp>
      <p:sp>
        <p:nvSpPr>
          <p:cNvPr id="67" name="SK-2-text-66"/>
          <p:cNvSpPr/>
          <p:nvPr/>
        </p:nvSpPr>
        <p:spPr>
          <a:xfrm>
            <a:off x="723900" y="3020764"/>
            <a:ext cx="247650" cy="598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2</a:t>
            </a:r>
            <a:endParaRPr lang="en-US" sz="1125" dirty="0"/>
          </a:p>
        </p:txBody>
      </p:sp>
      <p:sp>
        <p:nvSpPr>
          <p:cNvPr id="68" name="SK-2-text-67"/>
          <p:cNvSpPr/>
          <p:nvPr/>
        </p:nvSpPr>
        <p:spPr>
          <a:xfrm>
            <a:off x="1200150" y="3020764"/>
            <a:ext cx="1866900" cy="598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자율주행 성공률</a:t>
            </a:r>
            <a:endParaRPr lang="en-US" sz="1125" dirty="0"/>
          </a:p>
        </p:txBody>
      </p:sp>
      <p:sp>
        <p:nvSpPr>
          <p:cNvPr id="69" name="SK-2-text-68"/>
          <p:cNvSpPr/>
          <p:nvPr/>
        </p:nvSpPr>
        <p:spPr>
          <a:xfrm>
            <a:off x="3390900" y="3172420"/>
            <a:ext cx="208935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93.4% (GREEN)</a:t>
            </a:r>
            <a:endParaRPr lang="en-US" sz="1050" dirty="0"/>
          </a:p>
        </p:txBody>
      </p:sp>
      <p:sp>
        <p:nvSpPr>
          <p:cNvPr id="70" name="SK-2-text-69"/>
          <p:cNvSpPr/>
          <p:nvPr/>
        </p:nvSpPr>
        <p:spPr>
          <a:xfrm>
            <a:off x="6177707" y="3172420"/>
            <a:ext cx="198211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58.6% (실사업장)</a:t>
            </a:r>
            <a:endParaRPr lang="en-US" sz="1050" dirty="0"/>
          </a:p>
        </p:txBody>
      </p:sp>
      <p:sp>
        <p:nvSpPr>
          <p:cNvPr id="71" name="SK-2-textBg-70"/>
          <p:cNvSpPr/>
          <p:nvPr/>
        </p:nvSpPr>
        <p:spPr>
          <a:xfrm>
            <a:off x="8849916" y="3231952"/>
            <a:ext cx="184785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2" name="SK-2-text-71"/>
          <p:cNvSpPr/>
          <p:nvPr/>
        </p:nvSpPr>
        <p:spPr>
          <a:xfrm>
            <a:off x="8907066" y="3231952"/>
            <a:ext cx="32849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01_charter SC-03 vs 10_nav</a:t>
            </a:r>
            <a:endParaRPr lang="en-US" sz="900" dirty="0"/>
          </a:p>
        </p:txBody>
      </p:sp>
      <p:sp>
        <p:nvSpPr>
          <p:cNvPr id="73" name="SK-2-text-72"/>
          <p:cNvSpPr/>
          <p:nvPr/>
        </p:nvSpPr>
        <p:spPr>
          <a:xfrm>
            <a:off x="723900" y="3619351"/>
            <a:ext cx="2476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3</a:t>
            </a:r>
            <a:endParaRPr lang="en-US" sz="1125" dirty="0"/>
          </a:p>
        </p:txBody>
      </p:sp>
      <p:sp>
        <p:nvSpPr>
          <p:cNvPr id="74" name="SK-2-text-73"/>
          <p:cNvSpPr/>
          <p:nvPr/>
        </p:nvSpPr>
        <p:spPr>
          <a:xfrm>
            <a:off x="1200150" y="3619351"/>
            <a:ext cx="18669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지표</a:t>
            </a:r>
            <a:endParaRPr lang="en-US" sz="1125" dirty="0"/>
          </a:p>
        </p:txBody>
      </p:sp>
      <p:sp>
        <p:nvSpPr>
          <p:cNvPr id="75" name="SK-2-text-74"/>
          <p:cNvSpPr/>
          <p:nvPr/>
        </p:nvSpPr>
        <p:spPr>
          <a:xfrm>
            <a:off x="3390900" y="3781276"/>
            <a:ext cx="308270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 1.02, CPI 0.98</a:t>
            </a:r>
            <a:endParaRPr lang="en-US" sz="1050" dirty="0"/>
          </a:p>
        </p:txBody>
      </p:sp>
      <p:sp>
        <p:nvSpPr>
          <p:cNvPr id="76" name="SK-2-text-75"/>
          <p:cNvSpPr/>
          <p:nvPr/>
        </p:nvSpPr>
        <p:spPr>
          <a:xfrm>
            <a:off x="3295650" y="4105126"/>
            <a:ext cx="25582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"개발 부문만 게시"</a:t>
            </a:r>
            <a:endParaRPr lang="en-US" sz="900" dirty="0"/>
          </a:p>
        </p:txBody>
      </p:sp>
      <p:sp>
        <p:nvSpPr>
          <p:cNvPr id="77" name="SK-2-text-76"/>
          <p:cNvSpPr/>
          <p:nvPr/>
        </p:nvSpPr>
        <p:spPr>
          <a:xfrm>
            <a:off x="6177707" y="3781276"/>
            <a:ext cx="202197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CPI 0.944</a:t>
            </a:r>
            <a:endParaRPr lang="en-US" sz="1050" dirty="0"/>
          </a:p>
        </p:txBody>
      </p:sp>
      <p:sp>
        <p:nvSpPr>
          <p:cNvPr id="78" name="SK-2-text-77"/>
          <p:cNvSpPr/>
          <p:nvPr/>
        </p:nvSpPr>
        <p:spPr>
          <a:xfrm>
            <a:off x="6082457" y="4105126"/>
            <a:ext cx="281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21.4억 별도 집계</a:t>
            </a:r>
            <a:endParaRPr lang="en-US" sz="900" dirty="0"/>
          </a:p>
        </p:txBody>
      </p:sp>
      <p:sp>
        <p:nvSpPr>
          <p:cNvPr id="79" name="SK-2-textBg-78"/>
          <p:cNvSpPr/>
          <p:nvPr/>
        </p:nvSpPr>
        <p:spPr>
          <a:xfrm>
            <a:off x="8849916" y="3940820"/>
            <a:ext cx="809625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0" name="SK-2-text-79"/>
          <p:cNvSpPr/>
          <p:nvPr/>
        </p:nvSpPr>
        <p:spPr>
          <a:xfrm>
            <a:off x="8907066" y="3940820"/>
            <a:ext cx="12172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06_evm 비고</a:t>
            </a:r>
            <a:endParaRPr lang="en-US" sz="900" dirty="0"/>
          </a:p>
        </p:txBody>
      </p:sp>
      <p:sp>
        <p:nvSpPr>
          <p:cNvPr id="81" name="SK-2-text-80"/>
          <p:cNvSpPr/>
          <p:nvPr/>
        </p:nvSpPr>
        <p:spPr>
          <a:xfrm>
            <a:off x="723900" y="4438501"/>
            <a:ext cx="24765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4</a:t>
            </a:r>
            <a:endParaRPr lang="en-US" sz="1125" dirty="0"/>
          </a:p>
        </p:txBody>
      </p:sp>
      <p:sp>
        <p:nvSpPr>
          <p:cNvPr id="82" name="SK-2-text-81"/>
          <p:cNvSpPr/>
          <p:nvPr/>
        </p:nvSpPr>
        <p:spPr>
          <a:xfrm>
            <a:off x="1200150" y="4438501"/>
            <a:ext cx="18669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</a:t>
            </a:r>
            <a:endParaRPr lang="en-US" sz="1125" dirty="0"/>
          </a:p>
        </p:txBody>
      </p:sp>
      <p:sp>
        <p:nvSpPr>
          <p:cNvPr id="83" name="SK-2-text-82"/>
          <p:cNvSpPr/>
          <p:nvPr/>
        </p:nvSpPr>
        <p:spPr>
          <a:xfrm>
            <a:off x="3390900" y="4700439"/>
            <a:ext cx="163705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0건</a:t>
            </a:r>
            <a:endParaRPr lang="en-US" sz="1050" dirty="0"/>
          </a:p>
        </p:txBody>
      </p:sp>
      <p:sp>
        <p:nvSpPr>
          <p:cNvPr id="84" name="SK-2-text-83"/>
          <p:cNvSpPr/>
          <p:nvPr/>
        </p:nvSpPr>
        <p:spPr>
          <a:xfrm>
            <a:off x="6177707" y="4600426"/>
            <a:ext cx="163705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</a:t>
            </a:r>
            <a:endParaRPr lang="en-US" sz="1050" dirty="0"/>
          </a:p>
        </p:txBody>
      </p:sp>
      <p:sp>
        <p:nvSpPr>
          <p:cNvPr id="85" name="SK-2-text-84"/>
          <p:cNvSpPr/>
          <p:nvPr/>
        </p:nvSpPr>
        <p:spPr>
          <a:xfrm>
            <a:off x="6082457" y="4924276"/>
            <a:ext cx="25388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없이 Medium 하향됨</a:t>
            </a:r>
            <a:endParaRPr lang="en-US" sz="900" dirty="0"/>
          </a:p>
        </p:txBody>
      </p:sp>
      <p:sp>
        <p:nvSpPr>
          <p:cNvPr id="86" name="SK-2-textBg-85"/>
          <p:cNvSpPr/>
          <p:nvPr/>
        </p:nvSpPr>
        <p:spPr>
          <a:xfrm>
            <a:off x="8849916" y="4759970"/>
            <a:ext cx="158115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7" name="SK-2-text-86"/>
          <p:cNvSpPr/>
          <p:nvPr/>
        </p:nvSpPr>
        <p:spPr>
          <a:xfrm>
            <a:off x="8907066" y="4759970"/>
            <a:ext cx="31387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11_risk_register, M-02</a:t>
            </a:r>
            <a:endParaRPr lang="en-US" sz="900" dirty="0"/>
          </a:p>
        </p:txBody>
      </p:sp>
      <p:sp>
        <p:nvSpPr>
          <p:cNvPr id="88" name="SK-2-text-87"/>
          <p:cNvSpPr/>
          <p:nvPr/>
        </p:nvSpPr>
        <p:spPr>
          <a:xfrm>
            <a:off x="723900" y="5257651"/>
            <a:ext cx="247650" cy="8192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5</a:t>
            </a:r>
            <a:endParaRPr lang="en-US" sz="1125" dirty="0"/>
          </a:p>
        </p:txBody>
      </p:sp>
      <p:sp>
        <p:nvSpPr>
          <p:cNvPr id="89" name="SK-2-text-88"/>
          <p:cNvSpPr/>
          <p:nvPr/>
        </p:nvSpPr>
        <p:spPr>
          <a:xfrm>
            <a:off x="1200150" y="5257651"/>
            <a:ext cx="1866900" cy="8192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완료율</a:t>
            </a:r>
            <a:endParaRPr lang="en-US" sz="1125" dirty="0"/>
          </a:p>
        </p:txBody>
      </p:sp>
      <p:sp>
        <p:nvSpPr>
          <p:cNvPr id="90" name="SK-2-text-89"/>
          <p:cNvSpPr/>
          <p:nvPr/>
        </p:nvSpPr>
        <p:spPr>
          <a:xfrm>
            <a:off x="3390900" y="5519589"/>
            <a:ext cx="323530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92.9% (78/84 Done)</a:t>
            </a:r>
            <a:endParaRPr lang="en-US" sz="1050" dirty="0"/>
          </a:p>
        </p:txBody>
      </p:sp>
      <p:sp>
        <p:nvSpPr>
          <p:cNvPr id="91" name="SK-2-text-90"/>
          <p:cNvSpPr/>
          <p:nvPr/>
        </p:nvSpPr>
        <p:spPr>
          <a:xfrm>
            <a:off x="6177707" y="5419576"/>
            <a:ext cx="17240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기준 임의 변경</a:t>
            </a:r>
            <a:endParaRPr lang="en-US" sz="1050" dirty="0"/>
          </a:p>
        </p:txBody>
      </p:sp>
      <p:sp>
        <p:nvSpPr>
          <p:cNvPr id="92" name="SK-2-text-91"/>
          <p:cNvSpPr/>
          <p:nvPr/>
        </p:nvSpPr>
        <p:spPr>
          <a:xfrm>
            <a:off x="6082457" y="5743426"/>
            <a:ext cx="29565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 삭제 → 머지만으로 Done</a:t>
            </a:r>
            <a:endParaRPr lang="en-US" sz="900" dirty="0"/>
          </a:p>
        </p:txBody>
      </p:sp>
      <p:sp>
        <p:nvSpPr>
          <p:cNvPr id="93" name="SK-2-textBg-92"/>
          <p:cNvSpPr/>
          <p:nvPr/>
        </p:nvSpPr>
        <p:spPr>
          <a:xfrm>
            <a:off x="8849916" y="5579120"/>
            <a:ext cx="914400" cy="180975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4" name="SK-2-text-93"/>
          <p:cNvSpPr/>
          <p:nvPr/>
        </p:nvSpPr>
        <p:spPr>
          <a:xfrm>
            <a:off x="8907066" y="5579120"/>
            <a:ext cx="18402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CR-012, M-03</a:t>
            </a:r>
            <a:endParaRPr lang="en-US" sz="900" dirty="0"/>
          </a:p>
        </p:txBody>
      </p:sp>
      <p:sp>
        <p:nvSpPr>
          <p:cNvPr id="95" name="SK-2-text-94"/>
          <p:cNvSpPr/>
          <p:nvPr/>
        </p:nvSpPr>
        <p:spPr>
          <a:xfrm>
            <a:off x="7334250" y="6353175"/>
            <a:ext cx="4857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체계 유지가 목적이 된 프로젝트의 전형적인 "구조적 맹목" 현상 식별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4324350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424904" cy="442913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404" y="1504950"/>
            <a:ext cx="1699766" cy="442913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6170" y="1504950"/>
            <a:ext cx="2549723" cy="442913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5894" y="1504950"/>
            <a:ext cx="4037112" cy="442913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3005" y="1504950"/>
            <a:ext cx="2337495" cy="442913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947863"/>
            <a:ext cx="424904" cy="725686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404" y="1947863"/>
            <a:ext cx="1699766" cy="725686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96170" y="1947863"/>
            <a:ext cx="2549723" cy="725686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10470" y="2094905"/>
            <a:ext cx="178594" cy="148828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45894" y="1947863"/>
            <a:ext cx="4037112" cy="725686"/>
          </a:xfrm>
          <a:prstGeom prst="rect">
            <a:avLst/>
          </a:prstGeom>
        </p:spPr>
      </p:pic>
      <p:pic>
        <p:nvPicPr>
          <p:cNvPr id="17" name="SK-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83005" y="1947863"/>
            <a:ext cx="2337495" cy="725686"/>
          </a:xfrm>
          <a:prstGeom prst="rect">
            <a:avLst/>
          </a:prstGeom>
        </p:spPr>
      </p:pic>
      <p:pic>
        <p:nvPicPr>
          <p:cNvPr id="18" name="SK-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2673548"/>
            <a:ext cx="424904" cy="725686"/>
          </a:xfrm>
          <a:prstGeom prst="rect">
            <a:avLst/>
          </a:prstGeom>
        </p:spPr>
      </p:pic>
      <p:pic>
        <p:nvPicPr>
          <p:cNvPr id="19" name="SK-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6404" y="2673548"/>
            <a:ext cx="1699766" cy="725686"/>
          </a:xfrm>
          <a:prstGeom prst="rect">
            <a:avLst/>
          </a:prstGeom>
        </p:spPr>
      </p:pic>
      <p:pic>
        <p:nvPicPr>
          <p:cNvPr id="20" name="SK-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96170" y="2673548"/>
            <a:ext cx="2549723" cy="725686"/>
          </a:xfrm>
          <a:prstGeom prst="rect">
            <a:avLst/>
          </a:prstGeom>
        </p:spPr>
      </p:pic>
      <p:pic>
        <p:nvPicPr>
          <p:cNvPr id="21" name="SK-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45894" y="2673548"/>
            <a:ext cx="4037112" cy="725686"/>
          </a:xfrm>
          <a:prstGeom prst="rect">
            <a:avLst/>
          </a:prstGeom>
        </p:spPr>
      </p:pic>
      <p:pic>
        <p:nvPicPr>
          <p:cNvPr id="22" name="SK-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83005" y="2673548"/>
            <a:ext cx="2337495" cy="725686"/>
          </a:xfrm>
          <a:prstGeom prst="rect">
            <a:avLst/>
          </a:prstGeom>
        </p:spPr>
      </p:pic>
      <p:pic>
        <p:nvPicPr>
          <p:cNvPr id="23" name="SK-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3399234"/>
            <a:ext cx="424904" cy="725686"/>
          </a:xfrm>
          <a:prstGeom prst="rect">
            <a:avLst/>
          </a:prstGeom>
        </p:spPr>
      </p:pic>
      <p:pic>
        <p:nvPicPr>
          <p:cNvPr id="24" name="SK-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6404" y="3399234"/>
            <a:ext cx="1699766" cy="725686"/>
          </a:xfrm>
          <a:prstGeom prst="rect">
            <a:avLst/>
          </a:prstGeom>
        </p:spPr>
      </p:pic>
      <p:pic>
        <p:nvPicPr>
          <p:cNvPr id="25" name="SK-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696170" y="3399234"/>
            <a:ext cx="2549723" cy="725686"/>
          </a:xfrm>
          <a:prstGeom prst="rect">
            <a:avLst/>
          </a:prstGeom>
        </p:spPr>
      </p:pic>
      <p:pic>
        <p:nvPicPr>
          <p:cNvPr id="26" name="SK-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245894" y="3399234"/>
            <a:ext cx="4037112" cy="725686"/>
          </a:xfrm>
          <a:prstGeom prst="rect">
            <a:avLst/>
          </a:prstGeom>
        </p:spPr>
      </p:pic>
      <p:pic>
        <p:nvPicPr>
          <p:cNvPr id="27" name="SK-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83005" y="3399234"/>
            <a:ext cx="2337495" cy="725686"/>
          </a:xfrm>
          <a:prstGeom prst="rect">
            <a:avLst/>
          </a:prstGeom>
        </p:spPr>
      </p:pic>
      <p:pic>
        <p:nvPicPr>
          <p:cNvPr id="28" name="SK-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4124920"/>
            <a:ext cx="424904" cy="809923"/>
          </a:xfrm>
          <a:prstGeom prst="rect">
            <a:avLst/>
          </a:prstGeom>
        </p:spPr>
      </p:pic>
      <p:pic>
        <p:nvPicPr>
          <p:cNvPr id="29" name="SK-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96404" y="4124920"/>
            <a:ext cx="1699766" cy="809923"/>
          </a:xfrm>
          <a:prstGeom prst="rect">
            <a:avLst/>
          </a:prstGeom>
        </p:spPr>
      </p:pic>
      <p:pic>
        <p:nvPicPr>
          <p:cNvPr id="30" name="SK-3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696170" y="4124920"/>
            <a:ext cx="2549723" cy="809923"/>
          </a:xfrm>
          <a:prstGeom prst="rect">
            <a:avLst/>
          </a:prstGeom>
        </p:spPr>
      </p:pic>
      <p:pic>
        <p:nvPicPr>
          <p:cNvPr id="31" name="SK-3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45894" y="4124920"/>
            <a:ext cx="4037112" cy="809923"/>
          </a:xfrm>
          <a:prstGeom prst="rect">
            <a:avLst/>
          </a:prstGeom>
        </p:spPr>
      </p:pic>
      <p:pic>
        <p:nvPicPr>
          <p:cNvPr id="32" name="SK-3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283005" y="4124920"/>
            <a:ext cx="2337495" cy="809923"/>
          </a:xfrm>
          <a:prstGeom prst="rect">
            <a:avLst/>
          </a:prstGeom>
        </p:spPr>
      </p:pic>
      <p:pic>
        <p:nvPicPr>
          <p:cNvPr id="33" name="SK-3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1500" y="6019800"/>
            <a:ext cx="11049000" cy="457200"/>
          </a:xfrm>
          <a:prstGeom prst="rect">
            <a:avLst/>
          </a:prstGeom>
        </p:spPr>
      </p:pic>
      <p:pic>
        <p:nvPicPr>
          <p:cNvPr id="34" name="SK-3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85800" y="6172200"/>
            <a:ext cx="190500" cy="152400"/>
          </a:xfrm>
          <a:prstGeom prst="rect">
            <a:avLst/>
          </a:prstGeom>
        </p:spPr>
      </p:pic>
      <p:sp>
        <p:nvSpPr>
          <p:cNvPr id="35" name="SK-3-text-34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6" name="SK-3-text-35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A-1. 이상징후 식별: 운영 및 소통의 결함 (6-10)</a:t>
            </a:r>
            <a:endParaRPr lang="en-US" sz="2550" dirty="0"/>
          </a:p>
        </p:txBody>
      </p:sp>
      <p:sp>
        <p:nvSpPr>
          <p:cNvPr id="37" name="SK-3-text-36"/>
          <p:cNvSpPr/>
          <p:nvPr/>
        </p:nvSpPr>
        <p:spPr>
          <a:xfrm>
            <a:off x="533400" y="1504950"/>
            <a:ext cx="27250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125" dirty="0"/>
          </a:p>
        </p:txBody>
      </p:sp>
      <p:sp>
        <p:nvSpPr>
          <p:cNvPr id="38" name="SK-3-text-37"/>
          <p:cNvSpPr/>
          <p:nvPr/>
        </p:nvSpPr>
        <p:spPr>
          <a:xfrm>
            <a:off x="1110704" y="1504950"/>
            <a:ext cx="154736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</a:t>
            </a:r>
            <a:endParaRPr lang="en-US" sz="1125" dirty="0"/>
          </a:p>
        </p:txBody>
      </p:sp>
      <p:sp>
        <p:nvSpPr>
          <p:cNvPr id="39" name="SK-3-text-38"/>
          <p:cNvSpPr/>
          <p:nvPr/>
        </p:nvSpPr>
        <p:spPr>
          <a:xfrm>
            <a:off x="2810470" y="1504950"/>
            <a:ext cx="23973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보고(겉)</a:t>
            </a:r>
            <a:endParaRPr lang="en-US" sz="1125" dirty="0"/>
          </a:p>
        </p:txBody>
      </p:sp>
      <p:sp>
        <p:nvSpPr>
          <p:cNvPr id="40" name="SK-3-text-39"/>
          <p:cNvSpPr/>
          <p:nvPr/>
        </p:nvSpPr>
        <p:spPr>
          <a:xfrm>
            <a:off x="5360194" y="1504950"/>
            <a:ext cx="388471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실제(속)</a:t>
            </a:r>
            <a:endParaRPr lang="en-US" sz="1125" dirty="0"/>
          </a:p>
        </p:txBody>
      </p:sp>
      <p:sp>
        <p:nvSpPr>
          <p:cNvPr id="41" name="SK-3-text-40"/>
          <p:cNvSpPr/>
          <p:nvPr/>
        </p:nvSpPr>
        <p:spPr>
          <a:xfrm>
            <a:off x="9397305" y="1504950"/>
            <a:ext cx="21850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1125" dirty="0"/>
          </a:p>
        </p:txBody>
      </p:sp>
      <p:sp>
        <p:nvSpPr>
          <p:cNvPr id="42" name="SK-3-text-41"/>
          <p:cNvSpPr/>
          <p:nvPr/>
        </p:nvSpPr>
        <p:spPr>
          <a:xfrm>
            <a:off x="533400" y="1947863"/>
            <a:ext cx="272504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6</a:t>
            </a:r>
            <a:endParaRPr lang="en-US" sz="1125" dirty="0"/>
          </a:p>
        </p:txBody>
      </p:sp>
      <p:sp>
        <p:nvSpPr>
          <p:cNvPr id="43" name="SK-3-text-42"/>
          <p:cNvSpPr/>
          <p:nvPr/>
        </p:nvSpPr>
        <p:spPr>
          <a:xfrm>
            <a:off x="1110704" y="1947863"/>
            <a:ext cx="1547366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통제 정상</a:t>
            </a:r>
            <a:endParaRPr lang="en-US" sz="1125" dirty="0"/>
          </a:p>
        </p:txBody>
      </p:sp>
      <p:sp>
        <p:nvSpPr>
          <p:cNvPr id="44" name="SK-3-text-43"/>
          <p:cNvSpPr/>
          <p:nvPr/>
        </p:nvSpPr>
        <p:spPr>
          <a:xfrm>
            <a:off x="3046214" y="2062163"/>
            <a:ext cx="17716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 12건</a:t>
            </a:r>
            <a:endParaRPr lang="en-US" sz="1125" dirty="0"/>
          </a:p>
        </p:txBody>
      </p:sp>
      <p:sp>
        <p:nvSpPr>
          <p:cNvPr id="45" name="SK-3-text-44"/>
          <p:cNvSpPr/>
          <p:nvPr/>
        </p:nvSpPr>
        <p:spPr>
          <a:xfrm>
            <a:off x="5360194" y="2062163"/>
            <a:ext cx="20193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35건</a:t>
            </a:r>
            <a:endParaRPr lang="en-US" sz="1125" dirty="0"/>
          </a:p>
        </p:txBody>
      </p:sp>
      <p:sp>
        <p:nvSpPr>
          <p:cNvPr id="46" name="SK-3-text-45"/>
          <p:cNvSpPr/>
          <p:nvPr/>
        </p:nvSpPr>
        <p:spPr>
          <a:xfrm>
            <a:off x="5360194" y="2295525"/>
            <a:ext cx="30632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 미등록, 영향평가 수행 0건</a:t>
            </a:r>
            <a:endParaRPr lang="en-US" sz="1050" dirty="0"/>
          </a:p>
        </p:txBody>
      </p:sp>
      <p:sp>
        <p:nvSpPr>
          <p:cNvPr id="47" name="SK-3-textBg-46"/>
          <p:cNvSpPr/>
          <p:nvPr/>
        </p:nvSpPr>
        <p:spPr>
          <a:xfrm>
            <a:off x="9397305" y="2062163"/>
            <a:ext cx="1657350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SK-3-text-47"/>
          <p:cNvSpPr/>
          <p:nvPr/>
        </p:nvSpPr>
        <p:spPr>
          <a:xfrm>
            <a:off x="9454455" y="2062163"/>
            <a:ext cx="273754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05_change_requests</a:t>
            </a:r>
            <a:endParaRPr lang="en-US" sz="1125" dirty="0"/>
          </a:p>
        </p:txBody>
      </p:sp>
      <p:sp>
        <p:nvSpPr>
          <p:cNvPr id="49" name="SK-3-text-48"/>
          <p:cNvSpPr/>
          <p:nvPr/>
        </p:nvSpPr>
        <p:spPr>
          <a:xfrm>
            <a:off x="533400" y="2673548"/>
            <a:ext cx="272504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7</a:t>
            </a:r>
            <a:endParaRPr lang="en-US" sz="1125" dirty="0"/>
          </a:p>
        </p:txBody>
      </p:sp>
      <p:sp>
        <p:nvSpPr>
          <p:cNvPr id="50" name="SK-3-text-49"/>
          <p:cNvSpPr/>
          <p:nvPr/>
        </p:nvSpPr>
        <p:spPr>
          <a:xfrm>
            <a:off x="1110704" y="2673548"/>
            <a:ext cx="1560118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관리</a:t>
            </a:r>
            <a:endParaRPr lang="en-US" sz="1125" dirty="0"/>
          </a:p>
        </p:txBody>
      </p:sp>
      <p:sp>
        <p:nvSpPr>
          <p:cNvPr id="51" name="SK-3-text-50"/>
          <p:cNvSpPr/>
          <p:nvPr/>
        </p:nvSpPr>
        <p:spPr>
          <a:xfrm>
            <a:off x="2810470" y="2797373"/>
            <a:ext cx="247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125" dirty="0"/>
          </a:p>
        </p:txBody>
      </p:sp>
      <p:sp>
        <p:nvSpPr>
          <p:cNvPr id="52" name="SK-3-text-51"/>
          <p:cNvSpPr/>
          <p:nvPr/>
        </p:nvSpPr>
        <p:spPr>
          <a:xfrm>
            <a:off x="5360194" y="2787848"/>
            <a:ext cx="17335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5건 전부 미측정</a:t>
            </a:r>
            <a:endParaRPr lang="en-US" sz="1125" dirty="0"/>
          </a:p>
        </p:txBody>
      </p:sp>
      <p:sp>
        <p:nvSpPr>
          <p:cNvPr id="53" name="SK-3-text-52"/>
          <p:cNvSpPr/>
          <p:nvPr/>
        </p:nvSpPr>
        <p:spPr>
          <a:xfrm>
            <a:off x="5360194" y="3021211"/>
            <a:ext cx="31165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측정체계 자체가 없음 (방치 상태)</a:t>
            </a:r>
            <a:endParaRPr lang="en-US" sz="1050" dirty="0"/>
          </a:p>
        </p:txBody>
      </p:sp>
      <p:sp>
        <p:nvSpPr>
          <p:cNvPr id="54" name="SK-3-textBg-53"/>
          <p:cNvSpPr/>
          <p:nvPr/>
        </p:nvSpPr>
        <p:spPr>
          <a:xfrm>
            <a:off x="9397305" y="2787848"/>
            <a:ext cx="1743075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SK-3-text-54"/>
          <p:cNvSpPr/>
          <p:nvPr/>
        </p:nvSpPr>
        <p:spPr>
          <a:xfrm>
            <a:off x="9454455" y="2787848"/>
            <a:ext cx="273754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02_benefit_register</a:t>
            </a:r>
            <a:endParaRPr lang="en-US" sz="1125" dirty="0"/>
          </a:p>
        </p:txBody>
      </p:sp>
      <p:sp>
        <p:nvSpPr>
          <p:cNvPr id="56" name="SK-3-text-55"/>
          <p:cNvSpPr/>
          <p:nvPr/>
        </p:nvSpPr>
        <p:spPr>
          <a:xfrm>
            <a:off x="533400" y="3399234"/>
            <a:ext cx="272504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8</a:t>
            </a:r>
            <a:endParaRPr lang="en-US" sz="1125" dirty="0"/>
          </a:p>
        </p:txBody>
      </p:sp>
      <p:sp>
        <p:nvSpPr>
          <p:cNvPr id="57" name="SK-3-text-56"/>
          <p:cNvSpPr/>
          <p:nvPr/>
        </p:nvSpPr>
        <p:spPr>
          <a:xfrm>
            <a:off x="1110704" y="3399234"/>
            <a:ext cx="1547366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리스크</a:t>
            </a:r>
            <a:endParaRPr lang="en-US" sz="1125" dirty="0"/>
          </a:p>
        </p:txBody>
      </p:sp>
      <p:sp>
        <p:nvSpPr>
          <p:cNvPr id="58" name="SK-3-text-57"/>
          <p:cNvSpPr/>
          <p:nvPr/>
        </p:nvSpPr>
        <p:spPr>
          <a:xfrm>
            <a:off x="2810470" y="3513534"/>
            <a:ext cx="1619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리스크대장 미등록</a:t>
            </a:r>
            <a:endParaRPr lang="en-US" sz="1125" dirty="0"/>
          </a:p>
        </p:txBody>
      </p:sp>
      <p:sp>
        <p:nvSpPr>
          <p:cNvPr id="59" name="SK-3-text-58"/>
          <p:cNvSpPr/>
          <p:nvPr/>
        </p:nvSpPr>
        <p:spPr>
          <a:xfrm>
            <a:off x="5360194" y="3513534"/>
            <a:ext cx="48196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v3 EOL = 배포일(9/30)</a:t>
            </a:r>
            <a:endParaRPr lang="en-US" sz="1125" dirty="0"/>
          </a:p>
        </p:txBody>
      </p:sp>
      <p:sp>
        <p:nvSpPr>
          <p:cNvPr id="60" name="SK-3-text-59"/>
          <p:cNvSpPr/>
          <p:nvPr/>
        </p:nvSpPr>
        <p:spPr>
          <a:xfrm>
            <a:off x="5360194" y="3746897"/>
            <a:ext cx="34899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마이그레이션 필요 기간 2~4주 누락</a:t>
            </a:r>
            <a:endParaRPr lang="en-US" sz="1050" dirty="0"/>
          </a:p>
        </p:txBody>
      </p:sp>
      <p:sp>
        <p:nvSpPr>
          <p:cNvPr id="61" name="SK-3-textBg-60"/>
          <p:cNvSpPr/>
          <p:nvPr/>
        </p:nvSpPr>
        <p:spPr>
          <a:xfrm>
            <a:off x="9397305" y="3513534"/>
            <a:ext cx="457200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2" name="SK-3-text-61"/>
          <p:cNvSpPr/>
          <p:nvPr/>
        </p:nvSpPr>
        <p:spPr>
          <a:xfrm>
            <a:off x="9454455" y="3513534"/>
            <a:ext cx="6858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E-02</a:t>
            </a:r>
            <a:endParaRPr lang="en-US" sz="1125" dirty="0"/>
          </a:p>
        </p:txBody>
      </p:sp>
      <p:sp>
        <p:nvSpPr>
          <p:cNvPr id="63" name="SK-3-text-62"/>
          <p:cNvSpPr/>
          <p:nvPr/>
        </p:nvSpPr>
        <p:spPr>
          <a:xfrm>
            <a:off x="533400" y="4124920"/>
            <a:ext cx="272504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9</a:t>
            </a:r>
            <a:endParaRPr lang="en-US" sz="1125" dirty="0"/>
          </a:p>
        </p:txBody>
      </p:sp>
      <p:sp>
        <p:nvSpPr>
          <p:cNvPr id="64" name="SK-3-text-63"/>
          <p:cNvSpPr/>
          <p:nvPr/>
        </p:nvSpPr>
        <p:spPr>
          <a:xfrm>
            <a:off x="1110704" y="4124920"/>
            <a:ext cx="1547366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소통</a:t>
            </a:r>
            <a:endParaRPr lang="en-US" sz="1125" dirty="0"/>
          </a:p>
        </p:txBody>
      </p:sp>
      <p:sp>
        <p:nvSpPr>
          <p:cNvPr id="65" name="SK-3-text-64"/>
          <p:cNvSpPr/>
          <p:nvPr/>
        </p:nvSpPr>
        <p:spPr>
          <a:xfrm>
            <a:off x="2810470" y="4248745"/>
            <a:ext cx="247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125" dirty="0"/>
          </a:p>
        </p:txBody>
      </p:sp>
      <p:sp>
        <p:nvSpPr>
          <p:cNvPr id="66" name="SK-3-text-65"/>
          <p:cNvSpPr/>
          <p:nvPr/>
        </p:nvSpPr>
        <p:spPr>
          <a:xfrm>
            <a:off x="5360194" y="4239220"/>
            <a:ext cx="2076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 5건</a:t>
            </a:r>
            <a:endParaRPr lang="en-US" sz="1125" dirty="0"/>
          </a:p>
        </p:txBody>
      </p:sp>
      <p:sp>
        <p:nvSpPr>
          <p:cNvPr id="67" name="SK-3-text-66"/>
          <p:cNvSpPr/>
          <p:nvPr/>
        </p:nvSpPr>
        <p:spPr>
          <a:xfrm>
            <a:off x="5360194" y="4472583"/>
            <a:ext cx="3703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리전(미국, 인도, 한국) 간 충돌</a:t>
            </a:r>
            <a:endParaRPr lang="en-US" sz="1050" dirty="0"/>
          </a:p>
        </p:txBody>
      </p:sp>
      <p:sp>
        <p:nvSpPr>
          <p:cNvPr id="68" name="SK-3-textBg-67"/>
          <p:cNvSpPr/>
          <p:nvPr/>
        </p:nvSpPr>
        <p:spPr>
          <a:xfrm>
            <a:off x="9397305" y="4239220"/>
            <a:ext cx="1400175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9" name="SK-3-text-68"/>
          <p:cNvSpPr/>
          <p:nvPr/>
        </p:nvSpPr>
        <p:spPr>
          <a:xfrm>
            <a:off x="9454455" y="4239220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12_decision_log</a:t>
            </a:r>
            <a:endParaRPr lang="en-US" sz="1125" dirty="0"/>
          </a:p>
        </p:txBody>
      </p:sp>
      <p:sp>
        <p:nvSpPr>
          <p:cNvPr id="70" name="SK-3-text-69"/>
          <p:cNvSpPr/>
          <p:nvPr/>
        </p:nvSpPr>
        <p:spPr>
          <a:xfrm>
            <a:off x="9397305" y="4567833"/>
            <a:ext cx="27946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DEC-04,05,06,07,11</a:t>
            </a:r>
            <a:endParaRPr lang="en-US" sz="900" dirty="0"/>
          </a:p>
        </p:txBody>
      </p:sp>
      <p:sp>
        <p:nvSpPr>
          <p:cNvPr id="71" name="SK-3-text-70"/>
          <p:cNvSpPr/>
          <p:nvPr/>
        </p:nvSpPr>
        <p:spPr>
          <a:xfrm>
            <a:off x="533400" y="4934843"/>
            <a:ext cx="272504" cy="89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CA3AF"/>
                </a:solidFill>
              </a:rPr>
              <a:t>10</a:t>
            </a:r>
            <a:endParaRPr lang="en-US" sz="1125" dirty="0"/>
          </a:p>
        </p:txBody>
      </p:sp>
      <p:sp>
        <p:nvSpPr>
          <p:cNvPr id="72" name="SK-3-text-71"/>
          <p:cNvSpPr/>
          <p:nvPr/>
        </p:nvSpPr>
        <p:spPr>
          <a:xfrm>
            <a:off x="1110704" y="4934843"/>
            <a:ext cx="1547366" cy="89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보고</a:t>
            </a:r>
            <a:endParaRPr lang="en-US" sz="1125" dirty="0"/>
          </a:p>
        </p:txBody>
      </p:sp>
      <p:sp>
        <p:nvSpPr>
          <p:cNvPr id="73" name="SK-3-text-72"/>
          <p:cNvSpPr/>
          <p:nvPr/>
        </p:nvSpPr>
        <p:spPr>
          <a:xfrm>
            <a:off x="2810470" y="5068193"/>
            <a:ext cx="19964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스티어링 아젠다 미포함</a:t>
            </a:r>
            <a:endParaRPr lang="en-US" sz="1050" dirty="0"/>
          </a:p>
        </p:txBody>
      </p:sp>
      <p:sp>
        <p:nvSpPr>
          <p:cNvPr id="74" name="SK-3-text-73"/>
          <p:cNvSpPr/>
          <p:nvPr/>
        </p:nvSpPr>
        <p:spPr>
          <a:xfrm>
            <a:off x="5360194" y="5049143"/>
            <a:ext cx="2133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로봇 가동 중단</a:t>
            </a:r>
            <a:endParaRPr lang="en-US" sz="1125" dirty="0"/>
          </a:p>
        </p:txBody>
      </p:sp>
      <p:sp>
        <p:nvSpPr>
          <p:cNvPr id="75" name="SK-3-text-74"/>
          <p:cNvSpPr/>
          <p:nvPr/>
        </p:nvSpPr>
        <p:spPr>
          <a:xfrm>
            <a:off x="5360194" y="5282505"/>
            <a:ext cx="45034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임무시도 급감 (2,140건 → 573건)</a:t>
            </a:r>
            <a:endParaRPr lang="en-US" sz="1050" dirty="0"/>
          </a:p>
        </p:txBody>
      </p:sp>
      <p:sp>
        <p:nvSpPr>
          <p:cNvPr id="76" name="SK-3-textBg-75"/>
          <p:cNvSpPr/>
          <p:nvPr/>
        </p:nvSpPr>
        <p:spPr>
          <a:xfrm>
            <a:off x="9397305" y="5049143"/>
            <a:ext cx="1143000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7" name="SK-3-text-76"/>
          <p:cNvSpPr/>
          <p:nvPr/>
        </p:nvSpPr>
        <p:spPr>
          <a:xfrm>
            <a:off x="9454455" y="5049143"/>
            <a:ext cx="20574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09_telemetry</a:t>
            </a:r>
            <a:endParaRPr lang="en-US" sz="1125" dirty="0"/>
          </a:p>
        </p:txBody>
      </p:sp>
      <p:sp>
        <p:nvSpPr>
          <p:cNvPr id="78" name="SK-3-textBg-77"/>
          <p:cNvSpPr/>
          <p:nvPr/>
        </p:nvSpPr>
        <p:spPr>
          <a:xfrm>
            <a:off x="9397305" y="5339655"/>
            <a:ext cx="1228725" cy="252413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9" name="SK-3-text-78"/>
          <p:cNvSpPr/>
          <p:nvPr/>
        </p:nvSpPr>
        <p:spPr>
          <a:xfrm>
            <a:off x="9454455" y="5339655"/>
            <a:ext cx="22288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15_governance</a:t>
            </a:r>
            <a:endParaRPr lang="en-US" sz="1125" dirty="0"/>
          </a:p>
        </p:txBody>
      </p:sp>
      <p:sp>
        <p:nvSpPr>
          <p:cNvPr id="80" name="SK-3-text-79"/>
          <p:cNvSpPr/>
          <p:nvPr/>
        </p:nvSpPr>
        <p:spPr>
          <a:xfrm>
            <a:off x="952500" y="6134100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결함: 공식 보고 채널 외부에서 발생하는 핵심 리스크와 실사업장 데이터가 철저히 격리됨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66825"/>
            <a:ext cx="11049000" cy="409575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1800225"/>
            <a:ext cx="19050" cy="2773561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5" y="1800225"/>
            <a:ext cx="381000" cy="381000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1800225"/>
            <a:ext cx="10639425" cy="598140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475" y="2493615"/>
            <a:ext cx="381000" cy="381000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75" y="2493615"/>
            <a:ext cx="10639425" cy="598140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475" y="3187005"/>
            <a:ext cx="381000" cy="381000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" y="3187005"/>
            <a:ext cx="10639425" cy="598140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1475" y="3880396"/>
            <a:ext cx="381000" cy="381000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075" y="3880396"/>
            <a:ext cx="10639425" cy="598140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707136"/>
            <a:ext cx="11049000" cy="1643063"/>
          </a:xfrm>
          <a:prstGeom prst="rect">
            <a:avLst/>
          </a:prstGeom>
        </p:spPr>
      </p:pic>
      <p:pic>
        <p:nvPicPr>
          <p:cNvPr id="17" name="SK-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4859536"/>
            <a:ext cx="285750" cy="228600"/>
          </a:xfrm>
          <a:prstGeom prst="rect">
            <a:avLst/>
          </a:prstGeom>
        </p:spPr>
      </p:pic>
      <p:pic>
        <p:nvPicPr>
          <p:cNvPr id="18" name="SK-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5631061"/>
            <a:ext cx="10668000" cy="304800"/>
          </a:xfrm>
          <a:prstGeom prst="rect">
            <a:avLst/>
          </a:prstGeom>
        </p:spPr>
      </p:pic>
      <p:sp>
        <p:nvSpPr>
          <p:cNvPr id="19" name="SK-4-text-18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0" name="SK-4-text-19"/>
          <p:cNvSpPr/>
          <p:nvPr/>
        </p:nvSpPr>
        <p:spPr>
          <a:xfrm>
            <a:off x="571500" y="60007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A-2. 근본원인 분석: 5-Why 인과 사슬</a:t>
            </a:r>
            <a:endParaRPr lang="en-US" sz="2550" dirty="0"/>
          </a:p>
        </p:txBody>
      </p:sp>
      <p:sp>
        <p:nvSpPr>
          <p:cNvPr id="21" name="SK-4-text-20"/>
          <p:cNvSpPr/>
          <p:nvPr/>
        </p:nvSpPr>
        <p:spPr>
          <a:xfrm>
            <a:off x="762000" y="1371600"/>
            <a:ext cx="1196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F4444"/>
                </a:solidFill>
              </a:rPr>
              <a:t>[표면 현상]</a:t>
            </a:r>
            <a:endParaRPr lang="en-US" sz="1050" dirty="0"/>
          </a:p>
        </p:txBody>
      </p:sp>
      <p:sp>
        <p:nvSpPr>
          <p:cNvPr id="22" name="SK-4-text-21"/>
          <p:cNvSpPr/>
          <p:nvPr/>
        </p:nvSpPr>
        <p:spPr>
          <a:xfrm>
            <a:off x="1676400" y="1343025"/>
            <a:ext cx="8315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6주 연속 하락, 무개입완주율 6.1%, 사업장들이 로봇을 끔</a:t>
            </a:r>
            <a:endParaRPr lang="en-US" sz="1350" dirty="0"/>
          </a:p>
        </p:txBody>
      </p:sp>
      <p:sp>
        <p:nvSpPr>
          <p:cNvPr id="23" name="SK-4-text-22"/>
          <p:cNvSpPr/>
          <p:nvPr/>
        </p:nvSpPr>
        <p:spPr>
          <a:xfrm>
            <a:off x="523875" y="180022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SK-4-text-23"/>
          <p:cNvSpPr/>
          <p:nvPr/>
        </p:nvSpPr>
        <p:spPr>
          <a:xfrm>
            <a:off x="1133475" y="1876425"/>
            <a:ext cx="10410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실사업장 미학습 상황</a:t>
            </a:r>
            <a:endParaRPr lang="en-US" sz="1050" dirty="0"/>
          </a:p>
        </p:txBody>
      </p:sp>
      <p:sp>
        <p:nvSpPr>
          <p:cNvPr id="25" name="SK-4-text-24"/>
          <p:cNvSpPr/>
          <p:nvPr/>
        </p:nvSpPr>
        <p:spPr>
          <a:xfrm>
            <a:off x="1209675" y="2095500"/>
            <a:ext cx="10334625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실사업장 미학습 상황 36.9% 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양재 120개 시나리오에 없는 것들</a:t>
            </a:r>
            <a:endParaRPr lang="en-US" sz="1275" dirty="0"/>
          </a:p>
        </p:txBody>
      </p:sp>
      <p:sp>
        <p:nvSpPr>
          <p:cNvPr id="26" name="SK-4-text-25"/>
          <p:cNvSpPr/>
          <p:nvPr/>
        </p:nvSpPr>
        <p:spPr>
          <a:xfrm>
            <a:off x="504825" y="249361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SK-4-text-26"/>
          <p:cNvSpPr/>
          <p:nvPr/>
        </p:nvSpPr>
        <p:spPr>
          <a:xfrm>
            <a:off x="1133475" y="2569815"/>
            <a:ext cx="10410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성공기준 및 편익 측정 부재</a:t>
            </a:r>
            <a:endParaRPr lang="en-US" sz="1050" dirty="0"/>
          </a:p>
        </p:txBody>
      </p:sp>
      <p:sp>
        <p:nvSpPr>
          <p:cNvPr id="28" name="SK-4-text-27"/>
          <p:cNvSpPr/>
          <p:nvPr/>
        </p:nvSpPr>
        <p:spPr>
          <a:xfrm>
            <a:off x="1209675" y="2788890"/>
            <a:ext cx="1041558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성공기준(SC-03)이 정형 테스트베드만 측정 + 편익(BEN) 미측정</a:t>
            </a:r>
            <a:endParaRPr lang="en-US" sz="1275" dirty="0"/>
          </a:p>
        </p:txBody>
      </p:sp>
      <p:sp>
        <p:nvSpPr>
          <p:cNvPr id="29" name="SK-4-text-28"/>
          <p:cNvSpPr/>
          <p:nvPr/>
        </p:nvSpPr>
        <p:spPr>
          <a:xfrm>
            <a:off x="500063" y="3187005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SK-4-text-29"/>
          <p:cNvSpPr/>
          <p:nvPr/>
        </p:nvSpPr>
        <p:spPr>
          <a:xfrm>
            <a:off x="1133475" y="3263205"/>
            <a:ext cx="10410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관리적 편의주의</a:t>
            </a:r>
            <a:endParaRPr lang="en-US" sz="1050" dirty="0"/>
          </a:p>
        </p:txBody>
      </p:sp>
      <p:sp>
        <p:nvSpPr>
          <p:cNvPr id="31" name="SK-4-text-30"/>
          <p:cNvSpPr/>
          <p:nvPr/>
        </p:nvSpPr>
        <p:spPr>
          <a:xfrm>
            <a:off x="1209675" y="3482280"/>
            <a:ext cx="1041558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"측정 가능한 것만 측정"하고 그것만 관리 → 불편한 신호 차단</a:t>
            </a:r>
            <a:endParaRPr lang="en-US" sz="1275" dirty="0"/>
          </a:p>
        </p:txBody>
      </p:sp>
      <p:sp>
        <p:nvSpPr>
          <p:cNvPr id="32" name="SK-4-text-31"/>
          <p:cNvSpPr/>
          <p:nvPr/>
        </p:nvSpPr>
        <p:spPr>
          <a:xfrm>
            <a:off x="500063" y="3880396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SK-4-text-32"/>
          <p:cNvSpPr/>
          <p:nvPr/>
        </p:nvSpPr>
        <p:spPr>
          <a:xfrm>
            <a:off x="1133475" y="3956596"/>
            <a:ext cx="10410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WHY? 의사결정 파편화 및 무검토</a:t>
            </a:r>
            <a:endParaRPr lang="en-US" sz="1050" dirty="0"/>
          </a:p>
        </p:txBody>
      </p:sp>
      <p:sp>
        <p:nvSpPr>
          <p:cNvPr id="34" name="SK-4-text-33"/>
          <p:cNvSpPr/>
          <p:nvPr/>
        </p:nvSpPr>
        <p:spPr>
          <a:xfrm>
            <a:off x="1209675" y="4175671"/>
            <a:ext cx="1041558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의사결정이 분산(메신저/구두/지역별 상이) + AI 자동보고를 무비판 수용</a:t>
            </a:r>
            <a:endParaRPr lang="en-US" sz="1275" dirty="0"/>
          </a:p>
        </p:txBody>
      </p:sp>
      <p:sp>
        <p:nvSpPr>
          <p:cNvPr id="35" name="SK-4-text-34"/>
          <p:cNvSpPr/>
          <p:nvPr/>
        </p:nvSpPr>
        <p:spPr>
          <a:xfrm>
            <a:off x="1162050" y="4830961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36" name="SK-4-text-35"/>
          <p:cNvSpPr/>
          <p:nvPr/>
        </p:nvSpPr>
        <p:spPr>
          <a:xfrm>
            <a:off x="762000" y="5192911"/>
            <a:ext cx="10782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spc="-1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측정이 관리를 대체했다 (Goodhart's Law)</a:t>
            </a:r>
            <a:endParaRPr lang="en-US" sz="1800" dirty="0"/>
          </a:p>
        </p:txBody>
      </p:sp>
      <p:sp>
        <p:nvSpPr>
          <p:cNvPr id="37" name="SK-4-text-36"/>
          <p:cNvSpPr/>
          <p:nvPr/>
        </p:nvSpPr>
        <p:spPr>
          <a:xfrm>
            <a:off x="762000" y="5631061"/>
            <a:ext cx="1074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6B6D4"/>
                </a:solidFill>
              </a:rPr>
              <a:t>"지표가 목표가 되면, 좋은 지표이기를 멈춘다"</a:t>
            </a:r>
            <a:endParaRPr lang="en-US" sz="1200" dirty="0"/>
          </a:p>
        </p:txBody>
      </p:sp>
      <p:sp>
        <p:nvSpPr>
          <p:cNvPr id="38" name="SK-4-text-37"/>
          <p:cNvSpPr/>
          <p:nvPr/>
        </p:nvSpPr>
        <p:spPr>
          <a:xfrm>
            <a:off x="762000" y="6012061"/>
            <a:ext cx="10744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진짜 목적(고객 가치 전달)이 아닌, 보고 체계 유지가 목적이 되었다.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8600"/>
            <a:ext cx="2122289" cy="276225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61950"/>
            <a:ext cx="8812411" cy="9525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181100"/>
            <a:ext cx="3555950" cy="2019300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247775"/>
            <a:ext cx="3327350" cy="304800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298377"/>
            <a:ext cx="190500" cy="155823"/>
          </a:xfrm>
          <a:prstGeom prst="rect">
            <a:avLst/>
          </a:prstGeom>
        </p:spPr>
      </p:pic>
      <p:pic>
        <p:nvPicPr>
          <p:cNvPr id="9" name="SK-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619250"/>
            <a:ext cx="3327350" cy="733425"/>
          </a:xfrm>
          <a:prstGeom prst="rect">
            <a:avLst/>
          </a:prstGeom>
        </p:spPr>
      </p:pic>
      <p:pic>
        <p:nvPicPr>
          <p:cNvPr id="10" name="SK-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00300"/>
            <a:ext cx="3327350" cy="733425"/>
          </a:xfrm>
          <a:prstGeom prst="rect">
            <a:avLst/>
          </a:prstGeom>
        </p:spPr>
      </p:pic>
      <p:pic>
        <p:nvPicPr>
          <p:cNvPr id="11" name="SK-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7950" y="1181100"/>
            <a:ext cx="3555950" cy="2019300"/>
          </a:xfrm>
          <a:prstGeom prst="rect">
            <a:avLst/>
          </a:prstGeom>
        </p:spPr>
      </p:pic>
      <p:pic>
        <p:nvPicPr>
          <p:cNvPr id="12" name="SK-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2250" y="1247775"/>
            <a:ext cx="3327350" cy="304800"/>
          </a:xfrm>
          <a:prstGeom prst="rect">
            <a:avLst/>
          </a:prstGeom>
        </p:spPr>
      </p:pic>
      <p:pic>
        <p:nvPicPr>
          <p:cNvPr id="13" name="SK-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2250" y="1298377"/>
            <a:ext cx="190500" cy="155823"/>
          </a:xfrm>
          <a:prstGeom prst="rect">
            <a:avLst/>
          </a:prstGeom>
        </p:spPr>
      </p:pic>
      <p:pic>
        <p:nvPicPr>
          <p:cNvPr id="14" name="SK-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2250" y="1619250"/>
            <a:ext cx="3327350" cy="733425"/>
          </a:xfrm>
          <a:prstGeom prst="rect">
            <a:avLst/>
          </a:prstGeom>
        </p:spPr>
      </p:pic>
      <p:pic>
        <p:nvPicPr>
          <p:cNvPr id="15" name="SK-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2250" y="2400300"/>
            <a:ext cx="3327350" cy="733425"/>
          </a:xfrm>
          <a:prstGeom prst="rect">
            <a:avLst/>
          </a:prstGeom>
        </p:spPr>
      </p:pic>
      <p:pic>
        <p:nvPicPr>
          <p:cNvPr id="16" name="SK-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64401" y="1181100"/>
            <a:ext cx="3556099" cy="2019300"/>
          </a:xfrm>
          <a:prstGeom prst="rect">
            <a:avLst/>
          </a:prstGeom>
        </p:spPr>
      </p:pic>
      <p:pic>
        <p:nvPicPr>
          <p:cNvPr id="17" name="SK-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78701" y="1247775"/>
            <a:ext cx="3327499" cy="304800"/>
          </a:xfrm>
          <a:prstGeom prst="rect">
            <a:avLst/>
          </a:prstGeom>
        </p:spPr>
      </p:pic>
      <p:pic>
        <p:nvPicPr>
          <p:cNvPr id="18" name="SK-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78701" y="1298377"/>
            <a:ext cx="190500" cy="155823"/>
          </a:xfrm>
          <a:prstGeom prst="rect">
            <a:avLst/>
          </a:prstGeom>
        </p:spPr>
      </p:pic>
      <p:pic>
        <p:nvPicPr>
          <p:cNvPr id="19" name="SK-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78701" y="1619250"/>
            <a:ext cx="3327499" cy="733425"/>
          </a:xfrm>
          <a:prstGeom prst="rect">
            <a:avLst/>
          </a:prstGeom>
        </p:spPr>
      </p:pic>
      <p:pic>
        <p:nvPicPr>
          <p:cNvPr id="20" name="SK-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78701" y="2400300"/>
            <a:ext cx="3327499" cy="733425"/>
          </a:xfrm>
          <a:prstGeom prst="rect">
            <a:avLst/>
          </a:prstGeom>
        </p:spPr>
      </p:pic>
      <p:pic>
        <p:nvPicPr>
          <p:cNvPr id="21" name="SK-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53125" y="3314700"/>
            <a:ext cx="285750" cy="228600"/>
          </a:xfrm>
          <a:prstGeom prst="rect">
            <a:avLst/>
          </a:prstGeom>
        </p:spPr>
      </p:pic>
      <p:pic>
        <p:nvPicPr>
          <p:cNvPr id="22" name="SK-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657600"/>
            <a:ext cx="11049000" cy="842963"/>
          </a:xfrm>
          <a:prstGeom prst="rect">
            <a:avLst/>
          </a:prstGeom>
        </p:spPr>
      </p:pic>
      <p:pic>
        <p:nvPicPr>
          <p:cNvPr id="23" name="SK-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33863" y="3724275"/>
            <a:ext cx="3724275" cy="709613"/>
          </a:xfrm>
          <a:prstGeom prst="rect">
            <a:avLst/>
          </a:prstGeom>
        </p:spPr>
      </p:pic>
      <p:pic>
        <p:nvPicPr>
          <p:cNvPr id="24" name="SK-5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53125" y="4614863"/>
            <a:ext cx="285750" cy="228600"/>
          </a:xfrm>
          <a:prstGeom prst="rect">
            <a:avLst/>
          </a:prstGeom>
        </p:spPr>
      </p:pic>
      <p:pic>
        <p:nvPicPr>
          <p:cNvPr id="25" name="SK-5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4957763"/>
            <a:ext cx="11049000" cy="1314450"/>
          </a:xfrm>
          <a:prstGeom prst="rect">
            <a:avLst/>
          </a:prstGeom>
        </p:spPr>
      </p:pic>
      <p:pic>
        <p:nvPicPr>
          <p:cNvPr id="26" name="SK-5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3900" y="5119688"/>
            <a:ext cx="190500" cy="152400"/>
          </a:xfrm>
          <a:prstGeom prst="rect">
            <a:avLst/>
          </a:prstGeom>
        </p:spPr>
      </p:pic>
      <p:pic>
        <p:nvPicPr>
          <p:cNvPr id="27" name="SK-5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3900" y="5405438"/>
            <a:ext cx="2571750" cy="771525"/>
          </a:xfrm>
          <a:prstGeom prst="rect">
            <a:avLst/>
          </a:prstGeom>
        </p:spPr>
      </p:pic>
      <p:pic>
        <p:nvPicPr>
          <p:cNvPr id="28" name="SK-5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48050" y="5405438"/>
            <a:ext cx="2571750" cy="771525"/>
          </a:xfrm>
          <a:prstGeom prst="rect">
            <a:avLst/>
          </a:prstGeom>
        </p:spPr>
      </p:pic>
      <p:pic>
        <p:nvPicPr>
          <p:cNvPr id="29" name="SK-5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72200" y="5405438"/>
            <a:ext cx="2571750" cy="771525"/>
          </a:xfrm>
          <a:prstGeom prst="rect">
            <a:avLst/>
          </a:prstGeom>
        </p:spPr>
      </p:pic>
      <p:pic>
        <p:nvPicPr>
          <p:cNvPr id="30" name="SK-5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896350" y="5405438"/>
            <a:ext cx="2571750" cy="771525"/>
          </a:xfrm>
          <a:prstGeom prst="rect">
            <a:avLst/>
          </a:prstGeom>
        </p:spPr>
      </p:pic>
      <p:sp>
        <p:nvSpPr>
          <p:cNvPr id="31" name="SK-5-text-30"/>
          <p:cNvSpPr/>
          <p:nvPr/>
        </p:nvSpPr>
        <p:spPr>
          <a:xfrm>
            <a:off x="647700" y="2286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2" name="SK-5-text-31"/>
          <p:cNvSpPr/>
          <p:nvPr/>
        </p:nvSpPr>
        <p:spPr>
          <a:xfrm>
            <a:off x="571500" y="581025"/>
            <a:ext cx="1130236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A-3. 인과관계 종합: 시스템 관점의 구조적 결함</a:t>
            </a:r>
            <a:endParaRPr lang="en-US" sz="2550" dirty="0"/>
          </a:p>
        </p:txBody>
      </p:sp>
      <p:sp>
        <p:nvSpPr>
          <p:cNvPr id="33" name="SK-5-text-32"/>
          <p:cNvSpPr/>
          <p:nvPr/>
        </p:nvSpPr>
        <p:spPr>
          <a:xfrm>
            <a:off x="952500" y="1247775"/>
            <a:ext cx="23488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측정 체계의 왜곡</a:t>
            </a:r>
            <a:endParaRPr lang="en-US" sz="1350" dirty="0"/>
          </a:p>
        </p:txBody>
      </p:sp>
      <p:sp>
        <p:nvSpPr>
          <p:cNvPr id="34" name="SK-5-text-33"/>
          <p:cNvSpPr/>
          <p:nvPr/>
        </p:nvSpPr>
        <p:spPr>
          <a:xfrm>
            <a:off x="781050" y="1619250"/>
            <a:ext cx="31368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분리보고 / 범위 축소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제외, 양재 테스트베드(SC-03) 위주 측정</a:t>
            </a:r>
            <a:endParaRPr lang="en-US" sz="1125" dirty="0"/>
          </a:p>
        </p:txBody>
      </p:sp>
      <p:sp>
        <p:nvSpPr>
          <p:cNvPr id="35" name="SK-5-text-34"/>
          <p:cNvSpPr/>
          <p:nvPr/>
        </p:nvSpPr>
        <p:spPr>
          <a:xfrm>
            <a:off x="781050" y="2400300"/>
            <a:ext cx="31368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미측정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부재로 실사업장 가치 전달 여부 확인 불가</a:t>
            </a:r>
            <a:endParaRPr lang="en-US" sz="1125" dirty="0"/>
          </a:p>
        </p:txBody>
      </p:sp>
      <p:sp>
        <p:nvSpPr>
          <p:cNvPr id="36" name="SK-5-text-35"/>
          <p:cNvSpPr/>
          <p:nvPr/>
        </p:nvSpPr>
        <p:spPr>
          <a:xfrm>
            <a:off x="4698950" y="1247775"/>
            <a:ext cx="23488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변경 통제의 붕괴</a:t>
            </a:r>
            <a:endParaRPr lang="en-US" sz="1350" dirty="0"/>
          </a:p>
        </p:txBody>
      </p:sp>
      <p:sp>
        <p:nvSpPr>
          <p:cNvPr id="37" name="SK-5-text-36"/>
          <p:cNvSpPr/>
          <p:nvPr/>
        </p:nvSpPr>
        <p:spPr>
          <a:xfrm>
            <a:off x="4527500" y="1619250"/>
            <a:ext cx="31368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기준 임의 변경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 조건 삭제 → '코드 머지=Done'으로 완료율 부풀림</a:t>
            </a:r>
            <a:endParaRPr lang="en-US" sz="1125" dirty="0"/>
          </a:p>
        </p:txBody>
      </p:sp>
      <p:sp>
        <p:nvSpPr>
          <p:cNvPr id="38" name="SK-5-text-37"/>
          <p:cNvSpPr/>
          <p:nvPr/>
        </p:nvSpPr>
        <p:spPr>
          <a:xfrm>
            <a:off x="4527500" y="2400300"/>
            <a:ext cx="31368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변경(35건) 누적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 미등록 및 영향평가 없이 Baseline 갱신 방치</a:t>
            </a:r>
            <a:endParaRPr lang="en-US" sz="1125" dirty="0"/>
          </a:p>
        </p:txBody>
      </p:sp>
      <p:sp>
        <p:nvSpPr>
          <p:cNvPr id="39" name="SK-5-text-38"/>
          <p:cNvSpPr/>
          <p:nvPr/>
        </p:nvSpPr>
        <p:spPr>
          <a:xfrm>
            <a:off x="8445401" y="1247775"/>
            <a:ext cx="33775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AI 자동화의 무비판 운영</a:t>
            </a:r>
            <a:endParaRPr lang="en-US" sz="1350" dirty="0"/>
          </a:p>
        </p:txBody>
      </p:sp>
      <p:sp>
        <p:nvSpPr>
          <p:cNvPr id="40" name="SK-5-text-39"/>
          <p:cNvSpPr/>
          <p:nvPr/>
        </p:nvSpPr>
        <p:spPr>
          <a:xfrm>
            <a:off x="8273951" y="1619250"/>
            <a:ext cx="313699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형식화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3건을 근거 없이 Medium으로 자동 하향</a:t>
            </a:r>
            <a:endParaRPr lang="en-US" sz="1125" dirty="0"/>
          </a:p>
        </p:txBody>
      </p:sp>
      <p:sp>
        <p:nvSpPr>
          <p:cNvPr id="41" name="SK-5-text-40"/>
          <p:cNvSpPr/>
          <p:nvPr/>
        </p:nvSpPr>
        <p:spPr>
          <a:xfrm>
            <a:off x="8273951" y="2400300"/>
            <a:ext cx="313699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무검토 승인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"전 지표 정상" 반복 보고의 기계적 수용</a:t>
            </a:r>
            <a:endParaRPr lang="en-US" sz="1125" dirty="0"/>
          </a:p>
        </p:txBody>
      </p:sp>
      <p:sp>
        <p:nvSpPr>
          <p:cNvPr id="42" name="SK-5-text-41"/>
          <p:cNvSpPr/>
          <p:nvPr/>
        </p:nvSpPr>
        <p:spPr>
          <a:xfrm>
            <a:off x="4567238" y="3819525"/>
            <a:ext cx="3057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 보고의 항상성 유지</a:t>
            </a:r>
            <a:endParaRPr lang="en-US" sz="1500" dirty="0"/>
          </a:p>
        </p:txBody>
      </p:sp>
      <p:sp>
        <p:nvSpPr>
          <p:cNvPr id="43" name="SK-5-text-42"/>
          <p:cNvSpPr/>
          <p:nvPr/>
        </p:nvSpPr>
        <p:spPr>
          <a:xfrm>
            <a:off x="4576763" y="4124325"/>
            <a:ext cx="30384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(수박 프로젝트의 완성: 겉은 Green, 속은 Red)</a:t>
            </a:r>
            <a:endParaRPr lang="en-US" sz="1125" dirty="0"/>
          </a:p>
        </p:txBody>
      </p:sp>
      <p:sp>
        <p:nvSpPr>
          <p:cNvPr id="44" name="SK-5-text-43"/>
          <p:cNvSpPr/>
          <p:nvPr/>
        </p:nvSpPr>
        <p:spPr>
          <a:xfrm>
            <a:off x="1009650" y="5053013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고객 가치 전달 실패</a:t>
            </a:r>
            <a:endParaRPr lang="en-US" sz="1500" dirty="0"/>
          </a:p>
        </p:txBody>
      </p:sp>
      <p:sp>
        <p:nvSpPr>
          <p:cNvPr id="45" name="SK-5-text-44"/>
          <p:cNvSpPr/>
          <p:nvPr/>
        </p:nvSpPr>
        <p:spPr>
          <a:xfrm>
            <a:off x="838200" y="5472113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효율</a:t>
            </a:r>
            <a:endParaRPr lang="en-US" sz="975" dirty="0"/>
          </a:p>
        </p:txBody>
      </p:sp>
      <p:sp>
        <p:nvSpPr>
          <p:cNvPr id="46" name="SK-5-text-45"/>
          <p:cNvSpPr/>
          <p:nvPr/>
        </p:nvSpPr>
        <p:spPr>
          <a:xfrm>
            <a:off x="838200" y="567690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무개입완주율 6.1%</a:t>
            </a:r>
            <a:endParaRPr lang="en-US" sz="1200" dirty="0"/>
          </a:p>
        </p:txBody>
      </p:sp>
      <p:sp>
        <p:nvSpPr>
          <p:cNvPr id="47" name="SK-5-text-46"/>
          <p:cNvSpPr/>
          <p:nvPr/>
        </p:nvSpPr>
        <p:spPr>
          <a:xfrm>
            <a:off x="838200" y="5924550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성능 급락</a:t>
            </a:r>
            <a:endParaRPr lang="en-US" sz="975" dirty="0"/>
          </a:p>
        </p:txBody>
      </p:sp>
      <p:sp>
        <p:nvSpPr>
          <p:cNvPr id="48" name="SK-5-text-47"/>
          <p:cNvSpPr/>
          <p:nvPr/>
        </p:nvSpPr>
        <p:spPr>
          <a:xfrm>
            <a:off x="3562350" y="5472113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수용도</a:t>
            </a:r>
            <a:endParaRPr lang="en-US" sz="975" dirty="0"/>
          </a:p>
        </p:txBody>
      </p:sp>
      <p:sp>
        <p:nvSpPr>
          <p:cNvPr id="49" name="SK-5-text-48"/>
          <p:cNvSpPr/>
          <p:nvPr/>
        </p:nvSpPr>
        <p:spPr>
          <a:xfrm>
            <a:off x="3562350" y="56769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임무 시도 73% 감소</a:t>
            </a:r>
            <a:endParaRPr lang="en-US" sz="1200" dirty="0"/>
          </a:p>
        </p:txBody>
      </p:sp>
      <p:sp>
        <p:nvSpPr>
          <p:cNvPr id="50" name="SK-5-text-49"/>
          <p:cNvSpPr/>
          <p:nvPr/>
        </p:nvSpPr>
        <p:spPr>
          <a:xfrm>
            <a:off x="3562350" y="5924550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이탈 가속화</a:t>
            </a:r>
            <a:endParaRPr lang="en-US" sz="975" dirty="0"/>
          </a:p>
        </p:txBody>
      </p:sp>
      <p:sp>
        <p:nvSpPr>
          <p:cNvPr id="51" name="SK-5-text-50"/>
          <p:cNvSpPr/>
          <p:nvPr/>
        </p:nvSpPr>
        <p:spPr>
          <a:xfrm>
            <a:off x="6286500" y="5472113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가치</a:t>
            </a:r>
            <a:endParaRPr lang="en-US" sz="975" dirty="0"/>
          </a:p>
        </p:txBody>
      </p:sp>
      <p:sp>
        <p:nvSpPr>
          <p:cNvPr id="52" name="SK-5-text-51"/>
          <p:cNvSpPr/>
          <p:nvPr/>
        </p:nvSpPr>
        <p:spPr>
          <a:xfrm>
            <a:off x="6286500" y="5676900"/>
            <a:ext cx="245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달성 불가</a:t>
            </a:r>
            <a:endParaRPr lang="en-US" sz="1200" dirty="0"/>
          </a:p>
        </p:txBody>
      </p:sp>
      <p:sp>
        <p:nvSpPr>
          <p:cNvPr id="53" name="SK-5-text-52"/>
          <p:cNvSpPr/>
          <p:nvPr/>
        </p:nvSpPr>
        <p:spPr>
          <a:xfrm>
            <a:off x="6286500" y="5924550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근거 상실</a:t>
            </a:r>
            <a:endParaRPr lang="en-US" sz="975" dirty="0"/>
          </a:p>
        </p:txBody>
      </p:sp>
      <p:sp>
        <p:nvSpPr>
          <p:cNvPr id="54" name="SK-5-text-53"/>
          <p:cNvSpPr/>
          <p:nvPr/>
        </p:nvSpPr>
        <p:spPr>
          <a:xfrm>
            <a:off x="9010650" y="5472113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대응</a:t>
            </a:r>
            <a:endParaRPr lang="en-US" sz="975" dirty="0"/>
          </a:p>
        </p:txBody>
      </p:sp>
      <p:sp>
        <p:nvSpPr>
          <p:cNvPr id="55" name="SK-5-text-54"/>
          <p:cNvSpPr/>
          <p:nvPr/>
        </p:nvSpPr>
        <p:spPr>
          <a:xfrm>
            <a:off x="9010650" y="5676900"/>
            <a:ext cx="3002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EOL 대응 불가</a:t>
            </a:r>
            <a:endParaRPr lang="en-US" sz="1200" dirty="0"/>
          </a:p>
        </p:txBody>
      </p:sp>
      <p:sp>
        <p:nvSpPr>
          <p:cNvPr id="56" name="SK-5-text-55"/>
          <p:cNvSpPr/>
          <p:nvPr/>
        </p:nvSpPr>
        <p:spPr>
          <a:xfrm>
            <a:off x="9010650" y="5924550"/>
            <a:ext cx="2419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D-37 배포 위기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71600"/>
            <a:ext cx="11049000" cy="4011811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71600"/>
            <a:ext cx="1657350" cy="404813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8850" y="1371600"/>
            <a:ext cx="2762250" cy="404813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1100" y="1371600"/>
            <a:ext cx="4972050" cy="404813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3150" y="1371600"/>
            <a:ext cx="1657350" cy="404813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1776413"/>
            <a:ext cx="11049000" cy="1157883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776413"/>
            <a:ext cx="1657350" cy="1157883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8850" y="1776413"/>
            <a:ext cx="2762250" cy="1157883"/>
          </a:xfrm>
          <a:prstGeom prst="rect">
            <a:avLst/>
          </a:prstGeom>
        </p:spPr>
      </p:pic>
      <p:pic>
        <p:nvPicPr>
          <p:cNvPr id="14" name="SK-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91100" y="1776413"/>
            <a:ext cx="4972050" cy="1157883"/>
          </a:xfrm>
          <a:prstGeom prst="rect">
            <a:avLst/>
          </a:prstGeom>
        </p:spPr>
      </p:pic>
      <p:pic>
        <p:nvPicPr>
          <p:cNvPr id="15" name="SK-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63150" y="1776413"/>
            <a:ext cx="1657350" cy="1157883"/>
          </a:xfrm>
          <a:prstGeom prst="rect">
            <a:avLst/>
          </a:prstGeom>
        </p:spPr>
      </p:pic>
      <p:pic>
        <p:nvPicPr>
          <p:cNvPr id="16" name="SK-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2934295"/>
            <a:ext cx="1657350" cy="916037"/>
          </a:xfrm>
          <a:prstGeom prst="rect">
            <a:avLst/>
          </a:prstGeom>
        </p:spPr>
      </p:pic>
      <p:pic>
        <p:nvPicPr>
          <p:cNvPr id="17" name="SK-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28850" y="2934295"/>
            <a:ext cx="2762250" cy="916037"/>
          </a:xfrm>
          <a:prstGeom prst="rect">
            <a:avLst/>
          </a:prstGeom>
        </p:spPr>
      </p:pic>
      <p:pic>
        <p:nvPicPr>
          <p:cNvPr id="18" name="SK-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91100" y="2934295"/>
            <a:ext cx="4972050" cy="916037"/>
          </a:xfrm>
          <a:prstGeom prst="rect">
            <a:avLst/>
          </a:prstGeom>
        </p:spPr>
      </p:pic>
      <p:pic>
        <p:nvPicPr>
          <p:cNvPr id="19" name="SK-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63150" y="2934295"/>
            <a:ext cx="1657350" cy="916037"/>
          </a:xfrm>
          <a:prstGeom prst="rect">
            <a:avLst/>
          </a:prstGeom>
        </p:spPr>
      </p:pic>
      <p:pic>
        <p:nvPicPr>
          <p:cNvPr id="20" name="SK-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3850332"/>
            <a:ext cx="1657350" cy="674191"/>
          </a:xfrm>
          <a:prstGeom prst="rect">
            <a:avLst/>
          </a:prstGeom>
        </p:spPr>
      </p:pic>
      <p:pic>
        <p:nvPicPr>
          <p:cNvPr id="21" name="SK-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28850" y="3850332"/>
            <a:ext cx="2762250" cy="674191"/>
          </a:xfrm>
          <a:prstGeom prst="rect">
            <a:avLst/>
          </a:prstGeom>
        </p:spPr>
      </p:pic>
      <p:pic>
        <p:nvPicPr>
          <p:cNvPr id="22" name="SK-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91100" y="3850332"/>
            <a:ext cx="4972050" cy="674191"/>
          </a:xfrm>
          <a:prstGeom prst="rect">
            <a:avLst/>
          </a:prstGeom>
        </p:spPr>
      </p:pic>
      <p:pic>
        <p:nvPicPr>
          <p:cNvPr id="23" name="SK-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63150" y="3850332"/>
            <a:ext cx="1657350" cy="674191"/>
          </a:xfrm>
          <a:prstGeom prst="rect">
            <a:avLst/>
          </a:prstGeom>
        </p:spPr>
      </p:pic>
      <p:pic>
        <p:nvPicPr>
          <p:cNvPr id="24" name="SK-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524524"/>
            <a:ext cx="1657350" cy="858887"/>
          </a:xfrm>
          <a:prstGeom prst="rect">
            <a:avLst/>
          </a:prstGeom>
        </p:spPr>
      </p:pic>
      <p:pic>
        <p:nvPicPr>
          <p:cNvPr id="25" name="SK-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28850" y="4524524"/>
            <a:ext cx="2762250" cy="858887"/>
          </a:xfrm>
          <a:prstGeom prst="rect">
            <a:avLst/>
          </a:prstGeom>
        </p:spPr>
      </p:pic>
      <p:pic>
        <p:nvPicPr>
          <p:cNvPr id="26" name="SK-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91100" y="4524524"/>
            <a:ext cx="4972050" cy="858887"/>
          </a:xfrm>
          <a:prstGeom prst="rect">
            <a:avLst/>
          </a:prstGeom>
        </p:spPr>
      </p:pic>
      <p:pic>
        <p:nvPicPr>
          <p:cNvPr id="27" name="SK-6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63150" y="4524524"/>
            <a:ext cx="1657350" cy="858887"/>
          </a:xfrm>
          <a:prstGeom prst="rect">
            <a:avLst/>
          </a:prstGeom>
        </p:spPr>
      </p:pic>
      <p:pic>
        <p:nvPicPr>
          <p:cNvPr id="28" name="SK-6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564386"/>
            <a:ext cx="11049000" cy="990600"/>
          </a:xfrm>
          <a:prstGeom prst="rect">
            <a:avLst/>
          </a:prstGeom>
        </p:spPr>
      </p:pic>
      <p:pic>
        <p:nvPicPr>
          <p:cNvPr id="29" name="SK-6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2000" y="5729139"/>
            <a:ext cx="214313" cy="175320"/>
          </a:xfrm>
          <a:prstGeom prst="rect">
            <a:avLst/>
          </a:prstGeom>
        </p:spPr>
      </p:pic>
      <p:sp>
        <p:nvSpPr>
          <p:cNvPr id="30" name="SK-6-text-29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6-text-30"/>
          <p:cNvSpPr/>
          <p:nvPr/>
        </p:nvSpPr>
        <p:spPr>
          <a:xfrm>
            <a:off x="571500" y="6572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A-4. 용의자 책임 규명: 데이터 기반 판정</a:t>
            </a:r>
            <a:endParaRPr lang="en-US" sz="2550" dirty="0"/>
          </a:p>
        </p:txBody>
      </p:sp>
      <p:sp>
        <p:nvSpPr>
          <p:cNvPr id="32" name="SK-6-text-31"/>
          <p:cNvSpPr/>
          <p:nvPr/>
        </p:nvSpPr>
        <p:spPr>
          <a:xfrm>
            <a:off x="685800" y="1371600"/>
            <a:ext cx="15049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용의자</a:t>
            </a:r>
            <a:endParaRPr lang="en-US" sz="1125" dirty="0"/>
          </a:p>
        </p:txBody>
      </p:sp>
      <p:sp>
        <p:nvSpPr>
          <p:cNvPr id="33" name="SK-6-text-32"/>
          <p:cNvSpPr/>
          <p:nvPr/>
        </p:nvSpPr>
        <p:spPr>
          <a:xfrm>
            <a:off x="2343150" y="1371600"/>
            <a:ext cx="26098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</a:t>
            </a:r>
            <a:endParaRPr lang="en-US" sz="1125" dirty="0"/>
          </a:p>
        </p:txBody>
      </p:sp>
      <p:sp>
        <p:nvSpPr>
          <p:cNvPr id="34" name="SK-6-text-33"/>
          <p:cNvSpPr/>
          <p:nvPr/>
        </p:nvSpPr>
        <p:spPr>
          <a:xfrm>
            <a:off x="5105400" y="1371600"/>
            <a:ext cx="48196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증명하는 사실</a:t>
            </a:r>
            <a:endParaRPr lang="en-US" sz="1125" dirty="0"/>
          </a:p>
        </p:txBody>
      </p:sp>
      <p:sp>
        <p:nvSpPr>
          <p:cNvPr id="35" name="SK-6-text-34"/>
          <p:cNvSpPr/>
          <p:nvPr/>
        </p:nvSpPr>
        <p:spPr>
          <a:xfrm>
            <a:off x="10077450" y="1371600"/>
            <a:ext cx="15049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수준</a:t>
            </a:r>
            <a:endParaRPr lang="en-US" sz="1125" dirty="0"/>
          </a:p>
        </p:txBody>
      </p:sp>
      <p:sp>
        <p:nvSpPr>
          <p:cNvPr id="36" name="SK-6-text-35"/>
          <p:cNvSpPr/>
          <p:nvPr/>
        </p:nvSpPr>
        <p:spPr>
          <a:xfrm>
            <a:off x="685800" y="1871663"/>
            <a:ext cx="1504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한도경</a:t>
            </a:r>
            <a:endParaRPr lang="en-US" sz="1200" dirty="0"/>
          </a:p>
        </p:txBody>
      </p:sp>
      <p:sp>
        <p:nvSpPr>
          <p:cNvPr id="37" name="SK-6-text-36"/>
          <p:cNvSpPr/>
          <p:nvPr/>
        </p:nvSpPr>
        <p:spPr>
          <a:xfrm>
            <a:off x="685800" y="2151608"/>
            <a:ext cx="2305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Manager</a:t>
            </a:r>
            <a:endParaRPr lang="en-US" sz="975" dirty="0"/>
          </a:p>
        </p:txBody>
      </p:sp>
      <p:sp>
        <p:nvSpPr>
          <p:cNvPr id="38" name="SK-6-text-37"/>
          <p:cNvSpPr/>
          <p:nvPr/>
        </p:nvSpPr>
        <p:spPr>
          <a:xfrm>
            <a:off x="2343150" y="1776413"/>
            <a:ext cx="2760122" cy="115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"EVM으로 철저히 관리했다"</a:t>
            </a:r>
            <a:endParaRPr lang="en-US" sz="1200" dirty="0"/>
          </a:p>
        </p:txBody>
      </p:sp>
      <p:sp>
        <p:nvSpPr>
          <p:cNvPr id="39" name="SK-6-text-38"/>
          <p:cNvSpPr/>
          <p:nvPr/>
        </p:nvSpPr>
        <p:spPr>
          <a:xfrm>
            <a:off x="5219700" y="1871663"/>
            <a:ext cx="63227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비용(21.4억)을 EVM 보고에서 의도적 분리</a:t>
            </a:r>
            <a:endParaRPr lang="en-US" sz="1200" dirty="0"/>
          </a:p>
        </p:txBody>
      </p:sp>
      <p:sp>
        <p:nvSpPr>
          <p:cNvPr id="40" name="SK-6-text-39"/>
          <p:cNvSpPr/>
          <p:nvPr/>
        </p:nvSpPr>
        <p:spPr>
          <a:xfrm>
            <a:off x="5219700" y="2113508"/>
            <a:ext cx="50734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변경을 통해 QA 미통과 건을 완료로 부풀림</a:t>
            </a:r>
            <a:endParaRPr lang="en-US" sz="1200" dirty="0"/>
          </a:p>
        </p:txBody>
      </p:sp>
      <p:sp>
        <p:nvSpPr>
          <p:cNvPr id="41" name="SK-6-text-40"/>
          <p:cNvSpPr/>
          <p:nvPr/>
        </p:nvSpPr>
        <p:spPr>
          <a:xfrm>
            <a:off x="5219700" y="2355354"/>
            <a:ext cx="55493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리스크 3건을 근거 없이 Medium으로 하향</a:t>
            </a:r>
            <a:endParaRPr lang="en-US" sz="1200" dirty="0"/>
          </a:p>
        </p:txBody>
      </p:sp>
      <p:sp>
        <p:nvSpPr>
          <p:cNvPr id="42" name="SK-6-text-41"/>
          <p:cNvSpPr/>
          <p:nvPr/>
        </p:nvSpPr>
        <p:spPr>
          <a:xfrm>
            <a:off x="5219700" y="2597200"/>
            <a:ext cx="50734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측정 방기 및 Daniel Suh 메일 무회신</a:t>
            </a:r>
            <a:endParaRPr lang="en-US" sz="1200" dirty="0"/>
          </a:p>
        </p:txBody>
      </p:sp>
      <p:sp>
        <p:nvSpPr>
          <p:cNvPr id="43" name="SK-6-textBg-42"/>
          <p:cNvSpPr/>
          <p:nvPr/>
        </p:nvSpPr>
        <p:spPr>
          <a:xfrm>
            <a:off x="10077450" y="1871663"/>
            <a:ext cx="590550" cy="243780"/>
          </a:xfrm>
          <a:prstGeom prst="roundRect">
            <a:avLst>
              <a:gd name="adj" fmla="val 781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SK-6-text-43"/>
          <p:cNvSpPr/>
          <p:nvPr/>
        </p:nvSpPr>
        <p:spPr>
          <a:xfrm>
            <a:off x="10153650" y="1871663"/>
            <a:ext cx="47489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주범</a:t>
            </a:r>
            <a:endParaRPr lang="en-US" sz="1050" dirty="0"/>
          </a:p>
        </p:txBody>
      </p:sp>
      <p:sp>
        <p:nvSpPr>
          <p:cNvPr id="45" name="SK-6-text-44"/>
          <p:cNvSpPr/>
          <p:nvPr/>
        </p:nvSpPr>
        <p:spPr>
          <a:xfrm>
            <a:off x="685800" y="3029545"/>
            <a:ext cx="1504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 노유진</a:t>
            </a:r>
            <a:endParaRPr lang="en-US" sz="1200" dirty="0"/>
          </a:p>
        </p:txBody>
      </p:sp>
      <p:sp>
        <p:nvSpPr>
          <p:cNvPr id="46" name="SK-6-text-45"/>
          <p:cNvSpPr/>
          <p:nvPr/>
        </p:nvSpPr>
        <p:spPr>
          <a:xfrm>
            <a:off x="685800" y="3309491"/>
            <a:ext cx="20078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Owner</a:t>
            </a:r>
            <a:endParaRPr lang="en-US" sz="975" dirty="0"/>
          </a:p>
        </p:txBody>
      </p:sp>
      <p:sp>
        <p:nvSpPr>
          <p:cNvPr id="47" name="SK-6-text-46"/>
          <p:cNvSpPr/>
          <p:nvPr/>
        </p:nvSpPr>
        <p:spPr>
          <a:xfrm>
            <a:off x="2343150" y="2934295"/>
            <a:ext cx="2609850" cy="91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"백로그 조정은 PO 권한"</a:t>
            </a:r>
            <a:endParaRPr lang="en-US" sz="1200" dirty="0"/>
          </a:p>
        </p:txBody>
      </p:sp>
      <p:sp>
        <p:nvSpPr>
          <p:cNvPr id="48" name="SK-6-text-47"/>
          <p:cNvSpPr/>
          <p:nvPr/>
        </p:nvSpPr>
        <p:spPr>
          <a:xfrm>
            <a:off x="5219700" y="3029545"/>
            <a:ext cx="584683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편익을 성공기준에 포함하자고 제안했으나 기각됨(M-01)</a:t>
            </a:r>
            <a:endParaRPr lang="en-US" sz="1200" dirty="0"/>
          </a:p>
        </p:txBody>
      </p:sp>
      <p:sp>
        <p:nvSpPr>
          <p:cNvPr id="49" name="SK-6-text-48"/>
          <p:cNvSpPr/>
          <p:nvPr/>
        </p:nvSpPr>
        <p:spPr>
          <a:xfrm>
            <a:off x="5219700" y="3271391"/>
            <a:ext cx="56683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착수 시 성공기준 불요에 동의한 실책(M-05)</a:t>
            </a:r>
            <a:endParaRPr lang="en-US" sz="1200" dirty="0"/>
          </a:p>
        </p:txBody>
      </p:sp>
      <p:sp>
        <p:nvSpPr>
          <p:cNvPr id="50" name="SK-6-text-49"/>
          <p:cNvSpPr/>
          <p:nvPr/>
        </p:nvSpPr>
        <p:spPr>
          <a:xfrm>
            <a:off x="5219700" y="3513237"/>
            <a:ext cx="56088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8/14 "계약유지율이 약속"이라며 뒤늦게 문제 제기</a:t>
            </a:r>
            <a:endParaRPr lang="en-US" sz="1200" dirty="0"/>
          </a:p>
        </p:txBody>
      </p:sp>
      <p:sp>
        <p:nvSpPr>
          <p:cNvPr id="51" name="SK-6-textBg-50"/>
          <p:cNvSpPr/>
          <p:nvPr/>
        </p:nvSpPr>
        <p:spPr>
          <a:xfrm>
            <a:off x="10077450" y="3029545"/>
            <a:ext cx="1047750" cy="243780"/>
          </a:xfrm>
          <a:prstGeom prst="roundRect">
            <a:avLst>
              <a:gd name="adj" fmla="val 781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SK-6-text-51"/>
          <p:cNvSpPr/>
          <p:nvPr/>
        </p:nvSpPr>
        <p:spPr>
          <a:xfrm>
            <a:off x="10153650" y="3029545"/>
            <a:ext cx="109395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공동책임(일부)</a:t>
            </a:r>
            <a:endParaRPr lang="en-US" sz="1050" dirty="0"/>
          </a:p>
        </p:txBody>
      </p:sp>
      <p:sp>
        <p:nvSpPr>
          <p:cNvPr id="53" name="SK-6-text-52"/>
          <p:cNvSpPr/>
          <p:nvPr/>
        </p:nvSpPr>
        <p:spPr>
          <a:xfrm>
            <a:off x="685800" y="3945582"/>
            <a:ext cx="2453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Lead 임태오</a:t>
            </a:r>
            <a:endParaRPr lang="en-US" sz="1200" dirty="0"/>
          </a:p>
        </p:txBody>
      </p:sp>
      <p:sp>
        <p:nvSpPr>
          <p:cNvPr id="54" name="SK-6-text-53"/>
          <p:cNvSpPr/>
          <p:nvPr/>
        </p:nvSpPr>
        <p:spPr>
          <a:xfrm>
            <a:off x="685800" y="4225528"/>
            <a:ext cx="21564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 Lead</a:t>
            </a:r>
            <a:endParaRPr lang="en-US" sz="975" dirty="0"/>
          </a:p>
        </p:txBody>
      </p:sp>
      <p:sp>
        <p:nvSpPr>
          <p:cNvPr id="55" name="SK-6-text-54"/>
          <p:cNvSpPr/>
          <p:nvPr/>
        </p:nvSpPr>
        <p:spPr>
          <a:xfrm>
            <a:off x="2343150" y="3850332"/>
            <a:ext cx="2609850" cy="67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"Jira에 다 올렸다"</a:t>
            </a:r>
            <a:endParaRPr lang="en-US" sz="1200" dirty="0"/>
          </a:p>
        </p:txBody>
      </p:sp>
      <p:sp>
        <p:nvSpPr>
          <p:cNvPr id="56" name="SK-6-text-55"/>
          <p:cNvSpPr/>
          <p:nvPr/>
        </p:nvSpPr>
        <p:spPr>
          <a:xfrm>
            <a:off x="5219700" y="3945582"/>
            <a:ext cx="69723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리스크(HER-188) 및 Helion EOL(E-02) 등 기술 보고 수행</a:t>
            </a:r>
            <a:endParaRPr lang="en-US" sz="1200" dirty="0"/>
          </a:p>
        </p:txBody>
      </p:sp>
      <p:sp>
        <p:nvSpPr>
          <p:cNvPr id="57" name="SK-6-text-56"/>
          <p:cNvSpPr/>
          <p:nvPr/>
        </p:nvSpPr>
        <p:spPr>
          <a:xfrm>
            <a:off x="5219700" y="4187428"/>
            <a:ext cx="56088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단, 비용 최적화 없이 VLM 최고티어 고정 결정에 동의</a:t>
            </a:r>
            <a:endParaRPr lang="en-US" sz="1200" dirty="0"/>
          </a:p>
        </p:txBody>
      </p:sp>
      <p:sp>
        <p:nvSpPr>
          <p:cNvPr id="58" name="SK-6-textBg-57"/>
          <p:cNvSpPr/>
          <p:nvPr/>
        </p:nvSpPr>
        <p:spPr>
          <a:xfrm>
            <a:off x="10077450" y="3945582"/>
            <a:ext cx="552450" cy="243780"/>
          </a:xfrm>
          <a:prstGeom prst="roundRect">
            <a:avLst>
              <a:gd name="adj" fmla="val 7814"/>
            </a:avLst>
          </a:prstGeom>
          <a:solidFill>
            <a:srgbClr val="4B5563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SK-6-text-58"/>
          <p:cNvSpPr/>
          <p:nvPr/>
        </p:nvSpPr>
        <p:spPr>
          <a:xfrm>
            <a:off x="10153650" y="3945582"/>
            <a:ext cx="40005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제한적</a:t>
            </a:r>
            <a:endParaRPr lang="en-US" sz="1050" dirty="0"/>
          </a:p>
        </p:txBody>
      </p:sp>
      <p:sp>
        <p:nvSpPr>
          <p:cNvPr id="60" name="SK-6-text-59"/>
          <p:cNvSpPr/>
          <p:nvPr/>
        </p:nvSpPr>
        <p:spPr>
          <a:xfrm>
            <a:off x="685800" y="4619774"/>
            <a:ext cx="142875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스크럼 마스터/스폰서</a:t>
            </a:r>
            <a:endParaRPr lang="en-US" sz="1200" dirty="0"/>
          </a:p>
        </p:txBody>
      </p:sp>
      <p:sp>
        <p:nvSpPr>
          <p:cNvPr id="61" name="SK-6-text-60"/>
          <p:cNvSpPr/>
          <p:nvPr/>
        </p:nvSpPr>
        <p:spPr>
          <a:xfrm>
            <a:off x="685800" y="5112990"/>
            <a:ext cx="2453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Group</a:t>
            </a:r>
            <a:endParaRPr lang="en-US" sz="975" dirty="0"/>
          </a:p>
        </p:txBody>
      </p:sp>
      <p:sp>
        <p:nvSpPr>
          <p:cNvPr id="62" name="SK-6-text-61"/>
          <p:cNvSpPr/>
          <p:nvPr/>
        </p:nvSpPr>
        <p:spPr>
          <a:xfrm>
            <a:off x="2343150" y="4524524"/>
            <a:ext cx="2609850" cy="8588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"스크럼 원칙에 충실"</a:t>
            </a:r>
            <a:endParaRPr lang="en-US" sz="1200" dirty="0"/>
          </a:p>
        </p:txBody>
      </p:sp>
      <p:sp>
        <p:nvSpPr>
          <p:cNvPr id="63" name="SK-6-text-62"/>
          <p:cNvSpPr/>
          <p:nvPr/>
        </p:nvSpPr>
        <p:spPr>
          <a:xfrm>
            <a:off x="5219700" y="4619774"/>
            <a:ext cx="57873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스폰서: 편익 측정 "추후 지정" 결정으로 관리 공백 초래</a:t>
            </a:r>
            <a:endParaRPr lang="en-US" sz="1200" dirty="0"/>
          </a:p>
        </p:txBody>
      </p:sp>
      <p:sp>
        <p:nvSpPr>
          <p:cNvPr id="64" name="SK-6-text-63"/>
          <p:cNvSpPr/>
          <p:nvPr/>
        </p:nvSpPr>
        <p:spPr>
          <a:xfrm>
            <a:off x="5219700" y="4861620"/>
            <a:ext cx="53709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조건부 통과 후 미해결 상태 방치 및 추적 부재</a:t>
            </a:r>
            <a:endParaRPr lang="en-US" sz="1200" dirty="0"/>
          </a:p>
        </p:txBody>
      </p:sp>
      <p:sp>
        <p:nvSpPr>
          <p:cNvPr id="65" name="SK-6-textBg-64"/>
          <p:cNvSpPr/>
          <p:nvPr/>
        </p:nvSpPr>
        <p:spPr>
          <a:xfrm>
            <a:off x="10077450" y="4619774"/>
            <a:ext cx="847725" cy="243780"/>
          </a:xfrm>
          <a:prstGeom prst="roundRect">
            <a:avLst>
              <a:gd name="adj" fmla="val 7814"/>
            </a:avLst>
          </a:prstGeom>
          <a:solidFill>
            <a:srgbClr val="005AEE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6" name="SK-6-text-65"/>
          <p:cNvSpPr/>
          <p:nvPr/>
        </p:nvSpPr>
        <p:spPr>
          <a:xfrm>
            <a:off x="10153650" y="4619774"/>
            <a:ext cx="78751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공모</a:t>
            </a:r>
            <a:endParaRPr lang="en-US" sz="1050" dirty="0"/>
          </a:p>
        </p:txBody>
      </p:sp>
      <p:sp>
        <p:nvSpPr>
          <p:cNvPr id="67" name="SK-6-text-66"/>
          <p:cNvSpPr/>
          <p:nvPr/>
        </p:nvSpPr>
        <p:spPr>
          <a:xfrm>
            <a:off x="1052513" y="5688211"/>
            <a:ext cx="10835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판결: PM 한도경 — 1차 책임 및 구조적 맹목(Structural Blindness)</a:t>
            </a:r>
            <a:endParaRPr lang="en-US" sz="1350" dirty="0"/>
          </a:p>
        </p:txBody>
      </p:sp>
      <p:sp>
        <p:nvSpPr>
          <p:cNvPr id="68" name="SK-6-text-67"/>
          <p:cNvSpPr/>
          <p:nvPr/>
        </p:nvSpPr>
        <p:spPr>
          <a:xfrm>
            <a:off x="762000" y="5973961"/>
            <a:ext cx="1066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한도경 PM은 악의적 은폐보다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"측정 체계 자체를 잘못 설계"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시스템이 볼 수 없는 것을 방치한 책임이 큼. 편익 측정 체계 부재, AI 보고서 무비판 수용, 불편한 신호(Daniel Suh) 차단은 PM의 의사결정 결함임.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11049000" cy="862013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554956"/>
            <a:ext cx="1047750" cy="342900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309813"/>
            <a:ext cx="5429250" cy="1502866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00313"/>
            <a:ext cx="5048250" cy="371475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533650"/>
            <a:ext cx="238125" cy="190500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0" y="2309813"/>
            <a:ext cx="5429250" cy="1502866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1750" y="2462213"/>
            <a:ext cx="5048250" cy="371475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0" y="2495550"/>
            <a:ext cx="238125" cy="190500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965079"/>
            <a:ext cx="3581400" cy="1093291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4127004"/>
            <a:ext cx="190500" cy="152400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05300" y="3965079"/>
            <a:ext cx="3581400" cy="1093291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4127004"/>
            <a:ext cx="190500" cy="152400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39100" y="3965079"/>
            <a:ext cx="3581400" cy="906661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1500" y="4127004"/>
            <a:ext cx="190500" cy="152400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5286970"/>
            <a:ext cx="11049000" cy="1059061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5477470"/>
            <a:ext cx="285750" cy="285750"/>
          </a:xfrm>
          <a:prstGeom prst="rect">
            <a:avLst/>
          </a:prstGeom>
        </p:spPr>
      </p:pic>
      <p:sp>
        <p:nvSpPr>
          <p:cNvPr id="22" name="SK-7-text-21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3" name="SK-7-text-22"/>
          <p:cNvSpPr/>
          <p:nvPr/>
        </p:nvSpPr>
        <p:spPr>
          <a:xfrm>
            <a:off x="571500" y="6572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A-4. 판결: PM 한도경의 구조적 맹목</a:t>
            </a:r>
            <a:endParaRPr lang="en-US" sz="2550" dirty="0"/>
          </a:p>
        </p:txBody>
      </p:sp>
      <p:sp>
        <p:nvSpPr>
          <p:cNvPr id="24" name="SK-7-text-23"/>
          <p:cNvSpPr/>
          <p:nvPr/>
        </p:nvSpPr>
        <p:spPr>
          <a:xfrm>
            <a:off x="876300" y="1554956"/>
            <a:ext cx="13463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VERDICT</a:t>
            </a:r>
            <a:endParaRPr lang="en-US" sz="1500" dirty="0"/>
          </a:p>
        </p:txBody>
      </p:sp>
      <p:sp>
        <p:nvSpPr>
          <p:cNvPr id="25" name="SK-7-text-24"/>
          <p:cNvSpPr/>
          <p:nvPr/>
        </p:nvSpPr>
        <p:spPr>
          <a:xfrm>
            <a:off x="2000250" y="1419225"/>
            <a:ext cx="1019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한도경 — 1차 책임, 본질은 </a:t>
            </a:r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맹목(Structural Blindness)</a:t>
            </a:r>
            <a:endParaRPr lang="en-US" sz="1800" dirty="0"/>
          </a:p>
        </p:txBody>
      </p:sp>
      <p:sp>
        <p:nvSpPr>
          <p:cNvPr id="26" name="SK-7-text-25"/>
          <p:cNvSpPr/>
          <p:nvPr/>
        </p:nvSpPr>
        <p:spPr>
          <a:xfrm>
            <a:off x="2000250" y="1790700"/>
            <a:ext cx="67770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시스템이 볼 수 없는 것을 아무도 보지 못하는 상태를 방치</a:t>
            </a:r>
            <a:endParaRPr lang="en-US" sz="1275" dirty="0"/>
          </a:p>
        </p:txBody>
      </p:sp>
      <p:sp>
        <p:nvSpPr>
          <p:cNvPr id="27" name="SK-7-text-26"/>
          <p:cNvSpPr/>
          <p:nvPr/>
        </p:nvSpPr>
        <p:spPr>
          <a:xfrm>
            <a:off x="1095375" y="2500313"/>
            <a:ext cx="23488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전형적 수박 프로젝트</a:t>
            </a:r>
            <a:endParaRPr lang="en-US" sz="1350" dirty="0"/>
          </a:p>
        </p:txBody>
      </p:sp>
      <p:sp>
        <p:nvSpPr>
          <p:cNvPr id="28" name="SK-7-text-27"/>
          <p:cNvSpPr/>
          <p:nvPr/>
        </p:nvSpPr>
        <p:spPr>
          <a:xfrm>
            <a:off x="762000" y="2986088"/>
            <a:ext cx="5048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</a:t>
            </a:r>
            <a:pPr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의도적으로</a:t>
            </a:r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실적을 위장하고 결함을 은폐함 (악의적 은폐). 주로 질책 문화나 성과 압박에 기인하여 데이터를 조작하거나 숨기는 행태를 보임.</a:t>
            </a:r>
            <a:endParaRPr lang="en-US" sz="1200" dirty="0"/>
          </a:p>
        </p:txBody>
      </p:sp>
      <p:sp>
        <p:nvSpPr>
          <p:cNvPr id="29" name="SK-7-text-28"/>
          <p:cNvSpPr/>
          <p:nvPr/>
        </p:nvSpPr>
        <p:spPr>
          <a:xfrm>
            <a:off x="6715125" y="2462213"/>
            <a:ext cx="23488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프로젝트</a:t>
            </a:r>
            <a:endParaRPr lang="en-US" sz="1350" dirty="0"/>
          </a:p>
        </p:txBody>
      </p:sp>
      <p:sp>
        <p:nvSpPr>
          <p:cNvPr id="30" name="SK-7-text-29"/>
          <p:cNvSpPr/>
          <p:nvPr/>
        </p:nvSpPr>
        <p:spPr>
          <a:xfrm>
            <a:off x="6381750" y="2928938"/>
            <a:ext cx="504825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</a:t>
            </a:r>
            <a:pPr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자체를 잘못 설계</a:t>
            </a:r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하여, 시스템이 볼 수 없는 것을 아무도 보지 못함. "속이려 한 것"이 아니라, </a:t>
            </a:r>
            <a:pPr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"보이지 않는 것을 모르는 상태"</a:t>
            </a:r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방치한 구조적 결함.</a:t>
            </a:r>
            <a:endParaRPr lang="en-US" sz="1200" dirty="0"/>
          </a:p>
        </p:txBody>
      </p:sp>
      <p:sp>
        <p:nvSpPr>
          <p:cNvPr id="31" name="SK-7-text-30"/>
          <p:cNvSpPr/>
          <p:nvPr/>
        </p:nvSpPr>
        <p:spPr>
          <a:xfrm>
            <a:off x="990600" y="4088904"/>
            <a:ext cx="2636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보고 검증 부재</a:t>
            </a:r>
            <a:endParaRPr lang="en-US" sz="1200" dirty="0"/>
          </a:p>
        </p:txBody>
      </p:sp>
      <p:sp>
        <p:nvSpPr>
          <p:cNvPr id="32" name="SK-7-text-31"/>
          <p:cNvSpPr/>
          <p:nvPr/>
        </p:nvSpPr>
        <p:spPr>
          <a:xfrm>
            <a:off x="723900" y="4374654"/>
            <a:ext cx="32766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생성한 지표를 인간이 검토(Human-in-the-loop)하지 않고 무비판적으로 수용하여 16주간 허위 신호를 전파함.</a:t>
            </a:r>
            <a:endParaRPr lang="en-US" sz="1050" dirty="0"/>
          </a:p>
        </p:txBody>
      </p:sp>
      <p:sp>
        <p:nvSpPr>
          <p:cNvPr id="33" name="SK-7-text-32"/>
          <p:cNvSpPr/>
          <p:nvPr/>
        </p:nvSpPr>
        <p:spPr>
          <a:xfrm>
            <a:off x="4724400" y="4088904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할당 부재 (RACI)</a:t>
            </a:r>
            <a:endParaRPr lang="en-US" sz="1200" dirty="0"/>
          </a:p>
        </p:txBody>
      </p:sp>
      <p:sp>
        <p:nvSpPr>
          <p:cNvPr id="34" name="SK-7-text-33"/>
          <p:cNvSpPr/>
          <p:nvPr/>
        </p:nvSpPr>
        <p:spPr>
          <a:xfrm>
            <a:off x="4457700" y="4374654"/>
            <a:ext cx="32766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예산 및 편익 측정(BEN)에 대한 Accountable 주체가 공란으로 방치되어 실패 지점에서 책임이 작동하지 않음.</a:t>
            </a:r>
            <a:endParaRPr lang="en-US" sz="1050" dirty="0"/>
          </a:p>
        </p:txBody>
      </p:sp>
      <p:sp>
        <p:nvSpPr>
          <p:cNvPr id="35" name="SK-7-text-34"/>
          <p:cNvSpPr/>
          <p:nvPr/>
        </p:nvSpPr>
        <p:spPr>
          <a:xfrm>
            <a:off x="8458200" y="4088904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의사결정 원천(SSOT) 부재</a:t>
            </a:r>
            <a:endParaRPr lang="en-US" sz="1200" dirty="0"/>
          </a:p>
        </p:txBody>
      </p:sp>
      <p:sp>
        <p:nvSpPr>
          <p:cNvPr id="36" name="SK-7-text-35"/>
          <p:cNvSpPr/>
          <p:nvPr/>
        </p:nvSpPr>
        <p:spPr>
          <a:xfrm>
            <a:off x="8191500" y="4374654"/>
            <a:ext cx="32766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리전의 의사결정이 파편화(메신저/구두/지역별 상이)되어 기록의 불일치와 중복 개발 등 비효율을 양산함.</a:t>
            </a:r>
            <a:endParaRPr lang="en-US" sz="1050" dirty="0"/>
          </a:p>
        </p:txBody>
      </p:sp>
      <p:sp>
        <p:nvSpPr>
          <p:cNvPr id="37" name="SK-7-text-36"/>
          <p:cNvSpPr/>
          <p:nvPr/>
        </p:nvSpPr>
        <p:spPr>
          <a:xfrm>
            <a:off x="1200150" y="5439370"/>
            <a:ext cx="10229850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95"/>
              </a:lnSpc>
              <a:buNone/>
            </a:pPr>
            <a:r>
              <a:rPr lang="en-US" sz="1425" b="1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"AI가 자동으로 보고하니까 괜찮다"는 착각이 문제를 증폭시켰다. AI는 질문을 안 했을 뿐 거짓말을 한 적이 없다. 질문을 설계하는 것은 인간(PM)의 몫이다.</a:t>
            </a:r>
            <a:endParaRPr lang="en-US" sz="1425" dirty="0"/>
          </a:p>
        </p:txBody>
      </p:sp>
      <p:sp>
        <p:nvSpPr>
          <p:cNvPr id="38" name="SK-7-text-37"/>
          <p:cNvSpPr/>
          <p:nvPr/>
        </p:nvSpPr>
        <p:spPr>
          <a:xfrm>
            <a:off x="1200150" y="5993606"/>
            <a:ext cx="10306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Insight: 기술적 자동화가 PM의 본질적인 판단과 질문의 책임을 대체할 수 없음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5410200" cy="4972050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19250"/>
            <a:ext cx="5181600" cy="390525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681163"/>
            <a:ext cx="238125" cy="190500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124075"/>
            <a:ext cx="1295400" cy="352425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1200" y="2124075"/>
            <a:ext cx="3886200" cy="352425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476500"/>
            <a:ext cx="1295400" cy="573881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1200" y="2476500"/>
            <a:ext cx="3886200" cy="573881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050381"/>
            <a:ext cx="1295400" cy="573881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81200" y="3050381"/>
            <a:ext cx="3886200" cy="573881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624263"/>
            <a:ext cx="1295400" cy="884783"/>
          </a:xfrm>
          <a:prstGeom prst="rect">
            <a:avLst/>
          </a:prstGeom>
        </p:spPr>
      </p:pic>
      <p:pic>
        <p:nvPicPr>
          <p:cNvPr id="16" name="SK-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81200" y="3624263"/>
            <a:ext cx="3886200" cy="884783"/>
          </a:xfrm>
          <a:prstGeom prst="rect">
            <a:avLst/>
          </a:prstGeom>
        </p:spPr>
      </p:pic>
      <p:pic>
        <p:nvPicPr>
          <p:cNvPr id="17" name="SK-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509046"/>
            <a:ext cx="1295400" cy="885081"/>
          </a:xfrm>
          <a:prstGeom prst="rect">
            <a:avLst/>
          </a:prstGeom>
        </p:spPr>
      </p:pic>
      <p:pic>
        <p:nvPicPr>
          <p:cNvPr id="18" name="SK-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81200" y="4509046"/>
            <a:ext cx="3886200" cy="885081"/>
          </a:xfrm>
          <a:prstGeom prst="rect">
            <a:avLst/>
          </a:prstGeom>
        </p:spPr>
      </p:pic>
      <p:pic>
        <p:nvPicPr>
          <p:cNvPr id="19" name="SK-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5508427"/>
            <a:ext cx="5181600" cy="854273"/>
          </a:xfrm>
          <a:prstGeom prst="rect">
            <a:avLst/>
          </a:prstGeom>
        </p:spPr>
      </p:pic>
      <p:pic>
        <p:nvPicPr>
          <p:cNvPr id="20" name="SK-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10300" y="1504950"/>
            <a:ext cx="5410200" cy="4972050"/>
          </a:xfrm>
          <a:prstGeom prst="rect">
            <a:avLst/>
          </a:prstGeom>
        </p:spPr>
      </p:pic>
      <p:pic>
        <p:nvPicPr>
          <p:cNvPr id="21" name="SK-8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1619250"/>
            <a:ext cx="5181600" cy="390525"/>
          </a:xfrm>
          <a:prstGeom prst="rect">
            <a:avLst/>
          </a:prstGeom>
        </p:spPr>
      </p:pic>
      <p:pic>
        <p:nvPicPr>
          <p:cNvPr id="22" name="SK-8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1681163"/>
            <a:ext cx="238125" cy="190500"/>
          </a:xfrm>
          <a:prstGeom prst="rect">
            <a:avLst/>
          </a:prstGeom>
        </p:spPr>
      </p:pic>
      <p:pic>
        <p:nvPicPr>
          <p:cNvPr id="23" name="SK-8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2124075"/>
            <a:ext cx="1813471" cy="352425"/>
          </a:xfrm>
          <a:prstGeom prst="rect">
            <a:avLst/>
          </a:prstGeom>
        </p:spPr>
      </p:pic>
      <p:pic>
        <p:nvPicPr>
          <p:cNvPr id="24" name="SK-8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38071" y="2124075"/>
            <a:ext cx="3368129" cy="352425"/>
          </a:xfrm>
          <a:prstGeom prst="rect">
            <a:avLst/>
          </a:prstGeom>
        </p:spPr>
      </p:pic>
      <p:pic>
        <p:nvPicPr>
          <p:cNvPr id="25" name="SK-8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4600" y="2476500"/>
            <a:ext cx="1813471" cy="729407"/>
          </a:xfrm>
          <a:prstGeom prst="rect">
            <a:avLst/>
          </a:prstGeom>
        </p:spPr>
      </p:pic>
      <p:pic>
        <p:nvPicPr>
          <p:cNvPr id="26" name="SK-8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38071" y="2476500"/>
            <a:ext cx="3368129" cy="729407"/>
          </a:xfrm>
          <a:prstGeom prst="rect">
            <a:avLst/>
          </a:prstGeom>
        </p:spPr>
      </p:pic>
      <p:pic>
        <p:nvPicPr>
          <p:cNvPr id="27" name="SK-8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24600" y="3205907"/>
            <a:ext cx="1813471" cy="729407"/>
          </a:xfrm>
          <a:prstGeom prst="rect">
            <a:avLst/>
          </a:prstGeom>
        </p:spPr>
      </p:pic>
      <p:pic>
        <p:nvPicPr>
          <p:cNvPr id="28" name="SK-8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38071" y="3205907"/>
            <a:ext cx="3368129" cy="729407"/>
          </a:xfrm>
          <a:prstGeom prst="rect">
            <a:avLst/>
          </a:prstGeom>
        </p:spPr>
      </p:pic>
      <p:pic>
        <p:nvPicPr>
          <p:cNvPr id="29" name="SK-8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24600" y="3935313"/>
            <a:ext cx="1813471" cy="729407"/>
          </a:xfrm>
          <a:prstGeom prst="rect">
            <a:avLst/>
          </a:prstGeom>
        </p:spPr>
      </p:pic>
      <p:pic>
        <p:nvPicPr>
          <p:cNvPr id="30" name="SK-8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38071" y="3935313"/>
            <a:ext cx="3368129" cy="729407"/>
          </a:xfrm>
          <a:prstGeom prst="rect">
            <a:avLst/>
          </a:prstGeom>
        </p:spPr>
      </p:pic>
      <p:pic>
        <p:nvPicPr>
          <p:cNvPr id="31" name="SK-8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24600" y="4664720"/>
            <a:ext cx="1813471" cy="729407"/>
          </a:xfrm>
          <a:prstGeom prst="rect">
            <a:avLst/>
          </a:prstGeom>
        </p:spPr>
      </p:pic>
      <p:pic>
        <p:nvPicPr>
          <p:cNvPr id="32" name="SK-8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138071" y="4664720"/>
            <a:ext cx="3368129" cy="729407"/>
          </a:xfrm>
          <a:prstGeom prst="rect">
            <a:avLst/>
          </a:prstGeom>
        </p:spPr>
      </p:pic>
      <p:pic>
        <p:nvPicPr>
          <p:cNvPr id="33" name="SK-8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24600" y="5508427"/>
            <a:ext cx="5181600" cy="854273"/>
          </a:xfrm>
          <a:prstGeom prst="rect">
            <a:avLst/>
          </a:prstGeom>
        </p:spPr>
      </p:pic>
      <p:sp>
        <p:nvSpPr>
          <p:cNvPr id="34" name="SK-8-text-3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5" name="SK-8-text-34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B-1. Mindset 진단: Proactive 및 Ownership</a:t>
            </a:r>
            <a:endParaRPr lang="en-US" sz="2550" dirty="0"/>
          </a:p>
        </p:txBody>
      </p:sp>
      <p:sp>
        <p:nvSpPr>
          <p:cNvPr id="36" name="SK-8-text-35"/>
          <p:cNvSpPr/>
          <p:nvPr/>
        </p:nvSpPr>
        <p:spPr>
          <a:xfrm>
            <a:off x="1019175" y="1619250"/>
            <a:ext cx="84658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Proactive (선제적 행동) → </a:t>
            </a:r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Reactive</a:t>
            </a:r>
            <a:endParaRPr lang="en-US" sz="1650" dirty="0"/>
          </a:p>
        </p:txBody>
      </p:sp>
      <p:sp>
        <p:nvSpPr>
          <p:cNvPr id="37" name="SK-8-text-36"/>
          <p:cNvSpPr/>
          <p:nvPr/>
        </p:nvSpPr>
        <p:spPr>
          <a:xfrm>
            <a:off x="800100" y="2124075"/>
            <a:ext cx="1143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증거 지표</a:t>
            </a:r>
            <a:endParaRPr lang="en-US" sz="1050" dirty="0"/>
          </a:p>
        </p:txBody>
      </p:sp>
      <p:sp>
        <p:nvSpPr>
          <p:cNvPr id="38" name="SK-8-text-37"/>
          <p:cNvSpPr/>
          <p:nvPr/>
        </p:nvSpPr>
        <p:spPr>
          <a:xfrm>
            <a:off x="2095500" y="2124075"/>
            <a:ext cx="37338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내용</a:t>
            </a:r>
            <a:endParaRPr lang="en-US" sz="1050" dirty="0"/>
          </a:p>
        </p:txBody>
      </p:sp>
      <p:sp>
        <p:nvSpPr>
          <p:cNvPr id="39" name="SK-8-textBg-38"/>
          <p:cNvSpPr/>
          <p:nvPr/>
        </p:nvSpPr>
        <p:spPr>
          <a:xfrm>
            <a:off x="800100" y="2562225"/>
            <a:ext cx="752475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K-8-text-39"/>
          <p:cNvSpPr/>
          <p:nvPr/>
        </p:nvSpPr>
        <p:spPr>
          <a:xfrm>
            <a:off x="857250" y="2562225"/>
            <a:ext cx="69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리스크 대장</a:t>
            </a:r>
            <a:endParaRPr lang="en-US" sz="900" dirty="0"/>
          </a:p>
        </p:txBody>
      </p:sp>
      <p:sp>
        <p:nvSpPr>
          <p:cNvPr id="41" name="SK-8-text-40"/>
          <p:cNvSpPr/>
          <p:nvPr/>
        </p:nvSpPr>
        <p:spPr>
          <a:xfrm>
            <a:off x="2095500" y="2476500"/>
            <a:ext cx="695392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4/11 이후 갱신 0회. 신규 외부 리스크(Helion EOL) 미등록 방치</a:t>
            </a:r>
            <a:endParaRPr lang="en-US" sz="1050" dirty="0"/>
          </a:p>
        </p:txBody>
      </p:sp>
      <p:sp>
        <p:nvSpPr>
          <p:cNvPr id="42" name="SK-8-textBg-41"/>
          <p:cNvSpPr/>
          <p:nvPr/>
        </p:nvSpPr>
        <p:spPr>
          <a:xfrm>
            <a:off x="800100" y="3136106"/>
            <a:ext cx="752475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K-8-text-42"/>
          <p:cNvSpPr/>
          <p:nvPr/>
        </p:nvSpPr>
        <p:spPr>
          <a:xfrm>
            <a:off x="857250" y="3136106"/>
            <a:ext cx="69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파일럿 지표</a:t>
            </a:r>
            <a:endParaRPr lang="en-US" sz="900" dirty="0"/>
          </a:p>
        </p:txBody>
      </p:sp>
      <p:sp>
        <p:nvSpPr>
          <p:cNvPr id="44" name="SK-8-text-43"/>
          <p:cNvSpPr/>
          <p:nvPr/>
        </p:nvSpPr>
        <p:spPr>
          <a:xfrm>
            <a:off x="2095500" y="3050381"/>
            <a:ext cx="5397649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 연속 하락 및 6.1% 도달 상황을 D-37까지 방치</a:t>
            </a:r>
            <a:endParaRPr lang="en-US" sz="1050" dirty="0"/>
          </a:p>
        </p:txBody>
      </p:sp>
      <p:sp>
        <p:nvSpPr>
          <p:cNvPr id="45" name="SK-8-textBg-44"/>
          <p:cNvSpPr/>
          <p:nvPr/>
        </p:nvSpPr>
        <p:spPr>
          <a:xfrm>
            <a:off x="800100" y="3709988"/>
            <a:ext cx="542925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K-8-text-45"/>
          <p:cNvSpPr/>
          <p:nvPr/>
        </p:nvSpPr>
        <p:spPr>
          <a:xfrm>
            <a:off x="857250" y="3709988"/>
            <a:ext cx="613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G3 조건</a:t>
            </a:r>
            <a:endParaRPr lang="en-US" sz="900" dirty="0"/>
          </a:p>
        </p:txBody>
      </p:sp>
      <p:sp>
        <p:nvSpPr>
          <p:cNvPr id="47" name="SK-8-text-46"/>
          <p:cNvSpPr/>
          <p:nvPr/>
        </p:nvSpPr>
        <p:spPr>
          <a:xfrm>
            <a:off x="2095500" y="3624263"/>
            <a:ext cx="3657600" cy="8847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통과 3건에 대한 해소 추적 기록 없음. 엣지캐시 임의 무효화</a:t>
            </a:r>
            <a:endParaRPr lang="en-US" sz="1050" dirty="0"/>
          </a:p>
        </p:txBody>
      </p:sp>
      <p:sp>
        <p:nvSpPr>
          <p:cNvPr id="48" name="SK-8-textBg-47"/>
          <p:cNvSpPr/>
          <p:nvPr/>
        </p:nvSpPr>
        <p:spPr>
          <a:xfrm>
            <a:off x="800100" y="4594771"/>
            <a:ext cx="952500" cy="180975"/>
          </a:xfrm>
          <a:prstGeom prst="roundRect">
            <a:avLst>
              <a:gd name="adj" fmla="val 10526"/>
            </a:avLst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SK-8-text-48"/>
          <p:cNvSpPr/>
          <p:nvPr/>
        </p:nvSpPr>
        <p:spPr>
          <a:xfrm>
            <a:off x="857250" y="4594771"/>
            <a:ext cx="10863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B5563"/>
                </a:solidFill>
              </a:rPr>
              <a:t>AI 인프라 비용</a:t>
            </a:r>
            <a:endParaRPr lang="en-US" sz="900" dirty="0"/>
          </a:p>
        </p:txBody>
      </p:sp>
      <p:sp>
        <p:nvSpPr>
          <p:cNvPr id="50" name="SK-8-text-49"/>
          <p:cNvSpPr/>
          <p:nvPr/>
        </p:nvSpPr>
        <p:spPr>
          <a:xfrm>
            <a:off x="2095500" y="4509046"/>
            <a:ext cx="3657600" cy="88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"지금은 여유 있다"며 방관 → 예산 89% 소진(21.4억) 후에야 인지</a:t>
            </a:r>
            <a:endParaRPr lang="en-US" sz="1050" dirty="0"/>
          </a:p>
        </p:txBody>
      </p:sp>
      <p:sp>
        <p:nvSpPr>
          <p:cNvPr id="51" name="SK-8-text-50"/>
          <p:cNvSpPr/>
          <p:nvPr/>
        </p:nvSpPr>
        <p:spPr>
          <a:xfrm>
            <a:off x="800100" y="5622727"/>
            <a:ext cx="5029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진단: 리스크 예방이 아닌 사후 수습 모드</a:t>
            </a:r>
            <a:endParaRPr lang="en-US" sz="1125" dirty="0"/>
          </a:p>
        </p:txBody>
      </p:sp>
      <p:sp>
        <p:nvSpPr>
          <p:cNvPr id="52" name="SK-8-text-51"/>
          <p:cNvSpPr/>
          <p:nvPr/>
        </p:nvSpPr>
        <p:spPr>
          <a:xfrm>
            <a:off x="800100" y="5875139"/>
            <a:ext cx="49530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리스크를 선제적으로 관리하지 않고 문제가 터진 후 대응하는 Reactive 패턴. "일단 넘어갑시다"식의 의사결정이 반복됨.</a:t>
            </a:r>
            <a:endParaRPr lang="en-US" sz="1050" dirty="0"/>
          </a:p>
        </p:txBody>
      </p:sp>
      <p:sp>
        <p:nvSpPr>
          <p:cNvPr id="53" name="SK-8-text-52"/>
          <p:cNvSpPr/>
          <p:nvPr/>
        </p:nvSpPr>
        <p:spPr>
          <a:xfrm>
            <a:off x="6657975" y="1619250"/>
            <a:ext cx="5534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Ownership (소유권) → </a:t>
            </a:r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책임 공백</a:t>
            </a:r>
            <a:endParaRPr lang="en-US" sz="1650" dirty="0"/>
          </a:p>
        </p:txBody>
      </p:sp>
      <p:sp>
        <p:nvSpPr>
          <p:cNvPr id="54" name="SK-8-text-53"/>
          <p:cNvSpPr/>
          <p:nvPr/>
        </p:nvSpPr>
        <p:spPr>
          <a:xfrm>
            <a:off x="6438900" y="2124075"/>
            <a:ext cx="166107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분석 대상</a:t>
            </a:r>
            <a:endParaRPr lang="en-US" sz="1050" dirty="0"/>
          </a:p>
        </p:txBody>
      </p:sp>
      <p:sp>
        <p:nvSpPr>
          <p:cNvPr id="55" name="SK-8-text-54"/>
          <p:cNvSpPr/>
          <p:nvPr/>
        </p:nvSpPr>
        <p:spPr>
          <a:xfrm>
            <a:off x="8252371" y="2124075"/>
            <a:ext cx="32157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및 결함 내용</a:t>
            </a:r>
            <a:endParaRPr lang="en-US" sz="1050" dirty="0"/>
          </a:p>
        </p:txBody>
      </p:sp>
      <p:sp>
        <p:nvSpPr>
          <p:cNvPr id="56" name="SK-8-text-55"/>
          <p:cNvSpPr/>
          <p:nvPr/>
        </p:nvSpPr>
        <p:spPr>
          <a:xfrm>
            <a:off x="6438900" y="2476500"/>
            <a:ext cx="1584871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예산 (Accountable)</a:t>
            </a:r>
            <a:endParaRPr lang="en-US" sz="1050" dirty="0"/>
          </a:p>
        </p:txBody>
      </p:sp>
      <p:sp>
        <p:nvSpPr>
          <p:cNvPr id="57" name="SK-8-text-56"/>
          <p:cNvSpPr/>
          <p:nvPr/>
        </p:nvSpPr>
        <p:spPr>
          <a:xfrm>
            <a:off x="8252371" y="2476500"/>
            <a:ext cx="3939629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(공란)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118억 중 24억 집행에 대한 최종책임자 부재</a:t>
            </a:r>
            <a:endParaRPr lang="en-US" sz="1050" dirty="0"/>
          </a:p>
        </p:txBody>
      </p:sp>
      <p:sp>
        <p:nvSpPr>
          <p:cNvPr id="58" name="SK-8-text-57"/>
          <p:cNvSpPr/>
          <p:nvPr/>
        </p:nvSpPr>
        <p:spPr>
          <a:xfrm>
            <a:off x="6438900" y="3205907"/>
            <a:ext cx="1584871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측정 Plan/Track</a:t>
            </a:r>
            <a:endParaRPr lang="en-US" sz="1050" dirty="0"/>
          </a:p>
        </p:txBody>
      </p:sp>
      <p:sp>
        <p:nvSpPr>
          <p:cNvPr id="59" name="SK-8-text-58"/>
          <p:cNvSpPr/>
          <p:nvPr/>
        </p:nvSpPr>
        <p:spPr>
          <a:xfrm>
            <a:off x="8252371" y="3205907"/>
            <a:ext cx="3139529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R, A, C, I 전체 공란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가치 실현에 대한 책임 할당 전무</a:t>
            </a:r>
            <a:endParaRPr lang="en-US" sz="1050" dirty="0"/>
          </a:p>
        </p:txBody>
      </p:sp>
      <p:sp>
        <p:nvSpPr>
          <p:cNvPr id="60" name="SK-8-text-59"/>
          <p:cNvSpPr/>
          <p:nvPr/>
        </p:nvSpPr>
        <p:spPr>
          <a:xfrm>
            <a:off x="6438900" y="3935313"/>
            <a:ext cx="1661071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주간보고 사람 검토자</a:t>
            </a:r>
            <a:endParaRPr lang="en-US" sz="1050" dirty="0"/>
          </a:p>
        </p:txBody>
      </p:sp>
      <p:sp>
        <p:nvSpPr>
          <p:cNvPr id="61" name="SK-8-text-60"/>
          <p:cNvSpPr/>
          <p:nvPr/>
        </p:nvSpPr>
        <p:spPr>
          <a:xfrm>
            <a:off x="8252371" y="3935313"/>
            <a:ext cx="3139529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(공란)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AI 봇이 생성한 보고서를 누구도 승인/검토하지 않음</a:t>
            </a:r>
            <a:endParaRPr lang="en-US" sz="1050" dirty="0"/>
          </a:p>
        </p:txBody>
      </p:sp>
      <p:sp>
        <p:nvSpPr>
          <p:cNvPr id="62" name="SK-8-text-61"/>
          <p:cNvSpPr/>
          <p:nvPr/>
        </p:nvSpPr>
        <p:spPr>
          <a:xfrm>
            <a:off x="6438900" y="4664720"/>
            <a:ext cx="1584871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텔레메트리 (Inform)</a:t>
            </a:r>
            <a:endParaRPr lang="en-US" sz="1050" dirty="0"/>
          </a:p>
        </p:txBody>
      </p:sp>
      <p:sp>
        <p:nvSpPr>
          <p:cNvPr id="63" name="SK-8-text-62"/>
          <p:cNvSpPr/>
          <p:nvPr/>
        </p:nvSpPr>
        <p:spPr>
          <a:xfrm>
            <a:off x="8252371" y="4664720"/>
            <a:ext cx="3139529" cy="7294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리드만 공유 — 프로젝트 핵심 결정권자(PM/PO/스폰서) 미포함</a:t>
            </a:r>
            <a:endParaRPr lang="en-US" sz="1050" dirty="0"/>
          </a:p>
        </p:txBody>
      </p:sp>
      <p:sp>
        <p:nvSpPr>
          <p:cNvPr id="64" name="SK-8-text-63"/>
          <p:cNvSpPr/>
          <p:nvPr/>
        </p:nvSpPr>
        <p:spPr>
          <a:xfrm>
            <a:off x="6438900" y="5622727"/>
            <a:ext cx="53911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진단: Accountability Void (책임 공백)</a:t>
            </a:r>
            <a:endParaRPr lang="en-US" sz="1125" dirty="0"/>
          </a:p>
        </p:txBody>
      </p:sp>
      <p:sp>
        <p:nvSpPr>
          <p:cNvPr id="65" name="SK-8-text-64"/>
          <p:cNvSpPr/>
          <p:nvPr/>
        </p:nvSpPr>
        <p:spPr>
          <a:xfrm>
            <a:off x="6438900" y="5875139"/>
            <a:ext cx="49530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"누구의 책임인지 모호한 영역"에서 정확히 실패가 발생함. 책임이 명시되지 않은 지점이 프로젝트의 치명적 사각지대로 전락.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85913"/>
            <a:ext cx="6309420" cy="609600"/>
          </a:xfrm>
          <a:prstGeom prst="rect">
            <a:avLst/>
          </a:prstGeom>
        </p:spPr>
      </p:pic>
      <p:pic>
        <p:nvPicPr>
          <p:cNvPr id="7" name="SK-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0338" y="1778794"/>
            <a:ext cx="688181" cy="223838"/>
          </a:xfrm>
          <a:prstGeom prst="rect">
            <a:avLst/>
          </a:prstGeom>
        </p:spPr>
      </p:pic>
      <p:pic>
        <p:nvPicPr>
          <p:cNvPr id="8" name="SK-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4638" y="1827758"/>
            <a:ext cx="154781" cy="125760"/>
          </a:xfrm>
          <a:prstGeom prst="rect">
            <a:avLst/>
          </a:prstGeom>
        </p:spPr>
      </p:pic>
      <p:pic>
        <p:nvPicPr>
          <p:cNvPr id="9" name="SK-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252663"/>
            <a:ext cx="6309420" cy="609600"/>
          </a:xfrm>
          <a:prstGeom prst="rect">
            <a:avLst/>
          </a:prstGeom>
        </p:spPr>
      </p:pic>
      <p:pic>
        <p:nvPicPr>
          <p:cNvPr id="10" name="SK-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0338" y="2445544"/>
            <a:ext cx="688181" cy="223838"/>
          </a:xfrm>
          <a:prstGeom prst="rect">
            <a:avLst/>
          </a:prstGeom>
        </p:spPr>
      </p:pic>
      <p:pic>
        <p:nvPicPr>
          <p:cNvPr id="11" name="SK-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4638" y="2494508"/>
            <a:ext cx="154781" cy="125760"/>
          </a:xfrm>
          <a:prstGeom prst="rect">
            <a:avLst/>
          </a:prstGeom>
        </p:spPr>
      </p:pic>
      <p:pic>
        <p:nvPicPr>
          <p:cNvPr id="12" name="SK-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919413"/>
            <a:ext cx="6309420" cy="609600"/>
          </a:xfrm>
          <a:prstGeom prst="rect">
            <a:avLst/>
          </a:prstGeom>
        </p:spPr>
      </p:pic>
      <p:pic>
        <p:nvPicPr>
          <p:cNvPr id="13" name="SK-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2688" y="3112294"/>
            <a:ext cx="935831" cy="223838"/>
          </a:xfrm>
          <a:prstGeom prst="rect">
            <a:avLst/>
          </a:prstGeom>
        </p:spPr>
      </p:pic>
      <p:pic>
        <p:nvPicPr>
          <p:cNvPr id="14" name="SK-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06988" y="3161258"/>
            <a:ext cx="154781" cy="125760"/>
          </a:xfrm>
          <a:prstGeom prst="rect">
            <a:avLst/>
          </a:prstGeom>
        </p:spPr>
      </p:pic>
      <p:pic>
        <p:nvPicPr>
          <p:cNvPr id="15" name="SK-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586163"/>
            <a:ext cx="6309420" cy="609600"/>
          </a:xfrm>
          <a:prstGeom prst="rect">
            <a:avLst/>
          </a:prstGeom>
        </p:spPr>
      </p:pic>
      <p:pic>
        <p:nvPicPr>
          <p:cNvPr id="16" name="SK-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92688" y="3779044"/>
            <a:ext cx="935831" cy="223838"/>
          </a:xfrm>
          <a:prstGeom prst="rect">
            <a:avLst/>
          </a:prstGeom>
        </p:spPr>
      </p:pic>
      <p:pic>
        <p:nvPicPr>
          <p:cNvPr id="17" name="SK-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06988" y="3828008"/>
            <a:ext cx="154781" cy="125760"/>
          </a:xfrm>
          <a:prstGeom prst="rect">
            <a:avLst/>
          </a:prstGeom>
        </p:spPr>
      </p:pic>
      <p:pic>
        <p:nvPicPr>
          <p:cNvPr id="18" name="SK-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252913"/>
            <a:ext cx="6309420" cy="609600"/>
          </a:xfrm>
          <a:prstGeom prst="rect">
            <a:avLst/>
          </a:prstGeom>
        </p:spPr>
      </p:pic>
      <p:pic>
        <p:nvPicPr>
          <p:cNvPr id="19" name="SK-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92688" y="4445794"/>
            <a:ext cx="935831" cy="223838"/>
          </a:xfrm>
          <a:prstGeom prst="rect">
            <a:avLst/>
          </a:prstGeom>
        </p:spPr>
      </p:pic>
      <p:pic>
        <p:nvPicPr>
          <p:cNvPr id="20" name="SK-9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06988" y="4494758"/>
            <a:ext cx="154781" cy="125760"/>
          </a:xfrm>
          <a:prstGeom prst="rect">
            <a:avLst/>
          </a:prstGeom>
        </p:spPr>
      </p:pic>
      <p:pic>
        <p:nvPicPr>
          <p:cNvPr id="21" name="SK-9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919663"/>
            <a:ext cx="6309420" cy="609600"/>
          </a:xfrm>
          <a:prstGeom prst="rect">
            <a:avLst/>
          </a:prstGeom>
        </p:spPr>
      </p:pic>
      <p:pic>
        <p:nvPicPr>
          <p:cNvPr id="22" name="SK-9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92688" y="5112544"/>
            <a:ext cx="935831" cy="223838"/>
          </a:xfrm>
          <a:prstGeom prst="rect">
            <a:avLst/>
          </a:prstGeom>
        </p:spPr>
      </p:pic>
      <p:pic>
        <p:nvPicPr>
          <p:cNvPr id="23" name="SK-9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06988" y="5161508"/>
            <a:ext cx="154781" cy="125760"/>
          </a:xfrm>
          <a:prstGeom prst="rect">
            <a:avLst/>
          </a:prstGeom>
        </p:spPr>
      </p:pic>
      <p:pic>
        <p:nvPicPr>
          <p:cNvPr id="24" name="SK-9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5681663"/>
            <a:ext cx="6309420" cy="852488"/>
          </a:xfrm>
          <a:prstGeom prst="rect">
            <a:avLst/>
          </a:prstGeom>
        </p:spPr>
      </p:pic>
      <p:pic>
        <p:nvPicPr>
          <p:cNvPr id="25" name="SK-9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900" y="5809655"/>
            <a:ext cx="178594" cy="148828"/>
          </a:xfrm>
          <a:prstGeom prst="rect">
            <a:avLst/>
          </a:prstGeom>
        </p:spPr>
      </p:pic>
      <p:pic>
        <p:nvPicPr>
          <p:cNvPr id="26" name="SK-9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85720" y="1585913"/>
            <a:ext cx="4434780" cy="5024438"/>
          </a:xfrm>
          <a:prstGeom prst="rect">
            <a:avLst/>
          </a:prstGeom>
        </p:spPr>
      </p:pic>
      <p:pic>
        <p:nvPicPr>
          <p:cNvPr id="27" name="SK-9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00020" y="1700213"/>
            <a:ext cx="4206180" cy="609600"/>
          </a:xfrm>
          <a:prstGeom prst="rect">
            <a:avLst/>
          </a:prstGeom>
        </p:spPr>
      </p:pic>
      <p:pic>
        <p:nvPicPr>
          <p:cNvPr id="28" name="SK-9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00020" y="2405063"/>
            <a:ext cx="4206180" cy="609600"/>
          </a:xfrm>
          <a:prstGeom prst="rect">
            <a:avLst/>
          </a:prstGeom>
        </p:spPr>
      </p:pic>
      <p:pic>
        <p:nvPicPr>
          <p:cNvPr id="29" name="SK-9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00020" y="3109913"/>
            <a:ext cx="4206180" cy="609600"/>
          </a:xfrm>
          <a:prstGeom prst="rect">
            <a:avLst/>
          </a:prstGeom>
        </p:spPr>
      </p:pic>
      <p:pic>
        <p:nvPicPr>
          <p:cNvPr id="30" name="SK-9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00020" y="3814763"/>
            <a:ext cx="4206180" cy="609600"/>
          </a:xfrm>
          <a:prstGeom prst="rect">
            <a:avLst/>
          </a:prstGeom>
        </p:spPr>
      </p:pic>
      <p:pic>
        <p:nvPicPr>
          <p:cNvPr id="31" name="SK-9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00020" y="4519613"/>
            <a:ext cx="4206180" cy="609600"/>
          </a:xfrm>
          <a:prstGeom prst="rect">
            <a:avLst/>
          </a:prstGeom>
        </p:spPr>
      </p:pic>
      <p:pic>
        <p:nvPicPr>
          <p:cNvPr id="32" name="SK-9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300020" y="5224463"/>
            <a:ext cx="4206180" cy="609600"/>
          </a:xfrm>
          <a:prstGeom prst="rect">
            <a:avLst/>
          </a:prstGeom>
        </p:spPr>
      </p:pic>
      <p:sp>
        <p:nvSpPr>
          <p:cNvPr id="33" name="SK-9-text-32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4" name="SK-9-text-33"/>
          <p:cNvSpPr/>
          <p:nvPr/>
        </p:nvSpPr>
        <p:spPr>
          <a:xfrm>
            <a:off x="571500" y="60007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B-1.5. PMBOK 8판 6대 원칙 위반 진단</a:t>
            </a:r>
            <a:endParaRPr lang="en-US" sz="2550" dirty="0"/>
          </a:p>
        </p:txBody>
      </p:sp>
      <p:sp>
        <p:nvSpPr>
          <p:cNvPr id="35" name="SK-9-text-34"/>
          <p:cNvSpPr/>
          <p:nvPr/>
        </p:nvSpPr>
        <p:spPr>
          <a:xfrm>
            <a:off x="571500" y="1200150"/>
            <a:ext cx="116205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전체론적 관점, 가치 집중, 책임감 있는 리더 등 주요 원칙의 위반 사례를 HERMES 프로젝트의 증거와 함께 평가합니다.</a:t>
            </a:r>
            <a:endParaRPr lang="en-US" sz="1275" dirty="0"/>
          </a:p>
        </p:txBody>
      </p:sp>
      <p:sp>
        <p:nvSpPr>
          <p:cNvPr id="36" name="SK-9-text-35"/>
          <p:cNvSpPr/>
          <p:nvPr/>
        </p:nvSpPr>
        <p:spPr>
          <a:xfrm>
            <a:off x="723900" y="176212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01</a:t>
            </a:r>
            <a:endParaRPr lang="en-US" sz="1350" dirty="0"/>
          </a:p>
        </p:txBody>
      </p:sp>
      <p:sp>
        <p:nvSpPr>
          <p:cNvPr id="37" name="SK-9-text-36"/>
          <p:cNvSpPr/>
          <p:nvPr/>
        </p:nvSpPr>
        <p:spPr>
          <a:xfrm>
            <a:off x="1219200" y="1747838"/>
            <a:ext cx="7639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전체론적 관점 채택 (Holistic Perspective)</a:t>
            </a:r>
            <a:endParaRPr lang="en-US" sz="1500" dirty="0"/>
          </a:p>
        </p:txBody>
      </p:sp>
      <p:sp>
        <p:nvSpPr>
          <p:cNvPr id="38" name="SK-9-text-37"/>
          <p:cNvSpPr/>
          <p:nvPr/>
        </p:nvSpPr>
        <p:spPr>
          <a:xfrm>
            <a:off x="6366570" y="1778794"/>
            <a:ext cx="45958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975" dirty="0"/>
          </a:p>
        </p:txBody>
      </p:sp>
      <p:sp>
        <p:nvSpPr>
          <p:cNvPr id="39" name="SK-9-text-38"/>
          <p:cNvSpPr/>
          <p:nvPr/>
        </p:nvSpPr>
        <p:spPr>
          <a:xfrm>
            <a:off x="723900" y="242887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02</a:t>
            </a:r>
            <a:endParaRPr lang="en-US" sz="1350" dirty="0"/>
          </a:p>
        </p:txBody>
      </p:sp>
      <p:sp>
        <p:nvSpPr>
          <p:cNvPr id="40" name="SK-9-text-39"/>
          <p:cNvSpPr/>
          <p:nvPr/>
        </p:nvSpPr>
        <p:spPr>
          <a:xfrm>
            <a:off x="1219200" y="2414588"/>
            <a:ext cx="6038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가치에 대한 집중 (Focus on Value)</a:t>
            </a:r>
            <a:endParaRPr lang="en-US" sz="1500" dirty="0"/>
          </a:p>
        </p:txBody>
      </p:sp>
      <p:sp>
        <p:nvSpPr>
          <p:cNvPr id="41" name="SK-9-text-40"/>
          <p:cNvSpPr/>
          <p:nvPr/>
        </p:nvSpPr>
        <p:spPr>
          <a:xfrm>
            <a:off x="6366570" y="2445544"/>
            <a:ext cx="45958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975" dirty="0"/>
          </a:p>
        </p:txBody>
      </p:sp>
      <p:sp>
        <p:nvSpPr>
          <p:cNvPr id="42" name="SK-9-text-41"/>
          <p:cNvSpPr/>
          <p:nvPr/>
        </p:nvSpPr>
        <p:spPr>
          <a:xfrm>
            <a:off x="723900" y="309562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03</a:t>
            </a:r>
            <a:endParaRPr lang="en-US" sz="1350" dirty="0"/>
          </a:p>
        </p:txBody>
      </p:sp>
      <p:sp>
        <p:nvSpPr>
          <p:cNvPr id="43" name="SK-9-text-42"/>
          <p:cNvSpPr/>
          <p:nvPr/>
        </p:nvSpPr>
        <p:spPr>
          <a:xfrm>
            <a:off x="1219200" y="3081338"/>
            <a:ext cx="535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내재화 (Embody Quality)</a:t>
            </a:r>
            <a:endParaRPr lang="en-US" sz="1500" dirty="0"/>
          </a:p>
        </p:txBody>
      </p:sp>
      <p:sp>
        <p:nvSpPr>
          <p:cNvPr id="44" name="SK-9-text-43"/>
          <p:cNvSpPr/>
          <p:nvPr/>
        </p:nvSpPr>
        <p:spPr>
          <a:xfrm>
            <a:off x="6118920" y="3112294"/>
            <a:ext cx="70723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간접위반</a:t>
            </a:r>
            <a:endParaRPr lang="en-US" sz="975" dirty="0"/>
          </a:p>
        </p:txBody>
      </p:sp>
      <p:sp>
        <p:nvSpPr>
          <p:cNvPr id="45" name="SK-9-text-44"/>
          <p:cNvSpPr/>
          <p:nvPr/>
        </p:nvSpPr>
        <p:spPr>
          <a:xfrm>
            <a:off x="723900" y="376237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04</a:t>
            </a:r>
            <a:endParaRPr lang="en-US" sz="1350" dirty="0"/>
          </a:p>
        </p:txBody>
      </p:sp>
      <p:sp>
        <p:nvSpPr>
          <p:cNvPr id="46" name="SK-9-text-45"/>
          <p:cNvSpPr/>
          <p:nvPr/>
        </p:nvSpPr>
        <p:spPr>
          <a:xfrm>
            <a:off x="1219200" y="3748087"/>
            <a:ext cx="809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있는 리더 (Be a Responsible Leader)</a:t>
            </a:r>
            <a:endParaRPr lang="en-US" sz="1500" dirty="0"/>
          </a:p>
        </p:txBody>
      </p:sp>
      <p:sp>
        <p:nvSpPr>
          <p:cNvPr id="47" name="SK-9-text-46"/>
          <p:cNvSpPr/>
          <p:nvPr/>
        </p:nvSpPr>
        <p:spPr>
          <a:xfrm>
            <a:off x="6118920" y="3779044"/>
            <a:ext cx="70723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핵심위반</a:t>
            </a:r>
            <a:endParaRPr lang="en-US" sz="975" dirty="0"/>
          </a:p>
        </p:txBody>
      </p:sp>
      <p:sp>
        <p:nvSpPr>
          <p:cNvPr id="48" name="SK-9-text-47"/>
          <p:cNvSpPr/>
          <p:nvPr/>
        </p:nvSpPr>
        <p:spPr>
          <a:xfrm>
            <a:off x="723900" y="442912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05</a:t>
            </a:r>
            <a:endParaRPr lang="en-US" sz="1350" dirty="0"/>
          </a:p>
        </p:txBody>
      </p:sp>
      <p:sp>
        <p:nvSpPr>
          <p:cNvPr id="49" name="SK-9-text-48"/>
          <p:cNvSpPr/>
          <p:nvPr/>
        </p:nvSpPr>
        <p:spPr>
          <a:xfrm>
            <a:off x="1219200" y="4414838"/>
            <a:ext cx="809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지속가능성 통합 (Integrate Sustainability)</a:t>
            </a:r>
            <a:endParaRPr lang="en-US" sz="1500" dirty="0"/>
          </a:p>
        </p:txBody>
      </p:sp>
      <p:sp>
        <p:nvSpPr>
          <p:cNvPr id="50" name="SK-9-text-49"/>
          <p:cNvSpPr/>
          <p:nvPr/>
        </p:nvSpPr>
        <p:spPr>
          <a:xfrm>
            <a:off x="6118920" y="4445794"/>
            <a:ext cx="70723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간접위반</a:t>
            </a:r>
            <a:endParaRPr lang="en-US" sz="975" dirty="0"/>
          </a:p>
        </p:txBody>
      </p:sp>
      <p:sp>
        <p:nvSpPr>
          <p:cNvPr id="51" name="SK-9-text-50"/>
          <p:cNvSpPr/>
          <p:nvPr/>
        </p:nvSpPr>
        <p:spPr>
          <a:xfrm>
            <a:off x="723900" y="5095875"/>
            <a:ext cx="771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9CA3AF"/>
                </a:solidFill>
              </a:rPr>
              <a:t>06</a:t>
            </a:r>
            <a:endParaRPr lang="en-US" sz="1350" dirty="0"/>
          </a:p>
        </p:txBody>
      </p:sp>
      <p:sp>
        <p:nvSpPr>
          <p:cNvPr id="52" name="SK-9-text-51"/>
          <p:cNvSpPr/>
          <p:nvPr/>
        </p:nvSpPr>
        <p:spPr>
          <a:xfrm>
            <a:off x="1219200" y="5081588"/>
            <a:ext cx="5810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자율성/권한 문화 (Enable Change)</a:t>
            </a:r>
            <a:endParaRPr lang="en-US" sz="1500" dirty="0"/>
          </a:p>
        </p:txBody>
      </p:sp>
      <p:sp>
        <p:nvSpPr>
          <p:cNvPr id="53" name="SK-9-text-52"/>
          <p:cNvSpPr/>
          <p:nvPr/>
        </p:nvSpPr>
        <p:spPr>
          <a:xfrm>
            <a:off x="6118920" y="5112544"/>
            <a:ext cx="70723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해당없음</a:t>
            </a:r>
            <a:endParaRPr lang="en-US" sz="975" dirty="0"/>
          </a:p>
        </p:txBody>
      </p:sp>
      <p:sp>
        <p:nvSpPr>
          <p:cNvPr id="54" name="SK-9-text-53"/>
          <p:cNvSpPr/>
          <p:nvPr/>
        </p:nvSpPr>
        <p:spPr>
          <a:xfrm>
            <a:off x="997744" y="5776913"/>
            <a:ext cx="24765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원칙 위반 분석 결론</a:t>
            </a:r>
            <a:endParaRPr lang="en-US" sz="1125" dirty="0"/>
          </a:p>
        </p:txBody>
      </p:sp>
      <p:sp>
        <p:nvSpPr>
          <p:cNvPr id="55" name="SK-9-text-54"/>
          <p:cNvSpPr/>
          <p:nvPr/>
        </p:nvSpPr>
        <p:spPr>
          <a:xfrm>
            <a:off x="723900" y="6038850"/>
            <a:ext cx="60046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4(책임감 리더)와 원칙 2(가치 집중)의 동시 위반이 수박 프로젝트의 근본 구조를 형성함. 타 사례와 달리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은폐 동기(원칙 6)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아닌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공백(원칙 4)으로 인한 구조적 맹목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원인임.</a:t>
            </a:r>
            <a:endParaRPr lang="en-US" sz="1050" dirty="0"/>
          </a:p>
        </p:txBody>
      </p:sp>
      <p:sp>
        <p:nvSpPr>
          <p:cNvPr id="56" name="SK-9-text-55"/>
          <p:cNvSpPr/>
          <p:nvPr/>
        </p:nvSpPr>
        <p:spPr>
          <a:xfrm>
            <a:off x="7376220" y="1734145"/>
            <a:ext cx="41299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INTERACTION</a:t>
            </a:r>
            <a:endParaRPr lang="en-US" sz="825" dirty="0"/>
          </a:p>
        </p:txBody>
      </p:sp>
      <p:sp>
        <p:nvSpPr>
          <p:cNvPr id="57" name="SK-9-text-56"/>
          <p:cNvSpPr/>
          <p:nvPr/>
        </p:nvSpPr>
        <p:spPr>
          <a:xfrm>
            <a:off x="7376220" y="1929408"/>
            <a:ext cx="405378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부문만 보고, AI 인프라 비용 분리, 파일럿 데이터 단절 등 시스템 간 상호작용 무시</a:t>
            </a:r>
            <a:endParaRPr lang="en-US" sz="975" dirty="0"/>
          </a:p>
        </p:txBody>
      </p:sp>
      <p:sp>
        <p:nvSpPr>
          <p:cNvPr id="58" name="SK-9-text-57"/>
          <p:cNvSpPr/>
          <p:nvPr/>
        </p:nvSpPr>
        <p:spPr>
          <a:xfrm>
            <a:off x="7376220" y="2438995"/>
            <a:ext cx="41299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OUTCOME VS OUTPUT</a:t>
            </a:r>
            <a:endParaRPr lang="en-US" sz="825" dirty="0"/>
          </a:p>
        </p:txBody>
      </p:sp>
      <p:sp>
        <p:nvSpPr>
          <p:cNvPr id="59" name="SK-9-text-58"/>
          <p:cNvSpPr/>
          <p:nvPr/>
        </p:nvSpPr>
        <p:spPr>
          <a:xfrm>
            <a:off x="7376220" y="2634258"/>
            <a:ext cx="405378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Output(완료율) 집착, Outcome(편익) 방기. 계약유지율보다 코드 머지 우선시</a:t>
            </a:r>
            <a:endParaRPr lang="en-US" sz="975" dirty="0"/>
          </a:p>
        </p:txBody>
      </p:sp>
      <p:sp>
        <p:nvSpPr>
          <p:cNvPr id="60" name="SK-9-text-59"/>
          <p:cNvSpPr/>
          <p:nvPr/>
        </p:nvSpPr>
        <p:spPr>
          <a:xfrm>
            <a:off x="7376220" y="3230463"/>
            <a:ext cx="41299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DOD MODIFICATION</a:t>
            </a:r>
            <a:endParaRPr lang="en-US" sz="825" dirty="0"/>
          </a:p>
        </p:txBody>
      </p:sp>
      <p:sp>
        <p:nvSpPr>
          <p:cNvPr id="61" name="SK-9-text-60"/>
          <p:cNvSpPr/>
          <p:nvPr/>
        </p:nvSpPr>
        <p:spPr>
          <a:xfrm>
            <a:off x="7376220" y="3425726"/>
            <a:ext cx="48157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v2에서 QA 통과 삭제. 안전 항목 별도 검증 트랙 신설 무산(M-03)</a:t>
            </a:r>
            <a:endParaRPr lang="en-US" sz="975" dirty="0"/>
          </a:p>
        </p:txBody>
      </p:sp>
      <p:sp>
        <p:nvSpPr>
          <p:cNvPr id="62" name="SK-9-text-61"/>
          <p:cNvSpPr/>
          <p:nvPr/>
        </p:nvSpPr>
        <p:spPr>
          <a:xfrm>
            <a:off x="7376220" y="3848695"/>
            <a:ext cx="41299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ACCOUNTABILITY</a:t>
            </a:r>
            <a:endParaRPr lang="en-US" sz="825" dirty="0"/>
          </a:p>
        </p:txBody>
      </p:sp>
      <p:sp>
        <p:nvSpPr>
          <p:cNvPr id="63" name="SK-9-text-62"/>
          <p:cNvSpPr/>
          <p:nvPr/>
        </p:nvSpPr>
        <p:spPr>
          <a:xfrm>
            <a:off x="7376220" y="4043958"/>
            <a:ext cx="405378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공란 4건, Daniel Suh 무회신, 리스크 근거 없는 하향 및 에스컬레이션 미수행</a:t>
            </a:r>
            <a:endParaRPr lang="en-US" sz="975" dirty="0"/>
          </a:p>
        </p:txBody>
      </p:sp>
      <p:sp>
        <p:nvSpPr>
          <p:cNvPr id="64" name="SK-9-text-63"/>
          <p:cNvSpPr/>
          <p:nvPr/>
        </p:nvSpPr>
        <p:spPr>
          <a:xfrm>
            <a:off x="7376220" y="4553545"/>
            <a:ext cx="41299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LONG-TERM VALUE</a:t>
            </a:r>
            <a:endParaRPr lang="en-US" sz="825" dirty="0"/>
          </a:p>
        </p:txBody>
      </p:sp>
      <p:sp>
        <p:nvSpPr>
          <p:cNvPr id="65" name="SK-9-text-64"/>
          <p:cNvSpPr/>
          <p:nvPr/>
        </p:nvSpPr>
        <p:spPr>
          <a:xfrm>
            <a:off x="7376220" y="4748808"/>
            <a:ext cx="405378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지표 유지를 위해 편익 측정 및 Helion 마이그레이션 등 장기 가치 희생</a:t>
            </a:r>
            <a:endParaRPr lang="en-US" sz="975" dirty="0"/>
          </a:p>
        </p:txBody>
      </p:sp>
      <p:sp>
        <p:nvSpPr>
          <p:cNvPr id="66" name="SK-9-text-65"/>
          <p:cNvSpPr/>
          <p:nvPr/>
        </p:nvSpPr>
        <p:spPr>
          <a:xfrm>
            <a:off x="7376220" y="5258395"/>
            <a:ext cx="41299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EVIDENCE: TEAM HEALTH</a:t>
            </a:r>
            <a:endParaRPr lang="en-US" sz="825" dirty="0"/>
          </a:p>
        </p:txBody>
      </p:sp>
      <p:sp>
        <p:nvSpPr>
          <p:cNvPr id="67" name="SK-9-text-66"/>
          <p:cNvSpPr/>
          <p:nvPr/>
        </p:nvSpPr>
        <p:spPr>
          <a:xfrm>
            <a:off x="7376220" y="5453658"/>
            <a:ext cx="405378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만족도 3.9, 번아웃 7%. "질책 문화"가 아닌 "구조적 맹목"이 본질적 문제임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09700"/>
            <a:ext cx="11049000" cy="709613"/>
          </a:xfrm>
          <a:prstGeom prst="rect">
            <a:avLst/>
          </a:prstGeom>
        </p:spPr>
      </p:pic>
      <p:pic>
        <p:nvPicPr>
          <p:cNvPr id="7" name="SK-1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69988"/>
            <a:ext cx="202406" cy="163711"/>
          </a:xfrm>
          <a:prstGeom prst="rect">
            <a:avLst/>
          </a:prstGeom>
        </p:spPr>
      </p:pic>
      <p:pic>
        <p:nvPicPr>
          <p:cNvPr id="8" name="SK-1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309813"/>
            <a:ext cx="5429250" cy="4167188"/>
          </a:xfrm>
          <a:prstGeom prst="rect">
            <a:avLst/>
          </a:prstGeom>
        </p:spPr>
      </p:pic>
      <p:pic>
        <p:nvPicPr>
          <p:cNvPr id="9" name="SK-10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424113"/>
            <a:ext cx="5200650" cy="333375"/>
          </a:xfrm>
          <a:prstGeom prst="rect">
            <a:avLst/>
          </a:prstGeom>
        </p:spPr>
      </p:pic>
      <p:pic>
        <p:nvPicPr>
          <p:cNvPr id="10" name="SK-10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65040"/>
            <a:ext cx="214313" cy="175320"/>
          </a:xfrm>
          <a:prstGeom prst="rect">
            <a:avLst/>
          </a:prstGeom>
        </p:spPr>
      </p:pic>
      <p:pic>
        <p:nvPicPr>
          <p:cNvPr id="11" name="SK-10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871788"/>
            <a:ext cx="1820168" cy="323850"/>
          </a:xfrm>
          <a:prstGeom prst="rect">
            <a:avLst/>
          </a:prstGeom>
        </p:spPr>
      </p:pic>
      <p:pic>
        <p:nvPicPr>
          <p:cNvPr id="12" name="SK-10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05968" y="2871788"/>
            <a:ext cx="3380482" cy="323850"/>
          </a:xfrm>
          <a:prstGeom prst="rect">
            <a:avLst/>
          </a:prstGeom>
        </p:spPr>
      </p:pic>
      <p:pic>
        <p:nvPicPr>
          <p:cNvPr id="13" name="SK-10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195638"/>
            <a:ext cx="1820168" cy="738188"/>
          </a:xfrm>
          <a:prstGeom prst="rect">
            <a:avLst/>
          </a:prstGeom>
        </p:spPr>
      </p:pic>
      <p:pic>
        <p:nvPicPr>
          <p:cNvPr id="14" name="SK-10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05968" y="3195638"/>
            <a:ext cx="3380482" cy="738188"/>
          </a:xfrm>
          <a:prstGeom prst="rect">
            <a:avLst/>
          </a:prstGeom>
        </p:spPr>
      </p:pic>
      <p:pic>
        <p:nvPicPr>
          <p:cNvPr id="15" name="SK-10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933825"/>
            <a:ext cx="1820168" cy="738188"/>
          </a:xfrm>
          <a:prstGeom prst="rect">
            <a:avLst/>
          </a:prstGeom>
        </p:spPr>
      </p:pic>
      <p:pic>
        <p:nvPicPr>
          <p:cNvPr id="16" name="SK-10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05968" y="3933825"/>
            <a:ext cx="3380482" cy="738188"/>
          </a:xfrm>
          <a:prstGeom prst="rect">
            <a:avLst/>
          </a:prstGeom>
        </p:spPr>
      </p:pic>
      <p:pic>
        <p:nvPicPr>
          <p:cNvPr id="17" name="SK-10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672013"/>
            <a:ext cx="1820168" cy="738188"/>
          </a:xfrm>
          <a:prstGeom prst="rect">
            <a:avLst/>
          </a:prstGeom>
        </p:spPr>
      </p:pic>
      <p:pic>
        <p:nvPicPr>
          <p:cNvPr id="18" name="SK-10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05968" y="4672013"/>
            <a:ext cx="3380482" cy="738188"/>
          </a:xfrm>
          <a:prstGeom prst="rect">
            <a:avLst/>
          </a:prstGeom>
        </p:spPr>
      </p:pic>
      <p:pic>
        <p:nvPicPr>
          <p:cNvPr id="19" name="SK-10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82168" y="4963418"/>
            <a:ext cx="857250" cy="152400"/>
          </a:xfrm>
          <a:prstGeom prst="rect">
            <a:avLst/>
          </a:prstGeom>
        </p:spPr>
      </p:pic>
      <p:pic>
        <p:nvPicPr>
          <p:cNvPr id="20" name="SK-10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5410200"/>
            <a:ext cx="1820168" cy="476101"/>
          </a:xfrm>
          <a:prstGeom prst="rect">
            <a:avLst/>
          </a:prstGeom>
        </p:spPr>
      </p:pic>
      <p:pic>
        <p:nvPicPr>
          <p:cNvPr id="21" name="SK-10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05968" y="5410200"/>
            <a:ext cx="3380482" cy="476101"/>
          </a:xfrm>
          <a:prstGeom prst="rect">
            <a:avLst/>
          </a:prstGeom>
        </p:spPr>
      </p:pic>
      <p:pic>
        <p:nvPicPr>
          <p:cNvPr id="22" name="SK-10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44318" y="5514975"/>
            <a:ext cx="1190625" cy="152400"/>
          </a:xfrm>
          <a:prstGeom prst="rect">
            <a:avLst/>
          </a:prstGeom>
        </p:spPr>
      </p:pic>
      <p:pic>
        <p:nvPicPr>
          <p:cNvPr id="23" name="SK-10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800" y="5886301"/>
            <a:ext cx="1820168" cy="476399"/>
          </a:xfrm>
          <a:prstGeom prst="rect">
            <a:avLst/>
          </a:prstGeom>
        </p:spPr>
      </p:pic>
      <p:pic>
        <p:nvPicPr>
          <p:cNvPr id="24" name="SK-10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05968" y="5886301"/>
            <a:ext cx="3380482" cy="476399"/>
          </a:xfrm>
          <a:prstGeom prst="rect">
            <a:avLst/>
          </a:prstGeom>
        </p:spPr>
      </p:pic>
      <p:pic>
        <p:nvPicPr>
          <p:cNvPr id="25" name="SK-10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91250" y="2309813"/>
            <a:ext cx="5429250" cy="4167188"/>
          </a:xfrm>
          <a:prstGeom prst="rect">
            <a:avLst/>
          </a:prstGeom>
        </p:spPr>
      </p:pic>
      <p:pic>
        <p:nvPicPr>
          <p:cNvPr id="26" name="SK-10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05550" y="2424113"/>
            <a:ext cx="5200650" cy="333375"/>
          </a:xfrm>
          <a:prstGeom prst="rect">
            <a:avLst/>
          </a:prstGeom>
        </p:spPr>
      </p:pic>
      <p:pic>
        <p:nvPicPr>
          <p:cNvPr id="27" name="SK-10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05550" y="2465040"/>
            <a:ext cx="214313" cy="175320"/>
          </a:xfrm>
          <a:prstGeom prst="rect">
            <a:avLst/>
          </a:prstGeom>
        </p:spPr>
      </p:pic>
      <p:pic>
        <p:nvPicPr>
          <p:cNvPr id="28" name="SK-10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05550" y="2871788"/>
            <a:ext cx="1820168" cy="323850"/>
          </a:xfrm>
          <a:prstGeom prst="rect">
            <a:avLst/>
          </a:prstGeom>
        </p:spPr>
      </p:pic>
      <p:pic>
        <p:nvPicPr>
          <p:cNvPr id="29" name="SK-10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25718" y="2871788"/>
            <a:ext cx="3380482" cy="323850"/>
          </a:xfrm>
          <a:prstGeom prst="rect">
            <a:avLst/>
          </a:prstGeom>
        </p:spPr>
      </p:pic>
      <p:pic>
        <p:nvPicPr>
          <p:cNvPr id="30" name="SK-10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05550" y="3195638"/>
            <a:ext cx="1820168" cy="633413"/>
          </a:xfrm>
          <a:prstGeom prst="rect">
            <a:avLst/>
          </a:prstGeom>
        </p:spPr>
      </p:pic>
      <p:pic>
        <p:nvPicPr>
          <p:cNvPr id="31" name="SK-10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25718" y="3195638"/>
            <a:ext cx="3380482" cy="633413"/>
          </a:xfrm>
          <a:prstGeom prst="rect">
            <a:avLst/>
          </a:prstGeom>
        </p:spPr>
      </p:pic>
      <p:pic>
        <p:nvPicPr>
          <p:cNvPr id="32" name="SK-10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01918" y="3487043"/>
            <a:ext cx="1257300" cy="152400"/>
          </a:xfrm>
          <a:prstGeom prst="rect">
            <a:avLst/>
          </a:prstGeom>
        </p:spPr>
      </p:pic>
      <p:pic>
        <p:nvPicPr>
          <p:cNvPr id="33" name="SK-10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05550" y="3829050"/>
            <a:ext cx="1820168" cy="633413"/>
          </a:xfrm>
          <a:prstGeom prst="rect">
            <a:avLst/>
          </a:prstGeom>
        </p:spPr>
      </p:pic>
      <p:pic>
        <p:nvPicPr>
          <p:cNvPr id="34" name="SK-10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25718" y="3829050"/>
            <a:ext cx="3380482" cy="633413"/>
          </a:xfrm>
          <a:prstGeom prst="rect">
            <a:avLst/>
          </a:prstGeom>
        </p:spPr>
      </p:pic>
      <p:pic>
        <p:nvPicPr>
          <p:cNvPr id="35" name="SK-10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497193" y="4120455"/>
            <a:ext cx="323850" cy="152400"/>
          </a:xfrm>
          <a:prstGeom prst="rect">
            <a:avLst/>
          </a:prstGeom>
        </p:spPr>
      </p:pic>
      <p:pic>
        <p:nvPicPr>
          <p:cNvPr id="36" name="SK-10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305550" y="4462463"/>
            <a:ext cx="1820168" cy="633413"/>
          </a:xfrm>
          <a:prstGeom prst="rect">
            <a:avLst/>
          </a:prstGeom>
        </p:spPr>
      </p:pic>
      <p:pic>
        <p:nvPicPr>
          <p:cNvPr id="37" name="SK-10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125718" y="4462463"/>
            <a:ext cx="3380482" cy="633413"/>
          </a:xfrm>
          <a:prstGeom prst="rect">
            <a:avLst/>
          </a:prstGeom>
        </p:spPr>
      </p:pic>
      <p:pic>
        <p:nvPicPr>
          <p:cNvPr id="38" name="SK-10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305550" y="5095875"/>
            <a:ext cx="1820168" cy="633413"/>
          </a:xfrm>
          <a:prstGeom prst="rect">
            <a:avLst/>
          </a:prstGeom>
        </p:spPr>
      </p:pic>
      <p:pic>
        <p:nvPicPr>
          <p:cNvPr id="39" name="SK-10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25718" y="5095875"/>
            <a:ext cx="3380482" cy="633413"/>
          </a:xfrm>
          <a:prstGeom prst="rect">
            <a:avLst/>
          </a:prstGeom>
        </p:spPr>
      </p:pic>
      <p:pic>
        <p:nvPicPr>
          <p:cNvPr id="40" name="SK-10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363843" y="5387280"/>
            <a:ext cx="323850" cy="152400"/>
          </a:xfrm>
          <a:prstGeom prst="rect">
            <a:avLst/>
          </a:prstGeom>
        </p:spPr>
      </p:pic>
      <p:pic>
        <p:nvPicPr>
          <p:cNvPr id="41" name="SK-10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305550" y="5729288"/>
            <a:ext cx="1820168" cy="633413"/>
          </a:xfrm>
          <a:prstGeom prst="rect">
            <a:avLst/>
          </a:prstGeom>
        </p:spPr>
      </p:pic>
      <p:pic>
        <p:nvPicPr>
          <p:cNvPr id="42" name="SK-10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125718" y="5729288"/>
            <a:ext cx="3380482" cy="633413"/>
          </a:xfrm>
          <a:prstGeom prst="rect">
            <a:avLst/>
          </a:prstGeom>
        </p:spPr>
      </p:pic>
      <p:pic>
        <p:nvPicPr>
          <p:cNvPr id="43" name="SK-10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659118" y="6020693"/>
            <a:ext cx="457200" cy="152400"/>
          </a:xfrm>
          <a:prstGeom prst="rect">
            <a:avLst/>
          </a:prstGeom>
        </p:spPr>
      </p:pic>
      <p:sp>
        <p:nvSpPr>
          <p:cNvPr id="44" name="SK-10-text-4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5" name="SK-10-text-44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B-2. Performance Domain 분석: 거버넌스(2.1)</a:t>
            </a:r>
            <a:endParaRPr lang="en-US" sz="2550" dirty="0"/>
          </a:p>
        </p:txBody>
      </p:sp>
      <p:sp>
        <p:nvSpPr>
          <p:cNvPr id="46" name="SK-10-text-45"/>
          <p:cNvSpPr/>
          <p:nvPr/>
        </p:nvSpPr>
        <p:spPr>
          <a:xfrm>
            <a:off x="964406" y="1524000"/>
            <a:ext cx="108204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거버넌스(Governance)는 HERMES 실패의 가장 치명적인 도메인입니다.</a:t>
            </a:r>
            <a:endParaRPr lang="en-US" sz="1275" dirty="0"/>
          </a:p>
        </p:txBody>
      </p:sp>
      <p:sp>
        <p:nvSpPr>
          <p:cNvPr id="47" name="SK-10-text-46"/>
          <p:cNvSpPr/>
          <p:nvPr/>
        </p:nvSpPr>
        <p:spPr>
          <a:xfrm>
            <a:off x="685800" y="1804988"/>
            <a:ext cx="10896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"거버넌스는 의사결정의 투명성과 추적성을 보장하는 체계이나, HERMES에서는 이를 왜곡·조작하는 도구로 전락함"</a:t>
            </a:r>
            <a:endParaRPr lang="en-US" sz="1050" dirty="0"/>
          </a:p>
        </p:txBody>
      </p:sp>
      <p:sp>
        <p:nvSpPr>
          <p:cNvPr id="48" name="SK-10-text-47"/>
          <p:cNvSpPr/>
          <p:nvPr/>
        </p:nvSpPr>
        <p:spPr>
          <a:xfrm>
            <a:off x="995363" y="2424113"/>
            <a:ext cx="25546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 및 추적성 실패</a:t>
            </a:r>
            <a:endParaRPr lang="en-US" sz="1350" dirty="0"/>
          </a:p>
        </p:txBody>
      </p:sp>
      <p:sp>
        <p:nvSpPr>
          <p:cNvPr id="49" name="SK-10-text-48"/>
          <p:cNvSpPr/>
          <p:nvPr/>
        </p:nvSpPr>
        <p:spPr>
          <a:xfrm>
            <a:off x="762000" y="2871788"/>
            <a:ext cx="1743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결함</a:t>
            </a:r>
            <a:endParaRPr lang="en-US" sz="900" dirty="0"/>
          </a:p>
        </p:txBody>
      </p:sp>
      <p:sp>
        <p:nvSpPr>
          <p:cNvPr id="50" name="SK-10-text-49"/>
          <p:cNvSpPr/>
          <p:nvPr/>
        </p:nvSpPr>
        <p:spPr>
          <a:xfrm>
            <a:off x="2582168" y="2871788"/>
            <a:ext cx="33042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증거</a:t>
            </a:r>
            <a:endParaRPr lang="en-US" sz="900" dirty="0"/>
          </a:p>
        </p:txBody>
      </p:sp>
      <p:sp>
        <p:nvSpPr>
          <p:cNvPr id="51" name="SK-10-text-50"/>
          <p:cNvSpPr/>
          <p:nvPr/>
        </p:nvSpPr>
        <p:spPr>
          <a:xfrm>
            <a:off x="762000" y="3195638"/>
            <a:ext cx="1743968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부분 보고</a:t>
            </a:r>
            <a:endParaRPr lang="en-US" sz="1050" dirty="0"/>
          </a:p>
        </p:txBody>
      </p:sp>
      <p:sp>
        <p:nvSpPr>
          <p:cNvPr id="52" name="SK-10-text-51"/>
          <p:cNvSpPr/>
          <p:nvPr/>
        </p:nvSpPr>
        <p:spPr>
          <a:xfrm>
            <a:off x="2582168" y="3195638"/>
            <a:ext cx="322808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인프라(24억) 분리 보고 → CPI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0.98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(보고) vs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0.944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(실제)</a:t>
            </a:r>
            <a:endParaRPr lang="en-US" sz="1050" dirty="0"/>
          </a:p>
        </p:txBody>
      </p:sp>
      <p:sp>
        <p:nvSpPr>
          <p:cNvPr id="53" name="SK-10-text-52"/>
          <p:cNvSpPr/>
          <p:nvPr/>
        </p:nvSpPr>
        <p:spPr>
          <a:xfrm>
            <a:off x="762000" y="3933825"/>
            <a:ext cx="1743968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</a:t>
            </a:r>
            <a:endParaRPr lang="en-US" sz="1050" dirty="0"/>
          </a:p>
        </p:txBody>
      </p:sp>
      <p:sp>
        <p:nvSpPr>
          <p:cNvPr id="54" name="SK-10-text-53"/>
          <p:cNvSpPr/>
          <p:nvPr/>
        </p:nvSpPr>
        <p:spPr>
          <a:xfrm>
            <a:off x="2582168" y="3933825"/>
            <a:ext cx="322808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DEC-04~11: 3개 리전 기록 상이.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SSOT(단일진실공급원) 부재</a:t>
            </a:r>
            <a:endParaRPr lang="en-US" sz="1050" dirty="0"/>
          </a:p>
        </p:txBody>
      </p:sp>
      <p:sp>
        <p:nvSpPr>
          <p:cNvPr id="55" name="SK-10-text-54"/>
          <p:cNvSpPr/>
          <p:nvPr/>
        </p:nvSpPr>
        <p:spPr>
          <a:xfrm>
            <a:off x="762000" y="4672013"/>
            <a:ext cx="1743968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자동보고 무검토</a:t>
            </a:r>
            <a:endParaRPr lang="en-US" sz="1050" dirty="0"/>
          </a:p>
        </p:txBody>
      </p:sp>
      <p:sp>
        <p:nvSpPr>
          <p:cNvPr id="56" name="SK-10-text-55"/>
          <p:cNvSpPr/>
          <p:nvPr/>
        </p:nvSpPr>
        <p:spPr>
          <a:xfrm>
            <a:off x="2582168" y="4672013"/>
            <a:ext cx="322808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16주간 "전 지표 정상" 반복. 사람 검토자/서명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누락</a:t>
            </a:r>
            <a:endParaRPr lang="en-US" sz="1050" dirty="0"/>
          </a:p>
        </p:txBody>
      </p:sp>
      <p:sp>
        <p:nvSpPr>
          <p:cNvPr id="57" name="SK-10-text-56"/>
          <p:cNvSpPr/>
          <p:nvPr/>
        </p:nvSpPr>
        <p:spPr>
          <a:xfrm>
            <a:off x="762000" y="5410200"/>
            <a:ext cx="1743968" cy="47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스티어링 운영 붕괴</a:t>
            </a:r>
            <a:endParaRPr lang="en-US" sz="1050" dirty="0"/>
          </a:p>
        </p:txBody>
      </p:sp>
      <p:sp>
        <p:nvSpPr>
          <p:cNvPr id="58" name="SK-10-text-57"/>
          <p:cNvSpPr/>
          <p:nvPr/>
        </p:nvSpPr>
        <p:spPr>
          <a:xfrm>
            <a:off x="2582168" y="5410200"/>
            <a:ext cx="3228082" cy="47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9회 중 3회 취소. 편익 아젠다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0회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050" dirty="0"/>
          </a:p>
        </p:txBody>
      </p:sp>
      <p:sp>
        <p:nvSpPr>
          <p:cNvPr id="59" name="SK-10-text-58"/>
          <p:cNvSpPr/>
          <p:nvPr/>
        </p:nvSpPr>
        <p:spPr>
          <a:xfrm>
            <a:off x="762000" y="5886301"/>
            <a:ext cx="1743968" cy="47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조건 미추적</a:t>
            </a:r>
            <a:endParaRPr lang="en-US" sz="1050" dirty="0"/>
          </a:p>
        </p:txBody>
      </p:sp>
      <p:sp>
        <p:nvSpPr>
          <p:cNvPr id="60" name="SK-10-text-59"/>
          <p:cNvSpPr/>
          <p:nvPr/>
        </p:nvSpPr>
        <p:spPr>
          <a:xfrm>
            <a:off x="2582168" y="5886301"/>
            <a:ext cx="4686048" cy="47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통과 후 엣지캐시 등 3건 해소 확인 기록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부재</a:t>
            </a:r>
            <a:endParaRPr lang="en-US" sz="1050" dirty="0"/>
          </a:p>
        </p:txBody>
      </p:sp>
      <p:sp>
        <p:nvSpPr>
          <p:cNvPr id="61" name="SK-10-text-60"/>
          <p:cNvSpPr/>
          <p:nvPr/>
        </p:nvSpPr>
        <p:spPr>
          <a:xfrm>
            <a:off x="6615113" y="2424113"/>
            <a:ext cx="29660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 관리 왜곡 및 조작</a:t>
            </a:r>
            <a:endParaRPr lang="en-US" sz="1350" dirty="0"/>
          </a:p>
        </p:txBody>
      </p:sp>
      <p:sp>
        <p:nvSpPr>
          <p:cNvPr id="62" name="SK-10-text-61"/>
          <p:cNvSpPr/>
          <p:nvPr/>
        </p:nvSpPr>
        <p:spPr>
          <a:xfrm>
            <a:off x="6381750" y="2871788"/>
            <a:ext cx="1743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결함</a:t>
            </a:r>
            <a:endParaRPr lang="en-US" sz="900" dirty="0"/>
          </a:p>
        </p:txBody>
      </p:sp>
      <p:sp>
        <p:nvSpPr>
          <p:cNvPr id="63" name="SK-10-text-62"/>
          <p:cNvSpPr/>
          <p:nvPr/>
        </p:nvSpPr>
        <p:spPr>
          <a:xfrm>
            <a:off x="8201918" y="2871788"/>
            <a:ext cx="33042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증거</a:t>
            </a:r>
            <a:endParaRPr lang="en-US" sz="900" dirty="0"/>
          </a:p>
        </p:txBody>
      </p:sp>
      <p:sp>
        <p:nvSpPr>
          <p:cNvPr id="64" name="SK-10-text-63"/>
          <p:cNvSpPr/>
          <p:nvPr/>
        </p:nvSpPr>
        <p:spPr>
          <a:xfrm>
            <a:off x="6381750" y="3195638"/>
            <a:ext cx="1743968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변경통제 형식화</a:t>
            </a:r>
            <a:endParaRPr lang="en-US" sz="1050" dirty="0"/>
          </a:p>
        </p:txBody>
      </p:sp>
      <p:sp>
        <p:nvSpPr>
          <p:cNvPr id="65" name="SK-10-text-64"/>
          <p:cNvSpPr/>
          <p:nvPr/>
        </p:nvSpPr>
        <p:spPr>
          <a:xfrm>
            <a:off x="8201918" y="3195638"/>
            <a:ext cx="3228082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CR 12건 vs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35건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(영향평가 0) </a:t>
            </a:r>
            <a:endParaRPr lang="en-US" sz="1050" dirty="0"/>
          </a:p>
        </p:txBody>
      </p:sp>
      <p:sp>
        <p:nvSpPr>
          <p:cNvPr id="66" name="SK-10-text-65"/>
          <p:cNvSpPr/>
          <p:nvPr/>
        </p:nvSpPr>
        <p:spPr>
          <a:xfrm>
            <a:off x="6381750" y="3829050"/>
            <a:ext cx="1743968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 결함</a:t>
            </a:r>
            <a:endParaRPr lang="en-US" sz="1050" dirty="0"/>
          </a:p>
        </p:txBody>
      </p:sp>
      <p:sp>
        <p:nvSpPr>
          <p:cNvPr id="67" name="SK-10-text-66"/>
          <p:cNvSpPr/>
          <p:nvPr/>
        </p:nvSpPr>
        <p:spPr>
          <a:xfrm>
            <a:off x="8201918" y="3829050"/>
            <a:ext cx="3228082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SC는 Output 위주. BEN(Outcome)은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"측정 불가"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배제 </a:t>
            </a:r>
            <a:endParaRPr lang="en-US" sz="1050" dirty="0"/>
          </a:p>
        </p:txBody>
      </p:sp>
      <p:sp>
        <p:nvSpPr>
          <p:cNvPr id="68" name="SK-10-text-67"/>
          <p:cNvSpPr/>
          <p:nvPr/>
        </p:nvSpPr>
        <p:spPr>
          <a:xfrm>
            <a:off x="6381750" y="4462463"/>
            <a:ext cx="1743968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 범위 조작</a:t>
            </a:r>
            <a:endParaRPr lang="en-US" sz="1050" dirty="0"/>
          </a:p>
        </p:txBody>
      </p:sp>
      <p:sp>
        <p:nvSpPr>
          <p:cNvPr id="69" name="SK-10-text-68"/>
          <p:cNvSpPr/>
          <p:nvPr/>
        </p:nvSpPr>
        <p:spPr>
          <a:xfrm>
            <a:off x="8201918" y="4462463"/>
            <a:ext cx="3228082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SC-03 범위를 양재 정형 시나리오로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축소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실사업장 36.9% 제외</a:t>
            </a:r>
            <a:endParaRPr lang="en-US" sz="1050" dirty="0"/>
          </a:p>
        </p:txBody>
      </p:sp>
      <p:sp>
        <p:nvSpPr>
          <p:cNvPr id="70" name="SK-10-text-69"/>
          <p:cNvSpPr/>
          <p:nvPr/>
        </p:nvSpPr>
        <p:spPr>
          <a:xfrm>
            <a:off x="6381750" y="5095875"/>
            <a:ext cx="1743968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등급 조작</a:t>
            </a:r>
            <a:endParaRPr lang="en-US" sz="1050" dirty="0"/>
          </a:p>
        </p:txBody>
      </p:sp>
      <p:sp>
        <p:nvSpPr>
          <p:cNvPr id="71" name="SK-10-text-70"/>
          <p:cNvSpPr/>
          <p:nvPr/>
        </p:nvSpPr>
        <p:spPr>
          <a:xfrm>
            <a:off x="8201918" y="5095875"/>
            <a:ext cx="3228082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3건 → Medium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강등 (근거 공란)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SC-05 달성 목적 </a:t>
            </a:r>
            <a:endParaRPr lang="en-US" sz="1050" dirty="0"/>
          </a:p>
        </p:txBody>
      </p:sp>
      <p:sp>
        <p:nvSpPr>
          <p:cNvPr id="72" name="SK-10-text-71"/>
          <p:cNvSpPr/>
          <p:nvPr/>
        </p:nvSpPr>
        <p:spPr>
          <a:xfrm>
            <a:off x="6381750" y="5729288"/>
            <a:ext cx="1743968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완료율 부풀림</a:t>
            </a:r>
            <a:endParaRPr lang="en-US" sz="1050" dirty="0"/>
          </a:p>
        </p:txBody>
      </p:sp>
      <p:sp>
        <p:nvSpPr>
          <p:cNvPr id="73" name="SK-10-text-72"/>
          <p:cNvSpPr/>
          <p:nvPr/>
        </p:nvSpPr>
        <p:spPr>
          <a:xfrm>
            <a:off x="8201918" y="5729288"/>
            <a:ext cx="3228082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 QA 삭제 →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머지=Done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실물 검증 없이 92.9% 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90650"/>
            <a:ext cx="4935736" cy="209550"/>
          </a:xfrm>
          <a:prstGeom prst="rect">
            <a:avLst/>
          </a:prstGeom>
        </p:spPr>
      </p:pic>
      <p:pic>
        <p:nvPicPr>
          <p:cNvPr id="7" name="SK-1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95450"/>
            <a:ext cx="4935736" cy="4705350"/>
          </a:xfrm>
          <a:prstGeom prst="rect">
            <a:avLst/>
          </a:prstGeom>
        </p:spPr>
      </p:pic>
      <p:pic>
        <p:nvPicPr>
          <p:cNvPr id="8" name="SK-1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695450"/>
            <a:ext cx="4935736" cy="304800"/>
          </a:xfrm>
          <a:prstGeom prst="rect">
            <a:avLst/>
          </a:prstGeom>
        </p:spPr>
      </p:pic>
      <p:pic>
        <p:nvPicPr>
          <p:cNvPr id="9" name="SK-1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695450"/>
            <a:ext cx="1646188" cy="304800"/>
          </a:xfrm>
          <a:prstGeom prst="rect">
            <a:avLst/>
          </a:prstGeom>
        </p:spPr>
      </p:pic>
      <p:pic>
        <p:nvPicPr>
          <p:cNvPr id="10" name="SK-1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7688" y="1695450"/>
            <a:ext cx="1268611" cy="304800"/>
          </a:xfrm>
          <a:prstGeom prst="rect">
            <a:avLst/>
          </a:prstGeom>
        </p:spPr>
      </p:pic>
      <p:pic>
        <p:nvPicPr>
          <p:cNvPr id="11" name="SK-1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6299" y="1695450"/>
            <a:ext cx="762000" cy="304800"/>
          </a:xfrm>
          <a:prstGeom prst="rect">
            <a:avLst/>
          </a:prstGeom>
        </p:spPr>
      </p:pic>
      <p:pic>
        <p:nvPicPr>
          <p:cNvPr id="12" name="SK-1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8299" y="1695450"/>
            <a:ext cx="1258937" cy="304800"/>
          </a:xfrm>
          <a:prstGeom prst="rect">
            <a:avLst/>
          </a:prstGeom>
        </p:spPr>
      </p:pic>
      <p:pic>
        <p:nvPicPr>
          <p:cNvPr id="13" name="SK-1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000250"/>
            <a:ext cx="1646188" cy="965746"/>
          </a:xfrm>
          <a:prstGeom prst="rect">
            <a:avLst/>
          </a:prstGeom>
        </p:spPr>
      </p:pic>
      <p:pic>
        <p:nvPicPr>
          <p:cNvPr id="14" name="SK-1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17688" y="2000250"/>
            <a:ext cx="1268611" cy="965746"/>
          </a:xfrm>
          <a:prstGeom prst="rect">
            <a:avLst/>
          </a:prstGeom>
        </p:spPr>
      </p:pic>
      <p:pic>
        <p:nvPicPr>
          <p:cNvPr id="15" name="SK-11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86299" y="2000250"/>
            <a:ext cx="762000" cy="965746"/>
          </a:xfrm>
          <a:prstGeom prst="rect">
            <a:avLst/>
          </a:prstGeom>
        </p:spPr>
      </p:pic>
      <p:pic>
        <p:nvPicPr>
          <p:cNvPr id="16" name="SK-11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81549" y="2449711"/>
            <a:ext cx="571500" cy="66675"/>
          </a:xfrm>
          <a:prstGeom prst="rect">
            <a:avLst/>
          </a:prstGeom>
        </p:spPr>
      </p:pic>
      <p:pic>
        <p:nvPicPr>
          <p:cNvPr id="17" name="SK-11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81549" y="2449711"/>
            <a:ext cx="262830" cy="66675"/>
          </a:xfrm>
          <a:prstGeom prst="rect">
            <a:avLst/>
          </a:prstGeom>
        </p:spPr>
      </p:pic>
      <p:pic>
        <p:nvPicPr>
          <p:cNvPr id="18" name="SK-11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48299" y="2000250"/>
            <a:ext cx="1258937" cy="965746"/>
          </a:xfrm>
          <a:prstGeom prst="rect">
            <a:avLst/>
          </a:prstGeom>
        </p:spPr>
      </p:pic>
      <p:pic>
        <p:nvPicPr>
          <p:cNvPr id="19" name="SK-11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2965996"/>
            <a:ext cx="1646188" cy="965746"/>
          </a:xfrm>
          <a:prstGeom prst="rect">
            <a:avLst/>
          </a:prstGeom>
        </p:spPr>
      </p:pic>
      <p:pic>
        <p:nvPicPr>
          <p:cNvPr id="20" name="SK-11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17688" y="2965996"/>
            <a:ext cx="1268611" cy="965746"/>
          </a:xfrm>
          <a:prstGeom prst="rect">
            <a:avLst/>
          </a:prstGeom>
        </p:spPr>
      </p:pic>
      <p:pic>
        <p:nvPicPr>
          <p:cNvPr id="21" name="SK-11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86299" y="2965996"/>
            <a:ext cx="762000" cy="965746"/>
          </a:xfrm>
          <a:prstGeom prst="rect">
            <a:avLst/>
          </a:prstGeom>
        </p:spPr>
      </p:pic>
      <p:pic>
        <p:nvPicPr>
          <p:cNvPr id="22" name="SK-11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81549" y="3415457"/>
            <a:ext cx="571500" cy="66675"/>
          </a:xfrm>
          <a:prstGeom prst="rect">
            <a:avLst/>
          </a:prstGeom>
        </p:spPr>
      </p:pic>
      <p:pic>
        <p:nvPicPr>
          <p:cNvPr id="23" name="SK-11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81549" y="3415457"/>
            <a:ext cx="148530" cy="66675"/>
          </a:xfrm>
          <a:prstGeom prst="rect">
            <a:avLst/>
          </a:prstGeom>
        </p:spPr>
      </p:pic>
      <p:pic>
        <p:nvPicPr>
          <p:cNvPr id="24" name="SK-11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48299" y="2965996"/>
            <a:ext cx="1258937" cy="965746"/>
          </a:xfrm>
          <a:prstGeom prst="rect">
            <a:avLst/>
          </a:prstGeom>
        </p:spPr>
      </p:pic>
      <p:pic>
        <p:nvPicPr>
          <p:cNvPr id="25" name="SK-11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3931741"/>
            <a:ext cx="1646188" cy="892820"/>
          </a:xfrm>
          <a:prstGeom prst="rect">
            <a:avLst/>
          </a:prstGeom>
        </p:spPr>
      </p:pic>
      <p:pic>
        <p:nvPicPr>
          <p:cNvPr id="26" name="SK-11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17688" y="3931741"/>
            <a:ext cx="1268611" cy="892820"/>
          </a:xfrm>
          <a:prstGeom prst="rect">
            <a:avLst/>
          </a:prstGeom>
        </p:spPr>
      </p:pic>
      <p:pic>
        <p:nvPicPr>
          <p:cNvPr id="27" name="SK-11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86299" y="3931741"/>
            <a:ext cx="762000" cy="892820"/>
          </a:xfrm>
          <a:prstGeom prst="rect">
            <a:avLst/>
          </a:prstGeom>
        </p:spPr>
      </p:pic>
      <p:pic>
        <p:nvPicPr>
          <p:cNvPr id="28" name="SK-11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81549" y="4344739"/>
            <a:ext cx="571500" cy="66675"/>
          </a:xfrm>
          <a:prstGeom prst="rect">
            <a:avLst/>
          </a:prstGeom>
        </p:spPr>
      </p:pic>
      <p:pic>
        <p:nvPicPr>
          <p:cNvPr id="29" name="SK-11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81549" y="4344739"/>
            <a:ext cx="119955" cy="66675"/>
          </a:xfrm>
          <a:prstGeom prst="rect">
            <a:avLst/>
          </a:prstGeom>
        </p:spPr>
      </p:pic>
      <p:pic>
        <p:nvPicPr>
          <p:cNvPr id="30" name="SK-11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248299" y="3931741"/>
            <a:ext cx="1258937" cy="892820"/>
          </a:xfrm>
          <a:prstGeom prst="rect">
            <a:avLst/>
          </a:prstGeom>
        </p:spPr>
      </p:pic>
      <p:pic>
        <p:nvPicPr>
          <p:cNvPr id="31" name="SK-11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71500" y="4824561"/>
            <a:ext cx="1646188" cy="610344"/>
          </a:xfrm>
          <a:prstGeom prst="rect">
            <a:avLst/>
          </a:prstGeom>
        </p:spPr>
      </p:pic>
      <p:pic>
        <p:nvPicPr>
          <p:cNvPr id="32" name="SK-11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217688" y="4824561"/>
            <a:ext cx="1268611" cy="610344"/>
          </a:xfrm>
          <a:prstGeom prst="rect">
            <a:avLst/>
          </a:prstGeom>
        </p:spPr>
      </p:pic>
      <p:pic>
        <p:nvPicPr>
          <p:cNvPr id="33" name="SK-11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86299" y="4824561"/>
            <a:ext cx="762000" cy="610344"/>
          </a:xfrm>
          <a:prstGeom prst="rect">
            <a:avLst/>
          </a:prstGeom>
        </p:spPr>
      </p:pic>
      <p:pic>
        <p:nvPicPr>
          <p:cNvPr id="34" name="SK-11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581549" y="5096321"/>
            <a:ext cx="571500" cy="66675"/>
          </a:xfrm>
          <a:prstGeom prst="rect">
            <a:avLst/>
          </a:prstGeom>
        </p:spPr>
      </p:pic>
      <p:pic>
        <p:nvPicPr>
          <p:cNvPr id="35" name="SK-11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581549" y="5096321"/>
            <a:ext cx="39886" cy="66675"/>
          </a:xfrm>
          <a:prstGeom prst="rect">
            <a:avLst/>
          </a:prstGeom>
        </p:spPr>
      </p:pic>
      <p:pic>
        <p:nvPicPr>
          <p:cNvPr id="36" name="SK-11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248299" y="4824561"/>
            <a:ext cx="1258937" cy="610344"/>
          </a:xfrm>
          <a:prstGeom prst="rect">
            <a:avLst/>
          </a:prstGeom>
        </p:spPr>
      </p:pic>
      <p:pic>
        <p:nvPicPr>
          <p:cNvPr id="37" name="SK-11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1500" y="5434905"/>
            <a:ext cx="1646188" cy="965895"/>
          </a:xfrm>
          <a:prstGeom prst="rect">
            <a:avLst/>
          </a:prstGeom>
        </p:spPr>
      </p:pic>
      <p:pic>
        <p:nvPicPr>
          <p:cNvPr id="38" name="SK-11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217688" y="5434905"/>
            <a:ext cx="1268611" cy="965895"/>
          </a:xfrm>
          <a:prstGeom prst="rect">
            <a:avLst/>
          </a:prstGeom>
        </p:spPr>
      </p:pic>
      <p:pic>
        <p:nvPicPr>
          <p:cNvPr id="39" name="SK-11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486299" y="5434905"/>
            <a:ext cx="762000" cy="965895"/>
          </a:xfrm>
          <a:prstGeom prst="rect">
            <a:avLst/>
          </a:prstGeom>
        </p:spPr>
      </p:pic>
      <p:pic>
        <p:nvPicPr>
          <p:cNvPr id="40" name="SK-11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581549" y="5884515"/>
            <a:ext cx="571500" cy="66675"/>
          </a:xfrm>
          <a:prstGeom prst="rect">
            <a:avLst/>
          </a:prstGeom>
        </p:spPr>
      </p:pic>
      <p:pic>
        <p:nvPicPr>
          <p:cNvPr id="41" name="SK-11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581549" y="5884515"/>
            <a:ext cx="571500" cy="66675"/>
          </a:xfrm>
          <a:prstGeom prst="rect">
            <a:avLst/>
          </a:prstGeom>
        </p:spPr>
      </p:pic>
      <p:pic>
        <p:nvPicPr>
          <p:cNvPr id="42" name="SK-11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248299" y="5434905"/>
            <a:ext cx="1258937" cy="965895"/>
          </a:xfrm>
          <a:prstGeom prst="rect">
            <a:avLst/>
          </a:prstGeom>
        </p:spPr>
      </p:pic>
      <p:pic>
        <p:nvPicPr>
          <p:cNvPr id="43" name="SK-11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697736" y="1390650"/>
            <a:ext cx="5922764" cy="209550"/>
          </a:xfrm>
          <a:prstGeom prst="rect">
            <a:avLst/>
          </a:prstGeom>
        </p:spPr>
      </p:pic>
      <p:pic>
        <p:nvPicPr>
          <p:cNvPr id="44" name="SK-11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697736" y="1695450"/>
            <a:ext cx="5922764" cy="811411"/>
          </a:xfrm>
          <a:prstGeom prst="rect">
            <a:avLst/>
          </a:prstGeom>
        </p:spPr>
      </p:pic>
      <p:pic>
        <p:nvPicPr>
          <p:cNvPr id="45" name="SK-11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812036" y="1790700"/>
            <a:ext cx="266700" cy="266700"/>
          </a:xfrm>
          <a:prstGeom prst="rect">
            <a:avLst/>
          </a:prstGeom>
        </p:spPr>
      </p:pic>
      <p:pic>
        <p:nvPicPr>
          <p:cNvPr id="46" name="SK-11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850136" y="1846659"/>
            <a:ext cx="190500" cy="154781"/>
          </a:xfrm>
          <a:prstGeom prst="rect">
            <a:avLst/>
          </a:prstGeom>
        </p:spPr>
      </p:pic>
      <p:pic>
        <p:nvPicPr>
          <p:cNvPr id="47" name="SK-11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173986" y="2230636"/>
            <a:ext cx="1596628" cy="176213"/>
          </a:xfrm>
          <a:prstGeom prst="rect">
            <a:avLst/>
          </a:prstGeom>
        </p:spPr>
      </p:pic>
      <p:pic>
        <p:nvPicPr>
          <p:cNvPr id="48" name="SK-11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697736" y="2583061"/>
            <a:ext cx="5922764" cy="811411"/>
          </a:xfrm>
          <a:prstGeom prst="rect">
            <a:avLst/>
          </a:prstGeom>
        </p:spPr>
      </p:pic>
      <p:pic>
        <p:nvPicPr>
          <p:cNvPr id="49" name="SK-11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812036" y="2678311"/>
            <a:ext cx="266700" cy="266700"/>
          </a:xfrm>
          <a:prstGeom prst="rect">
            <a:avLst/>
          </a:prstGeom>
        </p:spPr>
      </p:pic>
      <p:pic>
        <p:nvPicPr>
          <p:cNvPr id="50" name="SK-11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850136" y="2734270"/>
            <a:ext cx="190500" cy="154781"/>
          </a:xfrm>
          <a:prstGeom prst="rect">
            <a:avLst/>
          </a:prstGeom>
        </p:spPr>
      </p:pic>
      <p:pic>
        <p:nvPicPr>
          <p:cNvPr id="51" name="SK-11-img-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173986" y="3118247"/>
            <a:ext cx="2263378" cy="176213"/>
          </a:xfrm>
          <a:prstGeom prst="rect">
            <a:avLst/>
          </a:prstGeom>
        </p:spPr>
      </p:pic>
      <p:pic>
        <p:nvPicPr>
          <p:cNvPr id="52" name="SK-11-img-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697736" y="3470672"/>
            <a:ext cx="5922764" cy="811411"/>
          </a:xfrm>
          <a:prstGeom prst="rect">
            <a:avLst/>
          </a:prstGeom>
        </p:spPr>
      </p:pic>
      <p:pic>
        <p:nvPicPr>
          <p:cNvPr id="53" name="SK-11-img-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812036" y="3565922"/>
            <a:ext cx="266700" cy="266700"/>
          </a:xfrm>
          <a:prstGeom prst="rect">
            <a:avLst/>
          </a:prstGeom>
        </p:spPr>
      </p:pic>
      <p:pic>
        <p:nvPicPr>
          <p:cNvPr id="54" name="SK-11-img-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850136" y="3621881"/>
            <a:ext cx="190500" cy="154781"/>
          </a:xfrm>
          <a:prstGeom prst="rect">
            <a:avLst/>
          </a:prstGeom>
        </p:spPr>
      </p:pic>
      <p:pic>
        <p:nvPicPr>
          <p:cNvPr id="55" name="SK-11-img-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173986" y="4005858"/>
            <a:ext cx="1472803" cy="176213"/>
          </a:xfrm>
          <a:prstGeom prst="rect">
            <a:avLst/>
          </a:prstGeom>
        </p:spPr>
      </p:pic>
      <p:pic>
        <p:nvPicPr>
          <p:cNvPr id="56" name="SK-11-img-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697736" y="4358283"/>
            <a:ext cx="5922764" cy="811411"/>
          </a:xfrm>
          <a:prstGeom prst="rect">
            <a:avLst/>
          </a:prstGeom>
        </p:spPr>
      </p:pic>
      <p:pic>
        <p:nvPicPr>
          <p:cNvPr id="57" name="SK-11-img-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812036" y="4453533"/>
            <a:ext cx="266700" cy="266700"/>
          </a:xfrm>
          <a:prstGeom prst="rect">
            <a:avLst/>
          </a:prstGeom>
        </p:spPr>
      </p:pic>
      <p:pic>
        <p:nvPicPr>
          <p:cNvPr id="58" name="SK-11-img-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850136" y="4509492"/>
            <a:ext cx="190500" cy="154781"/>
          </a:xfrm>
          <a:prstGeom prst="rect">
            <a:avLst/>
          </a:prstGeom>
        </p:spPr>
      </p:pic>
      <p:pic>
        <p:nvPicPr>
          <p:cNvPr id="59" name="SK-11-img-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173986" y="4893469"/>
            <a:ext cx="1749028" cy="176213"/>
          </a:xfrm>
          <a:prstGeom prst="rect">
            <a:avLst/>
          </a:prstGeom>
        </p:spPr>
      </p:pic>
      <p:pic>
        <p:nvPicPr>
          <p:cNvPr id="60" name="SK-11-img-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697736" y="5245894"/>
            <a:ext cx="5922764" cy="811411"/>
          </a:xfrm>
          <a:prstGeom prst="rect">
            <a:avLst/>
          </a:prstGeom>
        </p:spPr>
      </p:pic>
      <p:pic>
        <p:nvPicPr>
          <p:cNvPr id="61" name="SK-11-img-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812036" y="5341144"/>
            <a:ext cx="266700" cy="266700"/>
          </a:xfrm>
          <a:prstGeom prst="rect">
            <a:avLst/>
          </a:prstGeom>
        </p:spPr>
      </p:pic>
      <p:pic>
        <p:nvPicPr>
          <p:cNvPr id="62" name="SK-11-img-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850136" y="5397103"/>
            <a:ext cx="190500" cy="154781"/>
          </a:xfrm>
          <a:prstGeom prst="rect">
            <a:avLst/>
          </a:prstGeom>
        </p:spPr>
      </p:pic>
      <p:pic>
        <p:nvPicPr>
          <p:cNvPr id="63" name="SK-11-img-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173986" y="5781080"/>
            <a:ext cx="2491978" cy="176213"/>
          </a:xfrm>
          <a:prstGeom prst="rect">
            <a:avLst/>
          </a:prstGeom>
        </p:spPr>
      </p:pic>
      <p:sp>
        <p:nvSpPr>
          <p:cNvPr id="64" name="SK-11-text-63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65" name="SK-11-text-64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B-3. AI Use Case 분석: 현재 활용과 구조적 문제</a:t>
            </a:r>
            <a:endParaRPr lang="en-US" sz="2550" dirty="0"/>
          </a:p>
        </p:txBody>
      </p:sp>
      <p:sp>
        <p:nvSpPr>
          <p:cNvPr id="66" name="SK-11-text-65"/>
          <p:cNvSpPr/>
          <p:nvPr/>
        </p:nvSpPr>
        <p:spPr>
          <a:xfrm>
            <a:off x="571500" y="1390650"/>
            <a:ext cx="50119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58" kern="0" dirty="0">
                <a:solidFill>
                  <a:srgbClr val="9CA3AF"/>
                </a:solidFill>
              </a:rPr>
              <a:t>현재 AI 활용 현황 (07_AI_INFRA_COST)</a:t>
            </a:r>
            <a:endParaRPr lang="en-US" sz="900" dirty="0"/>
          </a:p>
        </p:txBody>
      </p:sp>
      <p:sp>
        <p:nvSpPr>
          <p:cNvPr id="67" name="SK-11-text-66"/>
          <p:cNvSpPr/>
          <p:nvPr/>
        </p:nvSpPr>
        <p:spPr>
          <a:xfrm>
            <a:off x="666750" y="1695450"/>
            <a:ext cx="15318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</a:t>
            </a:r>
            <a:endParaRPr lang="en-US" sz="900" dirty="0"/>
          </a:p>
        </p:txBody>
      </p:sp>
      <p:sp>
        <p:nvSpPr>
          <p:cNvPr id="68" name="SK-11-text-67"/>
          <p:cNvSpPr/>
          <p:nvPr/>
        </p:nvSpPr>
        <p:spPr>
          <a:xfrm>
            <a:off x="2312938" y="1695450"/>
            <a:ext cx="15138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비용 (W33)</a:t>
            </a:r>
            <a:endParaRPr lang="en-US" sz="900" dirty="0"/>
          </a:p>
        </p:txBody>
      </p:sp>
      <p:sp>
        <p:nvSpPr>
          <p:cNvPr id="69" name="SK-11-text-68"/>
          <p:cNvSpPr/>
          <p:nvPr/>
        </p:nvSpPr>
        <p:spPr>
          <a:xfrm>
            <a:off x="3581549" y="1695450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비중</a:t>
            </a:r>
            <a:endParaRPr lang="en-US" sz="900" dirty="0"/>
          </a:p>
        </p:txBody>
      </p:sp>
      <p:sp>
        <p:nvSpPr>
          <p:cNvPr id="70" name="SK-11-text-69"/>
          <p:cNvSpPr/>
          <p:nvPr/>
        </p:nvSpPr>
        <p:spPr>
          <a:xfrm>
            <a:off x="4343549" y="1695450"/>
            <a:ext cx="11446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900" dirty="0"/>
          </a:p>
        </p:txBody>
      </p:sp>
      <p:sp>
        <p:nvSpPr>
          <p:cNvPr id="71" name="SK-11-text-70"/>
          <p:cNvSpPr/>
          <p:nvPr/>
        </p:nvSpPr>
        <p:spPr>
          <a:xfrm>
            <a:off x="666750" y="2000250"/>
            <a:ext cx="1455688" cy="96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에이전트 (코드생성·리뷰)</a:t>
            </a:r>
            <a:endParaRPr lang="en-US" sz="975" dirty="0"/>
          </a:p>
        </p:txBody>
      </p:sp>
      <p:sp>
        <p:nvSpPr>
          <p:cNvPr id="72" name="SK-11-text-71"/>
          <p:cNvSpPr/>
          <p:nvPr/>
        </p:nvSpPr>
        <p:spPr>
          <a:xfrm>
            <a:off x="2312938" y="2000250"/>
            <a:ext cx="1154311" cy="96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54.5백만</a:t>
            </a:r>
            <a:endParaRPr lang="en-US" sz="975" dirty="0"/>
          </a:p>
        </p:txBody>
      </p:sp>
      <p:sp>
        <p:nvSpPr>
          <p:cNvPr id="73" name="SK-11-textBg-72"/>
          <p:cNvSpPr/>
          <p:nvPr/>
        </p:nvSpPr>
        <p:spPr>
          <a:xfrm>
            <a:off x="4343549" y="2399705"/>
            <a:ext cx="857250" cy="176213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4" name="SK-11-text-73"/>
          <p:cNvSpPr/>
          <p:nvPr/>
        </p:nvSpPr>
        <p:spPr>
          <a:xfrm>
            <a:off x="4391174" y="2399705"/>
            <a:ext cx="89408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</a:rPr>
              <a:t>코드 자동 생성</a:t>
            </a:r>
            <a:endParaRPr lang="en-US" sz="825" dirty="0"/>
          </a:p>
        </p:txBody>
      </p:sp>
      <p:sp>
        <p:nvSpPr>
          <p:cNvPr id="75" name="SK-11-text-74"/>
          <p:cNvSpPr/>
          <p:nvPr/>
        </p:nvSpPr>
        <p:spPr>
          <a:xfrm>
            <a:off x="666750" y="2965996"/>
            <a:ext cx="1455688" cy="96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Automation (자동보고·회귀시뮬)</a:t>
            </a:r>
            <a:endParaRPr lang="en-US" sz="975" dirty="0"/>
          </a:p>
        </p:txBody>
      </p:sp>
      <p:sp>
        <p:nvSpPr>
          <p:cNvPr id="76" name="SK-11-text-75"/>
          <p:cNvSpPr/>
          <p:nvPr/>
        </p:nvSpPr>
        <p:spPr>
          <a:xfrm>
            <a:off x="2312938" y="2965996"/>
            <a:ext cx="1154311" cy="96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30.8백만</a:t>
            </a:r>
            <a:endParaRPr lang="en-US" sz="975" dirty="0"/>
          </a:p>
        </p:txBody>
      </p:sp>
      <p:sp>
        <p:nvSpPr>
          <p:cNvPr id="77" name="SK-11-text-76"/>
          <p:cNvSpPr/>
          <p:nvPr/>
        </p:nvSpPr>
        <p:spPr>
          <a:xfrm>
            <a:off x="4391174" y="3282107"/>
            <a:ext cx="97318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  <a:highlight>
                  <a:srgbClr val="EFF6FF"/>
                </a:highlight>
              </a:rPr>
              <a:t>주간보고·회귀테스트</a:t>
            </a:r>
            <a:endParaRPr lang="en-US" sz="825" dirty="0"/>
          </a:p>
        </p:txBody>
      </p:sp>
      <p:sp>
        <p:nvSpPr>
          <p:cNvPr id="78" name="SK-11-text-77"/>
          <p:cNvSpPr/>
          <p:nvPr/>
        </p:nvSpPr>
        <p:spPr>
          <a:xfrm>
            <a:off x="666750" y="3931741"/>
            <a:ext cx="1531888" cy="8928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원격 인식 추론</a:t>
            </a:r>
            <a:endParaRPr lang="en-US" sz="975" dirty="0"/>
          </a:p>
        </p:txBody>
      </p:sp>
      <p:sp>
        <p:nvSpPr>
          <p:cNvPr id="79" name="SK-11-text-78"/>
          <p:cNvSpPr/>
          <p:nvPr/>
        </p:nvSpPr>
        <p:spPr>
          <a:xfrm>
            <a:off x="2312938" y="3931741"/>
            <a:ext cx="1154311" cy="8928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24.9백만</a:t>
            </a:r>
            <a:endParaRPr lang="en-US" sz="975" dirty="0"/>
          </a:p>
        </p:txBody>
      </p:sp>
      <p:sp>
        <p:nvSpPr>
          <p:cNvPr id="80" name="SK-11-text-79"/>
          <p:cNvSpPr/>
          <p:nvPr/>
        </p:nvSpPr>
        <p:spPr>
          <a:xfrm>
            <a:off x="4391174" y="4211389"/>
            <a:ext cx="97318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  <a:highlight>
                  <a:srgbClr val="EFF6FF"/>
                </a:highlight>
              </a:rPr>
              <a:t>VLM 객체 인식 (클라우드)</a:t>
            </a:r>
            <a:endParaRPr lang="en-US" sz="825" dirty="0"/>
          </a:p>
        </p:txBody>
      </p:sp>
      <p:sp>
        <p:nvSpPr>
          <p:cNvPr id="81" name="SK-11-text-80"/>
          <p:cNvSpPr/>
          <p:nvPr/>
        </p:nvSpPr>
        <p:spPr>
          <a:xfrm>
            <a:off x="666750" y="4824561"/>
            <a:ext cx="2309913" cy="6103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Assistance (문서초안)</a:t>
            </a:r>
            <a:endParaRPr lang="en-US" sz="975" dirty="0"/>
          </a:p>
        </p:txBody>
      </p:sp>
      <p:sp>
        <p:nvSpPr>
          <p:cNvPr id="82" name="SK-11-text-81"/>
          <p:cNvSpPr/>
          <p:nvPr/>
        </p:nvSpPr>
        <p:spPr>
          <a:xfrm>
            <a:off x="2312938" y="4824561"/>
            <a:ext cx="1154311" cy="6103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8.2백만</a:t>
            </a:r>
            <a:endParaRPr lang="en-US" sz="975" dirty="0"/>
          </a:p>
        </p:txBody>
      </p:sp>
      <p:sp>
        <p:nvSpPr>
          <p:cNvPr id="83" name="SK-11-textBg-82"/>
          <p:cNvSpPr/>
          <p:nvPr/>
        </p:nvSpPr>
        <p:spPr>
          <a:xfrm>
            <a:off x="4343549" y="5046315"/>
            <a:ext cx="857250" cy="176213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4" name="SK-11-text-83"/>
          <p:cNvSpPr/>
          <p:nvPr/>
        </p:nvSpPr>
        <p:spPr>
          <a:xfrm>
            <a:off x="4391174" y="5046315"/>
            <a:ext cx="89408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05AEE"/>
                </a:solidFill>
              </a:rPr>
              <a:t>문서 초안 작성</a:t>
            </a:r>
            <a:endParaRPr lang="en-US" sz="825" dirty="0"/>
          </a:p>
        </p:txBody>
      </p:sp>
      <p:sp>
        <p:nvSpPr>
          <p:cNvPr id="85" name="SK-11-text-84"/>
          <p:cNvSpPr/>
          <p:nvPr/>
        </p:nvSpPr>
        <p:spPr>
          <a:xfrm>
            <a:off x="666750" y="5834509"/>
            <a:ext cx="3733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총계</a:t>
            </a:r>
            <a:endParaRPr lang="en-US" sz="975" dirty="0"/>
          </a:p>
        </p:txBody>
      </p:sp>
      <p:sp>
        <p:nvSpPr>
          <p:cNvPr id="86" name="SK-11-text-85"/>
          <p:cNvSpPr/>
          <p:nvPr/>
        </p:nvSpPr>
        <p:spPr>
          <a:xfrm>
            <a:off x="2312938" y="5741640"/>
            <a:ext cx="1057275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118.4백만/주 · 누적 21.4억</a:t>
            </a:r>
            <a:endParaRPr lang="en-US" sz="975" dirty="0"/>
          </a:p>
        </p:txBody>
      </p:sp>
      <p:sp>
        <p:nvSpPr>
          <p:cNvPr id="87" name="SK-11-textBg-86"/>
          <p:cNvSpPr/>
          <p:nvPr/>
        </p:nvSpPr>
        <p:spPr>
          <a:xfrm>
            <a:off x="4343549" y="5834509"/>
            <a:ext cx="847725" cy="176213"/>
          </a:xfrm>
          <a:prstGeom prst="roundRect">
            <a:avLst>
              <a:gd name="adj" fmla="val 10811"/>
            </a:avLst>
          </a:prstGeom>
          <a:solidFill>
            <a:srgbClr val="FEF2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8" name="SK-11-text-87"/>
          <p:cNvSpPr/>
          <p:nvPr/>
        </p:nvSpPr>
        <p:spPr>
          <a:xfrm>
            <a:off x="4391174" y="5834509"/>
            <a:ext cx="115323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예산 89% 소진</a:t>
            </a:r>
            <a:endParaRPr lang="en-US" sz="825" dirty="0"/>
          </a:p>
        </p:txBody>
      </p:sp>
      <p:sp>
        <p:nvSpPr>
          <p:cNvPr id="89" name="SK-11-text-88"/>
          <p:cNvSpPr/>
          <p:nvPr/>
        </p:nvSpPr>
        <p:spPr>
          <a:xfrm>
            <a:off x="495300" y="6496050"/>
            <a:ext cx="5011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출처: `07_ai_infra_cost`</a:t>
            </a:r>
            <a:endParaRPr lang="en-US" sz="900" dirty="0"/>
          </a:p>
        </p:txBody>
      </p:sp>
      <p:sp>
        <p:nvSpPr>
          <p:cNvPr id="90" name="SK-11-text-89"/>
          <p:cNvSpPr/>
          <p:nvPr/>
        </p:nvSpPr>
        <p:spPr>
          <a:xfrm>
            <a:off x="5697736" y="1390650"/>
            <a:ext cx="59989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58" kern="0" dirty="0">
                <a:solidFill>
                  <a:srgbClr val="9CA3AF"/>
                </a:solidFill>
              </a:rPr>
              <a:t>AI 활용의 구조적 문제</a:t>
            </a:r>
            <a:endParaRPr lang="en-US" sz="900" dirty="0"/>
          </a:p>
        </p:txBody>
      </p:sp>
      <p:sp>
        <p:nvSpPr>
          <p:cNvPr id="91" name="SK-11-text-90"/>
          <p:cNvSpPr/>
          <p:nvPr/>
        </p:nvSpPr>
        <p:spPr>
          <a:xfrm>
            <a:off x="6173986" y="1790700"/>
            <a:ext cx="5408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"자동화"만 있고 "판단"이 없다</a:t>
            </a:r>
            <a:endParaRPr lang="en-US" sz="1050" dirty="0"/>
          </a:p>
        </p:txBody>
      </p:sp>
      <p:sp>
        <p:nvSpPr>
          <p:cNvPr id="92" name="SK-11-text-91"/>
          <p:cNvSpPr/>
          <p:nvPr/>
        </p:nvSpPr>
        <p:spPr>
          <a:xfrm>
            <a:off x="6173986" y="2009775"/>
            <a:ext cx="54084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보고서를 생성하지만, 내용의 타당성을 검증하지 않음</a:t>
            </a:r>
            <a:endParaRPr lang="en-US" sz="975" dirty="0"/>
          </a:p>
        </p:txBody>
      </p:sp>
      <p:sp>
        <p:nvSpPr>
          <p:cNvPr id="93" name="SK-11-text-92"/>
          <p:cNvSpPr/>
          <p:nvPr/>
        </p:nvSpPr>
        <p:spPr>
          <a:xfrm>
            <a:off x="6221611" y="2230636"/>
            <a:ext cx="2361967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16주 "전 지표 정상" 반복</a:t>
            </a:r>
            <a:endParaRPr lang="en-US" sz="825" dirty="0"/>
          </a:p>
        </p:txBody>
      </p:sp>
      <p:sp>
        <p:nvSpPr>
          <p:cNvPr id="94" name="SK-11-text-93"/>
          <p:cNvSpPr/>
          <p:nvPr/>
        </p:nvSpPr>
        <p:spPr>
          <a:xfrm>
            <a:off x="6173986" y="2678311"/>
            <a:ext cx="5408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범위가 제한적</a:t>
            </a:r>
            <a:endParaRPr lang="en-US" sz="1050" dirty="0"/>
          </a:p>
        </p:txBody>
      </p:sp>
      <p:sp>
        <p:nvSpPr>
          <p:cNvPr id="95" name="SK-11-text-94"/>
          <p:cNvSpPr/>
          <p:nvPr/>
        </p:nvSpPr>
        <p:spPr>
          <a:xfrm>
            <a:off x="6173986" y="2897386"/>
            <a:ext cx="60180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pm-assistant가 SC-01~08만 참조. 파일럿·편익 미참조</a:t>
            </a:r>
            <a:endParaRPr lang="en-US" sz="975" dirty="0"/>
          </a:p>
        </p:txBody>
      </p:sp>
      <p:sp>
        <p:nvSpPr>
          <p:cNvPr id="96" name="SK-11-text-95"/>
          <p:cNvSpPr/>
          <p:nvPr/>
        </p:nvSpPr>
        <p:spPr>
          <a:xfrm>
            <a:off x="6221611" y="3118247"/>
            <a:ext cx="2966733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"해당 지표는 제 참조 목록에 없습니다"</a:t>
            </a:r>
            <a:endParaRPr lang="en-US" sz="825" dirty="0"/>
          </a:p>
        </p:txBody>
      </p:sp>
      <p:sp>
        <p:nvSpPr>
          <p:cNvPr id="97" name="SK-11-text-96"/>
          <p:cNvSpPr/>
          <p:nvPr/>
        </p:nvSpPr>
        <p:spPr>
          <a:xfrm>
            <a:off x="6173986" y="3565922"/>
            <a:ext cx="5408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 루프 부재</a:t>
            </a:r>
            <a:endParaRPr lang="en-US" sz="1050" dirty="0"/>
          </a:p>
        </p:txBody>
      </p:sp>
      <p:sp>
        <p:nvSpPr>
          <p:cNvPr id="98" name="SK-11-text-97"/>
          <p:cNvSpPr/>
          <p:nvPr/>
        </p:nvSpPr>
        <p:spPr>
          <a:xfrm>
            <a:off x="6173986" y="3784997"/>
            <a:ext cx="54084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 → 자동 배포. 검토자·서명자 없음</a:t>
            </a:r>
            <a:endParaRPr lang="en-US" sz="975" dirty="0"/>
          </a:p>
        </p:txBody>
      </p:sp>
      <p:sp>
        <p:nvSpPr>
          <p:cNvPr id="99" name="SK-11-text-98"/>
          <p:cNvSpPr/>
          <p:nvPr/>
        </p:nvSpPr>
        <p:spPr>
          <a:xfrm>
            <a:off x="6221611" y="4005858"/>
            <a:ext cx="1840181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잘못된 정보가 무한 전파</a:t>
            </a:r>
            <a:endParaRPr lang="en-US" sz="825" dirty="0"/>
          </a:p>
        </p:txBody>
      </p:sp>
      <p:sp>
        <p:nvSpPr>
          <p:cNvPr id="100" name="SK-11-text-99"/>
          <p:cNvSpPr/>
          <p:nvPr/>
        </p:nvSpPr>
        <p:spPr>
          <a:xfrm>
            <a:off x="6173986" y="4453533"/>
            <a:ext cx="5408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관리 없는 운영</a:t>
            </a:r>
            <a:endParaRPr lang="en-US" sz="1050" dirty="0"/>
          </a:p>
        </p:txBody>
      </p:sp>
      <p:sp>
        <p:nvSpPr>
          <p:cNvPr id="101" name="SK-11-text-100"/>
          <p:cNvSpPr/>
          <p:nvPr/>
        </p:nvSpPr>
        <p:spPr>
          <a:xfrm>
            <a:off x="6173986" y="4672608"/>
            <a:ext cx="60180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VLM 최고티어 단일 고정, 엣지캐시 미적용, 프레임 전량 업로드</a:t>
            </a:r>
            <a:endParaRPr lang="en-US" sz="975" dirty="0"/>
          </a:p>
        </p:txBody>
      </p:sp>
      <p:sp>
        <p:nvSpPr>
          <p:cNvPr id="102" name="SK-11-text-101"/>
          <p:cNvSpPr/>
          <p:nvPr/>
        </p:nvSpPr>
        <p:spPr>
          <a:xfrm>
            <a:off x="6221611" y="4893469"/>
            <a:ext cx="324641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예산 89% 소진 (21.4/24억)</a:t>
            </a:r>
            <a:endParaRPr lang="en-US" sz="825" dirty="0"/>
          </a:p>
        </p:txBody>
      </p:sp>
      <p:sp>
        <p:nvSpPr>
          <p:cNvPr id="103" name="SK-11-text-102"/>
          <p:cNvSpPr/>
          <p:nvPr/>
        </p:nvSpPr>
        <p:spPr>
          <a:xfrm>
            <a:off x="6173986" y="5341144"/>
            <a:ext cx="5408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크로스체크 부재</a:t>
            </a:r>
            <a:endParaRPr lang="en-US" sz="1050" dirty="0"/>
          </a:p>
        </p:txBody>
      </p:sp>
      <p:sp>
        <p:nvSpPr>
          <p:cNvPr id="104" name="SK-11-text-103"/>
          <p:cNvSpPr/>
          <p:nvPr/>
        </p:nvSpPr>
        <p:spPr>
          <a:xfrm>
            <a:off x="6173986" y="5560219"/>
            <a:ext cx="54084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지표와 원자료를 대조하지 않음</a:t>
            </a:r>
            <a:endParaRPr lang="en-US" sz="975" dirty="0"/>
          </a:p>
        </p:txBody>
      </p:sp>
      <p:sp>
        <p:nvSpPr>
          <p:cNvPr id="105" name="SK-11-text-104"/>
          <p:cNvSpPr/>
          <p:nvPr/>
        </p:nvSpPr>
        <p:spPr>
          <a:xfrm>
            <a:off x="6221611" y="5781080"/>
            <a:ext cx="4590706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F4444"/>
                </a:solidFill>
              </a:rPr>
              <a:t>→ SC-03 93.4% vs 실제 58.6% 괴리 미감지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4133850"/>
          </a:xfrm>
          <a:prstGeom prst="rect">
            <a:avLst/>
          </a:prstGeom>
        </p:spPr>
      </p:pic>
      <p:pic>
        <p:nvPicPr>
          <p:cNvPr id="7" name="SK-1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3682901" cy="533400"/>
          </a:xfrm>
          <a:prstGeom prst="rect">
            <a:avLst/>
          </a:prstGeom>
        </p:spPr>
      </p:pic>
      <p:pic>
        <p:nvPicPr>
          <p:cNvPr id="8" name="SK-1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401" y="1504950"/>
            <a:ext cx="3682901" cy="533400"/>
          </a:xfrm>
          <a:prstGeom prst="rect">
            <a:avLst/>
          </a:prstGeom>
        </p:spPr>
      </p:pic>
      <p:pic>
        <p:nvPicPr>
          <p:cNvPr id="9" name="SK-1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302" y="1504950"/>
            <a:ext cx="3683198" cy="533400"/>
          </a:xfrm>
          <a:prstGeom prst="rect">
            <a:avLst/>
          </a:prstGeom>
        </p:spPr>
      </p:pic>
      <p:pic>
        <p:nvPicPr>
          <p:cNvPr id="10" name="SK-1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038350"/>
            <a:ext cx="3682901" cy="720030"/>
          </a:xfrm>
          <a:prstGeom prst="rect">
            <a:avLst/>
          </a:prstGeom>
        </p:spPr>
      </p:pic>
      <p:pic>
        <p:nvPicPr>
          <p:cNvPr id="11" name="SK-1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401" y="2038350"/>
            <a:ext cx="3682901" cy="720030"/>
          </a:xfrm>
          <a:prstGeom prst="rect">
            <a:avLst/>
          </a:prstGeom>
        </p:spPr>
      </p:pic>
      <p:pic>
        <p:nvPicPr>
          <p:cNvPr id="12" name="SK-1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7302" y="2038350"/>
            <a:ext cx="3683198" cy="720030"/>
          </a:xfrm>
          <a:prstGeom prst="rect">
            <a:avLst/>
          </a:prstGeom>
        </p:spPr>
      </p:pic>
      <p:pic>
        <p:nvPicPr>
          <p:cNvPr id="13" name="SK-1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2798" y="2322909"/>
            <a:ext cx="202406" cy="163711"/>
          </a:xfrm>
          <a:prstGeom prst="rect">
            <a:avLst/>
          </a:prstGeom>
        </p:spPr>
      </p:pic>
      <p:pic>
        <p:nvPicPr>
          <p:cNvPr id="14" name="SK-1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758380"/>
            <a:ext cx="3682901" cy="720030"/>
          </a:xfrm>
          <a:prstGeom prst="rect">
            <a:avLst/>
          </a:prstGeom>
        </p:spPr>
      </p:pic>
      <p:pic>
        <p:nvPicPr>
          <p:cNvPr id="15" name="SK-1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54401" y="2758380"/>
            <a:ext cx="3682901" cy="720030"/>
          </a:xfrm>
          <a:prstGeom prst="rect">
            <a:avLst/>
          </a:prstGeom>
        </p:spPr>
      </p:pic>
      <p:pic>
        <p:nvPicPr>
          <p:cNvPr id="16" name="SK-1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37302" y="2758380"/>
            <a:ext cx="3683198" cy="720030"/>
          </a:xfrm>
          <a:prstGeom prst="rect">
            <a:avLst/>
          </a:prstGeom>
        </p:spPr>
      </p:pic>
      <p:pic>
        <p:nvPicPr>
          <p:cNvPr id="17" name="SK-1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02798" y="3042940"/>
            <a:ext cx="202406" cy="163711"/>
          </a:xfrm>
          <a:prstGeom prst="rect">
            <a:avLst/>
          </a:prstGeom>
        </p:spPr>
      </p:pic>
      <p:pic>
        <p:nvPicPr>
          <p:cNvPr id="18" name="SK-1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478411"/>
            <a:ext cx="3682901" cy="720030"/>
          </a:xfrm>
          <a:prstGeom prst="rect">
            <a:avLst/>
          </a:prstGeom>
        </p:spPr>
      </p:pic>
      <p:pic>
        <p:nvPicPr>
          <p:cNvPr id="19" name="SK-1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54401" y="3478411"/>
            <a:ext cx="3682901" cy="720030"/>
          </a:xfrm>
          <a:prstGeom prst="rect">
            <a:avLst/>
          </a:prstGeom>
        </p:spPr>
      </p:pic>
      <p:pic>
        <p:nvPicPr>
          <p:cNvPr id="20" name="SK-1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37302" y="3478411"/>
            <a:ext cx="3683198" cy="720030"/>
          </a:xfrm>
          <a:prstGeom prst="rect">
            <a:avLst/>
          </a:prstGeom>
        </p:spPr>
      </p:pic>
      <p:pic>
        <p:nvPicPr>
          <p:cNvPr id="21" name="SK-1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02798" y="3762970"/>
            <a:ext cx="202406" cy="163711"/>
          </a:xfrm>
          <a:prstGeom prst="rect">
            <a:avLst/>
          </a:prstGeom>
        </p:spPr>
      </p:pic>
      <p:pic>
        <p:nvPicPr>
          <p:cNvPr id="22" name="SK-1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4198441"/>
            <a:ext cx="3682901" cy="720030"/>
          </a:xfrm>
          <a:prstGeom prst="rect">
            <a:avLst/>
          </a:prstGeom>
        </p:spPr>
      </p:pic>
      <p:pic>
        <p:nvPicPr>
          <p:cNvPr id="23" name="SK-1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54401" y="4198441"/>
            <a:ext cx="3682901" cy="720030"/>
          </a:xfrm>
          <a:prstGeom prst="rect">
            <a:avLst/>
          </a:prstGeom>
        </p:spPr>
      </p:pic>
      <p:pic>
        <p:nvPicPr>
          <p:cNvPr id="24" name="SK-1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37302" y="4198441"/>
            <a:ext cx="3683198" cy="720030"/>
          </a:xfrm>
          <a:prstGeom prst="rect">
            <a:avLst/>
          </a:prstGeom>
        </p:spPr>
      </p:pic>
      <p:pic>
        <p:nvPicPr>
          <p:cNvPr id="25" name="SK-1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02798" y="4483001"/>
            <a:ext cx="202406" cy="163711"/>
          </a:xfrm>
          <a:prstGeom prst="rect">
            <a:avLst/>
          </a:prstGeom>
        </p:spPr>
      </p:pic>
      <p:pic>
        <p:nvPicPr>
          <p:cNvPr id="26" name="SK-1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937302" y="4918472"/>
            <a:ext cx="3683198" cy="720328"/>
          </a:xfrm>
          <a:prstGeom prst="rect">
            <a:avLst/>
          </a:prstGeom>
        </p:spPr>
      </p:pic>
      <p:pic>
        <p:nvPicPr>
          <p:cNvPr id="27" name="SK-1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02798" y="5203180"/>
            <a:ext cx="202406" cy="163711"/>
          </a:xfrm>
          <a:prstGeom prst="rect">
            <a:avLst/>
          </a:prstGeom>
        </p:spPr>
      </p:pic>
      <p:pic>
        <p:nvPicPr>
          <p:cNvPr id="28" name="SK-1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867400"/>
            <a:ext cx="11049000" cy="609600"/>
          </a:xfrm>
          <a:prstGeom prst="rect">
            <a:avLst/>
          </a:prstGeom>
        </p:spPr>
      </p:pic>
      <p:pic>
        <p:nvPicPr>
          <p:cNvPr id="29" name="SK-1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0100" y="6057900"/>
            <a:ext cx="285750" cy="228600"/>
          </a:xfrm>
          <a:prstGeom prst="rect">
            <a:avLst/>
          </a:prstGeom>
        </p:spPr>
      </p:pic>
      <p:sp>
        <p:nvSpPr>
          <p:cNvPr id="30" name="SK-12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12-text-30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C-1. 문제-원인-해결 연결 맵</a:t>
            </a:r>
            <a:endParaRPr lang="en-US" sz="2550" dirty="0"/>
          </a:p>
        </p:txBody>
      </p:sp>
      <p:sp>
        <p:nvSpPr>
          <p:cNvPr id="32" name="SK-12-text-31"/>
          <p:cNvSpPr/>
          <p:nvPr/>
        </p:nvSpPr>
        <p:spPr>
          <a:xfrm>
            <a:off x="723900" y="1504950"/>
            <a:ext cx="34543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 원인 (Root Cause)</a:t>
            </a:r>
            <a:endParaRPr lang="en-US" sz="1200" dirty="0"/>
          </a:p>
        </p:txBody>
      </p:sp>
      <p:sp>
        <p:nvSpPr>
          <p:cNvPr id="33" name="SK-12-text-32"/>
          <p:cNvSpPr/>
          <p:nvPr/>
        </p:nvSpPr>
        <p:spPr>
          <a:xfrm>
            <a:off x="4406801" y="1504950"/>
            <a:ext cx="44375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방향 (Solution Direction)</a:t>
            </a:r>
            <a:endParaRPr lang="en-US" sz="1200" dirty="0"/>
          </a:p>
        </p:txBody>
      </p:sp>
      <p:sp>
        <p:nvSpPr>
          <p:cNvPr id="34" name="SK-12-text-33"/>
          <p:cNvSpPr/>
          <p:nvPr/>
        </p:nvSpPr>
        <p:spPr>
          <a:xfrm>
            <a:off x="8089702" y="1504950"/>
            <a:ext cx="410229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AI Agent (AI Agent Role)</a:t>
            </a:r>
            <a:endParaRPr lang="en-US" sz="1200" dirty="0"/>
          </a:p>
        </p:txBody>
      </p:sp>
      <p:sp>
        <p:nvSpPr>
          <p:cNvPr id="35" name="SK-12-text-34"/>
          <p:cNvSpPr/>
          <p:nvPr/>
        </p:nvSpPr>
        <p:spPr>
          <a:xfrm>
            <a:off x="723900" y="2038350"/>
            <a:ext cx="345906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체계가 Output만 측정</a:t>
            </a:r>
            <a:endParaRPr lang="en-US" sz="1275" dirty="0"/>
          </a:p>
        </p:txBody>
      </p:sp>
      <p:sp>
        <p:nvSpPr>
          <p:cNvPr id="36" name="SK-12-text-35"/>
          <p:cNvSpPr/>
          <p:nvPr/>
        </p:nvSpPr>
        <p:spPr>
          <a:xfrm>
            <a:off x="4406801" y="2038350"/>
            <a:ext cx="345906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Outcome(편익) 실시간 추적</a:t>
            </a:r>
            <a:endParaRPr lang="en-US" sz="1275" dirty="0"/>
          </a:p>
        </p:txBody>
      </p:sp>
      <p:sp>
        <p:nvSpPr>
          <p:cNvPr id="37" name="SK-12-text-36"/>
          <p:cNvSpPr/>
          <p:nvPr/>
        </p:nvSpPr>
        <p:spPr>
          <a:xfrm>
            <a:off x="8432602" y="2276921"/>
            <a:ext cx="3759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Tracker Agent</a:t>
            </a:r>
            <a:endParaRPr lang="en-US" sz="1275" dirty="0"/>
          </a:p>
        </p:txBody>
      </p:sp>
      <p:sp>
        <p:nvSpPr>
          <p:cNvPr id="38" name="SK-12-text-37"/>
          <p:cNvSpPr/>
          <p:nvPr/>
        </p:nvSpPr>
        <p:spPr>
          <a:xfrm>
            <a:off x="723900" y="2758380"/>
            <a:ext cx="345906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보고서와 원자료의 괴리 미감지</a:t>
            </a:r>
            <a:endParaRPr lang="en-US" sz="1275" dirty="0"/>
          </a:p>
        </p:txBody>
      </p:sp>
      <p:sp>
        <p:nvSpPr>
          <p:cNvPr id="39" name="SK-12-text-38"/>
          <p:cNvSpPr/>
          <p:nvPr/>
        </p:nvSpPr>
        <p:spPr>
          <a:xfrm>
            <a:off x="4406801" y="2758380"/>
            <a:ext cx="345906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크로스체크 + 이상 탐지</a:t>
            </a:r>
            <a:endParaRPr lang="en-US" sz="1275" dirty="0"/>
          </a:p>
        </p:txBody>
      </p:sp>
      <p:sp>
        <p:nvSpPr>
          <p:cNvPr id="40" name="SK-12-text-39"/>
          <p:cNvSpPr/>
          <p:nvPr/>
        </p:nvSpPr>
        <p:spPr>
          <a:xfrm>
            <a:off x="8432602" y="2996952"/>
            <a:ext cx="3759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Integrity Checker Agent</a:t>
            </a:r>
            <a:endParaRPr lang="en-US" sz="1275" dirty="0"/>
          </a:p>
        </p:txBody>
      </p:sp>
      <p:sp>
        <p:nvSpPr>
          <p:cNvPr id="41" name="SK-12-text-40"/>
          <p:cNvSpPr/>
          <p:nvPr/>
        </p:nvSpPr>
        <p:spPr>
          <a:xfrm>
            <a:off x="723900" y="3478411"/>
            <a:ext cx="3526718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통제 붕괴 (35건 비공식)</a:t>
            </a:r>
            <a:endParaRPr lang="en-US" sz="1275" dirty="0"/>
          </a:p>
        </p:txBody>
      </p:sp>
      <p:sp>
        <p:nvSpPr>
          <p:cNvPr id="42" name="SK-12-text-41"/>
          <p:cNvSpPr/>
          <p:nvPr/>
        </p:nvSpPr>
        <p:spPr>
          <a:xfrm>
            <a:off x="4406801" y="3478411"/>
            <a:ext cx="364553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채널 감지 + CR 자동 생성</a:t>
            </a:r>
            <a:endParaRPr lang="en-US" sz="1275" dirty="0"/>
          </a:p>
        </p:txBody>
      </p:sp>
      <p:sp>
        <p:nvSpPr>
          <p:cNvPr id="43" name="SK-12-text-42"/>
          <p:cNvSpPr/>
          <p:nvPr/>
        </p:nvSpPr>
        <p:spPr>
          <a:xfrm>
            <a:off x="8432602" y="3716982"/>
            <a:ext cx="3759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 Sentinel Agent</a:t>
            </a:r>
            <a:endParaRPr lang="en-US" sz="1275" dirty="0"/>
          </a:p>
        </p:txBody>
      </p:sp>
      <p:sp>
        <p:nvSpPr>
          <p:cNvPr id="44" name="SK-12-text-43"/>
          <p:cNvSpPr/>
          <p:nvPr/>
        </p:nvSpPr>
        <p:spPr>
          <a:xfrm>
            <a:off x="723900" y="4198441"/>
            <a:ext cx="345906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의사결정 불일치</a:t>
            </a:r>
            <a:endParaRPr lang="en-US" sz="1275" dirty="0"/>
          </a:p>
        </p:txBody>
      </p:sp>
      <p:sp>
        <p:nvSpPr>
          <p:cNvPr id="45" name="SK-12-text-44"/>
          <p:cNvSpPr/>
          <p:nvPr/>
        </p:nvSpPr>
        <p:spPr>
          <a:xfrm>
            <a:off x="4406801" y="4198441"/>
            <a:ext cx="3459063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기록 대조 + 불일치 알림</a:t>
            </a:r>
            <a:endParaRPr lang="en-US" sz="1275" dirty="0"/>
          </a:p>
        </p:txBody>
      </p:sp>
      <p:sp>
        <p:nvSpPr>
          <p:cNvPr id="46" name="SK-12-text-45"/>
          <p:cNvSpPr/>
          <p:nvPr/>
        </p:nvSpPr>
        <p:spPr>
          <a:xfrm>
            <a:off x="8432602" y="4437013"/>
            <a:ext cx="375939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 Agent</a:t>
            </a:r>
            <a:endParaRPr lang="en-US" sz="1275" dirty="0"/>
          </a:p>
        </p:txBody>
      </p:sp>
      <p:sp>
        <p:nvSpPr>
          <p:cNvPr id="47" name="SK-12-text-46"/>
          <p:cNvSpPr/>
          <p:nvPr/>
        </p:nvSpPr>
        <p:spPr>
          <a:xfrm>
            <a:off x="723900" y="4918472"/>
            <a:ext cx="3459063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방치 + 외부 변경 미대응</a:t>
            </a:r>
            <a:endParaRPr lang="en-US" sz="1275" dirty="0"/>
          </a:p>
        </p:txBody>
      </p:sp>
      <p:sp>
        <p:nvSpPr>
          <p:cNvPr id="48" name="SK-12-text-47"/>
          <p:cNvSpPr/>
          <p:nvPr/>
        </p:nvSpPr>
        <p:spPr>
          <a:xfrm>
            <a:off x="4406801" y="4918472"/>
            <a:ext cx="3645537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신호 감지 + 리스크 자동 등록</a:t>
            </a:r>
            <a:endParaRPr lang="en-US" sz="1275" dirty="0"/>
          </a:p>
        </p:txBody>
      </p:sp>
      <p:sp>
        <p:nvSpPr>
          <p:cNvPr id="49" name="SK-12-text-48"/>
          <p:cNvSpPr/>
          <p:nvPr/>
        </p:nvSpPr>
        <p:spPr>
          <a:xfrm>
            <a:off x="8432602" y="5157192"/>
            <a:ext cx="318992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Radar Agent</a:t>
            </a:r>
            <a:endParaRPr lang="en-US" sz="1275" dirty="0"/>
          </a:p>
        </p:txBody>
      </p:sp>
      <p:sp>
        <p:nvSpPr>
          <p:cNvPr id="50" name="SK-12-text-49"/>
          <p:cNvSpPr/>
          <p:nvPr/>
        </p:nvSpPr>
        <p:spPr>
          <a:xfrm>
            <a:off x="1276350" y="6058793"/>
            <a:ext cx="1091565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식별된 근본 원인을 해결하기 위해 각 관리 도메인별로 특화된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5종의 AI Agent</a:t>
            </a:r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배치하여 프로젝트의 투명성과 가치 중심 관리를 복원합니다.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2122289" cy="276225"/>
          </a:xfrm>
          <a:prstGeom prst="rect">
            <a:avLst/>
          </a:prstGeom>
        </p:spPr>
      </p:pic>
      <p:pic>
        <p:nvPicPr>
          <p:cNvPr id="5" name="SK-1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438150"/>
            <a:ext cx="8812411" cy="9525"/>
          </a:xfrm>
          <a:prstGeom prst="rect">
            <a:avLst/>
          </a:prstGeom>
        </p:spPr>
      </p:pic>
      <p:pic>
        <p:nvPicPr>
          <p:cNvPr id="6" name="SK-1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90675"/>
            <a:ext cx="2676525" cy="404813"/>
          </a:xfrm>
          <a:prstGeom prst="rect">
            <a:avLst/>
          </a:prstGeom>
        </p:spPr>
      </p:pic>
      <p:pic>
        <p:nvPicPr>
          <p:cNvPr id="7" name="SK-1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705421"/>
            <a:ext cx="214313" cy="175320"/>
          </a:xfrm>
          <a:prstGeom prst="rect">
            <a:avLst/>
          </a:prstGeom>
        </p:spPr>
      </p:pic>
      <p:pic>
        <p:nvPicPr>
          <p:cNvPr id="8" name="SK-1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2325" y="1590675"/>
            <a:ext cx="2676525" cy="404813"/>
          </a:xfrm>
          <a:prstGeom prst="rect">
            <a:avLst/>
          </a:prstGeom>
        </p:spPr>
      </p:pic>
      <p:pic>
        <p:nvPicPr>
          <p:cNvPr id="9" name="SK-1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625" y="1705421"/>
            <a:ext cx="214313" cy="175320"/>
          </a:xfrm>
          <a:prstGeom prst="rect">
            <a:avLst/>
          </a:prstGeom>
        </p:spPr>
      </p:pic>
      <p:pic>
        <p:nvPicPr>
          <p:cNvPr id="10" name="SK-1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3150" y="1590675"/>
            <a:ext cx="2676525" cy="404813"/>
          </a:xfrm>
          <a:prstGeom prst="rect">
            <a:avLst/>
          </a:prstGeom>
        </p:spPr>
      </p:pic>
      <p:pic>
        <p:nvPicPr>
          <p:cNvPr id="11" name="SK-1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7450" y="1705421"/>
            <a:ext cx="214313" cy="175320"/>
          </a:xfrm>
          <a:prstGeom prst="rect">
            <a:avLst/>
          </a:prstGeom>
        </p:spPr>
      </p:pic>
      <p:pic>
        <p:nvPicPr>
          <p:cNvPr id="12" name="SK-1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43975" y="1590675"/>
            <a:ext cx="2676525" cy="404813"/>
          </a:xfrm>
          <a:prstGeom prst="rect">
            <a:avLst/>
          </a:prstGeom>
        </p:spPr>
      </p:pic>
      <p:pic>
        <p:nvPicPr>
          <p:cNvPr id="13" name="SK-1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58275" y="1705421"/>
            <a:ext cx="214313" cy="175320"/>
          </a:xfrm>
          <a:prstGeom prst="rect">
            <a:avLst/>
          </a:prstGeom>
        </p:spPr>
      </p:pic>
      <p:pic>
        <p:nvPicPr>
          <p:cNvPr id="14" name="SK-1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6938" y="2052637"/>
            <a:ext cx="238125" cy="190500"/>
          </a:xfrm>
          <a:prstGeom prst="rect">
            <a:avLst/>
          </a:prstGeom>
        </p:spPr>
      </p:pic>
      <p:pic>
        <p:nvPicPr>
          <p:cNvPr id="15" name="SK-1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595563"/>
            <a:ext cx="11049000" cy="1125736"/>
          </a:xfrm>
          <a:prstGeom prst="rect">
            <a:avLst/>
          </a:prstGeom>
        </p:spPr>
      </p:pic>
      <p:pic>
        <p:nvPicPr>
          <p:cNvPr id="16" name="SK-1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900" y="2719388"/>
            <a:ext cx="3479750" cy="878086"/>
          </a:xfrm>
          <a:prstGeom prst="rect">
            <a:avLst/>
          </a:prstGeom>
        </p:spPr>
      </p:pic>
      <p:pic>
        <p:nvPicPr>
          <p:cNvPr id="17" name="SK-1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" y="2867025"/>
            <a:ext cx="190500" cy="152400"/>
          </a:xfrm>
          <a:prstGeom prst="rect">
            <a:avLst/>
          </a:prstGeom>
        </p:spPr>
      </p:pic>
      <p:pic>
        <p:nvPicPr>
          <p:cNvPr id="18" name="SK-1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56050" y="2719388"/>
            <a:ext cx="3479750" cy="878086"/>
          </a:xfrm>
          <a:prstGeom prst="rect">
            <a:avLst/>
          </a:prstGeom>
        </p:spPr>
      </p:pic>
      <p:pic>
        <p:nvPicPr>
          <p:cNvPr id="19" name="SK-1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70350" y="2867025"/>
            <a:ext cx="190500" cy="152400"/>
          </a:xfrm>
          <a:prstGeom prst="rect">
            <a:avLst/>
          </a:prstGeom>
        </p:spPr>
      </p:pic>
      <p:pic>
        <p:nvPicPr>
          <p:cNvPr id="20" name="SK-1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88201" y="2719388"/>
            <a:ext cx="3479899" cy="878086"/>
          </a:xfrm>
          <a:prstGeom prst="rect">
            <a:avLst/>
          </a:prstGeom>
        </p:spPr>
      </p:pic>
      <p:pic>
        <p:nvPicPr>
          <p:cNvPr id="21" name="SK-1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02501" y="2867025"/>
            <a:ext cx="190500" cy="152400"/>
          </a:xfrm>
          <a:prstGeom prst="rect">
            <a:avLst/>
          </a:prstGeom>
        </p:spPr>
      </p:pic>
      <p:pic>
        <p:nvPicPr>
          <p:cNvPr id="22" name="SK-1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76938" y="3778448"/>
            <a:ext cx="238125" cy="190500"/>
          </a:xfrm>
          <a:prstGeom prst="rect">
            <a:avLst/>
          </a:prstGeom>
        </p:spPr>
      </p:pic>
      <p:pic>
        <p:nvPicPr>
          <p:cNvPr id="23" name="SK-1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321373"/>
            <a:ext cx="6538020" cy="738188"/>
          </a:xfrm>
          <a:prstGeom prst="rect">
            <a:avLst/>
          </a:prstGeom>
        </p:spPr>
      </p:pic>
      <p:pic>
        <p:nvPicPr>
          <p:cNvPr id="24" name="SK-1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800" y="4416623"/>
            <a:ext cx="6309420" cy="228600"/>
          </a:xfrm>
          <a:prstGeom prst="rect">
            <a:avLst/>
          </a:prstGeom>
        </p:spPr>
      </p:pic>
      <p:pic>
        <p:nvPicPr>
          <p:cNvPr id="25" name="SK-1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" y="4721423"/>
            <a:ext cx="1457325" cy="242888"/>
          </a:xfrm>
          <a:prstGeom prst="rect">
            <a:avLst/>
          </a:prstGeom>
        </p:spPr>
      </p:pic>
      <p:pic>
        <p:nvPicPr>
          <p:cNvPr id="26" name="SK-1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19325" y="4721423"/>
            <a:ext cx="1676400" cy="242888"/>
          </a:xfrm>
          <a:prstGeom prst="rect">
            <a:avLst/>
          </a:prstGeom>
        </p:spPr>
      </p:pic>
      <p:pic>
        <p:nvPicPr>
          <p:cNvPr id="27" name="SK-1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971925" y="4721423"/>
            <a:ext cx="1390650" cy="242888"/>
          </a:xfrm>
          <a:prstGeom prst="rect">
            <a:avLst/>
          </a:prstGeom>
        </p:spPr>
      </p:pic>
      <p:pic>
        <p:nvPicPr>
          <p:cNvPr id="28" name="SK-1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61920" y="4321373"/>
            <a:ext cx="4358580" cy="314325"/>
          </a:xfrm>
          <a:prstGeom prst="rect">
            <a:avLst/>
          </a:prstGeom>
        </p:spPr>
      </p:pic>
      <p:pic>
        <p:nvPicPr>
          <p:cNvPr id="29" name="SK-1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76220" y="4409926"/>
            <a:ext cx="166688" cy="137220"/>
          </a:xfrm>
          <a:prstGeom prst="rect">
            <a:avLst/>
          </a:prstGeom>
        </p:spPr>
      </p:pic>
      <p:pic>
        <p:nvPicPr>
          <p:cNvPr id="30" name="SK-13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261920" y="4664273"/>
            <a:ext cx="4358580" cy="314325"/>
          </a:xfrm>
          <a:prstGeom prst="rect">
            <a:avLst/>
          </a:prstGeom>
        </p:spPr>
      </p:pic>
      <p:pic>
        <p:nvPicPr>
          <p:cNvPr id="31" name="SK-13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76220" y="4752826"/>
            <a:ext cx="166688" cy="137220"/>
          </a:xfrm>
          <a:prstGeom prst="rect">
            <a:avLst/>
          </a:prstGeom>
        </p:spPr>
      </p:pic>
      <p:pic>
        <p:nvPicPr>
          <p:cNvPr id="32" name="SK-13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61920" y="5007173"/>
            <a:ext cx="4358580" cy="314325"/>
          </a:xfrm>
          <a:prstGeom prst="rect">
            <a:avLst/>
          </a:prstGeom>
        </p:spPr>
      </p:pic>
      <p:pic>
        <p:nvPicPr>
          <p:cNvPr id="33" name="SK-13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376220" y="5095726"/>
            <a:ext cx="166688" cy="137220"/>
          </a:xfrm>
          <a:prstGeom prst="rect">
            <a:avLst/>
          </a:prstGeom>
        </p:spPr>
      </p:pic>
      <p:pic>
        <p:nvPicPr>
          <p:cNvPr id="34" name="SK-13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1500" y="5502473"/>
            <a:ext cx="11049000" cy="404813"/>
          </a:xfrm>
          <a:prstGeom prst="rect">
            <a:avLst/>
          </a:prstGeom>
        </p:spPr>
      </p:pic>
      <p:pic>
        <p:nvPicPr>
          <p:cNvPr id="35" name="SK-13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62000" y="5607248"/>
            <a:ext cx="885825" cy="195263"/>
          </a:xfrm>
          <a:prstGeom prst="rect">
            <a:avLst/>
          </a:prstGeom>
        </p:spPr>
      </p:pic>
      <p:sp>
        <p:nvSpPr>
          <p:cNvPr id="36" name="SK-13-text-35"/>
          <p:cNvSpPr/>
          <p:nvPr/>
        </p:nvSpPr>
        <p:spPr>
          <a:xfrm>
            <a:off x="647700" y="3048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7" name="SK-13-text-36"/>
          <p:cNvSpPr/>
          <p:nvPr/>
        </p:nvSpPr>
        <p:spPr>
          <a:xfrm>
            <a:off x="571500" y="6572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C-2. 핵심 AI Agent 설계: 아키텍처 및 프로세스</a:t>
            </a:r>
            <a:endParaRPr lang="en-US" sz="2550" dirty="0"/>
          </a:p>
        </p:txBody>
      </p:sp>
      <p:sp>
        <p:nvSpPr>
          <p:cNvPr id="38" name="SK-13-text-37"/>
          <p:cNvSpPr/>
          <p:nvPr/>
        </p:nvSpPr>
        <p:spPr>
          <a:xfrm>
            <a:off x="571500" y="1295400"/>
            <a:ext cx="11125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</a:rPr>
              <a:t>INPUT LAYER — 데이터 수집</a:t>
            </a:r>
            <a:endParaRPr lang="en-US" sz="900" dirty="0"/>
          </a:p>
        </p:txBody>
      </p:sp>
      <p:sp>
        <p:nvSpPr>
          <p:cNvPr id="39" name="SK-13-text-38"/>
          <p:cNvSpPr/>
          <p:nvPr/>
        </p:nvSpPr>
        <p:spPr>
          <a:xfrm>
            <a:off x="995363" y="1685925"/>
            <a:ext cx="31623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/ EVM (전체 부문)</a:t>
            </a:r>
            <a:endParaRPr lang="en-US" sz="1125" dirty="0"/>
          </a:p>
        </p:txBody>
      </p:sp>
      <p:sp>
        <p:nvSpPr>
          <p:cNvPr id="40" name="SK-13-text-39"/>
          <p:cNvSpPr/>
          <p:nvPr/>
        </p:nvSpPr>
        <p:spPr>
          <a:xfrm>
            <a:off x="3786188" y="1685925"/>
            <a:ext cx="19621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텔레메트리 (파일럿)</a:t>
            </a:r>
            <a:endParaRPr lang="en-US" sz="1125" dirty="0"/>
          </a:p>
        </p:txBody>
      </p:sp>
      <p:sp>
        <p:nvSpPr>
          <p:cNvPr id="41" name="SK-13-text-40"/>
          <p:cNvSpPr/>
          <p:nvPr/>
        </p:nvSpPr>
        <p:spPr>
          <a:xfrm>
            <a:off x="6577013" y="1685925"/>
            <a:ext cx="24765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로그 (메신저 포함)</a:t>
            </a:r>
            <a:endParaRPr lang="en-US" sz="1125" dirty="0"/>
          </a:p>
        </p:txBody>
      </p:sp>
      <p:sp>
        <p:nvSpPr>
          <p:cNvPr id="42" name="SK-13-text-41"/>
          <p:cNvSpPr/>
          <p:nvPr/>
        </p:nvSpPr>
        <p:spPr>
          <a:xfrm>
            <a:off x="9367838" y="1685925"/>
            <a:ext cx="282416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파트너 (Helion 등)</a:t>
            </a:r>
            <a:endParaRPr lang="en-US" sz="1125" dirty="0"/>
          </a:p>
        </p:txBody>
      </p:sp>
      <p:sp>
        <p:nvSpPr>
          <p:cNvPr id="43" name="SK-13-text-42"/>
          <p:cNvSpPr/>
          <p:nvPr/>
        </p:nvSpPr>
        <p:spPr>
          <a:xfrm>
            <a:off x="571500" y="2300288"/>
            <a:ext cx="11125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</a:rPr>
              <a:t>PROCESSING LAYER — 3중 검증 엔진</a:t>
            </a:r>
            <a:endParaRPr lang="en-US" sz="900" dirty="0"/>
          </a:p>
        </p:txBody>
      </p:sp>
      <p:sp>
        <p:nvSpPr>
          <p:cNvPr id="44" name="SK-13-text-43"/>
          <p:cNvSpPr/>
          <p:nvPr/>
        </p:nvSpPr>
        <p:spPr>
          <a:xfrm>
            <a:off x="1104900" y="2814638"/>
            <a:ext cx="3789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Cross-Check Engine</a:t>
            </a:r>
            <a:endParaRPr lang="en-US" sz="1350" dirty="0"/>
          </a:p>
        </p:txBody>
      </p:sp>
      <p:sp>
        <p:nvSpPr>
          <p:cNvPr id="45" name="SK-13-text-44"/>
          <p:cNvSpPr/>
          <p:nvPr/>
        </p:nvSpPr>
        <p:spPr>
          <a:xfrm>
            <a:off x="838200" y="3128963"/>
            <a:ext cx="32511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지표와 실제 원자료를 대조하여 괴리 감지 (예: SC-03 93% vs 58%)</a:t>
            </a:r>
            <a:endParaRPr lang="en-US" sz="1050" dirty="0"/>
          </a:p>
        </p:txBody>
      </p:sp>
      <p:sp>
        <p:nvSpPr>
          <p:cNvPr id="46" name="SK-13-text-45"/>
          <p:cNvSpPr/>
          <p:nvPr/>
        </p:nvSpPr>
        <p:spPr>
          <a:xfrm>
            <a:off x="4737050" y="2814638"/>
            <a:ext cx="27603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Tracker</a:t>
            </a:r>
            <a:endParaRPr lang="en-US" sz="1350" dirty="0"/>
          </a:p>
        </p:txBody>
      </p:sp>
      <p:sp>
        <p:nvSpPr>
          <p:cNvPr id="47" name="SK-13-text-46"/>
          <p:cNvSpPr/>
          <p:nvPr/>
        </p:nvSpPr>
        <p:spPr>
          <a:xfrm>
            <a:off x="4470350" y="3128963"/>
            <a:ext cx="32511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편익(Outcome) 선행지표 실시간 추적 및 임계치 이탈 경고</a:t>
            </a:r>
            <a:endParaRPr lang="en-US" sz="1050" dirty="0"/>
          </a:p>
        </p:txBody>
      </p:sp>
      <p:sp>
        <p:nvSpPr>
          <p:cNvPr id="48" name="SK-13-text-47"/>
          <p:cNvSpPr/>
          <p:nvPr/>
        </p:nvSpPr>
        <p:spPr>
          <a:xfrm>
            <a:off x="8369201" y="2814638"/>
            <a:ext cx="27603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</a:t>
            </a:r>
            <a:endParaRPr lang="en-US" sz="1350" dirty="0"/>
          </a:p>
        </p:txBody>
      </p:sp>
      <p:sp>
        <p:nvSpPr>
          <p:cNvPr id="49" name="SK-13-text-48"/>
          <p:cNvSpPr/>
          <p:nvPr/>
        </p:nvSpPr>
        <p:spPr>
          <a:xfrm>
            <a:off x="8102501" y="3128963"/>
            <a:ext cx="32512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기록 대조 및 비공식 채널의 결정 사항 자동 추출</a:t>
            </a:r>
            <a:endParaRPr lang="en-US" sz="1050" dirty="0"/>
          </a:p>
        </p:txBody>
      </p:sp>
      <p:sp>
        <p:nvSpPr>
          <p:cNvPr id="50" name="SK-13-text-49"/>
          <p:cNvSpPr/>
          <p:nvPr/>
        </p:nvSpPr>
        <p:spPr>
          <a:xfrm>
            <a:off x="571500" y="4026098"/>
            <a:ext cx="6614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</a:rPr>
              <a:t>OUTPUT LAYER — 투명한 보고</a:t>
            </a:r>
            <a:endParaRPr lang="en-US" sz="900" dirty="0"/>
          </a:p>
        </p:txBody>
      </p:sp>
      <p:sp>
        <p:nvSpPr>
          <p:cNvPr id="51" name="SK-13-text-50"/>
          <p:cNvSpPr/>
          <p:nvPr/>
        </p:nvSpPr>
        <p:spPr>
          <a:xfrm>
            <a:off x="762000" y="4416623"/>
            <a:ext cx="6309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Integrated Health Report</a:t>
            </a:r>
            <a:endParaRPr lang="en-US" sz="1200" dirty="0"/>
          </a:p>
        </p:txBody>
      </p:sp>
      <p:sp>
        <p:nvSpPr>
          <p:cNvPr id="52" name="SK-13-text-51"/>
          <p:cNvSpPr/>
          <p:nvPr/>
        </p:nvSpPr>
        <p:spPr>
          <a:xfrm>
            <a:off x="781050" y="4721423"/>
            <a:ext cx="227203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지표 (기존 SC)</a:t>
            </a:r>
            <a:endParaRPr lang="en-US" sz="975" dirty="0"/>
          </a:p>
        </p:txBody>
      </p:sp>
      <p:sp>
        <p:nvSpPr>
          <p:cNvPr id="53" name="SK-13-text-52"/>
          <p:cNvSpPr/>
          <p:nvPr/>
        </p:nvSpPr>
        <p:spPr>
          <a:xfrm>
            <a:off x="2314575" y="4721423"/>
            <a:ext cx="257859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지표 (BEN 선행)</a:t>
            </a:r>
            <a:endParaRPr lang="en-US" sz="975" dirty="0"/>
          </a:p>
        </p:txBody>
      </p:sp>
      <p:sp>
        <p:nvSpPr>
          <p:cNvPr id="54" name="SK-13-text-53"/>
          <p:cNvSpPr/>
          <p:nvPr/>
        </p:nvSpPr>
        <p:spPr>
          <a:xfrm>
            <a:off x="4067175" y="4721423"/>
            <a:ext cx="161502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괴리 및 리스크</a:t>
            </a:r>
            <a:endParaRPr lang="en-US" sz="975" dirty="0"/>
          </a:p>
        </p:txBody>
      </p:sp>
      <p:sp>
        <p:nvSpPr>
          <p:cNvPr id="55" name="SK-13-text-54"/>
          <p:cNvSpPr/>
          <p:nvPr/>
        </p:nvSpPr>
        <p:spPr>
          <a:xfrm>
            <a:off x="7261920" y="4026098"/>
            <a:ext cx="44347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CA3AF"/>
                </a:solidFill>
              </a:rPr>
              <a:t>ACTION LAYER — 자동 에스컬레이션</a:t>
            </a:r>
            <a:endParaRPr lang="en-US" sz="900" dirty="0"/>
          </a:p>
        </p:txBody>
      </p:sp>
      <p:sp>
        <p:nvSpPr>
          <p:cNvPr id="56" name="SK-13-text-55"/>
          <p:cNvSpPr/>
          <p:nvPr/>
        </p:nvSpPr>
        <p:spPr>
          <a:xfrm>
            <a:off x="7638157" y="4378523"/>
            <a:ext cx="3276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괴리 발견 시 PM/스폰서 즉시 알림</a:t>
            </a:r>
            <a:endParaRPr lang="en-US" sz="1050" dirty="0"/>
          </a:p>
        </p:txBody>
      </p:sp>
      <p:sp>
        <p:nvSpPr>
          <p:cNvPr id="57" name="SK-13-text-56"/>
          <p:cNvSpPr/>
          <p:nvPr/>
        </p:nvSpPr>
        <p:spPr>
          <a:xfrm>
            <a:off x="7638157" y="4721423"/>
            <a:ext cx="3276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감지 시 CR 초안 생성</a:t>
            </a:r>
            <a:endParaRPr lang="en-US" sz="1050" dirty="0"/>
          </a:p>
        </p:txBody>
      </p:sp>
      <p:sp>
        <p:nvSpPr>
          <p:cNvPr id="58" name="SK-13-text-57"/>
          <p:cNvSpPr/>
          <p:nvPr/>
        </p:nvSpPr>
        <p:spPr>
          <a:xfrm>
            <a:off x="7638157" y="5064323"/>
            <a:ext cx="34366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임계치 초과 시 자동 등록 제안</a:t>
            </a:r>
            <a:endParaRPr lang="en-US" sz="1050" dirty="0"/>
          </a:p>
        </p:txBody>
      </p:sp>
      <p:sp>
        <p:nvSpPr>
          <p:cNvPr id="59" name="SK-13-text-58"/>
          <p:cNvSpPr/>
          <p:nvPr/>
        </p:nvSpPr>
        <p:spPr>
          <a:xfrm>
            <a:off x="838200" y="5597723"/>
            <a:ext cx="39909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제안만 수행, 최종 의사결정은 인간의 영역</a:t>
            </a:r>
            <a:endParaRPr lang="en-US" sz="1125" dirty="0"/>
          </a:p>
        </p:txBody>
      </p:sp>
      <p:sp>
        <p:nvSpPr>
          <p:cNvPr id="60" name="SK-13-text-59"/>
          <p:cNvSpPr/>
          <p:nvPr/>
        </p:nvSpPr>
        <p:spPr>
          <a:xfrm>
            <a:off x="9286875" y="5604867"/>
            <a:ext cx="2905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보고서에 사람 검토자 서명 필수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3879205" cy="4972050"/>
          </a:xfrm>
          <a:prstGeom prst="rect">
            <a:avLst/>
          </a:prstGeom>
        </p:spPr>
      </p:pic>
      <p:pic>
        <p:nvPicPr>
          <p:cNvPr id="7" name="SK-1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00575"/>
            <a:ext cx="2971800" cy="381000"/>
          </a:xfrm>
          <a:prstGeom prst="rect">
            <a:avLst/>
          </a:prstGeom>
        </p:spPr>
      </p:pic>
      <p:pic>
        <p:nvPicPr>
          <p:cNvPr id="8" name="SK-1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730055"/>
            <a:ext cx="190500" cy="152400"/>
          </a:xfrm>
          <a:prstGeom prst="rect">
            <a:avLst/>
          </a:prstGeom>
        </p:spPr>
      </p:pic>
      <p:pic>
        <p:nvPicPr>
          <p:cNvPr id="9" name="SK-1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1705" y="1504950"/>
            <a:ext cx="6788795" cy="950416"/>
          </a:xfrm>
          <a:prstGeom prst="rect">
            <a:avLst/>
          </a:prstGeom>
        </p:spPr>
      </p:pic>
      <p:pic>
        <p:nvPicPr>
          <p:cNvPr id="10" name="SK-1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6005" y="1660178"/>
            <a:ext cx="214313" cy="175320"/>
          </a:xfrm>
          <a:prstGeom prst="rect">
            <a:avLst/>
          </a:prstGeom>
        </p:spPr>
      </p:pic>
      <p:pic>
        <p:nvPicPr>
          <p:cNvPr id="11" name="SK-1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1705" y="2645866"/>
            <a:ext cx="6788795" cy="3154859"/>
          </a:xfrm>
          <a:prstGeom prst="rect">
            <a:avLst/>
          </a:prstGeom>
        </p:spPr>
      </p:pic>
      <p:pic>
        <p:nvPicPr>
          <p:cNvPr id="12" name="SK-1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1705" y="2645866"/>
            <a:ext cx="1697087" cy="428625"/>
          </a:xfrm>
          <a:prstGeom prst="rect">
            <a:avLst/>
          </a:prstGeom>
        </p:spPr>
      </p:pic>
      <p:pic>
        <p:nvPicPr>
          <p:cNvPr id="13" name="SK-1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8792" y="2645866"/>
            <a:ext cx="2376041" cy="428625"/>
          </a:xfrm>
          <a:prstGeom prst="rect">
            <a:avLst/>
          </a:prstGeom>
        </p:spPr>
      </p:pic>
      <p:pic>
        <p:nvPicPr>
          <p:cNvPr id="14" name="SK-1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04833" y="2645866"/>
            <a:ext cx="1018282" cy="428625"/>
          </a:xfrm>
          <a:prstGeom prst="rect">
            <a:avLst/>
          </a:prstGeom>
        </p:spPr>
      </p:pic>
      <p:pic>
        <p:nvPicPr>
          <p:cNvPr id="15" name="SK-1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23115" y="2645866"/>
            <a:ext cx="1697385" cy="428625"/>
          </a:xfrm>
          <a:prstGeom prst="rect">
            <a:avLst/>
          </a:prstGeom>
        </p:spPr>
      </p:pic>
      <p:pic>
        <p:nvPicPr>
          <p:cNvPr id="16" name="SK-1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31705" y="3074491"/>
            <a:ext cx="1697087" cy="908745"/>
          </a:xfrm>
          <a:prstGeom prst="rect">
            <a:avLst/>
          </a:prstGeom>
        </p:spPr>
      </p:pic>
      <p:pic>
        <p:nvPicPr>
          <p:cNvPr id="17" name="SK-1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8792" y="3074491"/>
            <a:ext cx="2376041" cy="908745"/>
          </a:xfrm>
          <a:prstGeom prst="rect">
            <a:avLst/>
          </a:prstGeom>
        </p:spPr>
      </p:pic>
      <p:pic>
        <p:nvPicPr>
          <p:cNvPr id="18" name="SK-1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4833" y="3074491"/>
            <a:ext cx="1018282" cy="908745"/>
          </a:xfrm>
          <a:prstGeom prst="rect">
            <a:avLst/>
          </a:prstGeom>
        </p:spPr>
      </p:pic>
      <p:pic>
        <p:nvPicPr>
          <p:cNvPr id="19" name="SK-1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23115" y="3074491"/>
            <a:ext cx="1697385" cy="908745"/>
          </a:xfrm>
          <a:prstGeom prst="rect">
            <a:avLst/>
          </a:prstGeom>
        </p:spPr>
      </p:pic>
      <p:pic>
        <p:nvPicPr>
          <p:cNvPr id="20" name="SK-1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31705" y="3983236"/>
            <a:ext cx="1697087" cy="908745"/>
          </a:xfrm>
          <a:prstGeom prst="rect">
            <a:avLst/>
          </a:prstGeom>
        </p:spPr>
      </p:pic>
      <p:pic>
        <p:nvPicPr>
          <p:cNvPr id="21" name="SK-1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28792" y="3983236"/>
            <a:ext cx="2376041" cy="908745"/>
          </a:xfrm>
          <a:prstGeom prst="rect">
            <a:avLst/>
          </a:prstGeom>
        </p:spPr>
      </p:pic>
      <p:pic>
        <p:nvPicPr>
          <p:cNvPr id="22" name="SK-1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04833" y="3983236"/>
            <a:ext cx="1018282" cy="908745"/>
          </a:xfrm>
          <a:prstGeom prst="rect">
            <a:avLst/>
          </a:prstGeom>
        </p:spPr>
      </p:pic>
      <p:pic>
        <p:nvPicPr>
          <p:cNvPr id="23" name="SK-1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23115" y="3983236"/>
            <a:ext cx="1697385" cy="908745"/>
          </a:xfrm>
          <a:prstGeom prst="rect">
            <a:avLst/>
          </a:prstGeom>
        </p:spPr>
      </p:pic>
      <p:pic>
        <p:nvPicPr>
          <p:cNvPr id="24" name="SK-1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31705" y="4891980"/>
            <a:ext cx="1697087" cy="908745"/>
          </a:xfrm>
          <a:prstGeom prst="rect">
            <a:avLst/>
          </a:prstGeom>
        </p:spPr>
      </p:pic>
      <p:pic>
        <p:nvPicPr>
          <p:cNvPr id="25" name="SK-1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28792" y="4891980"/>
            <a:ext cx="2376041" cy="908745"/>
          </a:xfrm>
          <a:prstGeom prst="rect">
            <a:avLst/>
          </a:prstGeom>
        </p:spPr>
      </p:pic>
      <p:pic>
        <p:nvPicPr>
          <p:cNvPr id="26" name="SK-1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04833" y="4891980"/>
            <a:ext cx="1018282" cy="908745"/>
          </a:xfrm>
          <a:prstGeom prst="rect">
            <a:avLst/>
          </a:prstGeom>
        </p:spPr>
      </p:pic>
      <p:pic>
        <p:nvPicPr>
          <p:cNvPr id="27" name="SK-1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23115" y="4891980"/>
            <a:ext cx="1697385" cy="908745"/>
          </a:xfrm>
          <a:prstGeom prst="rect">
            <a:avLst/>
          </a:prstGeom>
        </p:spPr>
      </p:pic>
      <p:pic>
        <p:nvPicPr>
          <p:cNvPr id="28" name="SK-1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31705" y="5991225"/>
            <a:ext cx="3318123" cy="485775"/>
          </a:xfrm>
          <a:prstGeom prst="rect">
            <a:avLst/>
          </a:prstGeom>
        </p:spPr>
      </p:pic>
      <p:pic>
        <p:nvPicPr>
          <p:cNvPr id="29" name="SK-14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02228" y="5991225"/>
            <a:ext cx="3318272" cy="485775"/>
          </a:xfrm>
          <a:prstGeom prst="rect">
            <a:avLst/>
          </a:prstGeom>
        </p:spPr>
      </p:pic>
      <p:sp>
        <p:nvSpPr>
          <p:cNvPr id="30" name="SK-14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14-text-30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C-3. Agent 1: Value Tracker 상세 설계</a:t>
            </a:r>
            <a:endParaRPr lang="en-US" sz="2550" dirty="0"/>
          </a:p>
        </p:txBody>
      </p:sp>
      <p:sp>
        <p:nvSpPr>
          <p:cNvPr id="32" name="SK-14-text-31"/>
          <p:cNvSpPr/>
          <p:nvPr/>
        </p:nvSpPr>
        <p:spPr>
          <a:xfrm>
            <a:off x="571500" y="3000375"/>
            <a:ext cx="3295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400"/>
              </a:lnSpc>
              <a:buNone/>
            </a:pPr>
            <a:r>
              <a:rPr lang="en-US" sz="6000" b="1" spc="-240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</a:t>
            </a:r>
            <a:endParaRPr lang="en-US" sz="6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6000" b="1" spc="-240" kern="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TRACKER</a:t>
            </a:r>
            <a:endParaRPr lang="en-US" sz="6000" dirty="0"/>
          </a:p>
        </p:txBody>
      </p:sp>
      <p:sp>
        <p:nvSpPr>
          <p:cNvPr id="33" name="SK-14-text-32"/>
          <p:cNvSpPr/>
          <p:nvPr/>
        </p:nvSpPr>
        <p:spPr>
          <a:xfrm>
            <a:off x="914400" y="4600575"/>
            <a:ext cx="426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</a:rPr>
              <a:t> Value Attainment Guardian</a:t>
            </a:r>
            <a:endParaRPr lang="en-US" sz="1200" dirty="0"/>
          </a:p>
        </p:txBody>
      </p:sp>
      <p:sp>
        <p:nvSpPr>
          <p:cNvPr id="34" name="SK-14-text-33"/>
          <p:cNvSpPr/>
          <p:nvPr/>
        </p:nvSpPr>
        <p:spPr>
          <a:xfrm>
            <a:off x="5236518" y="1619250"/>
            <a:ext cx="65601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역할 및 로직</a:t>
            </a:r>
            <a:endParaRPr lang="en-US" sz="1350" dirty="0"/>
          </a:p>
        </p:txBody>
      </p:sp>
      <p:sp>
        <p:nvSpPr>
          <p:cNvPr id="35" name="SK-14-text-34"/>
          <p:cNvSpPr/>
          <p:nvPr/>
        </p:nvSpPr>
        <p:spPr>
          <a:xfrm>
            <a:off x="4946005" y="1914525"/>
            <a:ext cx="656019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산출물(Output)과 편익(Outcome)의 괴리를 감시합니다. "기능은 완성됐으나 고객이 사용하지 않는 상황"을 실시간 탐지하여 가치 달성 위험을 경고합니다.</a:t>
            </a:r>
            <a:endParaRPr lang="en-US" sz="1200" dirty="0"/>
          </a:p>
        </p:txBody>
      </p:sp>
      <p:sp>
        <p:nvSpPr>
          <p:cNvPr id="36" name="SK-14-text-35"/>
          <p:cNvSpPr/>
          <p:nvPr/>
        </p:nvSpPr>
        <p:spPr>
          <a:xfrm>
            <a:off x="4946005" y="2645866"/>
            <a:ext cx="201471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편익(Outcome)</a:t>
            </a:r>
            <a:endParaRPr lang="en-US" sz="1050" dirty="0"/>
          </a:p>
        </p:txBody>
      </p:sp>
      <p:sp>
        <p:nvSpPr>
          <p:cNvPr id="37" name="SK-14-text-36"/>
          <p:cNvSpPr/>
          <p:nvPr/>
        </p:nvSpPr>
        <p:spPr>
          <a:xfrm>
            <a:off x="6643092" y="2645866"/>
            <a:ext cx="34025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선행지표(Leading Indicator)</a:t>
            </a:r>
            <a:endParaRPr lang="en-US" sz="1050" dirty="0"/>
          </a:p>
        </p:txBody>
      </p:sp>
      <p:sp>
        <p:nvSpPr>
          <p:cNvPr id="38" name="SK-14-text-37"/>
          <p:cNvSpPr/>
          <p:nvPr/>
        </p:nvSpPr>
        <p:spPr>
          <a:xfrm>
            <a:off x="9019133" y="2645866"/>
            <a:ext cx="8658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임계치</a:t>
            </a:r>
            <a:endParaRPr lang="en-US" sz="1050" dirty="0"/>
          </a:p>
        </p:txBody>
      </p:sp>
      <p:sp>
        <p:nvSpPr>
          <p:cNvPr id="39" name="SK-14-text-38"/>
          <p:cNvSpPr/>
          <p:nvPr/>
        </p:nvSpPr>
        <p:spPr>
          <a:xfrm>
            <a:off x="10037415" y="2645866"/>
            <a:ext cx="17378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 실패 사례</a:t>
            </a:r>
            <a:endParaRPr lang="en-US" sz="1050" dirty="0"/>
          </a:p>
        </p:txBody>
      </p:sp>
      <p:sp>
        <p:nvSpPr>
          <p:cNvPr id="40" name="SK-14-text-39"/>
          <p:cNvSpPr/>
          <p:nvPr/>
        </p:nvSpPr>
        <p:spPr>
          <a:xfrm>
            <a:off x="4946005" y="3074491"/>
            <a:ext cx="1468487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BEN-01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계약유지율 45%</a:t>
            </a:r>
            <a:endParaRPr lang="en-US" sz="1050" dirty="0"/>
          </a:p>
        </p:txBody>
      </p:sp>
      <p:sp>
        <p:nvSpPr>
          <p:cNvPr id="41" name="SK-14-text-40"/>
          <p:cNvSpPr/>
          <p:nvPr/>
        </p:nvSpPr>
        <p:spPr>
          <a:xfrm>
            <a:off x="6643092" y="3074491"/>
            <a:ext cx="2631231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 연속 자율운영 사업장 비율</a:t>
            </a:r>
            <a:endParaRPr lang="en-US" sz="1050" dirty="0"/>
          </a:p>
        </p:txBody>
      </p:sp>
      <p:sp>
        <p:nvSpPr>
          <p:cNvPr id="42" name="SK-14-text-41"/>
          <p:cNvSpPr/>
          <p:nvPr/>
        </p:nvSpPr>
        <p:spPr>
          <a:xfrm>
            <a:off x="9019133" y="3074491"/>
            <a:ext cx="865882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≥ 50%</a:t>
            </a:r>
            <a:endParaRPr lang="en-US" sz="1050" dirty="0"/>
          </a:p>
        </p:txBody>
      </p:sp>
      <p:sp>
        <p:nvSpPr>
          <p:cNvPr id="43" name="SK-14-textBg-42"/>
          <p:cNvSpPr/>
          <p:nvPr/>
        </p:nvSpPr>
        <p:spPr>
          <a:xfrm>
            <a:off x="10037415" y="3428851"/>
            <a:ext cx="838200" cy="209550"/>
          </a:xfrm>
          <a:prstGeom prst="roundRect">
            <a:avLst>
              <a:gd name="adj" fmla="val 909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SK-14-text-43"/>
          <p:cNvSpPr/>
          <p:nvPr/>
        </p:nvSpPr>
        <p:spPr>
          <a:xfrm>
            <a:off x="10094565" y="3428851"/>
            <a:ext cx="13425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1.8% (적신호)</a:t>
            </a:r>
            <a:endParaRPr lang="en-US" sz="900" dirty="0"/>
          </a:p>
        </p:txBody>
      </p:sp>
      <p:sp>
        <p:nvSpPr>
          <p:cNvPr id="45" name="SK-14-text-44"/>
          <p:cNvSpPr/>
          <p:nvPr/>
        </p:nvSpPr>
        <p:spPr>
          <a:xfrm>
            <a:off x="4946005" y="3983236"/>
            <a:ext cx="1468487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BEN-02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A/S 절감 30%</a:t>
            </a:r>
            <a:endParaRPr lang="en-US" sz="1050" dirty="0"/>
          </a:p>
        </p:txBody>
      </p:sp>
      <p:sp>
        <p:nvSpPr>
          <p:cNvPr id="46" name="SK-14-text-45"/>
          <p:cNvSpPr/>
          <p:nvPr/>
        </p:nvSpPr>
        <p:spPr>
          <a:xfrm>
            <a:off x="6643092" y="3983236"/>
            <a:ext cx="2223641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무개입 완주율</a:t>
            </a:r>
            <a:endParaRPr lang="en-US" sz="1050" dirty="0"/>
          </a:p>
        </p:txBody>
      </p:sp>
      <p:sp>
        <p:nvSpPr>
          <p:cNvPr id="47" name="SK-14-text-46"/>
          <p:cNvSpPr/>
          <p:nvPr/>
        </p:nvSpPr>
        <p:spPr>
          <a:xfrm>
            <a:off x="9019133" y="3983236"/>
            <a:ext cx="865882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≥ 70%</a:t>
            </a:r>
            <a:endParaRPr lang="en-US" sz="1050" dirty="0"/>
          </a:p>
        </p:txBody>
      </p:sp>
      <p:sp>
        <p:nvSpPr>
          <p:cNvPr id="48" name="SK-14-textBg-47"/>
          <p:cNvSpPr/>
          <p:nvPr/>
        </p:nvSpPr>
        <p:spPr>
          <a:xfrm>
            <a:off x="10037415" y="4337596"/>
            <a:ext cx="828675" cy="209550"/>
          </a:xfrm>
          <a:prstGeom prst="roundRect">
            <a:avLst>
              <a:gd name="adj" fmla="val 909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SK-14-text-48"/>
          <p:cNvSpPr/>
          <p:nvPr/>
        </p:nvSpPr>
        <p:spPr>
          <a:xfrm>
            <a:off x="10094565" y="4337596"/>
            <a:ext cx="1340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 (적신호)</a:t>
            </a:r>
            <a:endParaRPr lang="en-US" sz="900" dirty="0"/>
          </a:p>
        </p:txBody>
      </p:sp>
      <p:sp>
        <p:nvSpPr>
          <p:cNvPr id="50" name="SK-14-text-49"/>
          <p:cNvSpPr/>
          <p:nvPr/>
        </p:nvSpPr>
        <p:spPr>
          <a:xfrm>
            <a:off x="4946005" y="4891980"/>
            <a:ext cx="1468487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BEN-03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구독전환 8%</a:t>
            </a:r>
            <a:endParaRPr lang="en-US" sz="1050" dirty="0"/>
          </a:p>
        </p:txBody>
      </p:sp>
      <p:sp>
        <p:nvSpPr>
          <p:cNvPr id="51" name="SK-14-text-50"/>
          <p:cNvSpPr/>
          <p:nvPr/>
        </p:nvSpPr>
        <p:spPr>
          <a:xfrm>
            <a:off x="6643092" y="4891980"/>
            <a:ext cx="2679439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관제 콘솔 일일활성사용자(DAU)</a:t>
            </a:r>
            <a:endParaRPr lang="en-US" sz="1050" dirty="0"/>
          </a:p>
        </p:txBody>
      </p:sp>
      <p:sp>
        <p:nvSpPr>
          <p:cNvPr id="52" name="SK-14-text-51"/>
          <p:cNvSpPr/>
          <p:nvPr/>
        </p:nvSpPr>
        <p:spPr>
          <a:xfrm>
            <a:off x="9019133" y="4891980"/>
            <a:ext cx="865882" cy="90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증가 추세</a:t>
            </a:r>
            <a:endParaRPr lang="en-US" sz="1050" dirty="0"/>
          </a:p>
        </p:txBody>
      </p:sp>
      <p:sp>
        <p:nvSpPr>
          <p:cNvPr id="53" name="SK-14-textBg-52"/>
          <p:cNvSpPr/>
          <p:nvPr/>
        </p:nvSpPr>
        <p:spPr>
          <a:xfrm>
            <a:off x="10037415" y="5246340"/>
            <a:ext cx="828675" cy="209550"/>
          </a:xfrm>
          <a:prstGeom prst="roundRect">
            <a:avLst>
              <a:gd name="adj" fmla="val 909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SK-14-text-53"/>
          <p:cNvSpPr/>
          <p:nvPr/>
        </p:nvSpPr>
        <p:spPr>
          <a:xfrm>
            <a:off x="10094565" y="5246340"/>
            <a:ext cx="8276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미측정</a:t>
            </a:r>
            <a:endParaRPr lang="en-US" sz="900" dirty="0"/>
          </a:p>
        </p:txBody>
      </p:sp>
      <p:sp>
        <p:nvSpPr>
          <p:cNvPr id="55" name="SK-14-text-54"/>
          <p:cNvSpPr/>
          <p:nvPr/>
        </p:nvSpPr>
        <p:spPr>
          <a:xfrm>
            <a:off x="4946005" y="6134100"/>
            <a:ext cx="1036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산출물</a:t>
            </a:r>
            <a:endParaRPr lang="en-US" sz="1050" dirty="0"/>
          </a:p>
        </p:txBody>
      </p:sp>
      <p:sp>
        <p:nvSpPr>
          <p:cNvPr id="56" name="SK-14-text-55"/>
          <p:cNvSpPr/>
          <p:nvPr/>
        </p:nvSpPr>
        <p:spPr>
          <a:xfrm>
            <a:off x="6149578" y="6105525"/>
            <a:ext cx="3789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6B6D4"/>
                </a:solidFill>
              </a:rPr>
              <a:t>Value Health Score</a:t>
            </a:r>
            <a:endParaRPr lang="en-US" sz="1350" dirty="0"/>
          </a:p>
        </p:txBody>
      </p:sp>
      <p:sp>
        <p:nvSpPr>
          <p:cNvPr id="57" name="SK-14-text-56"/>
          <p:cNvSpPr/>
          <p:nvPr/>
        </p:nvSpPr>
        <p:spPr>
          <a:xfrm>
            <a:off x="8416528" y="6134100"/>
            <a:ext cx="1036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KPI</a:t>
            </a:r>
            <a:endParaRPr lang="en-US" sz="1050" dirty="0"/>
          </a:p>
        </p:txBody>
      </p:sp>
      <p:sp>
        <p:nvSpPr>
          <p:cNvPr id="58" name="SK-14-text-57"/>
          <p:cNvSpPr/>
          <p:nvPr/>
        </p:nvSpPr>
        <p:spPr>
          <a:xfrm>
            <a:off x="9305925" y="6105525"/>
            <a:ext cx="28860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6B6D4"/>
                </a:solidFill>
              </a:rPr>
              <a:t>Benefit Forecast Acc.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875"/>
            <a:ext cx="2122289" cy="276225"/>
          </a:xfrm>
          <a:prstGeom prst="rect">
            <a:avLst/>
          </a:prstGeom>
        </p:spPr>
      </p:pic>
      <p:pic>
        <p:nvPicPr>
          <p:cNvPr id="5" name="SK-1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276225"/>
            <a:ext cx="8812411" cy="9525"/>
          </a:xfrm>
          <a:prstGeom prst="rect">
            <a:avLst/>
          </a:prstGeom>
        </p:spPr>
      </p:pic>
      <p:pic>
        <p:nvPicPr>
          <p:cNvPr id="6" name="SK-1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057275"/>
            <a:ext cx="9525" cy="5657850"/>
          </a:xfrm>
          <a:prstGeom prst="rect">
            <a:avLst/>
          </a:prstGeom>
        </p:spPr>
      </p:pic>
      <p:pic>
        <p:nvPicPr>
          <p:cNvPr id="7" name="SK-1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104900"/>
            <a:ext cx="5029200" cy="633413"/>
          </a:xfrm>
          <a:prstGeom prst="rect">
            <a:avLst/>
          </a:prstGeom>
        </p:spPr>
      </p:pic>
      <p:pic>
        <p:nvPicPr>
          <p:cNvPr id="8" name="SK-1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209675"/>
            <a:ext cx="238125" cy="190500"/>
          </a:xfrm>
          <a:prstGeom prst="rect">
            <a:avLst/>
          </a:prstGeom>
        </p:spPr>
      </p:pic>
      <p:pic>
        <p:nvPicPr>
          <p:cNvPr id="9" name="SK-1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057549"/>
            <a:ext cx="266700" cy="266700"/>
          </a:xfrm>
          <a:prstGeom prst="rect">
            <a:avLst/>
          </a:prstGeom>
        </p:spPr>
      </p:pic>
      <p:pic>
        <p:nvPicPr>
          <p:cNvPr id="10" name="SK-1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713" y="2133749"/>
            <a:ext cx="142875" cy="114300"/>
          </a:xfrm>
          <a:prstGeom prst="rect">
            <a:avLst/>
          </a:prstGeom>
        </p:spPr>
      </p:pic>
      <p:pic>
        <p:nvPicPr>
          <p:cNvPr id="11" name="SK-1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705993"/>
            <a:ext cx="5029200" cy="9525"/>
          </a:xfrm>
          <a:prstGeom prst="rect">
            <a:avLst/>
          </a:prstGeom>
        </p:spPr>
      </p:pic>
      <p:pic>
        <p:nvPicPr>
          <p:cNvPr id="12" name="SK-1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820293"/>
            <a:ext cx="266700" cy="266700"/>
          </a:xfrm>
          <a:prstGeom prst="rect">
            <a:avLst/>
          </a:prstGeom>
        </p:spPr>
      </p:pic>
      <p:pic>
        <p:nvPicPr>
          <p:cNvPr id="13" name="SK-1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713" y="2896493"/>
            <a:ext cx="142875" cy="114300"/>
          </a:xfrm>
          <a:prstGeom prst="rect">
            <a:avLst/>
          </a:prstGeom>
        </p:spPr>
      </p:pic>
      <p:pic>
        <p:nvPicPr>
          <p:cNvPr id="14" name="SK-1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468737"/>
            <a:ext cx="5029200" cy="9525"/>
          </a:xfrm>
          <a:prstGeom prst="rect">
            <a:avLst/>
          </a:prstGeom>
        </p:spPr>
      </p:pic>
      <p:pic>
        <p:nvPicPr>
          <p:cNvPr id="15" name="SK-1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583037"/>
            <a:ext cx="266700" cy="266700"/>
          </a:xfrm>
          <a:prstGeom prst="rect">
            <a:avLst/>
          </a:prstGeom>
        </p:spPr>
      </p:pic>
      <p:pic>
        <p:nvPicPr>
          <p:cNvPr id="16" name="SK-1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7713" y="3659237"/>
            <a:ext cx="142875" cy="114300"/>
          </a:xfrm>
          <a:prstGeom prst="rect">
            <a:avLst/>
          </a:prstGeom>
        </p:spPr>
      </p:pic>
      <p:pic>
        <p:nvPicPr>
          <p:cNvPr id="17" name="SK-1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231481"/>
            <a:ext cx="5029200" cy="9525"/>
          </a:xfrm>
          <a:prstGeom prst="rect">
            <a:avLst/>
          </a:prstGeom>
        </p:spPr>
      </p:pic>
      <p:pic>
        <p:nvPicPr>
          <p:cNvPr id="18" name="SK-1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4345781"/>
            <a:ext cx="266700" cy="266700"/>
          </a:xfrm>
          <a:prstGeom prst="rect">
            <a:avLst/>
          </a:prstGeom>
        </p:spPr>
      </p:pic>
      <p:pic>
        <p:nvPicPr>
          <p:cNvPr id="19" name="SK-1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713" y="4421981"/>
            <a:ext cx="142875" cy="114300"/>
          </a:xfrm>
          <a:prstGeom prst="rect">
            <a:avLst/>
          </a:prstGeom>
        </p:spPr>
      </p:pic>
      <p:pic>
        <p:nvPicPr>
          <p:cNvPr id="20" name="SK-1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4994225"/>
            <a:ext cx="5029200" cy="9525"/>
          </a:xfrm>
          <a:prstGeom prst="rect">
            <a:avLst/>
          </a:prstGeom>
        </p:spPr>
      </p:pic>
      <p:pic>
        <p:nvPicPr>
          <p:cNvPr id="21" name="SK-1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5108525"/>
            <a:ext cx="266700" cy="266700"/>
          </a:xfrm>
          <a:prstGeom prst="rect">
            <a:avLst/>
          </a:prstGeom>
        </p:spPr>
      </p:pic>
      <p:pic>
        <p:nvPicPr>
          <p:cNvPr id="22" name="SK-1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7713" y="5184725"/>
            <a:ext cx="142875" cy="114300"/>
          </a:xfrm>
          <a:prstGeom prst="rect">
            <a:avLst/>
          </a:prstGeom>
        </p:spPr>
      </p:pic>
      <p:pic>
        <p:nvPicPr>
          <p:cNvPr id="23" name="SK-1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800" y="5756970"/>
            <a:ext cx="5029200" cy="9525"/>
          </a:xfrm>
          <a:prstGeom prst="rect">
            <a:avLst/>
          </a:prstGeom>
        </p:spPr>
      </p:pic>
      <p:pic>
        <p:nvPicPr>
          <p:cNvPr id="24" name="SK-15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800" y="5871270"/>
            <a:ext cx="266700" cy="266700"/>
          </a:xfrm>
          <a:prstGeom prst="rect">
            <a:avLst/>
          </a:prstGeom>
        </p:spPr>
      </p:pic>
      <p:pic>
        <p:nvPicPr>
          <p:cNvPr id="25" name="SK-15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7713" y="5947470"/>
            <a:ext cx="142875" cy="114300"/>
          </a:xfrm>
          <a:prstGeom prst="rect">
            <a:avLst/>
          </a:prstGeom>
        </p:spPr>
      </p:pic>
      <p:pic>
        <p:nvPicPr>
          <p:cNvPr id="26" name="SK-15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1104900"/>
            <a:ext cx="5029200" cy="633413"/>
          </a:xfrm>
          <a:prstGeom prst="rect">
            <a:avLst/>
          </a:prstGeom>
        </p:spPr>
      </p:pic>
      <p:pic>
        <p:nvPicPr>
          <p:cNvPr id="27" name="SK-15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29400" y="1209675"/>
            <a:ext cx="238125" cy="190500"/>
          </a:xfrm>
          <a:prstGeom prst="rect">
            <a:avLst/>
          </a:prstGeom>
        </p:spPr>
      </p:pic>
      <p:pic>
        <p:nvPicPr>
          <p:cNvPr id="28" name="SK-15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2057549"/>
            <a:ext cx="266700" cy="266700"/>
          </a:xfrm>
          <a:prstGeom prst="rect">
            <a:avLst/>
          </a:prstGeom>
        </p:spPr>
      </p:pic>
      <p:pic>
        <p:nvPicPr>
          <p:cNvPr id="29" name="SK-15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38913" y="2133749"/>
            <a:ext cx="142875" cy="114300"/>
          </a:xfrm>
          <a:prstGeom prst="rect">
            <a:avLst/>
          </a:prstGeom>
        </p:spPr>
      </p:pic>
      <p:pic>
        <p:nvPicPr>
          <p:cNvPr id="30" name="SK-15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77000" y="2705993"/>
            <a:ext cx="5029200" cy="9525"/>
          </a:xfrm>
          <a:prstGeom prst="rect">
            <a:avLst/>
          </a:prstGeom>
        </p:spPr>
      </p:pic>
      <p:pic>
        <p:nvPicPr>
          <p:cNvPr id="31" name="SK-15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77000" y="2820293"/>
            <a:ext cx="266700" cy="266700"/>
          </a:xfrm>
          <a:prstGeom prst="rect">
            <a:avLst/>
          </a:prstGeom>
        </p:spPr>
      </p:pic>
      <p:pic>
        <p:nvPicPr>
          <p:cNvPr id="32" name="SK-15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538913" y="2896493"/>
            <a:ext cx="142875" cy="114300"/>
          </a:xfrm>
          <a:prstGeom prst="rect">
            <a:avLst/>
          </a:prstGeom>
        </p:spPr>
      </p:pic>
      <p:pic>
        <p:nvPicPr>
          <p:cNvPr id="33" name="SK-15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77000" y="3468737"/>
            <a:ext cx="5029200" cy="9525"/>
          </a:xfrm>
          <a:prstGeom prst="rect">
            <a:avLst/>
          </a:prstGeom>
        </p:spPr>
      </p:pic>
      <p:pic>
        <p:nvPicPr>
          <p:cNvPr id="34" name="SK-15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77000" y="3583037"/>
            <a:ext cx="266700" cy="266700"/>
          </a:xfrm>
          <a:prstGeom prst="rect">
            <a:avLst/>
          </a:prstGeom>
        </p:spPr>
      </p:pic>
      <p:pic>
        <p:nvPicPr>
          <p:cNvPr id="35" name="SK-15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38913" y="3659237"/>
            <a:ext cx="142875" cy="114300"/>
          </a:xfrm>
          <a:prstGeom prst="rect">
            <a:avLst/>
          </a:prstGeom>
        </p:spPr>
      </p:pic>
      <p:pic>
        <p:nvPicPr>
          <p:cNvPr id="36" name="SK-15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477000" y="4231481"/>
            <a:ext cx="5029200" cy="9525"/>
          </a:xfrm>
          <a:prstGeom prst="rect">
            <a:avLst/>
          </a:prstGeom>
        </p:spPr>
      </p:pic>
      <p:pic>
        <p:nvPicPr>
          <p:cNvPr id="37" name="SK-15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77000" y="4345781"/>
            <a:ext cx="266700" cy="266700"/>
          </a:xfrm>
          <a:prstGeom prst="rect">
            <a:avLst/>
          </a:prstGeom>
        </p:spPr>
      </p:pic>
      <p:pic>
        <p:nvPicPr>
          <p:cNvPr id="38" name="SK-15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38913" y="4421981"/>
            <a:ext cx="142875" cy="114300"/>
          </a:xfrm>
          <a:prstGeom prst="rect">
            <a:avLst/>
          </a:prstGeom>
        </p:spPr>
      </p:pic>
      <p:pic>
        <p:nvPicPr>
          <p:cNvPr id="39" name="SK-15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477000" y="4994225"/>
            <a:ext cx="5029200" cy="9525"/>
          </a:xfrm>
          <a:prstGeom prst="rect">
            <a:avLst/>
          </a:prstGeom>
        </p:spPr>
      </p:pic>
      <p:pic>
        <p:nvPicPr>
          <p:cNvPr id="40" name="SK-15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477000" y="5108525"/>
            <a:ext cx="266700" cy="266700"/>
          </a:xfrm>
          <a:prstGeom prst="rect">
            <a:avLst/>
          </a:prstGeom>
        </p:spPr>
      </p:pic>
      <p:pic>
        <p:nvPicPr>
          <p:cNvPr id="41" name="SK-15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538913" y="5184725"/>
            <a:ext cx="142875" cy="114300"/>
          </a:xfrm>
          <a:prstGeom prst="rect">
            <a:avLst/>
          </a:prstGeom>
        </p:spPr>
      </p:pic>
      <p:pic>
        <p:nvPicPr>
          <p:cNvPr id="42" name="SK-15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477000" y="5756970"/>
            <a:ext cx="5029200" cy="9525"/>
          </a:xfrm>
          <a:prstGeom prst="rect">
            <a:avLst/>
          </a:prstGeom>
        </p:spPr>
      </p:pic>
      <p:pic>
        <p:nvPicPr>
          <p:cNvPr id="43" name="SK-15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477000" y="5871270"/>
            <a:ext cx="266700" cy="266700"/>
          </a:xfrm>
          <a:prstGeom prst="rect">
            <a:avLst/>
          </a:prstGeom>
        </p:spPr>
      </p:pic>
      <p:pic>
        <p:nvPicPr>
          <p:cNvPr id="44" name="SK-15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538913" y="5947470"/>
            <a:ext cx="142875" cy="114300"/>
          </a:xfrm>
          <a:prstGeom prst="rect">
            <a:avLst/>
          </a:prstGeom>
        </p:spPr>
      </p:pic>
      <p:sp>
        <p:nvSpPr>
          <p:cNvPr id="45" name="SK-15-text-44"/>
          <p:cNvSpPr/>
          <p:nvPr/>
        </p:nvSpPr>
        <p:spPr>
          <a:xfrm>
            <a:off x="647700" y="142875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6" name="SK-15-text-45"/>
          <p:cNvSpPr/>
          <p:nvPr/>
        </p:nvSpPr>
        <p:spPr>
          <a:xfrm>
            <a:off x="571500" y="495300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C-4. Value-Driven 관점: 개선 전후 비교</a:t>
            </a:r>
            <a:endParaRPr lang="en-US" sz="2550" dirty="0"/>
          </a:p>
        </p:txBody>
      </p:sp>
      <p:sp>
        <p:nvSpPr>
          <p:cNvPr id="47" name="SK-15-text-46"/>
          <p:cNvSpPr/>
          <p:nvPr/>
        </p:nvSpPr>
        <p:spPr>
          <a:xfrm>
            <a:off x="1171575" y="1162050"/>
            <a:ext cx="472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AI Assistant</a:t>
            </a:r>
            <a:endParaRPr lang="en-US" sz="1500" dirty="0"/>
          </a:p>
        </p:txBody>
      </p:sp>
      <p:sp>
        <p:nvSpPr>
          <p:cNvPr id="48" name="SK-15-text-47"/>
          <p:cNvSpPr/>
          <p:nvPr/>
        </p:nvSpPr>
        <p:spPr>
          <a:xfrm>
            <a:off x="838200" y="1466850"/>
            <a:ext cx="480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중심의 형식적 관리 (Reactive)</a:t>
            </a:r>
            <a:endParaRPr lang="en-US" sz="1125" dirty="0"/>
          </a:p>
        </p:txBody>
      </p:sp>
      <p:sp>
        <p:nvSpPr>
          <p:cNvPr id="49" name="SK-15-text-48"/>
          <p:cNvSpPr/>
          <p:nvPr/>
        </p:nvSpPr>
        <p:spPr>
          <a:xfrm>
            <a:off x="1066800" y="2038499"/>
            <a:ext cx="18859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MEASUREMENT</a:t>
            </a:r>
            <a:endParaRPr lang="en-US" sz="825" dirty="0"/>
          </a:p>
        </p:txBody>
      </p:sp>
      <p:sp>
        <p:nvSpPr>
          <p:cNvPr id="50" name="SK-15-text-49"/>
          <p:cNvSpPr/>
          <p:nvPr/>
        </p:nvSpPr>
        <p:spPr>
          <a:xfrm>
            <a:off x="1066800" y="2214711"/>
            <a:ext cx="22707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중심 측정</a:t>
            </a:r>
            <a:endParaRPr lang="en-US" sz="1200" dirty="0"/>
          </a:p>
        </p:txBody>
      </p:sp>
      <p:sp>
        <p:nvSpPr>
          <p:cNvPr id="51" name="SK-15-text-50"/>
          <p:cNvSpPr/>
          <p:nvPr/>
        </p:nvSpPr>
        <p:spPr>
          <a:xfrm>
            <a:off x="1066800" y="2447032"/>
            <a:ext cx="34442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SC-01~08 지표에만 국한된 관리</a:t>
            </a:r>
            <a:endParaRPr lang="en-US" sz="975" dirty="0"/>
          </a:p>
        </p:txBody>
      </p:sp>
      <p:sp>
        <p:nvSpPr>
          <p:cNvPr id="52" name="SK-15-text-51"/>
          <p:cNvSpPr/>
          <p:nvPr/>
        </p:nvSpPr>
        <p:spPr>
          <a:xfrm>
            <a:off x="1066800" y="2801243"/>
            <a:ext cx="21145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REPORTING</a:t>
            </a:r>
            <a:endParaRPr lang="en-US" sz="825" dirty="0"/>
          </a:p>
        </p:txBody>
      </p:sp>
      <p:sp>
        <p:nvSpPr>
          <p:cNvPr id="53" name="SK-15-text-52"/>
          <p:cNvSpPr/>
          <p:nvPr/>
        </p:nvSpPr>
        <p:spPr>
          <a:xfrm>
            <a:off x="1066800" y="2977455"/>
            <a:ext cx="22707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무검토 배포</a:t>
            </a:r>
            <a:endParaRPr lang="en-US" sz="1200" dirty="0"/>
          </a:p>
        </p:txBody>
      </p:sp>
      <p:sp>
        <p:nvSpPr>
          <p:cNvPr id="54" name="SK-15-text-53"/>
          <p:cNvSpPr/>
          <p:nvPr/>
        </p:nvSpPr>
        <p:spPr>
          <a:xfrm>
            <a:off x="1066800" y="3209776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 연속 "전 지표 정상" 기계적 반복</a:t>
            </a:r>
            <a:endParaRPr lang="en-US" sz="975" dirty="0"/>
          </a:p>
        </p:txBody>
      </p:sp>
      <p:sp>
        <p:nvSpPr>
          <p:cNvPr id="55" name="SK-15-text-54"/>
          <p:cNvSpPr/>
          <p:nvPr/>
        </p:nvSpPr>
        <p:spPr>
          <a:xfrm>
            <a:off x="1066800" y="3563987"/>
            <a:ext cx="20764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CHANGE CONTROL</a:t>
            </a:r>
            <a:endParaRPr lang="en-US" sz="825" dirty="0"/>
          </a:p>
        </p:txBody>
      </p:sp>
      <p:sp>
        <p:nvSpPr>
          <p:cNvPr id="56" name="SK-15-text-55"/>
          <p:cNvSpPr/>
          <p:nvPr/>
        </p:nvSpPr>
        <p:spPr>
          <a:xfrm>
            <a:off x="1066800" y="3740200"/>
            <a:ext cx="20764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변경 방치</a:t>
            </a:r>
            <a:endParaRPr lang="en-US" sz="1200" dirty="0"/>
          </a:p>
        </p:txBody>
      </p:sp>
      <p:sp>
        <p:nvSpPr>
          <p:cNvPr id="57" name="SK-15-text-56"/>
          <p:cNvSpPr/>
          <p:nvPr/>
        </p:nvSpPr>
        <p:spPr>
          <a:xfrm>
            <a:off x="1066800" y="3972520"/>
            <a:ext cx="38404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35건의 비공식 변경 baseline 미갱신</a:t>
            </a:r>
            <a:endParaRPr lang="en-US" sz="975" dirty="0"/>
          </a:p>
        </p:txBody>
      </p:sp>
      <p:sp>
        <p:nvSpPr>
          <p:cNvPr id="58" name="SK-15-text-57"/>
          <p:cNvSpPr/>
          <p:nvPr/>
        </p:nvSpPr>
        <p:spPr>
          <a:xfrm>
            <a:off x="1066800" y="4326731"/>
            <a:ext cx="20859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RISK MANAGEMENT</a:t>
            </a:r>
            <a:endParaRPr lang="en-US" sz="825" dirty="0"/>
          </a:p>
        </p:txBody>
      </p:sp>
      <p:sp>
        <p:nvSpPr>
          <p:cNvPr id="59" name="SK-15-text-58"/>
          <p:cNvSpPr/>
          <p:nvPr/>
        </p:nvSpPr>
        <p:spPr>
          <a:xfrm>
            <a:off x="1066800" y="4502944"/>
            <a:ext cx="20859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 중단</a:t>
            </a:r>
            <a:endParaRPr lang="en-US" sz="1200" dirty="0"/>
          </a:p>
        </p:txBody>
      </p:sp>
      <p:sp>
        <p:nvSpPr>
          <p:cNvPr id="60" name="SK-15-text-59"/>
          <p:cNvSpPr/>
          <p:nvPr/>
        </p:nvSpPr>
        <p:spPr>
          <a:xfrm>
            <a:off x="1066800" y="4735264"/>
            <a:ext cx="40386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4/11 이후 갱신 0회, 외부 위험 미등록</a:t>
            </a:r>
            <a:endParaRPr lang="en-US" sz="975" dirty="0"/>
          </a:p>
        </p:txBody>
      </p:sp>
      <p:sp>
        <p:nvSpPr>
          <p:cNvPr id="61" name="SK-15-text-60"/>
          <p:cNvSpPr/>
          <p:nvPr/>
        </p:nvSpPr>
        <p:spPr>
          <a:xfrm>
            <a:off x="1066800" y="5089475"/>
            <a:ext cx="19526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COMMUNICATION</a:t>
            </a:r>
            <a:endParaRPr lang="en-US" sz="825" dirty="0"/>
          </a:p>
        </p:txBody>
      </p:sp>
      <p:sp>
        <p:nvSpPr>
          <p:cNvPr id="62" name="SK-15-text-61"/>
          <p:cNvSpPr/>
          <p:nvPr/>
        </p:nvSpPr>
        <p:spPr>
          <a:xfrm>
            <a:off x="1066800" y="5265688"/>
            <a:ext cx="19526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리전별 정보 단절</a:t>
            </a:r>
            <a:endParaRPr lang="en-US" sz="1200" dirty="0"/>
          </a:p>
        </p:txBody>
      </p:sp>
      <p:sp>
        <p:nvSpPr>
          <p:cNvPr id="63" name="SK-15-text-62"/>
          <p:cNvSpPr/>
          <p:nvPr/>
        </p:nvSpPr>
        <p:spPr>
          <a:xfrm>
            <a:off x="1066800" y="5498009"/>
            <a:ext cx="2899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불일치 및 중복 개발 발생</a:t>
            </a:r>
            <a:endParaRPr lang="en-US" sz="975" dirty="0"/>
          </a:p>
        </p:txBody>
      </p:sp>
      <p:sp>
        <p:nvSpPr>
          <p:cNvPr id="64" name="SK-15-text-63"/>
          <p:cNvSpPr/>
          <p:nvPr/>
        </p:nvSpPr>
        <p:spPr>
          <a:xfrm>
            <a:off x="1066800" y="5852220"/>
            <a:ext cx="19621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DECISION MAKING</a:t>
            </a:r>
            <a:endParaRPr lang="en-US" sz="825" dirty="0"/>
          </a:p>
        </p:txBody>
      </p:sp>
      <p:sp>
        <p:nvSpPr>
          <p:cNvPr id="65" name="SK-15-text-64"/>
          <p:cNvSpPr/>
          <p:nvPr/>
        </p:nvSpPr>
        <p:spPr>
          <a:xfrm>
            <a:off x="1066800" y="6028432"/>
            <a:ext cx="31851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우선 (SPI First)</a:t>
            </a:r>
            <a:endParaRPr lang="en-US" sz="1200" dirty="0"/>
          </a:p>
        </p:txBody>
      </p:sp>
      <p:sp>
        <p:nvSpPr>
          <p:cNvPr id="66" name="SK-15-text-65"/>
          <p:cNvSpPr/>
          <p:nvPr/>
        </p:nvSpPr>
        <p:spPr>
          <a:xfrm>
            <a:off x="1066800" y="6260753"/>
            <a:ext cx="2899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계약유지율 등 고객 가치 신호 차단</a:t>
            </a:r>
            <a:endParaRPr lang="en-US" sz="975" dirty="0"/>
          </a:p>
        </p:txBody>
      </p:sp>
      <p:sp>
        <p:nvSpPr>
          <p:cNvPr id="67" name="SK-15-text-66"/>
          <p:cNvSpPr/>
          <p:nvPr/>
        </p:nvSpPr>
        <p:spPr>
          <a:xfrm>
            <a:off x="6962775" y="1162050"/>
            <a:ext cx="4724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Guardian (개선)</a:t>
            </a:r>
            <a:endParaRPr lang="en-US" sz="1500" dirty="0"/>
          </a:p>
        </p:txBody>
      </p:sp>
      <p:sp>
        <p:nvSpPr>
          <p:cNvPr id="68" name="SK-15-text-67"/>
          <p:cNvSpPr/>
          <p:nvPr/>
        </p:nvSpPr>
        <p:spPr>
          <a:xfrm>
            <a:off x="6629400" y="1466850"/>
            <a:ext cx="4800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중심의 구조적 거버넌스 (Proactive)</a:t>
            </a:r>
            <a:endParaRPr lang="en-US" sz="1125" dirty="0"/>
          </a:p>
        </p:txBody>
      </p:sp>
      <p:sp>
        <p:nvSpPr>
          <p:cNvPr id="69" name="SK-15-text-68"/>
          <p:cNvSpPr/>
          <p:nvPr/>
        </p:nvSpPr>
        <p:spPr>
          <a:xfrm>
            <a:off x="6858000" y="2038499"/>
            <a:ext cx="18764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MEASUREMENT</a:t>
            </a:r>
            <a:endParaRPr lang="en-US" sz="825" dirty="0"/>
          </a:p>
        </p:txBody>
      </p:sp>
      <p:sp>
        <p:nvSpPr>
          <p:cNvPr id="70" name="SK-15-text-69"/>
          <p:cNvSpPr/>
          <p:nvPr/>
        </p:nvSpPr>
        <p:spPr>
          <a:xfrm>
            <a:off x="6858000" y="2214711"/>
            <a:ext cx="35509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+ Outcome 통합</a:t>
            </a:r>
            <a:endParaRPr lang="en-US" sz="1200" dirty="0"/>
          </a:p>
        </p:txBody>
      </p:sp>
      <p:sp>
        <p:nvSpPr>
          <p:cNvPr id="71" name="SK-15-text-70"/>
          <p:cNvSpPr/>
          <p:nvPr/>
        </p:nvSpPr>
        <p:spPr>
          <a:xfrm>
            <a:off x="6858000" y="2447032"/>
            <a:ext cx="2899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편익(BEN) 선행지표 실시간 추적</a:t>
            </a:r>
            <a:endParaRPr lang="en-US" sz="975" dirty="0"/>
          </a:p>
        </p:txBody>
      </p:sp>
      <p:sp>
        <p:nvSpPr>
          <p:cNvPr id="72" name="SK-15-text-71"/>
          <p:cNvSpPr/>
          <p:nvPr/>
        </p:nvSpPr>
        <p:spPr>
          <a:xfrm>
            <a:off x="6858000" y="2801243"/>
            <a:ext cx="21431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REPORTING</a:t>
            </a:r>
            <a:endParaRPr lang="en-US" sz="825" dirty="0"/>
          </a:p>
        </p:txBody>
      </p:sp>
      <p:sp>
        <p:nvSpPr>
          <p:cNvPr id="73" name="SK-15-text-72"/>
          <p:cNvSpPr/>
          <p:nvPr/>
        </p:nvSpPr>
        <p:spPr>
          <a:xfrm>
            <a:off x="6858000" y="2977455"/>
            <a:ext cx="21431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 검토 루프 강제</a:t>
            </a:r>
            <a:endParaRPr lang="en-US" sz="1200" dirty="0"/>
          </a:p>
        </p:txBody>
      </p:sp>
      <p:sp>
        <p:nvSpPr>
          <p:cNvPr id="74" name="SK-15-text-73"/>
          <p:cNvSpPr/>
          <p:nvPr/>
        </p:nvSpPr>
        <p:spPr>
          <a:xfrm>
            <a:off x="6858000" y="3209776"/>
            <a:ext cx="36423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생성 → 사람 승인 필수 → 괴리 감지</a:t>
            </a:r>
            <a:endParaRPr lang="en-US" sz="975" dirty="0"/>
          </a:p>
        </p:txBody>
      </p:sp>
      <p:sp>
        <p:nvSpPr>
          <p:cNvPr id="75" name="SK-15-text-74"/>
          <p:cNvSpPr/>
          <p:nvPr/>
        </p:nvSpPr>
        <p:spPr>
          <a:xfrm>
            <a:off x="6858000" y="3563987"/>
            <a:ext cx="2181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CHANGE CONTROL</a:t>
            </a:r>
            <a:endParaRPr lang="en-US" sz="825" dirty="0"/>
          </a:p>
        </p:txBody>
      </p:sp>
      <p:sp>
        <p:nvSpPr>
          <p:cNvPr id="76" name="SK-15-text-75"/>
          <p:cNvSpPr/>
          <p:nvPr/>
        </p:nvSpPr>
        <p:spPr>
          <a:xfrm>
            <a:off x="6858000" y="3740200"/>
            <a:ext cx="21812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변경 감시</a:t>
            </a:r>
            <a:endParaRPr lang="en-US" sz="1200" dirty="0"/>
          </a:p>
        </p:txBody>
      </p:sp>
      <p:sp>
        <p:nvSpPr>
          <p:cNvPr id="77" name="SK-15-text-76"/>
          <p:cNvSpPr/>
          <p:nvPr/>
        </p:nvSpPr>
        <p:spPr>
          <a:xfrm>
            <a:off x="6858000" y="3972520"/>
            <a:ext cx="34937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비공식 채널 감지 시 CR 초안 자동 생성</a:t>
            </a:r>
            <a:endParaRPr lang="en-US" sz="975" dirty="0"/>
          </a:p>
        </p:txBody>
      </p:sp>
      <p:sp>
        <p:nvSpPr>
          <p:cNvPr id="78" name="SK-15-text-77"/>
          <p:cNvSpPr/>
          <p:nvPr/>
        </p:nvSpPr>
        <p:spPr>
          <a:xfrm>
            <a:off x="6858000" y="4326731"/>
            <a:ext cx="22574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RISK MANAGEMENT</a:t>
            </a:r>
            <a:endParaRPr lang="en-US" sz="825" dirty="0"/>
          </a:p>
        </p:txBody>
      </p:sp>
      <p:sp>
        <p:nvSpPr>
          <p:cNvPr id="79" name="SK-15-text-78"/>
          <p:cNvSpPr/>
          <p:nvPr/>
        </p:nvSpPr>
        <p:spPr>
          <a:xfrm>
            <a:off x="6858000" y="4502944"/>
            <a:ext cx="30022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Radar 상시 가동</a:t>
            </a:r>
            <a:endParaRPr lang="en-US" sz="1200" dirty="0"/>
          </a:p>
        </p:txBody>
      </p:sp>
      <p:sp>
        <p:nvSpPr>
          <p:cNvPr id="80" name="SK-15-text-79"/>
          <p:cNvSpPr/>
          <p:nvPr/>
        </p:nvSpPr>
        <p:spPr>
          <a:xfrm>
            <a:off x="6858000" y="4735264"/>
            <a:ext cx="34937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신호 감지 시 리스크 자동 등록 제안</a:t>
            </a:r>
            <a:endParaRPr lang="en-US" sz="975" dirty="0"/>
          </a:p>
        </p:txBody>
      </p:sp>
      <p:sp>
        <p:nvSpPr>
          <p:cNvPr id="81" name="SK-15-text-80"/>
          <p:cNvSpPr/>
          <p:nvPr/>
        </p:nvSpPr>
        <p:spPr>
          <a:xfrm>
            <a:off x="6858000" y="5089475"/>
            <a:ext cx="19812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COMMUNICATION</a:t>
            </a:r>
            <a:endParaRPr lang="en-US" sz="825" dirty="0"/>
          </a:p>
        </p:txBody>
      </p:sp>
      <p:sp>
        <p:nvSpPr>
          <p:cNvPr id="82" name="SK-15-text-81"/>
          <p:cNvSpPr/>
          <p:nvPr/>
        </p:nvSpPr>
        <p:spPr>
          <a:xfrm>
            <a:off x="6858000" y="5265688"/>
            <a:ext cx="30022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 체계</a:t>
            </a:r>
            <a:endParaRPr lang="en-US" sz="1200" dirty="0"/>
          </a:p>
        </p:txBody>
      </p:sp>
      <p:sp>
        <p:nvSpPr>
          <p:cNvPr id="83" name="SK-15-text-82"/>
          <p:cNvSpPr/>
          <p:nvPr/>
        </p:nvSpPr>
        <p:spPr>
          <a:xfrm>
            <a:off x="6858000" y="5498009"/>
            <a:ext cx="3048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사항 대조 및 불일치 즉시 알림</a:t>
            </a:r>
            <a:endParaRPr lang="en-US" sz="975" dirty="0"/>
          </a:p>
        </p:txBody>
      </p:sp>
      <p:sp>
        <p:nvSpPr>
          <p:cNvPr id="84" name="SK-15-text-83"/>
          <p:cNvSpPr/>
          <p:nvPr/>
        </p:nvSpPr>
        <p:spPr>
          <a:xfrm>
            <a:off x="6858000" y="5852220"/>
            <a:ext cx="2095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CA3AF"/>
                </a:solidFill>
              </a:rPr>
              <a:t>DECISION MAKING</a:t>
            </a:r>
            <a:endParaRPr lang="en-US" sz="825" dirty="0"/>
          </a:p>
        </p:txBody>
      </p:sp>
      <p:sp>
        <p:nvSpPr>
          <p:cNvPr id="85" name="SK-15-text-84"/>
          <p:cNvSpPr/>
          <p:nvPr/>
        </p:nvSpPr>
        <p:spPr>
          <a:xfrm>
            <a:off x="6858000" y="6028432"/>
            <a:ext cx="35509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우선 (Value First)</a:t>
            </a:r>
            <a:endParaRPr lang="en-US" sz="1200" dirty="0"/>
          </a:p>
        </p:txBody>
      </p:sp>
      <p:sp>
        <p:nvSpPr>
          <p:cNvPr id="86" name="SK-15-text-85"/>
          <p:cNvSpPr/>
          <p:nvPr/>
        </p:nvSpPr>
        <p:spPr>
          <a:xfrm>
            <a:off x="6858000" y="6260753"/>
            <a:ext cx="3048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"고객이 실제로 사용하는가?"에 집중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4972050"/>
          </a:xfrm>
          <a:prstGeom prst="rect">
            <a:avLst/>
          </a:prstGeom>
        </p:spPr>
      </p:pic>
      <p:pic>
        <p:nvPicPr>
          <p:cNvPr id="7" name="SK-1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1049000" cy="457200"/>
          </a:xfrm>
          <a:prstGeom prst="rect">
            <a:avLst/>
          </a:prstGeom>
        </p:spPr>
      </p:pic>
      <p:pic>
        <p:nvPicPr>
          <p:cNvPr id="8" name="SK-1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04950"/>
            <a:ext cx="2762250" cy="457200"/>
          </a:xfrm>
          <a:prstGeom prst="rect">
            <a:avLst/>
          </a:prstGeom>
        </p:spPr>
      </p:pic>
      <p:pic>
        <p:nvPicPr>
          <p:cNvPr id="9" name="SK-1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1504950"/>
            <a:ext cx="1657350" cy="457200"/>
          </a:xfrm>
          <a:prstGeom prst="rect">
            <a:avLst/>
          </a:prstGeom>
        </p:spPr>
      </p:pic>
      <p:pic>
        <p:nvPicPr>
          <p:cNvPr id="10" name="SK-1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1100" y="1504950"/>
            <a:ext cx="1657350" cy="457200"/>
          </a:xfrm>
          <a:prstGeom prst="rect">
            <a:avLst/>
          </a:prstGeom>
        </p:spPr>
      </p:pic>
      <p:pic>
        <p:nvPicPr>
          <p:cNvPr id="11" name="SK-1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8450" y="1504950"/>
            <a:ext cx="4972050" cy="457200"/>
          </a:xfrm>
          <a:prstGeom prst="rect">
            <a:avLst/>
          </a:prstGeom>
        </p:spPr>
      </p:pic>
      <p:pic>
        <p:nvPicPr>
          <p:cNvPr id="12" name="SK-1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962150"/>
            <a:ext cx="11049000" cy="752475"/>
          </a:xfrm>
          <a:prstGeom prst="rect">
            <a:avLst/>
          </a:prstGeom>
        </p:spPr>
      </p:pic>
      <p:pic>
        <p:nvPicPr>
          <p:cNvPr id="13" name="SK-1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205038"/>
            <a:ext cx="266700" cy="266700"/>
          </a:xfrm>
          <a:prstGeom prst="rect">
            <a:avLst/>
          </a:prstGeom>
        </p:spPr>
      </p:pic>
      <p:pic>
        <p:nvPicPr>
          <p:cNvPr id="14" name="SK-1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806" y="2269778"/>
            <a:ext cx="166688" cy="137220"/>
          </a:xfrm>
          <a:prstGeom prst="rect">
            <a:avLst/>
          </a:prstGeom>
        </p:spPr>
      </p:pic>
      <p:pic>
        <p:nvPicPr>
          <p:cNvPr id="15" name="SK-1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714625"/>
            <a:ext cx="11049000" cy="752475"/>
          </a:xfrm>
          <a:prstGeom prst="rect">
            <a:avLst/>
          </a:prstGeom>
        </p:spPr>
      </p:pic>
      <p:pic>
        <p:nvPicPr>
          <p:cNvPr id="16" name="SK-1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2957513"/>
            <a:ext cx="266700" cy="266700"/>
          </a:xfrm>
          <a:prstGeom prst="rect">
            <a:avLst/>
          </a:prstGeom>
        </p:spPr>
      </p:pic>
      <p:pic>
        <p:nvPicPr>
          <p:cNvPr id="17" name="SK-1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5806" y="3022253"/>
            <a:ext cx="166688" cy="137220"/>
          </a:xfrm>
          <a:prstGeom prst="rect">
            <a:avLst/>
          </a:prstGeom>
        </p:spPr>
      </p:pic>
      <p:pic>
        <p:nvPicPr>
          <p:cNvPr id="18" name="SK-1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467100"/>
            <a:ext cx="11049000" cy="752475"/>
          </a:xfrm>
          <a:prstGeom prst="rect">
            <a:avLst/>
          </a:prstGeom>
        </p:spPr>
      </p:pic>
      <p:pic>
        <p:nvPicPr>
          <p:cNvPr id="19" name="SK-1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3709988"/>
            <a:ext cx="266700" cy="266700"/>
          </a:xfrm>
          <a:prstGeom prst="rect">
            <a:avLst/>
          </a:prstGeom>
        </p:spPr>
      </p:pic>
      <p:pic>
        <p:nvPicPr>
          <p:cNvPr id="20" name="SK-1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806" y="3774728"/>
            <a:ext cx="166688" cy="137220"/>
          </a:xfrm>
          <a:prstGeom prst="rect">
            <a:avLst/>
          </a:prstGeom>
        </p:spPr>
      </p:pic>
      <p:pic>
        <p:nvPicPr>
          <p:cNvPr id="21" name="SK-1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219575"/>
            <a:ext cx="11049000" cy="752475"/>
          </a:xfrm>
          <a:prstGeom prst="rect">
            <a:avLst/>
          </a:prstGeom>
        </p:spPr>
      </p:pic>
      <p:pic>
        <p:nvPicPr>
          <p:cNvPr id="22" name="SK-1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4462463"/>
            <a:ext cx="266700" cy="266700"/>
          </a:xfrm>
          <a:prstGeom prst="rect">
            <a:avLst/>
          </a:prstGeom>
        </p:spPr>
      </p:pic>
      <p:pic>
        <p:nvPicPr>
          <p:cNvPr id="23" name="SK-1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5806" y="4527203"/>
            <a:ext cx="166688" cy="137220"/>
          </a:xfrm>
          <a:prstGeom prst="rect">
            <a:avLst/>
          </a:prstGeom>
        </p:spPr>
      </p:pic>
      <p:pic>
        <p:nvPicPr>
          <p:cNvPr id="24" name="SK-1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972050"/>
            <a:ext cx="11049000" cy="752475"/>
          </a:xfrm>
          <a:prstGeom prst="rect">
            <a:avLst/>
          </a:prstGeom>
        </p:spPr>
      </p:pic>
      <p:pic>
        <p:nvPicPr>
          <p:cNvPr id="25" name="SK-1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" y="5214938"/>
            <a:ext cx="266700" cy="266700"/>
          </a:xfrm>
          <a:prstGeom prst="rect">
            <a:avLst/>
          </a:prstGeom>
        </p:spPr>
      </p:pic>
      <p:pic>
        <p:nvPicPr>
          <p:cNvPr id="26" name="SK-1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5806" y="5279678"/>
            <a:ext cx="166688" cy="137220"/>
          </a:xfrm>
          <a:prstGeom prst="rect">
            <a:avLst/>
          </a:prstGeom>
        </p:spPr>
      </p:pic>
      <p:pic>
        <p:nvPicPr>
          <p:cNvPr id="27" name="SK-16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5800" y="5967413"/>
            <a:ext cx="266700" cy="266700"/>
          </a:xfrm>
          <a:prstGeom prst="rect">
            <a:avLst/>
          </a:prstGeom>
        </p:spPr>
      </p:pic>
      <p:pic>
        <p:nvPicPr>
          <p:cNvPr id="28" name="SK-16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5806" y="6032153"/>
            <a:ext cx="166688" cy="137220"/>
          </a:xfrm>
          <a:prstGeom prst="rect">
            <a:avLst/>
          </a:prstGeom>
        </p:spPr>
      </p:pic>
      <p:sp>
        <p:nvSpPr>
          <p:cNvPr id="29" name="SK-16-text-28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0" name="SK-16-text-29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C-5. 기대효과 및 KPI 목표</a:t>
            </a:r>
            <a:endParaRPr lang="en-US" sz="2550" dirty="0"/>
          </a:p>
        </p:txBody>
      </p:sp>
      <p:sp>
        <p:nvSpPr>
          <p:cNvPr id="31" name="SK-16-text-30"/>
          <p:cNvSpPr/>
          <p:nvPr/>
        </p:nvSpPr>
        <p:spPr>
          <a:xfrm>
            <a:off x="685800" y="1504950"/>
            <a:ext cx="2609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항목</a:t>
            </a:r>
            <a:endParaRPr lang="en-US" sz="1200" dirty="0"/>
          </a:p>
        </p:txBody>
      </p:sp>
      <p:sp>
        <p:nvSpPr>
          <p:cNvPr id="32" name="SK-16-text-31"/>
          <p:cNvSpPr/>
          <p:nvPr/>
        </p:nvSpPr>
        <p:spPr>
          <a:xfrm>
            <a:off x="3295650" y="1504950"/>
            <a:ext cx="1504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현재값 (Before)</a:t>
            </a:r>
            <a:endParaRPr lang="en-US" sz="1200" dirty="0"/>
          </a:p>
        </p:txBody>
      </p:sp>
      <p:sp>
        <p:nvSpPr>
          <p:cNvPr id="33" name="SK-16-text-32"/>
          <p:cNvSpPr/>
          <p:nvPr/>
        </p:nvSpPr>
        <p:spPr>
          <a:xfrm>
            <a:off x="4953000" y="1504950"/>
            <a:ext cx="1504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목표값 (After)</a:t>
            </a:r>
            <a:endParaRPr lang="en-US" sz="1200" dirty="0"/>
          </a:p>
        </p:txBody>
      </p:sp>
      <p:sp>
        <p:nvSpPr>
          <p:cNvPr id="34" name="SK-16-text-33"/>
          <p:cNvSpPr/>
          <p:nvPr/>
        </p:nvSpPr>
        <p:spPr>
          <a:xfrm>
            <a:off x="6762750" y="1504950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및 달성 근거</a:t>
            </a:r>
            <a:endParaRPr lang="en-US" sz="1200" dirty="0"/>
          </a:p>
        </p:txBody>
      </p:sp>
      <p:sp>
        <p:nvSpPr>
          <p:cNvPr id="35" name="SK-16-text-34"/>
          <p:cNvSpPr/>
          <p:nvPr/>
        </p:nvSpPr>
        <p:spPr>
          <a:xfrm>
            <a:off x="1047750" y="1962150"/>
            <a:ext cx="25336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편익 측정 활성화율</a:t>
            </a:r>
            <a:endParaRPr lang="en-US" sz="1125" dirty="0"/>
          </a:p>
        </p:txBody>
      </p:sp>
      <p:sp>
        <p:nvSpPr>
          <p:cNvPr id="36" name="SK-16-text-35"/>
          <p:cNvSpPr/>
          <p:nvPr/>
        </p:nvSpPr>
        <p:spPr>
          <a:xfrm>
            <a:off x="3295650" y="1962150"/>
            <a:ext cx="1504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0/5 (0%)</a:t>
            </a:r>
            <a:endParaRPr lang="en-US" sz="1125" dirty="0"/>
          </a:p>
        </p:txBody>
      </p:sp>
      <p:sp>
        <p:nvSpPr>
          <p:cNvPr id="37" name="SK-16-text-36"/>
          <p:cNvSpPr/>
          <p:nvPr/>
        </p:nvSpPr>
        <p:spPr>
          <a:xfrm>
            <a:off x="4948238" y="1962150"/>
            <a:ext cx="15144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5/5 (100%)</a:t>
            </a:r>
            <a:endParaRPr lang="en-US" sz="1350" dirty="0"/>
          </a:p>
        </p:txBody>
      </p:sp>
      <p:sp>
        <p:nvSpPr>
          <p:cNvPr id="38" name="SK-16-text-37"/>
          <p:cNvSpPr/>
          <p:nvPr/>
        </p:nvSpPr>
        <p:spPr>
          <a:xfrm>
            <a:off x="6762750" y="1962150"/>
            <a:ext cx="47434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Tracker Agent가 BEN별 선행지표(Leading Indicator)를 실시간으로 자동 추적 및 시각화</a:t>
            </a:r>
            <a:endParaRPr lang="en-US" sz="1050" dirty="0"/>
          </a:p>
        </p:txBody>
      </p:sp>
      <p:sp>
        <p:nvSpPr>
          <p:cNvPr id="39" name="SK-16-text-38"/>
          <p:cNvSpPr/>
          <p:nvPr/>
        </p:nvSpPr>
        <p:spPr>
          <a:xfrm>
            <a:off x="1047750" y="2714625"/>
            <a:ext cx="25336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괴리 감지 → 보고 리드타임</a:t>
            </a:r>
            <a:endParaRPr lang="en-US" sz="1125" dirty="0"/>
          </a:p>
        </p:txBody>
      </p:sp>
      <p:sp>
        <p:nvSpPr>
          <p:cNvPr id="40" name="SK-16-text-39"/>
          <p:cNvSpPr/>
          <p:nvPr/>
        </p:nvSpPr>
        <p:spPr>
          <a:xfrm>
            <a:off x="3295650" y="2714625"/>
            <a:ext cx="1504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∞ (미감지)</a:t>
            </a:r>
            <a:endParaRPr lang="en-US" sz="1125" dirty="0"/>
          </a:p>
        </p:txBody>
      </p:sp>
      <p:sp>
        <p:nvSpPr>
          <p:cNvPr id="41" name="SK-16-text-40"/>
          <p:cNvSpPr/>
          <p:nvPr/>
        </p:nvSpPr>
        <p:spPr>
          <a:xfrm>
            <a:off x="4948238" y="2714625"/>
            <a:ext cx="15144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≤ 24시간</a:t>
            </a:r>
            <a:endParaRPr lang="en-US" sz="1350" dirty="0"/>
          </a:p>
        </p:txBody>
      </p:sp>
      <p:sp>
        <p:nvSpPr>
          <p:cNvPr id="42" name="SK-16-text-41"/>
          <p:cNvSpPr/>
          <p:nvPr/>
        </p:nvSpPr>
        <p:spPr>
          <a:xfrm>
            <a:off x="6762750" y="2714625"/>
            <a:ext cx="47434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Integrity Checker의 자동 Cross-Check 엔진 가동을 통해 지표와 원자료 간 불일치를 일 단위로 탐지</a:t>
            </a:r>
            <a:endParaRPr lang="en-US" sz="1050" dirty="0"/>
          </a:p>
        </p:txBody>
      </p:sp>
      <p:sp>
        <p:nvSpPr>
          <p:cNvPr id="43" name="SK-16-text-42"/>
          <p:cNvSpPr/>
          <p:nvPr/>
        </p:nvSpPr>
        <p:spPr>
          <a:xfrm>
            <a:off x="1047750" y="3467100"/>
            <a:ext cx="25336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비공식 변경 CR 전환율</a:t>
            </a:r>
            <a:endParaRPr lang="en-US" sz="1125" dirty="0"/>
          </a:p>
        </p:txBody>
      </p:sp>
      <p:sp>
        <p:nvSpPr>
          <p:cNvPr id="44" name="SK-16-text-43"/>
          <p:cNvSpPr/>
          <p:nvPr/>
        </p:nvSpPr>
        <p:spPr>
          <a:xfrm>
            <a:off x="3295650" y="3467100"/>
            <a:ext cx="1504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0% (35건 방치)</a:t>
            </a:r>
            <a:endParaRPr lang="en-US" sz="1125" dirty="0"/>
          </a:p>
        </p:txBody>
      </p:sp>
      <p:sp>
        <p:nvSpPr>
          <p:cNvPr id="45" name="SK-16-text-44"/>
          <p:cNvSpPr/>
          <p:nvPr/>
        </p:nvSpPr>
        <p:spPr>
          <a:xfrm>
            <a:off x="4948238" y="3467100"/>
            <a:ext cx="15144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≥ 80%</a:t>
            </a:r>
            <a:endParaRPr lang="en-US" sz="1350" dirty="0"/>
          </a:p>
        </p:txBody>
      </p:sp>
      <p:sp>
        <p:nvSpPr>
          <p:cNvPr id="46" name="SK-16-text-45"/>
          <p:cNvSpPr/>
          <p:nvPr/>
        </p:nvSpPr>
        <p:spPr>
          <a:xfrm>
            <a:off x="6762750" y="3467100"/>
            <a:ext cx="47434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 Sentinel이 메신저/회의록 내 비공식 요청을 자동 감지하여 정식 CR 초안 생성 및 승인 유도</a:t>
            </a:r>
            <a:endParaRPr lang="en-US" sz="1050" dirty="0"/>
          </a:p>
        </p:txBody>
      </p:sp>
      <p:sp>
        <p:nvSpPr>
          <p:cNvPr id="47" name="SK-16-text-46"/>
          <p:cNvSpPr/>
          <p:nvPr/>
        </p:nvSpPr>
        <p:spPr>
          <a:xfrm>
            <a:off x="1047750" y="4219575"/>
            <a:ext cx="25336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리전 간 결정 불일치 건수</a:t>
            </a:r>
            <a:endParaRPr lang="en-US" sz="1125" dirty="0"/>
          </a:p>
        </p:txBody>
      </p:sp>
      <p:sp>
        <p:nvSpPr>
          <p:cNvPr id="48" name="SK-16-text-47"/>
          <p:cNvSpPr/>
          <p:nvPr/>
        </p:nvSpPr>
        <p:spPr>
          <a:xfrm>
            <a:off x="3295650" y="4219575"/>
            <a:ext cx="1504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5건</a:t>
            </a:r>
            <a:endParaRPr lang="en-US" sz="1125" dirty="0"/>
          </a:p>
        </p:txBody>
      </p:sp>
      <p:sp>
        <p:nvSpPr>
          <p:cNvPr id="49" name="SK-16-text-48"/>
          <p:cNvSpPr/>
          <p:nvPr/>
        </p:nvSpPr>
        <p:spPr>
          <a:xfrm>
            <a:off x="4948238" y="4219575"/>
            <a:ext cx="15144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0건</a:t>
            </a:r>
            <a:endParaRPr lang="en-US" sz="1350" dirty="0"/>
          </a:p>
        </p:txBody>
      </p:sp>
      <p:sp>
        <p:nvSpPr>
          <p:cNvPr id="50" name="SK-16-text-49"/>
          <p:cNvSpPr/>
          <p:nvPr/>
        </p:nvSpPr>
        <p:spPr>
          <a:xfrm>
            <a:off x="6762750" y="4219575"/>
            <a:ext cx="47434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Sync Agent가 3개 리전의 기록을 상시 대조하여 불일치 발견 시 즉시 알림 및 조정 프로세스 가동</a:t>
            </a:r>
            <a:endParaRPr lang="en-US" sz="1050" dirty="0"/>
          </a:p>
        </p:txBody>
      </p:sp>
      <p:sp>
        <p:nvSpPr>
          <p:cNvPr id="51" name="SK-16-text-50"/>
          <p:cNvSpPr/>
          <p:nvPr/>
        </p:nvSpPr>
        <p:spPr>
          <a:xfrm>
            <a:off x="1047750" y="4972050"/>
            <a:ext cx="25336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리스크 대장 갱신 주기</a:t>
            </a:r>
            <a:endParaRPr lang="en-US" sz="1125" dirty="0"/>
          </a:p>
        </p:txBody>
      </p:sp>
      <p:sp>
        <p:nvSpPr>
          <p:cNvPr id="52" name="SK-16-text-51"/>
          <p:cNvSpPr/>
          <p:nvPr/>
        </p:nvSpPr>
        <p:spPr>
          <a:xfrm>
            <a:off x="3295650" y="4972050"/>
            <a:ext cx="1504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137일 방치</a:t>
            </a:r>
            <a:endParaRPr lang="en-US" sz="1125" dirty="0"/>
          </a:p>
        </p:txBody>
      </p:sp>
      <p:sp>
        <p:nvSpPr>
          <p:cNvPr id="53" name="SK-16-text-52"/>
          <p:cNvSpPr/>
          <p:nvPr/>
        </p:nvSpPr>
        <p:spPr>
          <a:xfrm>
            <a:off x="4948238" y="4972050"/>
            <a:ext cx="15144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≤ 7일</a:t>
            </a:r>
            <a:endParaRPr lang="en-US" sz="1350" dirty="0"/>
          </a:p>
        </p:txBody>
      </p:sp>
      <p:sp>
        <p:nvSpPr>
          <p:cNvPr id="54" name="SK-16-text-53"/>
          <p:cNvSpPr/>
          <p:nvPr/>
        </p:nvSpPr>
        <p:spPr>
          <a:xfrm>
            <a:off x="6762750" y="4972050"/>
            <a:ext cx="47434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Radar가 외부 신호(EOL 등) 및 내부 임계치 초과를 감지하여 주간 단위로 리스크 등록 제안</a:t>
            </a:r>
            <a:endParaRPr lang="en-US" sz="1050" dirty="0"/>
          </a:p>
        </p:txBody>
      </p:sp>
      <p:sp>
        <p:nvSpPr>
          <p:cNvPr id="55" name="SK-16-text-54"/>
          <p:cNvSpPr/>
          <p:nvPr/>
        </p:nvSpPr>
        <p:spPr>
          <a:xfrm>
            <a:off x="1047750" y="5724525"/>
            <a:ext cx="25336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보고서 사람 검토율</a:t>
            </a:r>
            <a:endParaRPr lang="en-US" sz="1125" dirty="0"/>
          </a:p>
        </p:txBody>
      </p:sp>
      <p:sp>
        <p:nvSpPr>
          <p:cNvPr id="56" name="SK-16-text-55"/>
          <p:cNvSpPr/>
          <p:nvPr/>
        </p:nvSpPr>
        <p:spPr>
          <a:xfrm>
            <a:off x="3295650" y="5724525"/>
            <a:ext cx="15049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F4444"/>
                </a:solidFill>
              </a:rPr>
              <a:t>0% (16주)</a:t>
            </a:r>
            <a:endParaRPr lang="en-US" sz="1125" dirty="0"/>
          </a:p>
        </p:txBody>
      </p:sp>
      <p:sp>
        <p:nvSpPr>
          <p:cNvPr id="57" name="SK-16-text-56"/>
          <p:cNvSpPr/>
          <p:nvPr/>
        </p:nvSpPr>
        <p:spPr>
          <a:xfrm>
            <a:off x="4948238" y="5724525"/>
            <a:ext cx="151447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</a:rPr>
              <a:t>100%</a:t>
            </a:r>
            <a:endParaRPr lang="en-US" sz="1350" dirty="0"/>
          </a:p>
        </p:txBody>
      </p:sp>
      <p:sp>
        <p:nvSpPr>
          <p:cNvPr id="58" name="SK-16-text-57"/>
          <p:cNvSpPr/>
          <p:nvPr/>
        </p:nvSpPr>
        <p:spPr>
          <a:xfrm>
            <a:off x="6762750" y="5724525"/>
            <a:ext cx="47434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규칙 강제를 통해 AI 생성 보고서에 대한 책임자(PM/PO) 최종 승인 단계 필수화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471488"/>
          </a:xfrm>
          <a:prstGeom prst="rect">
            <a:avLst/>
          </a:prstGeom>
        </p:spPr>
      </p:pic>
      <p:pic>
        <p:nvPicPr>
          <p:cNvPr id="7" name="SK-1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26394"/>
            <a:ext cx="285750" cy="228600"/>
          </a:xfrm>
          <a:prstGeom prst="rect">
            <a:avLst/>
          </a:prstGeom>
        </p:spPr>
      </p:pic>
      <p:pic>
        <p:nvPicPr>
          <p:cNvPr id="8" name="SK-1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166938"/>
            <a:ext cx="11049000" cy="4310063"/>
          </a:xfrm>
          <a:prstGeom prst="rect">
            <a:avLst/>
          </a:prstGeom>
        </p:spPr>
      </p:pic>
      <p:pic>
        <p:nvPicPr>
          <p:cNvPr id="9" name="SK-1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166938"/>
            <a:ext cx="1004441" cy="442913"/>
          </a:xfrm>
          <a:prstGeom prst="rect">
            <a:avLst/>
          </a:prstGeom>
        </p:spPr>
      </p:pic>
      <p:pic>
        <p:nvPicPr>
          <p:cNvPr id="10" name="SK-1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5941" y="2166938"/>
            <a:ext cx="1807964" cy="442913"/>
          </a:xfrm>
          <a:prstGeom prst="rect">
            <a:avLst/>
          </a:prstGeom>
        </p:spPr>
      </p:pic>
      <p:pic>
        <p:nvPicPr>
          <p:cNvPr id="11" name="SK-1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3905" y="2166938"/>
            <a:ext cx="3816846" cy="442913"/>
          </a:xfrm>
          <a:prstGeom prst="rect">
            <a:avLst/>
          </a:prstGeom>
        </p:spPr>
      </p:pic>
      <p:pic>
        <p:nvPicPr>
          <p:cNvPr id="12" name="SK-1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0751" y="2166938"/>
            <a:ext cx="2209651" cy="442913"/>
          </a:xfrm>
          <a:prstGeom prst="rect">
            <a:avLst/>
          </a:prstGeom>
        </p:spPr>
      </p:pic>
      <p:pic>
        <p:nvPicPr>
          <p:cNvPr id="13" name="SK-1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0402" y="2166938"/>
            <a:ext cx="2210098" cy="442913"/>
          </a:xfrm>
          <a:prstGeom prst="rect">
            <a:avLst/>
          </a:prstGeom>
        </p:spPr>
      </p:pic>
      <p:pic>
        <p:nvPicPr>
          <p:cNvPr id="14" name="SK-1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609850"/>
            <a:ext cx="1004441" cy="844153"/>
          </a:xfrm>
          <a:prstGeom prst="rect">
            <a:avLst/>
          </a:prstGeom>
        </p:spPr>
      </p:pic>
      <p:pic>
        <p:nvPicPr>
          <p:cNvPr id="15" name="SK-1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75941" y="2609850"/>
            <a:ext cx="1807964" cy="844153"/>
          </a:xfrm>
          <a:prstGeom prst="rect">
            <a:avLst/>
          </a:prstGeom>
        </p:spPr>
      </p:pic>
      <p:pic>
        <p:nvPicPr>
          <p:cNvPr id="16" name="SK-1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83905" y="2609850"/>
            <a:ext cx="3816846" cy="844153"/>
          </a:xfrm>
          <a:prstGeom prst="rect">
            <a:avLst/>
          </a:prstGeom>
        </p:spPr>
      </p:pic>
      <p:pic>
        <p:nvPicPr>
          <p:cNvPr id="17" name="SK-1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98205" y="2724150"/>
            <a:ext cx="178594" cy="253008"/>
          </a:xfrm>
          <a:prstGeom prst="rect">
            <a:avLst/>
          </a:prstGeom>
        </p:spPr>
      </p:pic>
      <p:pic>
        <p:nvPicPr>
          <p:cNvPr id="18" name="SK-1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98205" y="3015258"/>
            <a:ext cx="178594" cy="253008"/>
          </a:xfrm>
          <a:prstGeom prst="rect">
            <a:avLst/>
          </a:prstGeom>
        </p:spPr>
      </p:pic>
      <p:pic>
        <p:nvPicPr>
          <p:cNvPr id="19" name="SK-1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00751" y="2609850"/>
            <a:ext cx="2209651" cy="844153"/>
          </a:xfrm>
          <a:prstGeom prst="rect">
            <a:avLst/>
          </a:prstGeom>
        </p:spPr>
      </p:pic>
      <p:pic>
        <p:nvPicPr>
          <p:cNvPr id="20" name="SK-1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10402" y="2609850"/>
            <a:ext cx="2210098" cy="844153"/>
          </a:xfrm>
          <a:prstGeom prst="rect">
            <a:avLst/>
          </a:prstGeom>
        </p:spPr>
      </p:pic>
      <p:pic>
        <p:nvPicPr>
          <p:cNvPr id="21" name="SK-1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3454003"/>
            <a:ext cx="1004441" cy="844153"/>
          </a:xfrm>
          <a:prstGeom prst="rect">
            <a:avLst/>
          </a:prstGeom>
        </p:spPr>
      </p:pic>
      <p:pic>
        <p:nvPicPr>
          <p:cNvPr id="22" name="SK-1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75941" y="3454003"/>
            <a:ext cx="1807964" cy="844153"/>
          </a:xfrm>
          <a:prstGeom prst="rect">
            <a:avLst/>
          </a:prstGeom>
        </p:spPr>
      </p:pic>
      <p:pic>
        <p:nvPicPr>
          <p:cNvPr id="23" name="SK-17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83905" y="3454003"/>
            <a:ext cx="3816846" cy="844153"/>
          </a:xfrm>
          <a:prstGeom prst="rect">
            <a:avLst/>
          </a:prstGeom>
        </p:spPr>
      </p:pic>
      <p:pic>
        <p:nvPicPr>
          <p:cNvPr id="24" name="SK-17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98205" y="3568303"/>
            <a:ext cx="178594" cy="253008"/>
          </a:xfrm>
          <a:prstGeom prst="rect">
            <a:avLst/>
          </a:prstGeom>
        </p:spPr>
      </p:pic>
      <p:pic>
        <p:nvPicPr>
          <p:cNvPr id="25" name="SK-17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98205" y="3859411"/>
            <a:ext cx="178594" cy="253008"/>
          </a:xfrm>
          <a:prstGeom prst="rect">
            <a:avLst/>
          </a:prstGeom>
        </p:spPr>
      </p:pic>
      <p:pic>
        <p:nvPicPr>
          <p:cNvPr id="26" name="SK-17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00751" y="3454003"/>
            <a:ext cx="2209651" cy="844153"/>
          </a:xfrm>
          <a:prstGeom prst="rect">
            <a:avLst/>
          </a:prstGeom>
        </p:spPr>
      </p:pic>
      <p:pic>
        <p:nvPicPr>
          <p:cNvPr id="27" name="SK-17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10402" y="3454003"/>
            <a:ext cx="2210098" cy="844153"/>
          </a:xfrm>
          <a:prstGeom prst="rect">
            <a:avLst/>
          </a:prstGeom>
        </p:spPr>
      </p:pic>
      <p:pic>
        <p:nvPicPr>
          <p:cNvPr id="28" name="SK-17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4298156"/>
            <a:ext cx="1004441" cy="844153"/>
          </a:xfrm>
          <a:prstGeom prst="rect">
            <a:avLst/>
          </a:prstGeom>
        </p:spPr>
      </p:pic>
      <p:pic>
        <p:nvPicPr>
          <p:cNvPr id="29" name="SK-17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575941" y="4298156"/>
            <a:ext cx="1807964" cy="844153"/>
          </a:xfrm>
          <a:prstGeom prst="rect">
            <a:avLst/>
          </a:prstGeom>
        </p:spPr>
      </p:pic>
      <p:pic>
        <p:nvPicPr>
          <p:cNvPr id="30" name="SK-17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383905" y="4298156"/>
            <a:ext cx="3816846" cy="844153"/>
          </a:xfrm>
          <a:prstGeom prst="rect">
            <a:avLst/>
          </a:prstGeom>
        </p:spPr>
      </p:pic>
      <p:pic>
        <p:nvPicPr>
          <p:cNvPr id="31" name="SK-17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498205" y="4412456"/>
            <a:ext cx="178594" cy="253008"/>
          </a:xfrm>
          <a:prstGeom prst="rect">
            <a:avLst/>
          </a:prstGeom>
        </p:spPr>
      </p:pic>
      <p:pic>
        <p:nvPicPr>
          <p:cNvPr id="32" name="SK-17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498205" y="4703564"/>
            <a:ext cx="178594" cy="253008"/>
          </a:xfrm>
          <a:prstGeom prst="rect">
            <a:avLst/>
          </a:prstGeom>
        </p:spPr>
      </p:pic>
      <p:pic>
        <p:nvPicPr>
          <p:cNvPr id="33" name="SK-17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200751" y="4298156"/>
            <a:ext cx="2209651" cy="844153"/>
          </a:xfrm>
          <a:prstGeom prst="rect">
            <a:avLst/>
          </a:prstGeom>
        </p:spPr>
      </p:pic>
      <p:pic>
        <p:nvPicPr>
          <p:cNvPr id="34" name="SK-17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410402" y="4298156"/>
            <a:ext cx="2210098" cy="844153"/>
          </a:xfrm>
          <a:prstGeom prst="rect">
            <a:avLst/>
          </a:prstGeom>
        </p:spPr>
      </p:pic>
      <p:pic>
        <p:nvPicPr>
          <p:cNvPr id="35" name="SK-17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498205" y="5256609"/>
            <a:ext cx="171450" cy="723900"/>
          </a:xfrm>
          <a:prstGeom prst="rect">
            <a:avLst/>
          </a:prstGeom>
        </p:spPr>
      </p:pic>
      <p:pic>
        <p:nvPicPr>
          <p:cNvPr id="36" name="SK-17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498205" y="6018609"/>
            <a:ext cx="178594" cy="253008"/>
          </a:xfrm>
          <a:prstGeom prst="rect">
            <a:avLst/>
          </a:prstGeom>
        </p:spPr>
      </p:pic>
      <p:sp>
        <p:nvSpPr>
          <p:cNvPr id="37" name="SK-17-text-36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8" name="SK-17-text-37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C-6. 당시로 돌아갔다면: 타임라인별 개입 포인트 (W1~W18)</a:t>
            </a:r>
            <a:endParaRPr lang="en-US" sz="2550" dirty="0"/>
          </a:p>
        </p:txBody>
      </p:sp>
      <p:sp>
        <p:nvSpPr>
          <p:cNvPr id="39" name="SK-17-text-38"/>
          <p:cNvSpPr/>
          <p:nvPr/>
        </p:nvSpPr>
        <p:spPr>
          <a:xfrm>
            <a:off x="1123950" y="1619250"/>
            <a:ext cx="110680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초기 및 중기 단계에서의 선제적 조치가 "수박 프로젝트"화를 방지할 수 있는 결정적 기회였습니다.</a:t>
            </a:r>
            <a:endParaRPr lang="en-US" sz="1275" dirty="0"/>
          </a:p>
        </p:txBody>
      </p:sp>
      <p:sp>
        <p:nvSpPr>
          <p:cNvPr id="40" name="SK-17-text-39"/>
          <p:cNvSpPr/>
          <p:nvPr/>
        </p:nvSpPr>
        <p:spPr>
          <a:xfrm>
            <a:off x="685800" y="2166938"/>
            <a:ext cx="8520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</a:rPr>
              <a:t>시점</a:t>
            </a:r>
            <a:endParaRPr lang="en-US" sz="1125" dirty="0"/>
          </a:p>
        </p:txBody>
      </p:sp>
      <p:sp>
        <p:nvSpPr>
          <p:cNvPr id="41" name="SK-17-text-40"/>
          <p:cNvSpPr/>
          <p:nvPr/>
        </p:nvSpPr>
        <p:spPr>
          <a:xfrm>
            <a:off x="1690241" y="2166938"/>
            <a:ext cx="165556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사건</a:t>
            </a:r>
            <a:endParaRPr lang="en-US" sz="1125" dirty="0"/>
          </a:p>
        </p:txBody>
      </p:sp>
      <p:sp>
        <p:nvSpPr>
          <p:cNvPr id="42" name="SK-17-text-41"/>
          <p:cNvSpPr/>
          <p:nvPr/>
        </p:nvSpPr>
        <p:spPr>
          <a:xfrm>
            <a:off x="3498205" y="2166938"/>
            <a:ext cx="366444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취했어야 할 조치</a:t>
            </a:r>
            <a:endParaRPr lang="en-US" sz="1125" dirty="0"/>
          </a:p>
        </p:txBody>
      </p:sp>
      <p:sp>
        <p:nvSpPr>
          <p:cNvPr id="43" name="SK-17-text-42"/>
          <p:cNvSpPr/>
          <p:nvPr/>
        </p:nvSpPr>
        <p:spPr>
          <a:xfrm>
            <a:off x="7315051" y="2166938"/>
            <a:ext cx="205725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</a:rPr>
              <a:t>근거</a:t>
            </a:r>
            <a:endParaRPr lang="en-US" sz="1125" dirty="0"/>
          </a:p>
        </p:txBody>
      </p:sp>
      <p:sp>
        <p:nvSpPr>
          <p:cNvPr id="44" name="SK-17-text-43"/>
          <p:cNvSpPr/>
          <p:nvPr/>
        </p:nvSpPr>
        <p:spPr>
          <a:xfrm>
            <a:off x="9524702" y="2166938"/>
            <a:ext cx="20576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125" dirty="0"/>
          </a:p>
        </p:txBody>
      </p:sp>
      <p:sp>
        <p:nvSpPr>
          <p:cNvPr id="45" name="SK-17-text-44"/>
          <p:cNvSpPr/>
          <p:nvPr/>
        </p:nvSpPr>
        <p:spPr>
          <a:xfrm>
            <a:off x="571500" y="2609850"/>
            <a:ext cx="775841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W1</a:t>
            </a:r>
            <a:endParaRPr lang="en-US" sz="1125" dirty="0"/>
          </a:p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(1/5)</a:t>
            </a:r>
            <a:endParaRPr lang="en-US" sz="1125" dirty="0"/>
          </a:p>
        </p:txBody>
      </p:sp>
      <p:sp>
        <p:nvSpPr>
          <p:cNvPr id="46" name="SK-17-text-45"/>
          <p:cNvSpPr/>
          <p:nvPr/>
        </p:nvSpPr>
        <p:spPr>
          <a:xfrm>
            <a:off x="1690241" y="2609850"/>
            <a:ext cx="1655564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착수</a:t>
            </a:r>
            <a:endParaRPr lang="en-US" sz="1125" dirty="0"/>
          </a:p>
        </p:txBody>
      </p:sp>
      <p:sp>
        <p:nvSpPr>
          <p:cNvPr id="47" name="SK-17-text-46"/>
          <p:cNvSpPr/>
          <p:nvPr/>
        </p:nvSpPr>
        <p:spPr>
          <a:xfrm>
            <a:off x="3752999" y="2724150"/>
            <a:ext cx="401955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편익 측정 체계 수립 및 측정 책임자 지정</a:t>
            </a:r>
            <a:endParaRPr lang="en-US" sz="1125" dirty="0"/>
          </a:p>
        </p:txBody>
      </p:sp>
      <p:sp>
        <p:nvSpPr>
          <p:cNvPr id="48" name="SK-17-text-47"/>
          <p:cNvSpPr/>
          <p:nvPr/>
        </p:nvSpPr>
        <p:spPr>
          <a:xfrm>
            <a:off x="3752999" y="3015258"/>
            <a:ext cx="367665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성공기준(SC)에 BEN 선행지표 포함</a:t>
            </a:r>
            <a:endParaRPr lang="en-US" sz="1125" dirty="0"/>
          </a:p>
        </p:txBody>
      </p:sp>
      <p:sp>
        <p:nvSpPr>
          <p:cNvPr id="49" name="SK-17-textBg-48"/>
          <p:cNvSpPr/>
          <p:nvPr/>
        </p:nvSpPr>
        <p:spPr>
          <a:xfrm>
            <a:off x="7315051" y="2743200"/>
            <a:ext cx="1381125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SK-17-text-49"/>
          <p:cNvSpPr/>
          <p:nvPr/>
        </p:nvSpPr>
        <p:spPr>
          <a:xfrm>
            <a:off x="7372201" y="2743200"/>
            <a:ext cx="2558113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02_benefit_register</a:t>
            </a:r>
            <a:endParaRPr lang="en-US" sz="900" dirty="0"/>
          </a:p>
        </p:txBody>
      </p:sp>
      <p:sp>
        <p:nvSpPr>
          <p:cNvPr id="51" name="SK-17-textBg-50"/>
          <p:cNvSpPr/>
          <p:nvPr/>
        </p:nvSpPr>
        <p:spPr>
          <a:xfrm>
            <a:off x="7315051" y="2998440"/>
            <a:ext cx="1171575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SK-17-text-51"/>
          <p:cNvSpPr/>
          <p:nvPr/>
        </p:nvSpPr>
        <p:spPr>
          <a:xfrm>
            <a:off x="7372201" y="2998440"/>
            <a:ext cx="1774159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M-01(PO제안 기각)</a:t>
            </a:r>
            <a:endParaRPr lang="en-US" sz="900" dirty="0"/>
          </a:p>
        </p:txBody>
      </p:sp>
      <p:sp>
        <p:nvSpPr>
          <p:cNvPr id="53" name="SK-17-text-52"/>
          <p:cNvSpPr/>
          <p:nvPr/>
        </p:nvSpPr>
        <p:spPr>
          <a:xfrm>
            <a:off x="9524702" y="2609850"/>
            <a:ext cx="1981498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추적 시작으로 파일럿 이상 조기 감지</a:t>
            </a:r>
            <a:endParaRPr lang="en-US" sz="1125" dirty="0"/>
          </a:p>
        </p:txBody>
      </p:sp>
      <p:sp>
        <p:nvSpPr>
          <p:cNvPr id="54" name="SK-17-text-53"/>
          <p:cNvSpPr/>
          <p:nvPr/>
        </p:nvSpPr>
        <p:spPr>
          <a:xfrm>
            <a:off x="571500" y="3454003"/>
            <a:ext cx="775841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W9</a:t>
            </a:r>
            <a:endParaRPr lang="en-US" sz="1125" dirty="0"/>
          </a:p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(3/3)</a:t>
            </a:r>
            <a:endParaRPr lang="en-US" sz="1125" dirty="0"/>
          </a:p>
        </p:txBody>
      </p:sp>
      <p:sp>
        <p:nvSpPr>
          <p:cNvPr id="55" name="SK-17-text-54"/>
          <p:cNvSpPr/>
          <p:nvPr/>
        </p:nvSpPr>
        <p:spPr>
          <a:xfrm>
            <a:off x="1690241" y="3454003"/>
            <a:ext cx="1579364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v2 변경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(CR-012)</a:t>
            </a:r>
            <a:endParaRPr lang="en-US" sz="1125" dirty="0"/>
          </a:p>
        </p:txBody>
      </p:sp>
      <p:sp>
        <p:nvSpPr>
          <p:cNvPr id="56" name="SK-17-text-55"/>
          <p:cNvSpPr/>
          <p:nvPr/>
        </p:nvSpPr>
        <p:spPr>
          <a:xfrm>
            <a:off x="3752999" y="3568303"/>
            <a:ext cx="396240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리전 동시 공유 및 동의 절차 수행</a:t>
            </a:r>
            <a:endParaRPr lang="en-US" sz="1125" dirty="0"/>
          </a:p>
        </p:txBody>
      </p:sp>
      <p:sp>
        <p:nvSpPr>
          <p:cNvPr id="57" name="SK-17-text-56"/>
          <p:cNvSpPr/>
          <p:nvPr/>
        </p:nvSpPr>
        <p:spPr>
          <a:xfrm>
            <a:off x="3752999" y="3859411"/>
            <a:ext cx="436245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통과를 삭제하지 않고 별도 완료조건 유지</a:t>
            </a:r>
            <a:endParaRPr lang="en-US" sz="1125" dirty="0"/>
          </a:p>
        </p:txBody>
      </p:sp>
      <p:sp>
        <p:nvSpPr>
          <p:cNvPr id="58" name="SK-17-textBg-57"/>
          <p:cNvSpPr/>
          <p:nvPr/>
        </p:nvSpPr>
        <p:spPr>
          <a:xfrm>
            <a:off x="7315051" y="3587353"/>
            <a:ext cx="8763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SK-17-text-58"/>
          <p:cNvSpPr/>
          <p:nvPr/>
        </p:nvSpPr>
        <p:spPr>
          <a:xfrm>
            <a:off x="7372201" y="3587353"/>
            <a:ext cx="135172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M-03(QA삭제)</a:t>
            </a:r>
            <a:endParaRPr lang="en-US" sz="900" dirty="0"/>
          </a:p>
        </p:txBody>
      </p:sp>
      <p:sp>
        <p:nvSpPr>
          <p:cNvPr id="60" name="SK-17-textBg-59"/>
          <p:cNvSpPr/>
          <p:nvPr/>
        </p:nvSpPr>
        <p:spPr>
          <a:xfrm>
            <a:off x="7315051" y="3842593"/>
            <a:ext cx="11811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SK-17-text-60"/>
          <p:cNvSpPr/>
          <p:nvPr/>
        </p:nvSpPr>
        <p:spPr>
          <a:xfrm>
            <a:off x="7372201" y="3842593"/>
            <a:ext cx="2147365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E-03(Daniel Suh)</a:t>
            </a:r>
            <a:endParaRPr lang="en-US" sz="900" dirty="0"/>
          </a:p>
        </p:txBody>
      </p:sp>
      <p:sp>
        <p:nvSpPr>
          <p:cNvPr id="62" name="SK-17-text-61"/>
          <p:cNvSpPr/>
          <p:nvPr/>
        </p:nvSpPr>
        <p:spPr>
          <a:xfrm>
            <a:off x="9524702" y="3454003"/>
            <a:ext cx="1981498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미검증 상태 방지 및 리전 간 DoD 통일</a:t>
            </a:r>
            <a:endParaRPr lang="en-US" sz="1125" dirty="0"/>
          </a:p>
        </p:txBody>
      </p:sp>
      <p:sp>
        <p:nvSpPr>
          <p:cNvPr id="63" name="SK-17-text-62"/>
          <p:cNvSpPr/>
          <p:nvPr/>
        </p:nvSpPr>
        <p:spPr>
          <a:xfrm>
            <a:off x="571500" y="4298156"/>
            <a:ext cx="775841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W14</a:t>
            </a:r>
            <a:endParaRPr lang="en-US" sz="1125" dirty="0"/>
          </a:p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(4/11)</a:t>
            </a:r>
            <a:endParaRPr lang="en-US" sz="1125" dirty="0"/>
          </a:p>
        </p:txBody>
      </p:sp>
      <p:sp>
        <p:nvSpPr>
          <p:cNvPr id="64" name="SK-17-text-63"/>
          <p:cNvSpPr/>
          <p:nvPr/>
        </p:nvSpPr>
        <p:spPr>
          <a:xfrm>
            <a:off x="1690241" y="4298156"/>
            <a:ext cx="1579364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대장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갱신</a:t>
            </a:r>
            <a:endParaRPr lang="en-US" sz="1125" dirty="0"/>
          </a:p>
        </p:txBody>
      </p:sp>
      <p:sp>
        <p:nvSpPr>
          <p:cNvPr id="65" name="SK-17-text-64"/>
          <p:cNvSpPr/>
          <p:nvPr/>
        </p:nvSpPr>
        <p:spPr>
          <a:xfrm>
            <a:off x="3752999" y="4412456"/>
            <a:ext cx="327660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1회 정기 리스크 리뷰 의무화</a:t>
            </a:r>
            <a:endParaRPr lang="en-US" sz="1125" dirty="0"/>
          </a:p>
        </p:txBody>
      </p:sp>
      <p:sp>
        <p:nvSpPr>
          <p:cNvPr id="66" name="SK-17-text-65"/>
          <p:cNvSpPr/>
          <p:nvPr/>
        </p:nvSpPr>
        <p:spPr>
          <a:xfrm>
            <a:off x="3752999" y="4703564"/>
            <a:ext cx="470535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High→Medium 하향 시 정량적 근거 필수화</a:t>
            </a:r>
            <a:endParaRPr lang="en-US" sz="1125" dirty="0"/>
          </a:p>
        </p:txBody>
      </p:sp>
      <p:sp>
        <p:nvSpPr>
          <p:cNvPr id="67" name="SK-17-textBg-66"/>
          <p:cNvSpPr/>
          <p:nvPr/>
        </p:nvSpPr>
        <p:spPr>
          <a:xfrm>
            <a:off x="7315051" y="4431506"/>
            <a:ext cx="11811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8" name="SK-17-text-67"/>
          <p:cNvSpPr/>
          <p:nvPr/>
        </p:nvSpPr>
        <p:spPr>
          <a:xfrm>
            <a:off x="7372201" y="4431506"/>
            <a:ext cx="2147365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11_risk_register</a:t>
            </a:r>
            <a:endParaRPr lang="en-US" sz="900" dirty="0"/>
          </a:p>
        </p:txBody>
      </p:sp>
      <p:sp>
        <p:nvSpPr>
          <p:cNvPr id="69" name="SK-17-textBg-68"/>
          <p:cNvSpPr/>
          <p:nvPr/>
        </p:nvSpPr>
        <p:spPr>
          <a:xfrm>
            <a:off x="7315051" y="4686746"/>
            <a:ext cx="1514475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0" name="SK-17-text-69"/>
          <p:cNvSpPr/>
          <p:nvPr/>
        </p:nvSpPr>
        <p:spPr>
          <a:xfrm>
            <a:off x="7372201" y="4686746"/>
            <a:ext cx="219801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M-02("근거는 넘어가죠")</a:t>
            </a:r>
            <a:endParaRPr lang="en-US" sz="900" dirty="0"/>
          </a:p>
        </p:txBody>
      </p:sp>
      <p:sp>
        <p:nvSpPr>
          <p:cNvPr id="71" name="SK-17-text-70"/>
          <p:cNvSpPr/>
          <p:nvPr/>
        </p:nvSpPr>
        <p:spPr>
          <a:xfrm>
            <a:off x="9524702" y="4298156"/>
            <a:ext cx="1981498" cy="84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4개월 방치 방지 및 Helion EOL 적기 등록</a:t>
            </a:r>
            <a:endParaRPr lang="en-US" sz="1125" dirty="0"/>
          </a:p>
        </p:txBody>
      </p:sp>
      <p:sp>
        <p:nvSpPr>
          <p:cNvPr id="72" name="SK-17-text-71"/>
          <p:cNvSpPr/>
          <p:nvPr/>
        </p:nvSpPr>
        <p:spPr>
          <a:xfrm>
            <a:off x="571500" y="5142309"/>
            <a:ext cx="775841" cy="13346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W18</a:t>
            </a:r>
            <a:endParaRPr lang="en-US" sz="1125" dirty="0"/>
          </a:p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</a:rPr>
              <a:t>(5/5)</a:t>
            </a:r>
            <a:endParaRPr lang="en-US" sz="1125" dirty="0"/>
          </a:p>
        </p:txBody>
      </p:sp>
      <p:sp>
        <p:nvSpPr>
          <p:cNvPr id="73" name="SK-17-text-72"/>
          <p:cNvSpPr/>
          <p:nvPr/>
        </p:nvSpPr>
        <p:spPr>
          <a:xfrm>
            <a:off x="1690241" y="5142309"/>
            <a:ext cx="1579364" cy="13346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주간보고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시작</a:t>
            </a:r>
            <a:endParaRPr lang="en-US" sz="1125" dirty="0"/>
          </a:p>
        </p:txBody>
      </p:sp>
      <p:sp>
        <p:nvSpPr>
          <p:cNvPr id="74" name="SK-17-text-73"/>
          <p:cNvSpPr/>
          <p:nvPr/>
        </p:nvSpPr>
        <p:spPr>
          <a:xfrm>
            <a:off x="3745855" y="5256609"/>
            <a:ext cx="334059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 보고서에 대한 '사람 검토(Human-in-the-loop)' 프로세스 수립</a:t>
            </a:r>
            <a:endParaRPr lang="en-US" sz="1125" dirty="0"/>
          </a:p>
        </p:txBody>
      </p:sp>
      <p:sp>
        <p:nvSpPr>
          <p:cNvPr id="75" name="SK-17-text-74"/>
          <p:cNvSpPr/>
          <p:nvPr/>
        </p:nvSpPr>
        <p:spPr>
          <a:xfrm>
            <a:off x="3752999" y="6018609"/>
            <a:ext cx="4705350" cy="25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데이터 범위에 파일럿/편익 데이터 강제 포함</a:t>
            </a:r>
            <a:endParaRPr lang="en-US" sz="1125" dirty="0"/>
          </a:p>
        </p:txBody>
      </p:sp>
      <p:sp>
        <p:nvSpPr>
          <p:cNvPr id="76" name="SK-17-textBg-75"/>
          <p:cNvSpPr/>
          <p:nvPr/>
        </p:nvSpPr>
        <p:spPr>
          <a:xfrm>
            <a:off x="7315051" y="5275659"/>
            <a:ext cx="91440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7" name="SK-17-text-76"/>
          <p:cNvSpPr/>
          <p:nvPr/>
        </p:nvSpPr>
        <p:spPr>
          <a:xfrm>
            <a:off x="7372201" y="5275659"/>
            <a:ext cx="160020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08_ai_weekly</a:t>
            </a:r>
            <a:endParaRPr lang="en-US" sz="900" dirty="0"/>
          </a:p>
        </p:txBody>
      </p:sp>
      <p:sp>
        <p:nvSpPr>
          <p:cNvPr id="78" name="SK-17-textBg-77"/>
          <p:cNvSpPr/>
          <p:nvPr/>
        </p:nvSpPr>
        <p:spPr>
          <a:xfrm>
            <a:off x="8353276" y="5275659"/>
            <a:ext cx="781050" cy="198090"/>
          </a:xfrm>
          <a:prstGeom prst="roundRect">
            <a:avLst>
              <a:gd name="adj" fmla="val 19234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9" name="SK-17-text-78"/>
          <p:cNvSpPr/>
          <p:nvPr/>
        </p:nvSpPr>
        <p:spPr>
          <a:xfrm>
            <a:off x="8410426" y="5275659"/>
            <a:ext cx="117087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ROOT CAUSE</a:t>
            </a:r>
            <a:endParaRPr lang="en-US" sz="900" dirty="0"/>
          </a:p>
        </p:txBody>
      </p:sp>
      <p:sp>
        <p:nvSpPr>
          <p:cNvPr id="80" name="SK-17-text-79"/>
          <p:cNvSpPr/>
          <p:nvPr/>
        </p:nvSpPr>
        <p:spPr>
          <a:xfrm>
            <a:off x="9524702" y="5142309"/>
            <a:ext cx="1981498" cy="13346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괴리(SC-03 vs 실제)의 실시간 포착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2122289" cy="276225"/>
          </a:xfrm>
          <a:prstGeom prst="rect">
            <a:avLst/>
          </a:prstGeom>
        </p:spPr>
      </p:pic>
      <p:pic>
        <p:nvPicPr>
          <p:cNvPr id="5" name="SK-1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381000"/>
            <a:ext cx="8812411" cy="9525"/>
          </a:xfrm>
          <a:prstGeom prst="rect">
            <a:avLst/>
          </a:prstGeom>
        </p:spPr>
      </p:pic>
      <p:pic>
        <p:nvPicPr>
          <p:cNvPr id="6" name="SK-1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66825"/>
            <a:ext cx="4328220" cy="2137470"/>
          </a:xfrm>
          <a:prstGeom prst="rect">
            <a:avLst/>
          </a:prstGeom>
        </p:spPr>
      </p:pic>
      <p:pic>
        <p:nvPicPr>
          <p:cNvPr id="7" name="SK-1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452860"/>
            <a:ext cx="238125" cy="190500"/>
          </a:xfrm>
          <a:prstGeom prst="rect">
            <a:avLst/>
          </a:prstGeom>
        </p:spPr>
      </p:pic>
      <p:pic>
        <p:nvPicPr>
          <p:cNvPr id="8" name="SK-1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528120"/>
            <a:ext cx="4328220" cy="3082230"/>
          </a:xfrm>
          <a:prstGeom prst="rect">
            <a:avLst/>
          </a:prstGeom>
        </p:spPr>
      </p:pic>
      <p:pic>
        <p:nvPicPr>
          <p:cNvPr id="9" name="SK-1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714155"/>
            <a:ext cx="238125" cy="190500"/>
          </a:xfrm>
          <a:prstGeom prst="rect">
            <a:avLst/>
          </a:prstGeom>
        </p:spPr>
      </p:pic>
      <p:pic>
        <p:nvPicPr>
          <p:cNvPr id="10" name="SK-1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013895"/>
            <a:ext cx="1244352" cy="366713"/>
          </a:xfrm>
          <a:prstGeom prst="rect">
            <a:avLst/>
          </a:prstGeom>
        </p:spPr>
      </p:pic>
      <p:pic>
        <p:nvPicPr>
          <p:cNvPr id="11" name="SK-1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6352" y="4013895"/>
            <a:ext cx="2702868" cy="366713"/>
          </a:xfrm>
          <a:prstGeom prst="rect">
            <a:avLst/>
          </a:prstGeom>
        </p:spPr>
      </p:pic>
      <p:pic>
        <p:nvPicPr>
          <p:cNvPr id="12" name="SK-1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380607"/>
            <a:ext cx="1244352" cy="701873"/>
          </a:xfrm>
          <a:prstGeom prst="rect">
            <a:avLst/>
          </a:prstGeom>
        </p:spPr>
      </p:pic>
      <p:pic>
        <p:nvPicPr>
          <p:cNvPr id="13" name="SK-1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06352" y="4380607"/>
            <a:ext cx="2702868" cy="701873"/>
          </a:xfrm>
          <a:prstGeom prst="rect">
            <a:avLst/>
          </a:prstGeom>
        </p:spPr>
      </p:pic>
      <p:pic>
        <p:nvPicPr>
          <p:cNvPr id="14" name="SK-1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5082480"/>
            <a:ext cx="1244352" cy="701873"/>
          </a:xfrm>
          <a:prstGeom prst="rect">
            <a:avLst/>
          </a:prstGeom>
        </p:spPr>
      </p:pic>
      <p:pic>
        <p:nvPicPr>
          <p:cNvPr id="15" name="SK-1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06352" y="5082480"/>
            <a:ext cx="2702868" cy="701873"/>
          </a:xfrm>
          <a:prstGeom prst="rect">
            <a:avLst/>
          </a:prstGeom>
        </p:spPr>
      </p:pic>
      <p:pic>
        <p:nvPicPr>
          <p:cNvPr id="16" name="SK-1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5784354"/>
            <a:ext cx="1244352" cy="702171"/>
          </a:xfrm>
          <a:prstGeom prst="rect">
            <a:avLst/>
          </a:prstGeom>
        </p:spPr>
      </p:pic>
      <p:pic>
        <p:nvPicPr>
          <p:cNvPr id="17" name="SK-1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06352" y="5784354"/>
            <a:ext cx="2702868" cy="702171"/>
          </a:xfrm>
          <a:prstGeom prst="rect">
            <a:avLst/>
          </a:prstGeom>
        </p:spPr>
      </p:pic>
      <p:pic>
        <p:nvPicPr>
          <p:cNvPr id="18" name="SK-1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28320" y="1266825"/>
            <a:ext cx="6492180" cy="3081338"/>
          </a:xfrm>
          <a:prstGeom prst="rect">
            <a:avLst/>
          </a:prstGeom>
        </p:spPr>
      </p:pic>
      <p:pic>
        <p:nvPicPr>
          <p:cNvPr id="19" name="SK-1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18820" y="1452860"/>
            <a:ext cx="238125" cy="190500"/>
          </a:xfrm>
          <a:prstGeom prst="rect">
            <a:avLst/>
          </a:prstGeom>
        </p:spPr>
      </p:pic>
      <p:pic>
        <p:nvPicPr>
          <p:cNvPr id="20" name="SK-1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18820" y="1752600"/>
            <a:ext cx="6111180" cy="557957"/>
          </a:xfrm>
          <a:prstGeom prst="rect">
            <a:avLst/>
          </a:prstGeom>
        </p:spPr>
      </p:pic>
      <p:pic>
        <p:nvPicPr>
          <p:cNvPr id="21" name="SK-18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33120" y="1828800"/>
            <a:ext cx="228600" cy="228600"/>
          </a:xfrm>
          <a:prstGeom prst="rect">
            <a:avLst/>
          </a:prstGeom>
        </p:spPr>
      </p:pic>
      <p:pic>
        <p:nvPicPr>
          <p:cNvPr id="22" name="SK-18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18820" y="2386757"/>
            <a:ext cx="6111180" cy="557957"/>
          </a:xfrm>
          <a:prstGeom prst="rect">
            <a:avLst/>
          </a:prstGeom>
        </p:spPr>
      </p:pic>
      <p:pic>
        <p:nvPicPr>
          <p:cNvPr id="23" name="SK-18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33120" y="2462957"/>
            <a:ext cx="228600" cy="228600"/>
          </a:xfrm>
          <a:prstGeom prst="rect">
            <a:avLst/>
          </a:prstGeom>
        </p:spPr>
      </p:pic>
      <p:pic>
        <p:nvPicPr>
          <p:cNvPr id="24" name="SK-18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18820" y="3020913"/>
            <a:ext cx="6111180" cy="557957"/>
          </a:xfrm>
          <a:prstGeom prst="rect">
            <a:avLst/>
          </a:prstGeom>
        </p:spPr>
      </p:pic>
      <p:pic>
        <p:nvPicPr>
          <p:cNvPr id="25" name="SK-18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33120" y="3097113"/>
            <a:ext cx="228600" cy="228600"/>
          </a:xfrm>
          <a:prstGeom prst="rect">
            <a:avLst/>
          </a:prstGeom>
        </p:spPr>
      </p:pic>
      <p:pic>
        <p:nvPicPr>
          <p:cNvPr id="26" name="SK-18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18820" y="3655070"/>
            <a:ext cx="6111180" cy="557957"/>
          </a:xfrm>
          <a:prstGeom prst="rect">
            <a:avLst/>
          </a:prstGeom>
        </p:spPr>
      </p:pic>
      <p:pic>
        <p:nvPicPr>
          <p:cNvPr id="27" name="SK-18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33120" y="3731270"/>
            <a:ext cx="228600" cy="228600"/>
          </a:xfrm>
          <a:prstGeom prst="rect">
            <a:avLst/>
          </a:prstGeom>
        </p:spPr>
      </p:pic>
      <p:pic>
        <p:nvPicPr>
          <p:cNvPr id="28" name="SK-18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28320" y="4471988"/>
            <a:ext cx="6492180" cy="2138363"/>
          </a:xfrm>
          <a:prstGeom prst="rect">
            <a:avLst/>
          </a:prstGeom>
        </p:spPr>
      </p:pic>
      <p:pic>
        <p:nvPicPr>
          <p:cNvPr id="29" name="SK-18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18820" y="4658023"/>
            <a:ext cx="238125" cy="190500"/>
          </a:xfrm>
          <a:prstGeom prst="rect">
            <a:avLst/>
          </a:prstGeom>
        </p:spPr>
      </p:pic>
      <p:pic>
        <p:nvPicPr>
          <p:cNvPr id="30" name="SK-18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318820" y="4957763"/>
            <a:ext cx="1164729" cy="366713"/>
          </a:xfrm>
          <a:prstGeom prst="rect">
            <a:avLst/>
          </a:prstGeom>
        </p:spPr>
      </p:pic>
      <p:pic>
        <p:nvPicPr>
          <p:cNvPr id="31" name="SK-18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83548" y="4957763"/>
            <a:ext cx="1801118" cy="366713"/>
          </a:xfrm>
          <a:prstGeom prst="rect">
            <a:avLst/>
          </a:prstGeom>
        </p:spPr>
      </p:pic>
      <p:pic>
        <p:nvPicPr>
          <p:cNvPr id="32" name="SK-18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84666" y="4957763"/>
            <a:ext cx="3145334" cy="366713"/>
          </a:xfrm>
          <a:prstGeom prst="rect">
            <a:avLst/>
          </a:prstGeom>
        </p:spPr>
      </p:pic>
      <p:pic>
        <p:nvPicPr>
          <p:cNvPr id="33" name="SK-18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318820" y="5324475"/>
            <a:ext cx="1164729" cy="581025"/>
          </a:xfrm>
          <a:prstGeom prst="rect">
            <a:avLst/>
          </a:prstGeom>
        </p:spPr>
      </p:pic>
      <p:pic>
        <p:nvPicPr>
          <p:cNvPr id="34" name="SK-18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83548" y="5324475"/>
            <a:ext cx="1801118" cy="581025"/>
          </a:xfrm>
          <a:prstGeom prst="rect">
            <a:avLst/>
          </a:prstGeom>
        </p:spPr>
      </p:pic>
      <p:pic>
        <p:nvPicPr>
          <p:cNvPr id="35" name="SK-18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284666" y="5324475"/>
            <a:ext cx="3145334" cy="581025"/>
          </a:xfrm>
          <a:prstGeom prst="rect">
            <a:avLst/>
          </a:prstGeom>
        </p:spPr>
      </p:pic>
      <p:pic>
        <p:nvPicPr>
          <p:cNvPr id="36" name="SK-18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318820" y="5905500"/>
            <a:ext cx="1164729" cy="581025"/>
          </a:xfrm>
          <a:prstGeom prst="rect">
            <a:avLst/>
          </a:prstGeom>
        </p:spPr>
      </p:pic>
      <p:pic>
        <p:nvPicPr>
          <p:cNvPr id="37" name="SK-18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83548" y="5905500"/>
            <a:ext cx="1801118" cy="581025"/>
          </a:xfrm>
          <a:prstGeom prst="rect">
            <a:avLst/>
          </a:prstGeom>
        </p:spPr>
      </p:pic>
      <p:pic>
        <p:nvPicPr>
          <p:cNvPr id="38" name="SK-18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84666" y="5905500"/>
            <a:ext cx="3145334" cy="581025"/>
          </a:xfrm>
          <a:prstGeom prst="rect">
            <a:avLst/>
          </a:prstGeom>
        </p:spPr>
      </p:pic>
      <p:sp>
        <p:nvSpPr>
          <p:cNvPr id="39" name="SK-18-text-38"/>
          <p:cNvSpPr/>
          <p:nvPr/>
        </p:nvSpPr>
        <p:spPr>
          <a:xfrm>
            <a:off x="647700" y="24765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0" name="SK-18-text-39"/>
          <p:cNvSpPr/>
          <p:nvPr/>
        </p:nvSpPr>
        <p:spPr>
          <a:xfrm>
            <a:off x="571500" y="60007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D-1. POC 범위 및 구현 계획</a:t>
            </a:r>
            <a:endParaRPr lang="en-US" sz="2550" dirty="0"/>
          </a:p>
        </p:txBody>
      </p:sp>
      <p:sp>
        <p:nvSpPr>
          <p:cNvPr id="41" name="SK-18-text-40"/>
          <p:cNvSpPr/>
          <p:nvPr/>
        </p:nvSpPr>
        <p:spPr>
          <a:xfrm>
            <a:off x="1095375" y="1390650"/>
            <a:ext cx="2152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검증 목표</a:t>
            </a:r>
            <a:endParaRPr lang="en-US" sz="1500" dirty="0"/>
          </a:p>
        </p:txBody>
      </p:sp>
      <p:sp>
        <p:nvSpPr>
          <p:cNvPr id="42" name="SK-18-text-41"/>
          <p:cNvSpPr/>
          <p:nvPr/>
        </p:nvSpPr>
        <p:spPr>
          <a:xfrm>
            <a:off x="933450" y="1752600"/>
            <a:ext cx="37757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동일한 과거 데이터를 활용한 기존 AI vs PM Transformers 성능 대조</a:t>
            </a:r>
            <a:endParaRPr lang="en-US" sz="1125" dirty="0"/>
          </a:p>
        </p:txBody>
      </p:sp>
      <p:sp>
        <p:nvSpPr>
          <p:cNvPr id="43" name="SK-18-text-42"/>
          <p:cNvSpPr/>
          <p:nvPr/>
        </p:nvSpPr>
        <p:spPr>
          <a:xfrm>
            <a:off x="933450" y="2219325"/>
            <a:ext cx="37757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주간보고 "ALL GREEN"의 허위성 증명 및 잠재적 리스크 조기 감지 능력 확인</a:t>
            </a:r>
            <a:endParaRPr lang="en-US" sz="1125" dirty="0"/>
          </a:p>
        </p:txBody>
      </p:sp>
      <p:sp>
        <p:nvSpPr>
          <p:cNvPr id="44" name="SK-18-text-43"/>
          <p:cNvSpPr/>
          <p:nvPr/>
        </p:nvSpPr>
        <p:spPr>
          <a:xfrm>
            <a:off x="933450" y="2686050"/>
            <a:ext cx="37757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</a:rPr>
              <a:t>구조적 맹목(Structural Blindness)을 해결하는 데이터 교차 검증 로직 검증</a:t>
            </a:r>
            <a:endParaRPr lang="en-US" sz="1125" dirty="0"/>
          </a:p>
        </p:txBody>
      </p:sp>
      <p:sp>
        <p:nvSpPr>
          <p:cNvPr id="45" name="SK-18-text-44"/>
          <p:cNvSpPr/>
          <p:nvPr/>
        </p:nvSpPr>
        <p:spPr>
          <a:xfrm>
            <a:off x="1095375" y="3651945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데이터 범위 (W1~W33)</a:t>
            </a:r>
            <a:endParaRPr lang="en-US" sz="1500" dirty="0"/>
          </a:p>
        </p:txBody>
      </p:sp>
      <p:sp>
        <p:nvSpPr>
          <p:cNvPr id="46" name="SK-18-text-45"/>
          <p:cNvSpPr/>
          <p:nvPr/>
        </p:nvSpPr>
        <p:spPr>
          <a:xfrm>
            <a:off x="876300" y="4013895"/>
            <a:ext cx="109195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소스</a:t>
            </a:r>
            <a:endParaRPr lang="en-US" sz="1125" dirty="0"/>
          </a:p>
        </p:txBody>
      </p:sp>
      <p:sp>
        <p:nvSpPr>
          <p:cNvPr id="47" name="SK-18-text-46"/>
          <p:cNvSpPr/>
          <p:nvPr/>
        </p:nvSpPr>
        <p:spPr>
          <a:xfrm>
            <a:off x="2120652" y="4013895"/>
            <a:ext cx="2550468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검증 항목</a:t>
            </a:r>
            <a:endParaRPr lang="en-US" sz="1125" dirty="0"/>
          </a:p>
        </p:txBody>
      </p:sp>
      <p:sp>
        <p:nvSpPr>
          <p:cNvPr id="48" name="SK-18-text-47"/>
          <p:cNvSpPr/>
          <p:nvPr/>
        </p:nvSpPr>
        <p:spPr>
          <a:xfrm>
            <a:off x="876300" y="4380607"/>
            <a:ext cx="1015752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데이터</a:t>
            </a:r>
            <a:endParaRPr lang="en-US" sz="1125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/ EVM</a:t>
            </a:r>
            <a:endParaRPr lang="en-US" sz="1125" dirty="0"/>
          </a:p>
        </p:txBody>
      </p:sp>
      <p:sp>
        <p:nvSpPr>
          <p:cNvPr id="49" name="SK-18-text-48"/>
          <p:cNvSpPr/>
          <p:nvPr/>
        </p:nvSpPr>
        <p:spPr>
          <a:xfrm>
            <a:off x="2120652" y="4380607"/>
            <a:ext cx="2474268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변경에 따른 완료율 부풀림,</a:t>
            </a:r>
            <a:endParaRPr lang="en-US" sz="1125" dirty="0"/>
          </a:p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 누락분 합산 CPI 산출</a:t>
            </a:r>
            <a:endParaRPr lang="en-US" sz="1125" dirty="0"/>
          </a:p>
        </p:txBody>
      </p:sp>
      <p:sp>
        <p:nvSpPr>
          <p:cNvPr id="50" name="SK-18-text-49"/>
          <p:cNvSpPr/>
          <p:nvPr/>
        </p:nvSpPr>
        <p:spPr>
          <a:xfrm>
            <a:off x="876300" y="5082480"/>
            <a:ext cx="1015752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데이터</a:t>
            </a:r>
            <a:endParaRPr lang="en-US" sz="1125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Telemetry</a:t>
            </a:r>
            <a:endParaRPr lang="en-US" sz="1125" dirty="0"/>
          </a:p>
        </p:txBody>
      </p:sp>
      <p:sp>
        <p:nvSpPr>
          <p:cNvPr id="51" name="SK-18-text-50"/>
          <p:cNvSpPr/>
          <p:nvPr/>
        </p:nvSpPr>
        <p:spPr>
          <a:xfrm>
            <a:off x="2120652" y="5082480"/>
            <a:ext cx="2474268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무개입 완주율(6.1%)과</a:t>
            </a:r>
            <a:endParaRPr lang="en-US" sz="1125" dirty="0"/>
          </a:p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보고된 성공률(93.4%) 간의 괴리 분석</a:t>
            </a:r>
            <a:endParaRPr lang="en-US" sz="1125" dirty="0"/>
          </a:p>
        </p:txBody>
      </p:sp>
      <p:sp>
        <p:nvSpPr>
          <p:cNvPr id="52" name="SK-18-text-51"/>
          <p:cNvSpPr/>
          <p:nvPr/>
        </p:nvSpPr>
        <p:spPr>
          <a:xfrm>
            <a:off x="876300" y="5784354"/>
            <a:ext cx="1015752" cy="70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소통 기록</a:t>
            </a:r>
            <a:endParaRPr lang="en-US" sz="1125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Messenger / Email</a:t>
            </a:r>
            <a:endParaRPr lang="en-US" sz="1125" dirty="0"/>
          </a:p>
        </p:txBody>
      </p:sp>
      <p:sp>
        <p:nvSpPr>
          <p:cNvPr id="53" name="SK-18-text-52"/>
          <p:cNvSpPr/>
          <p:nvPr/>
        </p:nvSpPr>
        <p:spPr>
          <a:xfrm>
            <a:off x="2120652" y="5784354"/>
            <a:ext cx="2474268" cy="70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35건의 비공식 변경 사항 식별 및</a:t>
            </a:r>
            <a:endParaRPr lang="en-US" sz="1125" dirty="0"/>
          </a:p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 간 의사결정 불일치 자동 추출</a:t>
            </a:r>
            <a:endParaRPr lang="en-US" sz="1125" dirty="0"/>
          </a:p>
        </p:txBody>
      </p:sp>
      <p:sp>
        <p:nvSpPr>
          <p:cNvPr id="54" name="SK-18-text-53"/>
          <p:cNvSpPr/>
          <p:nvPr/>
        </p:nvSpPr>
        <p:spPr>
          <a:xfrm>
            <a:off x="5652195" y="1390650"/>
            <a:ext cx="2838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로직 및 시나리오</a:t>
            </a:r>
            <a:endParaRPr lang="en-US" sz="1500" dirty="0"/>
          </a:p>
        </p:txBody>
      </p:sp>
      <p:sp>
        <p:nvSpPr>
          <p:cNvPr id="55" name="SK-18-text-54"/>
          <p:cNvSpPr/>
          <p:nvPr/>
        </p:nvSpPr>
        <p:spPr>
          <a:xfrm>
            <a:off x="5480745" y="18288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56" name="SK-18-text-55"/>
          <p:cNvSpPr/>
          <p:nvPr/>
        </p:nvSpPr>
        <p:spPr>
          <a:xfrm>
            <a:off x="5814120" y="1838325"/>
            <a:ext cx="2453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통합 및 인제스천</a:t>
            </a:r>
            <a:endParaRPr lang="en-US" sz="1200" dirty="0"/>
          </a:p>
        </p:txBody>
      </p:sp>
      <p:sp>
        <p:nvSpPr>
          <p:cNvPr id="57" name="SK-18-text-56"/>
          <p:cNvSpPr/>
          <p:nvPr/>
        </p:nvSpPr>
        <p:spPr>
          <a:xfrm>
            <a:off x="5814120" y="2061121"/>
            <a:ext cx="63778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파편화된 리전별 Jira, 텔레메트리, 메신저 로그를 통합 데이터 레이크로 수집</a:t>
            </a:r>
            <a:endParaRPr lang="en-US" sz="975" dirty="0"/>
          </a:p>
        </p:txBody>
      </p:sp>
      <p:sp>
        <p:nvSpPr>
          <p:cNvPr id="58" name="SK-18-text-57"/>
          <p:cNvSpPr/>
          <p:nvPr/>
        </p:nvSpPr>
        <p:spPr>
          <a:xfrm>
            <a:off x="5480745" y="2462957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59" name="SK-18-text-58"/>
          <p:cNvSpPr/>
          <p:nvPr/>
        </p:nvSpPr>
        <p:spPr>
          <a:xfrm>
            <a:off x="5814120" y="2472482"/>
            <a:ext cx="3855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기반 3중 검증 엔진 가동</a:t>
            </a:r>
            <a:endParaRPr lang="en-US" sz="1200" dirty="0"/>
          </a:p>
        </p:txBody>
      </p:sp>
      <p:sp>
        <p:nvSpPr>
          <p:cNvPr id="60" name="SK-18-text-59"/>
          <p:cNvSpPr/>
          <p:nvPr/>
        </p:nvSpPr>
        <p:spPr>
          <a:xfrm>
            <a:off x="5814120" y="2695277"/>
            <a:ext cx="63778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Integrity Checker(지표-원천 대조) 및 Value Tracker(편익 추적) 로직 실행</a:t>
            </a:r>
            <a:endParaRPr lang="en-US" sz="975" dirty="0"/>
          </a:p>
        </p:txBody>
      </p:sp>
      <p:sp>
        <p:nvSpPr>
          <p:cNvPr id="61" name="SK-18-text-60"/>
          <p:cNvSpPr/>
          <p:nvPr/>
        </p:nvSpPr>
        <p:spPr>
          <a:xfrm>
            <a:off x="5480745" y="309711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62" name="SK-18-text-61"/>
          <p:cNvSpPr/>
          <p:nvPr/>
        </p:nvSpPr>
        <p:spPr>
          <a:xfrm>
            <a:off x="5814120" y="3106638"/>
            <a:ext cx="26365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시점별 리포트 재생성</a:t>
            </a:r>
            <a:endParaRPr lang="en-US" sz="1200" dirty="0"/>
          </a:p>
        </p:txBody>
      </p:sp>
      <p:sp>
        <p:nvSpPr>
          <p:cNvPr id="63" name="SK-18-text-62"/>
          <p:cNvSpPr/>
          <p:nvPr/>
        </p:nvSpPr>
        <p:spPr>
          <a:xfrm>
            <a:off x="5814120" y="3329434"/>
            <a:ext cx="63778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W9(DoD변경), W18(AI자동화), W25(파일럿급락) 등 주요 변곡점 리포트 생성</a:t>
            </a:r>
            <a:endParaRPr lang="en-US" sz="975" dirty="0"/>
          </a:p>
        </p:txBody>
      </p:sp>
      <p:sp>
        <p:nvSpPr>
          <p:cNvPr id="64" name="SK-18-text-63"/>
          <p:cNvSpPr/>
          <p:nvPr/>
        </p:nvSpPr>
        <p:spPr>
          <a:xfrm>
            <a:off x="5480745" y="373127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65" name="SK-18-text-64"/>
          <p:cNvSpPr/>
          <p:nvPr/>
        </p:nvSpPr>
        <p:spPr>
          <a:xfrm>
            <a:off x="5814120" y="3740795"/>
            <a:ext cx="3368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Gap Analysis 및 가시화</a:t>
            </a:r>
            <a:endParaRPr lang="en-US" sz="1200" dirty="0"/>
          </a:p>
        </p:txBody>
      </p:sp>
      <p:sp>
        <p:nvSpPr>
          <p:cNvPr id="66" name="SK-18-text-65"/>
          <p:cNvSpPr/>
          <p:nvPr/>
        </p:nvSpPr>
        <p:spPr>
          <a:xfrm>
            <a:off x="5814120" y="3963591"/>
            <a:ext cx="63778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"ALL GREEN" vs 개선 "RED ALERT"의 시점별 괴리율과 감지 리드타임 측정</a:t>
            </a:r>
            <a:endParaRPr lang="en-US" sz="975" dirty="0"/>
          </a:p>
        </p:txBody>
      </p:sp>
      <p:sp>
        <p:nvSpPr>
          <p:cNvPr id="67" name="SK-18-text-66"/>
          <p:cNvSpPr/>
          <p:nvPr/>
        </p:nvSpPr>
        <p:spPr>
          <a:xfrm>
            <a:off x="5652195" y="4595813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대조 시나리오 예시</a:t>
            </a:r>
            <a:endParaRPr lang="en-US" sz="1500" dirty="0"/>
          </a:p>
        </p:txBody>
      </p:sp>
      <p:sp>
        <p:nvSpPr>
          <p:cNvPr id="68" name="SK-18-text-67"/>
          <p:cNvSpPr/>
          <p:nvPr/>
        </p:nvSpPr>
        <p:spPr>
          <a:xfrm>
            <a:off x="5433120" y="4957763"/>
            <a:ext cx="1012329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</a:t>
            </a:r>
            <a:endParaRPr lang="en-US" sz="1125" dirty="0"/>
          </a:p>
        </p:txBody>
      </p:sp>
      <p:sp>
        <p:nvSpPr>
          <p:cNvPr id="69" name="SK-18-text-68"/>
          <p:cNvSpPr/>
          <p:nvPr/>
        </p:nvSpPr>
        <p:spPr>
          <a:xfrm>
            <a:off x="6597848" y="4957763"/>
            <a:ext cx="1648718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시스템 결과</a:t>
            </a:r>
            <a:endParaRPr lang="en-US" sz="1125" dirty="0"/>
          </a:p>
        </p:txBody>
      </p:sp>
      <p:sp>
        <p:nvSpPr>
          <p:cNvPr id="70" name="SK-18-text-69"/>
          <p:cNvSpPr/>
          <p:nvPr/>
        </p:nvSpPr>
        <p:spPr>
          <a:xfrm>
            <a:off x="8398966" y="4957763"/>
            <a:ext cx="2992934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 결과</a:t>
            </a:r>
            <a:endParaRPr lang="en-US" sz="1125" dirty="0"/>
          </a:p>
        </p:txBody>
      </p:sp>
      <p:sp>
        <p:nvSpPr>
          <p:cNvPr id="71" name="SK-18-text-70"/>
          <p:cNvSpPr/>
          <p:nvPr/>
        </p:nvSpPr>
        <p:spPr>
          <a:xfrm>
            <a:off x="5433120" y="5410200"/>
            <a:ext cx="800100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W16 (주간보고)</a:t>
            </a:r>
            <a:endParaRPr lang="en-US" sz="1125" dirty="0"/>
          </a:p>
        </p:txBody>
      </p:sp>
      <p:sp>
        <p:nvSpPr>
          <p:cNvPr id="72" name="SK-18-text-71"/>
          <p:cNvSpPr/>
          <p:nvPr/>
        </p:nvSpPr>
        <p:spPr>
          <a:xfrm>
            <a:off x="6654998" y="5324475"/>
            <a:ext cx="1572518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"전 지표 정상"</a:t>
            </a:r>
            <a:endParaRPr lang="en-US" sz="1125" dirty="0"/>
          </a:p>
        </p:txBody>
      </p:sp>
      <p:sp>
        <p:nvSpPr>
          <p:cNvPr id="73" name="SK-18-text-72"/>
          <p:cNvSpPr/>
          <p:nvPr/>
        </p:nvSpPr>
        <p:spPr>
          <a:xfrm>
            <a:off x="8456116" y="5324475"/>
            <a:ext cx="291673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WARNING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"무개입완주율 15% 하락 감지"</a:t>
            </a:r>
            <a:endParaRPr lang="en-US" sz="1125" dirty="0"/>
          </a:p>
        </p:txBody>
      </p:sp>
      <p:sp>
        <p:nvSpPr>
          <p:cNvPr id="74" name="SK-18-text-73"/>
          <p:cNvSpPr/>
          <p:nvPr/>
        </p:nvSpPr>
        <p:spPr>
          <a:xfrm>
            <a:off x="5433120" y="5991225"/>
            <a:ext cx="828675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W28 (비용관리)</a:t>
            </a:r>
            <a:endParaRPr lang="en-US" sz="1125" dirty="0"/>
          </a:p>
        </p:txBody>
      </p:sp>
      <p:sp>
        <p:nvSpPr>
          <p:cNvPr id="75" name="SK-18-text-74"/>
          <p:cNvSpPr/>
          <p:nvPr/>
        </p:nvSpPr>
        <p:spPr>
          <a:xfrm>
            <a:off x="6654998" y="5905500"/>
            <a:ext cx="1572518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CPI 0.98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"예산 준수"</a:t>
            </a:r>
            <a:endParaRPr lang="en-US" sz="1125" dirty="0"/>
          </a:p>
        </p:txBody>
      </p:sp>
      <p:sp>
        <p:nvSpPr>
          <p:cNvPr id="76" name="SK-18-text-75"/>
          <p:cNvSpPr/>
          <p:nvPr/>
        </p:nvSpPr>
        <p:spPr>
          <a:xfrm>
            <a:off x="8456116" y="5905500"/>
            <a:ext cx="291673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"인프라 합산 CPI 0.944, 소진율 89%"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1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1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3959870"/>
          </a:xfrm>
          <a:prstGeom prst="rect">
            <a:avLst/>
          </a:prstGeom>
        </p:spPr>
      </p:pic>
      <p:pic>
        <p:nvPicPr>
          <p:cNvPr id="7" name="SK-1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1049000" cy="428625"/>
          </a:xfrm>
          <a:prstGeom prst="rect">
            <a:avLst/>
          </a:prstGeom>
        </p:spPr>
      </p:pic>
      <p:pic>
        <p:nvPicPr>
          <p:cNvPr id="8" name="SK-1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04950"/>
            <a:ext cx="2762250" cy="428625"/>
          </a:xfrm>
          <a:prstGeom prst="rect">
            <a:avLst/>
          </a:prstGeom>
        </p:spPr>
      </p:pic>
      <p:pic>
        <p:nvPicPr>
          <p:cNvPr id="9" name="SK-1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1504950"/>
            <a:ext cx="2762250" cy="428625"/>
          </a:xfrm>
          <a:prstGeom prst="rect">
            <a:avLst/>
          </a:prstGeom>
        </p:spPr>
      </p:pic>
      <p:pic>
        <p:nvPicPr>
          <p:cNvPr id="10" name="SK-1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1504950"/>
            <a:ext cx="2762250" cy="428625"/>
          </a:xfrm>
          <a:prstGeom prst="rect">
            <a:avLst/>
          </a:prstGeom>
        </p:spPr>
      </p:pic>
      <p:pic>
        <p:nvPicPr>
          <p:cNvPr id="11" name="SK-1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8250" y="1504950"/>
            <a:ext cx="2762250" cy="428625"/>
          </a:xfrm>
          <a:prstGeom prst="rect">
            <a:avLst/>
          </a:prstGeom>
        </p:spPr>
      </p:pic>
      <p:pic>
        <p:nvPicPr>
          <p:cNvPr id="12" name="SK-1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933575"/>
            <a:ext cx="2762250" cy="1177082"/>
          </a:xfrm>
          <a:prstGeom prst="rect">
            <a:avLst/>
          </a:prstGeom>
        </p:spPr>
      </p:pic>
      <p:pic>
        <p:nvPicPr>
          <p:cNvPr id="13" name="SK-1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361456"/>
            <a:ext cx="178594" cy="148828"/>
          </a:xfrm>
          <a:prstGeom prst="rect">
            <a:avLst/>
          </a:prstGeom>
        </p:spPr>
      </p:pic>
      <p:pic>
        <p:nvPicPr>
          <p:cNvPr id="14" name="SK-1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3750" y="1933575"/>
            <a:ext cx="2762250" cy="1177082"/>
          </a:xfrm>
          <a:prstGeom prst="rect">
            <a:avLst/>
          </a:prstGeom>
        </p:spPr>
      </p:pic>
      <p:pic>
        <p:nvPicPr>
          <p:cNvPr id="15" name="SK-1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48050" y="2192685"/>
            <a:ext cx="981075" cy="236190"/>
          </a:xfrm>
          <a:prstGeom prst="rect">
            <a:avLst/>
          </a:prstGeom>
        </p:spPr>
      </p:pic>
      <p:pic>
        <p:nvPicPr>
          <p:cNvPr id="16" name="SK-1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24250" y="2253555"/>
            <a:ext cx="142875" cy="114300"/>
          </a:xfrm>
          <a:prstGeom prst="rect">
            <a:avLst/>
          </a:prstGeom>
        </p:spPr>
      </p:pic>
      <p:pic>
        <p:nvPicPr>
          <p:cNvPr id="17" name="SK-1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1933575"/>
            <a:ext cx="2762250" cy="1177082"/>
          </a:xfrm>
          <a:prstGeom prst="rect">
            <a:avLst/>
          </a:prstGeom>
        </p:spPr>
      </p:pic>
      <p:pic>
        <p:nvPicPr>
          <p:cNvPr id="18" name="SK-1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0" y="2085975"/>
            <a:ext cx="1285875" cy="236190"/>
          </a:xfrm>
          <a:prstGeom prst="rect">
            <a:avLst/>
          </a:prstGeom>
        </p:spPr>
      </p:pic>
      <p:pic>
        <p:nvPicPr>
          <p:cNvPr id="19" name="SK-1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0" y="2146846"/>
            <a:ext cx="142875" cy="114300"/>
          </a:xfrm>
          <a:prstGeom prst="rect">
            <a:avLst/>
          </a:prstGeom>
        </p:spPr>
      </p:pic>
      <p:pic>
        <p:nvPicPr>
          <p:cNvPr id="20" name="SK-19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58250" y="1933575"/>
            <a:ext cx="2762250" cy="1177082"/>
          </a:xfrm>
          <a:prstGeom prst="rect">
            <a:avLst/>
          </a:prstGeom>
        </p:spPr>
      </p:pic>
      <p:pic>
        <p:nvPicPr>
          <p:cNvPr id="21" name="SK-19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3110657"/>
            <a:ext cx="2762250" cy="1177082"/>
          </a:xfrm>
          <a:prstGeom prst="rect">
            <a:avLst/>
          </a:prstGeom>
        </p:spPr>
      </p:pic>
      <p:pic>
        <p:nvPicPr>
          <p:cNvPr id="22" name="SK-19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3538538"/>
            <a:ext cx="178594" cy="148828"/>
          </a:xfrm>
          <a:prstGeom prst="rect">
            <a:avLst/>
          </a:prstGeom>
        </p:spPr>
      </p:pic>
      <p:pic>
        <p:nvPicPr>
          <p:cNvPr id="23" name="SK-19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33750" y="3110657"/>
            <a:ext cx="2762250" cy="1177082"/>
          </a:xfrm>
          <a:prstGeom prst="rect">
            <a:avLst/>
          </a:prstGeom>
        </p:spPr>
      </p:pic>
      <p:pic>
        <p:nvPicPr>
          <p:cNvPr id="24" name="SK-19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48050" y="3456384"/>
            <a:ext cx="838200" cy="236190"/>
          </a:xfrm>
          <a:prstGeom prst="rect">
            <a:avLst/>
          </a:prstGeom>
        </p:spPr>
      </p:pic>
      <p:pic>
        <p:nvPicPr>
          <p:cNvPr id="25" name="SK-19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24250" y="3517255"/>
            <a:ext cx="142875" cy="114300"/>
          </a:xfrm>
          <a:prstGeom prst="rect">
            <a:avLst/>
          </a:prstGeom>
        </p:spPr>
      </p:pic>
      <p:pic>
        <p:nvPicPr>
          <p:cNvPr id="26" name="SK-19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0" y="3110657"/>
            <a:ext cx="2762250" cy="1177082"/>
          </a:xfrm>
          <a:prstGeom prst="rect">
            <a:avLst/>
          </a:prstGeom>
        </p:spPr>
      </p:pic>
      <p:pic>
        <p:nvPicPr>
          <p:cNvPr id="27" name="SK-19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10300" y="3263057"/>
            <a:ext cx="1514475" cy="236190"/>
          </a:xfrm>
          <a:prstGeom prst="rect">
            <a:avLst/>
          </a:prstGeom>
        </p:spPr>
      </p:pic>
      <p:pic>
        <p:nvPicPr>
          <p:cNvPr id="28" name="SK-19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86500" y="3323927"/>
            <a:ext cx="142875" cy="114300"/>
          </a:xfrm>
          <a:prstGeom prst="rect">
            <a:avLst/>
          </a:prstGeom>
        </p:spPr>
      </p:pic>
      <p:pic>
        <p:nvPicPr>
          <p:cNvPr id="29" name="SK-19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58250" y="3110657"/>
            <a:ext cx="2762250" cy="1177082"/>
          </a:xfrm>
          <a:prstGeom prst="rect">
            <a:avLst/>
          </a:prstGeom>
        </p:spPr>
      </p:pic>
      <p:pic>
        <p:nvPicPr>
          <p:cNvPr id="30" name="SK-19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4287738"/>
            <a:ext cx="2762250" cy="1177082"/>
          </a:xfrm>
          <a:prstGeom prst="rect">
            <a:avLst/>
          </a:prstGeom>
        </p:spPr>
      </p:pic>
      <p:pic>
        <p:nvPicPr>
          <p:cNvPr id="31" name="SK-19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5800" y="4715619"/>
            <a:ext cx="178594" cy="148828"/>
          </a:xfrm>
          <a:prstGeom prst="rect">
            <a:avLst/>
          </a:prstGeom>
        </p:spPr>
      </p:pic>
      <p:pic>
        <p:nvPicPr>
          <p:cNvPr id="32" name="SK-19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333750" y="4287738"/>
            <a:ext cx="2762250" cy="1177082"/>
          </a:xfrm>
          <a:prstGeom prst="rect">
            <a:avLst/>
          </a:prstGeom>
        </p:spPr>
      </p:pic>
      <p:pic>
        <p:nvPicPr>
          <p:cNvPr id="33" name="SK-19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48050" y="4633466"/>
            <a:ext cx="1143000" cy="236190"/>
          </a:xfrm>
          <a:prstGeom prst="rect">
            <a:avLst/>
          </a:prstGeom>
        </p:spPr>
      </p:pic>
      <p:pic>
        <p:nvPicPr>
          <p:cNvPr id="34" name="SK-19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524250" y="4694337"/>
            <a:ext cx="142875" cy="114300"/>
          </a:xfrm>
          <a:prstGeom prst="rect">
            <a:avLst/>
          </a:prstGeom>
        </p:spPr>
      </p:pic>
      <p:pic>
        <p:nvPicPr>
          <p:cNvPr id="35" name="SK-19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96000" y="4287738"/>
            <a:ext cx="2762250" cy="1177082"/>
          </a:xfrm>
          <a:prstGeom prst="rect">
            <a:avLst/>
          </a:prstGeom>
        </p:spPr>
      </p:pic>
      <p:pic>
        <p:nvPicPr>
          <p:cNvPr id="36" name="SK-19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10300" y="4440138"/>
            <a:ext cx="1247775" cy="236190"/>
          </a:xfrm>
          <a:prstGeom prst="rect">
            <a:avLst/>
          </a:prstGeom>
        </p:spPr>
      </p:pic>
      <p:pic>
        <p:nvPicPr>
          <p:cNvPr id="37" name="SK-19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286500" y="4501009"/>
            <a:ext cx="142875" cy="114300"/>
          </a:xfrm>
          <a:prstGeom prst="rect">
            <a:avLst/>
          </a:prstGeom>
        </p:spPr>
      </p:pic>
      <p:pic>
        <p:nvPicPr>
          <p:cNvPr id="38" name="SK-19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858250" y="4287738"/>
            <a:ext cx="2762250" cy="1177082"/>
          </a:xfrm>
          <a:prstGeom prst="rect">
            <a:avLst/>
          </a:prstGeom>
        </p:spPr>
      </p:pic>
      <p:pic>
        <p:nvPicPr>
          <p:cNvPr id="39" name="SK-19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71500" y="5655320"/>
            <a:ext cx="11049000" cy="685800"/>
          </a:xfrm>
          <a:prstGeom prst="rect">
            <a:avLst/>
          </a:prstGeom>
        </p:spPr>
      </p:pic>
      <p:pic>
        <p:nvPicPr>
          <p:cNvPr id="40" name="SK-19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85800" y="5910560"/>
            <a:ext cx="255687" cy="204490"/>
          </a:xfrm>
          <a:prstGeom prst="rect">
            <a:avLst/>
          </a:prstGeom>
        </p:spPr>
      </p:pic>
      <p:sp>
        <p:nvSpPr>
          <p:cNvPr id="41" name="SK-19-text-40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2" name="SK-19-text-41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D-2. POC 시연 시나리오: 기존 vs 개선</a:t>
            </a:r>
            <a:endParaRPr lang="en-US" sz="2550" dirty="0"/>
          </a:p>
        </p:txBody>
      </p:sp>
      <p:sp>
        <p:nvSpPr>
          <p:cNvPr id="43" name="SK-19-text-42"/>
          <p:cNvSpPr/>
          <p:nvPr/>
        </p:nvSpPr>
        <p:spPr>
          <a:xfrm>
            <a:off x="685800" y="1504950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(Scenario)</a:t>
            </a:r>
            <a:endParaRPr lang="en-US" sz="1050" dirty="0"/>
          </a:p>
        </p:txBody>
      </p:sp>
      <p:sp>
        <p:nvSpPr>
          <p:cNvPr id="44" name="SK-19-text-43"/>
          <p:cNvSpPr/>
          <p:nvPr/>
        </p:nvSpPr>
        <p:spPr>
          <a:xfrm>
            <a:off x="3448050" y="1504950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AI (Legacy)</a:t>
            </a:r>
            <a:endParaRPr lang="en-US" sz="1050" dirty="0"/>
          </a:p>
        </p:txBody>
      </p:sp>
      <p:sp>
        <p:nvSpPr>
          <p:cNvPr id="45" name="SK-19-text-44"/>
          <p:cNvSpPr/>
          <p:nvPr/>
        </p:nvSpPr>
        <p:spPr>
          <a:xfrm>
            <a:off x="6210300" y="1504950"/>
            <a:ext cx="30117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 (개선)</a:t>
            </a:r>
            <a:endParaRPr lang="en-US" sz="1050" dirty="0"/>
          </a:p>
        </p:txBody>
      </p:sp>
      <p:sp>
        <p:nvSpPr>
          <p:cNvPr id="46" name="SK-19-text-45"/>
          <p:cNvSpPr/>
          <p:nvPr/>
        </p:nvSpPr>
        <p:spPr>
          <a:xfrm>
            <a:off x="8972550" y="1504950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기제 (Mechanism)</a:t>
            </a:r>
            <a:endParaRPr lang="en-US" sz="1050" dirty="0"/>
          </a:p>
        </p:txBody>
      </p:sp>
      <p:sp>
        <p:nvSpPr>
          <p:cNvPr id="47" name="SK-19-text-46"/>
          <p:cNvSpPr/>
          <p:nvPr/>
        </p:nvSpPr>
        <p:spPr>
          <a:xfrm>
            <a:off x="940594" y="1933575"/>
            <a:ext cx="2533650" cy="11770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파일럿 무개입완주율</a:t>
            </a:r>
            <a:endParaRPr lang="en-US" sz="1125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(Outcome 지표)</a:t>
            </a:r>
            <a:endParaRPr lang="en-US" sz="1125" dirty="0"/>
          </a:p>
        </p:txBody>
      </p:sp>
      <p:sp>
        <p:nvSpPr>
          <p:cNvPr id="48" name="SK-19-text-47"/>
          <p:cNvSpPr/>
          <p:nvPr/>
        </p:nvSpPr>
        <p:spPr>
          <a:xfrm>
            <a:off x="3724275" y="2192685"/>
            <a:ext cx="1042682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GREEN</a:t>
            </a:r>
            <a:endParaRPr lang="en-US" sz="900" dirty="0"/>
          </a:p>
        </p:txBody>
      </p:sp>
      <p:sp>
        <p:nvSpPr>
          <p:cNvPr id="49" name="SK-19-text-48"/>
          <p:cNvSpPr/>
          <p:nvPr/>
        </p:nvSpPr>
        <p:spPr>
          <a:xfrm>
            <a:off x="3448050" y="2505075"/>
            <a:ext cx="253365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 지표 정상. 주간보고 16주 연속 이상 없음 보고"</a:t>
            </a:r>
            <a:endParaRPr lang="en-US" sz="975" dirty="0"/>
          </a:p>
        </p:txBody>
      </p:sp>
      <p:sp>
        <p:nvSpPr>
          <p:cNvPr id="50" name="SK-19-text-49"/>
          <p:cNvSpPr/>
          <p:nvPr/>
        </p:nvSpPr>
        <p:spPr>
          <a:xfrm>
            <a:off x="6486525" y="2085975"/>
            <a:ext cx="1692656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ALERT</a:t>
            </a:r>
            <a:endParaRPr lang="en-US" sz="900" dirty="0"/>
          </a:p>
        </p:txBody>
      </p:sp>
      <p:sp>
        <p:nvSpPr>
          <p:cNvPr id="51" name="SK-19-text-50"/>
          <p:cNvSpPr/>
          <p:nvPr/>
        </p:nvSpPr>
        <p:spPr>
          <a:xfrm>
            <a:off x="6210300" y="2398365"/>
            <a:ext cx="253365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무개입완주율 급락 감지: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</a:rPr>
              <a:t>18.4% → 6.1%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사업장 이탈(임무시도 73% 감소) 이상 징후 포착</a:t>
            </a:r>
            <a:endParaRPr lang="en-US" sz="1050" dirty="0"/>
          </a:p>
        </p:txBody>
      </p:sp>
      <p:sp>
        <p:nvSpPr>
          <p:cNvPr id="52" name="SK-19-text-51"/>
          <p:cNvSpPr/>
          <p:nvPr/>
        </p:nvSpPr>
        <p:spPr>
          <a:xfrm>
            <a:off x="9029700" y="1933575"/>
            <a:ext cx="2533650" cy="11770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Value Tracker</a:t>
            </a:r>
            <a:endParaRPr lang="en-US" sz="975" dirty="0"/>
          </a:p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05AEE"/>
                </a:solidFill>
              </a:rPr>
              <a:t>Leading Indicator 추적</a:t>
            </a:r>
            <a:endParaRPr lang="en-US" sz="975" dirty="0"/>
          </a:p>
        </p:txBody>
      </p:sp>
      <p:sp>
        <p:nvSpPr>
          <p:cNvPr id="53" name="SK-19-text-52"/>
          <p:cNvSpPr/>
          <p:nvPr/>
        </p:nvSpPr>
        <p:spPr>
          <a:xfrm>
            <a:off x="940594" y="3110657"/>
            <a:ext cx="2533650" cy="11770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EVM 지표 무결성</a:t>
            </a:r>
            <a:endParaRPr lang="en-US" sz="1125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(Financial Data)</a:t>
            </a:r>
            <a:endParaRPr lang="en-US" sz="1125" dirty="0"/>
          </a:p>
        </p:txBody>
      </p:sp>
      <p:sp>
        <p:nvSpPr>
          <p:cNvPr id="54" name="SK-19-text-53"/>
          <p:cNvSpPr/>
          <p:nvPr/>
        </p:nvSpPr>
        <p:spPr>
          <a:xfrm>
            <a:off x="3724275" y="3456384"/>
            <a:ext cx="1122218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CPI 0.98</a:t>
            </a:r>
            <a:endParaRPr lang="en-US" sz="900" dirty="0"/>
          </a:p>
        </p:txBody>
      </p:sp>
      <p:sp>
        <p:nvSpPr>
          <p:cNvPr id="55" name="SK-19-text-54"/>
          <p:cNvSpPr/>
          <p:nvPr/>
        </p:nvSpPr>
        <p:spPr>
          <a:xfrm>
            <a:off x="3448050" y="3768775"/>
            <a:ext cx="34937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"개발 예산 기준 정상 범위 내 관리 중"</a:t>
            </a:r>
            <a:endParaRPr lang="en-US" sz="975" dirty="0"/>
          </a:p>
        </p:txBody>
      </p:sp>
      <p:sp>
        <p:nvSpPr>
          <p:cNvPr id="56" name="SK-19-text-55"/>
          <p:cNvSpPr/>
          <p:nvPr/>
        </p:nvSpPr>
        <p:spPr>
          <a:xfrm>
            <a:off x="6486525" y="3263057"/>
            <a:ext cx="1973724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DISCREPANCY</a:t>
            </a:r>
            <a:endParaRPr lang="en-US" sz="900" dirty="0"/>
          </a:p>
        </p:txBody>
      </p:sp>
      <p:sp>
        <p:nvSpPr>
          <p:cNvPr id="57" name="SK-19-text-56"/>
          <p:cNvSpPr/>
          <p:nvPr/>
        </p:nvSpPr>
        <p:spPr>
          <a:xfrm>
            <a:off x="6210300" y="3575447"/>
            <a:ext cx="253365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인프라 비용(21.4억) 누락 감지.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통합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</a:rPr>
              <a:t>CPI 0.944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보정 및 예산 고갈 경고</a:t>
            </a:r>
            <a:endParaRPr lang="en-US" sz="1050" dirty="0"/>
          </a:p>
        </p:txBody>
      </p:sp>
      <p:sp>
        <p:nvSpPr>
          <p:cNvPr id="58" name="SK-19-text-57"/>
          <p:cNvSpPr/>
          <p:nvPr/>
        </p:nvSpPr>
        <p:spPr>
          <a:xfrm>
            <a:off x="9029700" y="3110657"/>
            <a:ext cx="2533650" cy="11770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Integrity Checker</a:t>
            </a:r>
            <a:endParaRPr lang="en-US" sz="975" dirty="0"/>
          </a:p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05AEE"/>
                </a:solidFill>
              </a:rPr>
              <a:t>Cross-Check Engine</a:t>
            </a:r>
            <a:endParaRPr lang="en-US" sz="975" dirty="0"/>
          </a:p>
        </p:txBody>
      </p:sp>
      <p:sp>
        <p:nvSpPr>
          <p:cNvPr id="59" name="SK-19-text-58"/>
          <p:cNvSpPr/>
          <p:nvPr/>
        </p:nvSpPr>
        <p:spPr>
          <a:xfrm>
            <a:off x="940594" y="4287738"/>
            <a:ext cx="2533650" cy="11770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외부 리스크 대응</a:t>
            </a:r>
            <a:endParaRPr lang="en-US" sz="1125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(Helion EOL)</a:t>
            </a:r>
            <a:endParaRPr lang="en-US" sz="1125" dirty="0"/>
          </a:p>
        </p:txBody>
      </p:sp>
      <p:sp>
        <p:nvSpPr>
          <p:cNvPr id="60" name="SK-19-text-59"/>
          <p:cNvSpPr/>
          <p:nvPr/>
        </p:nvSpPr>
        <p:spPr>
          <a:xfrm>
            <a:off x="3724275" y="4633466"/>
            <a:ext cx="1505712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RISK 0건</a:t>
            </a:r>
            <a:endParaRPr lang="en-US" sz="900" dirty="0"/>
          </a:p>
        </p:txBody>
      </p:sp>
      <p:sp>
        <p:nvSpPr>
          <p:cNvPr id="61" name="SK-19-text-60"/>
          <p:cNvSpPr/>
          <p:nvPr/>
        </p:nvSpPr>
        <p:spPr>
          <a:xfrm>
            <a:off x="3448050" y="4945856"/>
            <a:ext cx="33451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"현재 식별된 치명적 외부 리스크 없음"</a:t>
            </a:r>
            <a:endParaRPr lang="en-US" sz="975" dirty="0"/>
          </a:p>
        </p:txBody>
      </p:sp>
      <p:sp>
        <p:nvSpPr>
          <p:cNvPr id="62" name="SK-19-text-61"/>
          <p:cNvSpPr/>
          <p:nvPr/>
        </p:nvSpPr>
        <p:spPr>
          <a:xfrm>
            <a:off x="6486525" y="4440138"/>
            <a:ext cx="1565299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DETECTED</a:t>
            </a:r>
            <a:endParaRPr lang="en-US" sz="900" dirty="0"/>
          </a:p>
        </p:txBody>
      </p:sp>
      <p:sp>
        <p:nvSpPr>
          <p:cNvPr id="63" name="SK-19-text-62"/>
          <p:cNvSpPr/>
          <p:nvPr/>
        </p:nvSpPr>
        <p:spPr>
          <a:xfrm>
            <a:off x="6210300" y="4752529"/>
            <a:ext cx="253365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Helion v3 EOL(9/30) 신호 감지.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배포일과 일치함에 따른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</a:rPr>
              <a:t>High Risk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자동 등록 제안</a:t>
            </a:r>
            <a:endParaRPr lang="en-US" sz="1050" dirty="0"/>
          </a:p>
        </p:txBody>
      </p:sp>
      <p:sp>
        <p:nvSpPr>
          <p:cNvPr id="64" name="SK-19-text-63"/>
          <p:cNvSpPr/>
          <p:nvPr/>
        </p:nvSpPr>
        <p:spPr>
          <a:xfrm>
            <a:off x="9029700" y="4287738"/>
            <a:ext cx="2533650" cy="117708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</a:rPr>
              <a:t>Risk Radar</a:t>
            </a:r>
            <a:endParaRPr lang="en-US" sz="975" dirty="0"/>
          </a:p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05AEE"/>
                </a:solidFill>
              </a:rPr>
              <a:t>External Signal Scan</a:t>
            </a:r>
            <a:endParaRPr lang="en-US" sz="975" dirty="0"/>
          </a:p>
        </p:txBody>
      </p:sp>
      <p:sp>
        <p:nvSpPr>
          <p:cNvPr id="65" name="SK-19-text-64"/>
          <p:cNvSpPr/>
          <p:nvPr/>
        </p:nvSpPr>
        <p:spPr>
          <a:xfrm>
            <a:off x="1093887" y="5769620"/>
            <a:ext cx="10412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AI는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 지표(Output)의 수치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집계했으나, PM Transformers는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간의 괴리와 비즈니스 가치(Outcome)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실시간으로 교차 검증하여 선제적 경고를 생성합니다.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2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2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09700"/>
            <a:ext cx="11049000" cy="833438"/>
          </a:xfrm>
          <a:prstGeom prst="rect">
            <a:avLst/>
          </a:prstGeom>
        </p:spPr>
      </p:pic>
      <p:pic>
        <p:nvPicPr>
          <p:cNvPr id="7" name="SK-2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696641"/>
            <a:ext cx="381000" cy="304800"/>
          </a:xfrm>
          <a:prstGeom prst="rect">
            <a:avLst/>
          </a:prstGeom>
        </p:spPr>
      </p:pic>
      <p:pic>
        <p:nvPicPr>
          <p:cNvPr id="8" name="SK-2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471738"/>
            <a:ext cx="6492180" cy="3348038"/>
          </a:xfrm>
          <a:prstGeom prst="rect">
            <a:avLst/>
          </a:prstGeom>
        </p:spPr>
      </p:pic>
      <p:pic>
        <p:nvPicPr>
          <p:cNvPr id="9" name="SK-20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626965"/>
            <a:ext cx="214313" cy="175320"/>
          </a:xfrm>
          <a:prstGeom prst="rect">
            <a:avLst/>
          </a:prstGeom>
        </p:spPr>
      </p:pic>
      <p:pic>
        <p:nvPicPr>
          <p:cNvPr id="10" name="SK-20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957513"/>
            <a:ext cx="1565821" cy="404813"/>
          </a:xfrm>
          <a:prstGeom prst="rect">
            <a:avLst/>
          </a:prstGeom>
        </p:spPr>
      </p:pic>
      <p:pic>
        <p:nvPicPr>
          <p:cNvPr id="11" name="SK-20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1621" y="2957513"/>
            <a:ext cx="3131790" cy="404813"/>
          </a:xfrm>
          <a:prstGeom prst="rect">
            <a:avLst/>
          </a:prstGeom>
        </p:spPr>
      </p:pic>
      <p:pic>
        <p:nvPicPr>
          <p:cNvPr id="12" name="SK-20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3411" y="2957513"/>
            <a:ext cx="1565970" cy="404813"/>
          </a:xfrm>
          <a:prstGeom prst="rect">
            <a:avLst/>
          </a:prstGeom>
        </p:spPr>
      </p:pic>
      <p:pic>
        <p:nvPicPr>
          <p:cNvPr id="13" name="SK-20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362325"/>
            <a:ext cx="1565821" cy="831800"/>
          </a:xfrm>
          <a:prstGeom prst="rect">
            <a:avLst/>
          </a:prstGeom>
        </p:spPr>
      </p:pic>
      <p:pic>
        <p:nvPicPr>
          <p:cNvPr id="14" name="SK-20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1621" y="3362325"/>
            <a:ext cx="3131790" cy="831800"/>
          </a:xfrm>
          <a:prstGeom prst="rect">
            <a:avLst/>
          </a:prstGeom>
        </p:spPr>
      </p:pic>
      <p:pic>
        <p:nvPicPr>
          <p:cNvPr id="15" name="SK-20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3411" y="3362325"/>
            <a:ext cx="1565970" cy="831800"/>
          </a:xfrm>
          <a:prstGeom prst="rect">
            <a:avLst/>
          </a:prstGeom>
        </p:spPr>
      </p:pic>
      <p:pic>
        <p:nvPicPr>
          <p:cNvPr id="16" name="SK-20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194125"/>
            <a:ext cx="1565821" cy="831800"/>
          </a:xfrm>
          <a:prstGeom prst="rect">
            <a:avLst/>
          </a:prstGeom>
        </p:spPr>
      </p:pic>
      <p:pic>
        <p:nvPicPr>
          <p:cNvPr id="17" name="SK-20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51621" y="4194125"/>
            <a:ext cx="3131790" cy="831800"/>
          </a:xfrm>
          <a:prstGeom prst="rect">
            <a:avLst/>
          </a:prstGeom>
        </p:spPr>
      </p:pic>
      <p:pic>
        <p:nvPicPr>
          <p:cNvPr id="18" name="SK-20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83411" y="4194125"/>
            <a:ext cx="1565970" cy="831800"/>
          </a:xfrm>
          <a:prstGeom prst="rect">
            <a:avLst/>
          </a:prstGeom>
        </p:spPr>
      </p:pic>
      <p:pic>
        <p:nvPicPr>
          <p:cNvPr id="19" name="SK-20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5025926"/>
            <a:ext cx="1565821" cy="679549"/>
          </a:xfrm>
          <a:prstGeom prst="rect">
            <a:avLst/>
          </a:prstGeom>
        </p:spPr>
      </p:pic>
      <p:pic>
        <p:nvPicPr>
          <p:cNvPr id="20" name="SK-20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51621" y="5025926"/>
            <a:ext cx="3131790" cy="679549"/>
          </a:xfrm>
          <a:prstGeom prst="rect">
            <a:avLst/>
          </a:prstGeom>
        </p:spPr>
      </p:pic>
      <p:pic>
        <p:nvPicPr>
          <p:cNvPr id="21" name="SK-20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83411" y="5025926"/>
            <a:ext cx="1565970" cy="679549"/>
          </a:xfrm>
          <a:prstGeom prst="rect">
            <a:avLst/>
          </a:prstGeom>
        </p:spPr>
      </p:pic>
      <p:pic>
        <p:nvPicPr>
          <p:cNvPr id="22" name="SK-20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92280" y="2471738"/>
            <a:ext cx="4328071" cy="3348038"/>
          </a:xfrm>
          <a:prstGeom prst="rect">
            <a:avLst/>
          </a:prstGeom>
        </p:spPr>
      </p:pic>
      <p:pic>
        <p:nvPicPr>
          <p:cNvPr id="23" name="SK-20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06580" y="2586038"/>
            <a:ext cx="4099471" cy="333375"/>
          </a:xfrm>
          <a:prstGeom prst="rect">
            <a:avLst/>
          </a:prstGeom>
        </p:spPr>
      </p:pic>
      <p:pic>
        <p:nvPicPr>
          <p:cNvPr id="24" name="SK-20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06580" y="2626965"/>
            <a:ext cx="214313" cy="175320"/>
          </a:xfrm>
          <a:prstGeom prst="rect">
            <a:avLst/>
          </a:prstGeom>
        </p:spPr>
      </p:pic>
      <p:pic>
        <p:nvPicPr>
          <p:cNvPr id="25" name="SK-20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37537" y="3100536"/>
            <a:ext cx="166688" cy="137220"/>
          </a:xfrm>
          <a:prstGeom prst="rect">
            <a:avLst/>
          </a:prstGeom>
        </p:spPr>
      </p:pic>
      <p:pic>
        <p:nvPicPr>
          <p:cNvPr id="26" name="SK-20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37537" y="3624411"/>
            <a:ext cx="166688" cy="137220"/>
          </a:xfrm>
          <a:prstGeom prst="rect">
            <a:avLst/>
          </a:prstGeom>
        </p:spPr>
      </p:pic>
      <p:pic>
        <p:nvPicPr>
          <p:cNvPr id="27" name="SK-20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37537" y="4362599"/>
            <a:ext cx="166688" cy="137220"/>
          </a:xfrm>
          <a:prstGeom prst="rect">
            <a:avLst/>
          </a:prstGeom>
        </p:spPr>
      </p:pic>
      <p:pic>
        <p:nvPicPr>
          <p:cNvPr id="28" name="SK-20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6048375"/>
            <a:ext cx="11049000" cy="428625"/>
          </a:xfrm>
          <a:prstGeom prst="rect">
            <a:avLst/>
          </a:prstGeom>
        </p:spPr>
      </p:pic>
      <p:pic>
        <p:nvPicPr>
          <p:cNvPr id="29" name="SK-20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5800" y="6210449"/>
            <a:ext cx="166688" cy="137220"/>
          </a:xfrm>
          <a:prstGeom prst="rect">
            <a:avLst/>
          </a:prstGeom>
        </p:spPr>
      </p:pic>
      <p:sp>
        <p:nvSpPr>
          <p:cNvPr id="30" name="SK-20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20-text-30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D-6. 돌발 이슈 대응: DI-03 공식 결정 사항</a:t>
            </a:r>
            <a:endParaRPr lang="en-US" sz="2550" dirty="0"/>
          </a:p>
        </p:txBody>
      </p:sp>
      <p:sp>
        <p:nvSpPr>
          <p:cNvPr id="32" name="SK-20-text-31"/>
          <p:cNvSpPr/>
          <p:nvPr/>
        </p:nvSpPr>
        <p:spPr>
          <a:xfrm>
            <a:off x="1371600" y="1562100"/>
            <a:ext cx="10820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spc="-13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원칙: "Safety-First &amp; Ambiguity-to-Fallback"</a:t>
            </a:r>
            <a:endParaRPr lang="en-US" sz="1650" dirty="0"/>
          </a:p>
        </p:txBody>
      </p:sp>
      <p:sp>
        <p:nvSpPr>
          <p:cNvPr id="33" name="SK-20-text-32"/>
          <p:cNvSpPr/>
          <p:nvPr/>
        </p:nvSpPr>
        <p:spPr>
          <a:xfrm>
            <a:off x="1371600" y="1876425"/>
            <a:ext cx="10363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데이터의 모호성 발생 시, 자율 주행 지속보다 안전한 정지(Safe Stop) 또는 수동 전환을 강제함</a:t>
            </a:r>
            <a:endParaRPr lang="en-US" sz="1125" dirty="0"/>
          </a:p>
        </p:txBody>
      </p:sp>
      <p:sp>
        <p:nvSpPr>
          <p:cNvPr id="34" name="SK-20-text-33"/>
          <p:cNvSpPr/>
          <p:nvPr/>
        </p:nvSpPr>
        <p:spPr>
          <a:xfrm>
            <a:off x="976312" y="2586038"/>
            <a:ext cx="6263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폴백(Fallback) 동작 공식 가이드라인</a:t>
            </a:r>
            <a:endParaRPr lang="en-US" sz="1350" dirty="0"/>
          </a:p>
        </p:txBody>
      </p:sp>
      <p:sp>
        <p:nvSpPr>
          <p:cNvPr id="35" name="SK-20-text-34"/>
          <p:cNvSpPr/>
          <p:nvPr/>
        </p:nvSpPr>
        <p:spPr>
          <a:xfrm>
            <a:off x="800100" y="2957513"/>
            <a:ext cx="1413421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125" dirty="0"/>
          </a:p>
        </p:txBody>
      </p:sp>
      <p:sp>
        <p:nvSpPr>
          <p:cNvPr id="36" name="SK-20-text-35"/>
          <p:cNvSpPr/>
          <p:nvPr/>
        </p:nvSpPr>
        <p:spPr>
          <a:xfrm>
            <a:off x="2365921" y="2957513"/>
            <a:ext cx="3731711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사항 (Official Policy)</a:t>
            </a:r>
            <a:endParaRPr lang="en-US" sz="1125" dirty="0"/>
          </a:p>
        </p:txBody>
      </p:sp>
      <p:sp>
        <p:nvSpPr>
          <p:cNvPr id="37" name="SK-20-text-36"/>
          <p:cNvSpPr/>
          <p:nvPr/>
        </p:nvSpPr>
        <p:spPr>
          <a:xfrm>
            <a:off x="5497711" y="2957513"/>
            <a:ext cx="141357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권한</a:t>
            </a:r>
            <a:endParaRPr lang="en-US" sz="1125" dirty="0"/>
          </a:p>
        </p:txBody>
      </p:sp>
      <p:sp>
        <p:nvSpPr>
          <p:cNvPr id="38" name="SK-20-text-37"/>
          <p:cNvSpPr/>
          <p:nvPr/>
        </p:nvSpPr>
        <p:spPr>
          <a:xfrm>
            <a:off x="800100" y="3467100"/>
            <a:ext cx="933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로직</a:t>
            </a:r>
            <a:endParaRPr lang="en-US" sz="1125" dirty="0"/>
          </a:p>
        </p:txBody>
      </p:sp>
      <p:sp>
        <p:nvSpPr>
          <p:cNvPr id="39" name="SK-20-text-38"/>
          <p:cNvSpPr/>
          <p:nvPr/>
        </p:nvSpPr>
        <p:spPr>
          <a:xfrm>
            <a:off x="2365921" y="3362325"/>
            <a:ext cx="2903190" cy="8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 신뢰도 70% 미만 시 즉시 폴백(Fallback) 수행. 엣지캐시 데이터 기반 안전 경로 우선 확보.</a:t>
            </a:r>
            <a:endParaRPr lang="en-US" sz="1125" dirty="0"/>
          </a:p>
        </p:txBody>
      </p:sp>
      <p:sp>
        <p:nvSpPr>
          <p:cNvPr id="40" name="SK-20-text-39"/>
          <p:cNvSpPr/>
          <p:nvPr/>
        </p:nvSpPr>
        <p:spPr>
          <a:xfrm>
            <a:off x="5554861" y="3362325"/>
            <a:ext cx="1337370" cy="8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PM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로직 설계 승인</a:t>
            </a:r>
            <a:endParaRPr lang="en-US" sz="1125" dirty="0"/>
          </a:p>
        </p:txBody>
      </p:sp>
      <p:sp>
        <p:nvSpPr>
          <p:cNvPr id="41" name="SK-20-text-40"/>
          <p:cNvSpPr/>
          <p:nvPr/>
        </p:nvSpPr>
        <p:spPr>
          <a:xfrm>
            <a:off x="800100" y="4298900"/>
            <a:ext cx="933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</a:t>
            </a:r>
            <a:endParaRPr lang="en-US" sz="1125" dirty="0"/>
          </a:p>
        </p:txBody>
      </p:sp>
      <p:sp>
        <p:nvSpPr>
          <p:cNvPr id="42" name="SK-20-text-41"/>
          <p:cNvSpPr/>
          <p:nvPr/>
        </p:nvSpPr>
        <p:spPr>
          <a:xfrm>
            <a:off x="2365921" y="4194125"/>
            <a:ext cx="2903190" cy="8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 장애 시 클라우드 추론 대기 금지, 로컬 VLM 라이트 모델 즉시 전환 후 안전 구역 이동.</a:t>
            </a:r>
            <a:endParaRPr lang="en-US" sz="1125" dirty="0"/>
          </a:p>
        </p:txBody>
      </p:sp>
      <p:sp>
        <p:nvSpPr>
          <p:cNvPr id="43" name="SK-20-text-42"/>
          <p:cNvSpPr/>
          <p:nvPr/>
        </p:nvSpPr>
        <p:spPr>
          <a:xfrm>
            <a:off x="5554861" y="4194125"/>
            <a:ext cx="1337370" cy="8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Lead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구현 책임</a:t>
            </a:r>
            <a:endParaRPr lang="en-US" sz="1125" dirty="0"/>
          </a:p>
        </p:txBody>
      </p:sp>
      <p:sp>
        <p:nvSpPr>
          <p:cNvPr id="44" name="SK-20-text-43"/>
          <p:cNvSpPr/>
          <p:nvPr/>
        </p:nvSpPr>
        <p:spPr>
          <a:xfrm>
            <a:off x="800100" y="5130701"/>
            <a:ext cx="1104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기록</a:t>
            </a:r>
            <a:endParaRPr lang="en-US" sz="1125" dirty="0"/>
          </a:p>
        </p:txBody>
      </p:sp>
      <p:sp>
        <p:nvSpPr>
          <p:cNvPr id="45" name="SK-20-text-44"/>
          <p:cNvSpPr/>
          <p:nvPr/>
        </p:nvSpPr>
        <p:spPr>
          <a:xfrm>
            <a:off x="2365921" y="5025926"/>
            <a:ext cx="2903190" cy="6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폴백 이벤트는 텔레메트리에 'Critical' 등급으로 실시간 전송 및 주간 보고 의무화.</a:t>
            </a:r>
            <a:endParaRPr lang="en-US" sz="1125" dirty="0"/>
          </a:p>
        </p:txBody>
      </p:sp>
      <p:sp>
        <p:nvSpPr>
          <p:cNvPr id="46" name="SK-20-text-45"/>
          <p:cNvSpPr/>
          <p:nvPr/>
        </p:nvSpPr>
        <p:spPr>
          <a:xfrm>
            <a:off x="5554861" y="5025926"/>
            <a:ext cx="1337370" cy="6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PM</a:t>
            </a:r>
            <a:endParaRPr lang="en-US" sz="1125" dirty="0"/>
          </a:p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체계 감독</a:t>
            </a:r>
            <a:endParaRPr lang="en-US" sz="1125" dirty="0"/>
          </a:p>
        </p:txBody>
      </p:sp>
      <p:sp>
        <p:nvSpPr>
          <p:cNvPr id="47" name="SK-20-text-46"/>
          <p:cNvSpPr/>
          <p:nvPr/>
        </p:nvSpPr>
        <p:spPr>
          <a:xfrm>
            <a:off x="7697093" y="2586038"/>
            <a:ext cx="409947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리전별 세부 적용 및 조치</a:t>
            </a:r>
            <a:endParaRPr lang="en-US" sz="1350" dirty="0"/>
          </a:p>
        </p:txBody>
      </p:sp>
      <p:sp>
        <p:nvSpPr>
          <p:cNvPr id="48" name="SK-20-text-47"/>
          <p:cNvSpPr/>
          <p:nvPr/>
        </p:nvSpPr>
        <p:spPr>
          <a:xfrm>
            <a:off x="7749480" y="3033713"/>
            <a:ext cx="375657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(양재/사업장):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고밀도 환경 대응을 위해 </a:t>
            </a:r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엣지캐시 갱신 주기 500ms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단축 적용 및 안전 거리 마진 20% 확대.</a:t>
            </a:r>
            <a:endParaRPr lang="en-US" sz="1125" dirty="0"/>
          </a:p>
        </p:txBody>
      </p:sp>
      <p:sp>
        <p:nvSpPr>
          <p:cNvPr id="49" name="SK-20-text-48"/>
          <p:cNvSpPr/>
          <p:nvPr/>
        </p:nvSpPr>
        <p:spPr>
          <a:xfrm>
            <a:off x="7749480" y="3557588"/>
            <a:ext cx="375657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 (광역 사업장):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넓은 작업 반경을 고려하여 </a:t>
            </a:r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 최고 티어 유지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하되, 네트워크 지연 시 즉시 로컬 세이프티 모드 활성화.</a:t>
            </a:r>
            <a:endParaRPr lang="en-US" sz="1125" dirty="0"/>
          </a:p>
        </p:txBody>
      </p:sp>
      <p:sp>
        <p:nvSpPr>
          <p:cNvPr id="50" name="SK-20-text-49"/>
          <p:cNvSpPr/>
          <p:nvPr/>
        </p:nvSpPr>
        <p:spPr>
          <a:xfrm>
            <a:off x="7749480" y="4295775"/>
            <a:ext cx="375657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인도 (인프라 취약):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불안정한 연결성을 고려하여 </a:t>
            </a:r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폴백 모델 상시 가동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원격 제어보다 로봇 자율 안전 정지를 우선함.</a:t>
            </a:r>
            <a:endParaRPr lang="en-US" sz="1125" dirty="0"/>
          </a:p>
        </p:txBody>
      </p:sp>
      <p:sp>
        <p:nvSpPr>
          <p:cNvPr id="51" name="SK-20-text-50"/>
          <p:cNvSpPr/>
          <p:nvPr/>
        </p:nvSpPr>
        <p:spPr>
          <a:xfrm>
            <a:off x="928688" y="6048375"/>
            <a:ext cx="11263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결정은 3개 리전의 의사결정 불일치(DEC-07)를 해소하기 위한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원천(SSOT)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이며, 모든 리전 리드는 본 가이드라인에 따라 48시간 내 로컬 설정을 동기화해야 함.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2026-08-26T04:02:21Z</dcterms:created>
  <dcterms:modified xsi:type="dcterms:W3CDTF">2026-08-26T04:02:21Z</dcterms:modified>
</cp:coreProperties>
</file>
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9561"/>
            <a:ext cx="6263580" cy="4522589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540" y="2463105"/>
            <a:ext cx="2095500" cy="20955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603" y="2955727"/>
            <a:ext cx="333375" cy="266700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155" y="1494532"/>
            <a:ext cx="1428750" cy="685800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6280" y="1446907"/>
            <a:ext cx="190500" cy="152400"/>
          </a:xfrm>
          <a:prstGeom prst="rect">
            <a:avLst/>
          </a:prstGeom>
        </p:spPr>
      </p:pic>
      <p:pic>
        <p:nvPicPr>
          <p:cNvPr id="9" name="SK-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8915" y="1223218"/>
            <a:ext cx="1428750" cy="685800"/>
          </a:xfrm>
          <a:prstGeom prst="rect">
            <a:avLst/>
          </a:prstGeom>
        </p:spPr>
      </p:pic>
      <p:pic>
        <p:nvPicPr>
          <p:cNvPr id="10" name="SK-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8040" y="1275606"/>
            <a:ext cx="190500" cy="152400"/>
          </a:xfrm>
          <a:prstGeom prst="rect">
            <a:avLst/>
          </a:prstGeom>
        </p:spPr>
      </p:pic>
      <p:pic>
        <p:nvPicPr>
          <p:cNvPr id="11" name="SK-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0527" y="1494532"/>
            <a:ext cx="1428750" cy="685800"/>
          </a:xfrm>
          <a:prstGeom prst="rect">
            <a:avLst/>
          </a:prstGeom>
        </p:spPr>
      </p:pic>
      <p:pic>
        <p:nvPicPr>
          <p:cNvPr id="12" name="SK-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9652" y="1546920"/>
            <a:ext cx="190500" cy="152400"/>
          </a:xfrm>
          <a:prstGeom prst="rect">
            <a:avLst/>
          </a:prstGeom>
        </p:spPr>
      </p:pic>
      <p:pic>
        <p:nvPicPr>
          <p:cNvPr id="13" name="SK-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2109" y="3167955"/>
            <a:ext cx="1428750" cy="685800"/>
          </a:xfrm>
          <a:prstGeom prst="rect">
            <a:avLst/>
          </a:prstGeom>
        </p:spPr>
      </p:pic>
      <p:pic>
        <p:nvPicPr>
          <p:cNvPr id="14" name="SK-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1234" y="3220343"/>
            <a:ext cx="190500" cy="152400"/>
          </a:xfrm>
          <a:prstGeom prst="rect">
            <a:avLst/>
          </a:prstGeom>
        </p:spPr>
      </p:pic>
      <p:pic>
        <p:nvPicPr>
          <p:cNvPr id="15" name="SK-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0527" y="4841230"/>
            <a:ext cx="1428750" cy="685800"/>
          </a:xfrm>
          <a:prstGeom prst="rect">
            <a:avLst/>
          </a:prstGeom>
        </p:spPr>
      </p:pic>
      <p:pic>
        <p:nvPicPr>
          <p:cNvPr id="16" name="SK-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9652" y="4893618"/>
            <a:ext cx="190500" cy="152400"/>
          </a:xfrm>
          <a:prstGeom prst="rect">
            <a:avLst/>
          </a:prstGeom>
        </p:spPr>
      </p:pic>
      <p:pic>
        <p:nvPicPr>
          <p:cNvPr id="17" name="SK-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88915" y="5112544"/>
            <a:ext cx="1428750" cy="685800"/>
          </a:xfrm>
          <a:prstGeom prst="rect">
            <a:avLst/>
          </a:prstGeom>
        </p:spPr>
      </p:pic>
      <p:pic>
        <p:nvPicPr>
          <p:cNvPr id="18" name="SK-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8040" y="5164931"/>
            <a:ext cx="190500" cy="152400"/>
          </a:xfrm>
          <a:prstGeom prst="rect">
            <a:avLst/>
          </a:prstGeom>
        </p:spPr>
      </p:pic>
      <p:pic>
        <p:nvPicPr>
          <p:cNvPr id="19" name="SK-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7155" y="4841230"/>
            <a:ext cx="1428750" cy="685800"/>
          </a:xfrm>
          <a:prstGeom prst="rect">
            <a:avLst/>
          </a:prstGeom>
        </p:spPr>
      </p:pic>
      <p:pic>
        <p:nvPicPr>
          <p:cNvPr id="20" name="SK-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66280" y="4893618"/>
            <a:ext cx="190500" cy="152400"/>
          </a:xfrm>
          <a:prstGeom prst="rect">
            <a:avLst/>
          </a:prstGeom>
        </p:spPr>
      </p:pic>
      <p:pic>
        <p:nvPicPr>
          <p:cNvPr id="21" name="SK-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9880" y="1249561"/>
            <a:ext cx="4480620" cy="4522589"/>
          </a:xfrm>
          <a:prstGeom prst="rect">
            <a:avLst/>
          </a:prstGeom>
        </p:spPr>
      </p:pic>
      <p:pic>
        <p:nvPicPr>
          <p:cNvPr id="22" name="SK-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44680" y="2082105"/>
            <a:ext cx="405705" cy="457200"/>
          </a:xfrm>
          <a:prstGeom prst="rect">
            <a:avLst/>
          </a:prstGeom>
        </p:spPr>
      </p:pic>
      <p:pic>
        <p:nvPicPr>
          <p:cNvPr id="23" name="SK-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44680" y="2882205"/>
            <a:ext cx="351830" cy="457200"/>
          </a:xfrm>
          <a:prstGeom prst="rect">
            <a:avLst/>
          </a:prstGeom>
        </p:spPr>
      </p:pic>
      <p:pic>
        <p:nvPicPr>
          <p:cNvPr id="24" name="SK-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44680" y="3682305"/>
            <a:ext cx="444996" cy="457200"/>
          </a:xfrm>
          <a:prstGeom prst="rect">
            <a:avLst/>
          </a:prstGeom>
        </p:spPr>
      </p:pic>
      <p:pic>
        <p:nvPicPr>
          <p:cNvPr id="25" name="SK-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44680" y="4482405"/>
            <a:ext cx="457200" cy="457200"/>
          </a:xfrm>
          <a:prstGeom prst="rect">
            <a:avLst/>
          </a:prstGeom>
        </p:spPr>
      </p:pic>
      <p:pic>
        <p:nvPicPr>
          <p:cNvPr id="26" name="SK-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30405" y="4596705"/>
            <a:ext cx="285750" cy="228600"/>
          </a:xfrm>
          <a:prstGeom prst="rect">
            <a:avLst/>
          </a:prstGeom>
        </p:spPr>
      </p:pic>
      <p:pic>
        <p:nvPicPr>
          <p:cNvPr id="27" name="SK-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5962650"/>
            <a:ext cx="11049000" cy="514350"/>
          </a:xfrm>
          <a:prstGeom prst="rect">
            <a:avLst/>
          </a:prstGeom>
        </p:spPr>
      </p:pic>
      <p:sp>
        <p:nvSpPr>
          <p:cNvPr id="28" name="SK-1-text-27"/>
          <p:cNvSpPr/>
          <p:nvPr/>
        </p:nvSpPr>
        <p:spPr>
          <a:xfrm>
            <a:off x="571500" y="419100"/>
            <a:ext cx="59969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9CA3AF"/>
                </a:solidFill>
              </a:rPr>
              <a:t>VALUE-DRIVEN AI AGENT PM TRANSFORMERS</a:t>
            </a:r>
            <a:endParaRPr lang="en-US" sz="1050" dirty="0"/>
          </a:p>
        </p:txBody>
      </p:sp>
      <p:sp>
        <p:nvSpPr>
          <p:cNvPr id="29" name="SK-1-text-28"/>
          <p:cNvSpPr/>
          <p:nvPr/>
        </p:nvSpPr>
        <p:spPr>
          <a:xfrm>
            <a:off x="571500" y="647700"/>
            <a:ext cx="1162050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spc="-43" kern="0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Forge: 7개 도메인 에이전트의 통합 판단과 최적 결단</a:t>
            </a:r>
            <a:endParaRPr lang="en-US" sz="2700" dirty="0"/>
          </a:p>
        </p:txBody>
      </p:sp>
      <p:sp>
        <p:nvSpPr>
          <p:cNvPr id="30" name="SK-1-text-29"/>
          <p:cNvSpPr/>
          <p:nvPr/>
        </p:nvSpPr>
        <p:spPr>
          <a:xfrm>
            <a:off x="2969865" y="3298627"/>
            <a:ext cx="1466850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Signal Forge</a:t>
            </a:r>
            <a:endParaRPr lang="en-US" sz="1800" dirty="0"/>
          </a:p>
        </p:txBody>
      </p:sp>
      <p:sp>
        <p:nvSpPr>
          <p:cNvPr id="31" name="SK-1-text-30"/>
          <p:cNvSpPr/>
          <p:nvPr/>
        </p:nvSpPr>
        <p:spPr>
          <a:xfrm>
            <a:off x="2846040" y="3626197"/>
            <a:ext cx="1714500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6원칙(Mindset) &amp; North Star(가치서열) 기반 상충 조정, 통합 최적안 도출</a:t>
            </a:r>
            <a:endParaRPr lang="en-US" sz="825" dirty="0"/>
          </a:p>
        </p:txBody>
      </p:sp>
      <p:sp>
        <p:nvSpPr>
          <p:cNvPr id="32" name="SK-1-text-31"/>
          <p:cNvSpPr/>
          <p:nvPr/>
        </p:nvSpPr>
        <p:spPr>
          <a:xfrm>
            <a:off x="1123355" y="1637407"/>
            <a:ext cx="1276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Watchdog</a:t>
            </a:r>
            <a:endParaRPr lang="en-US" sz="1050" dirty="0"/>
          </a:p>
        </p:txBody>
      </p:sp>
      <p:sp>
        <p:nvSpPr>
          <p:cNvPr id="33" name="SK-1-text-32"/>
          <p:cNvSpPr/>
          <p:nvPr/>
        </p:nvSpPr>
        <p:spPr>
          <a:xfrm>
            <a:off x="1494830" y="2056507"/>
            <a:ext cx="533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거버넌스</a:t>
            </a:r>
            <a:endParaRPr lang="en-US" sz="900" dirty="0"/>
          </a:p>
        </p:txBody>
      </p:sp>
      <p:sp>
        <p:nvSpPr>
          <p:cNvPr id="34" name="SK-1-text-33"/>
          <p:cNvSpPr/>
          <p:nvPr/>
        </p:nvSpPr>
        <p:spPr>
          <a:xfrm>
            <a:off x="3122265" y="1466106"/>
            <a:ext cx="1162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Change Guardian</a:t>
            </a:r>
            <a:endParaRPr lang="en-US" sz="1050" dirty="0"/>
          </a:p>
        </p:txBody>
      </p:sp>
      <p:sp>
        <p:nvSpPr>
          <p:cNvPr id="35" name="SK-1-text-34"/>
          <p:cNvSpPr/>
          <p:nvPr/>
        </p:nvSpPr>
        <p:spPr>
          <a:xfrm>
            <a:off x="3550890" y="1685181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범위</a:t>
            </a:r>
            <a:endParaRPr lang="en-US" sz="900" dirty="0"/>
          </a:p>
        </p:txBody>
      </p:sp>
      <p:sp>
        <p:nvSpPr>
          <p:cNvPr id="36" name="SK-1-text-35"/>
          <p:cNvSpPr/>
          <p:nvPr/>
        </p:nvSpPr>
        <p:spPr>
          <a:xfrm>
            <a:off x="5040064" y="1737420"/>
            <a:ext cx="1209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Schedule Sentinel</a:t>
            </a:r>
            <a:endParaRPr lang="en-US" sz="1050" dirty="0"/>
          </a:p>
        </p:txBody>
      </p:sp>
      <p:sp>
        <p:nvSpPr>
          <p:cNvPr id="37" name="SK-1-text-36"/>
          <p:cNvSpPr/>
          <p:nvPr/>
        </p:nvSpPr>
        <p:spPr>
          <a:xfrm>
            <a:off x="5492502" y="1956495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일정</a:t>
            </a:r>
            <a:endParaRPr lang="en-US" sz="900" dirty="0"/>
          </a:p>
        </p:txBody>
      </p:sp>
      <p:sp>
        <p:nvSpPr>
          <p:cNvPr id="38" name="SK-1-text-37"/>
          <p:cNvSpPr/>
          <p:nvPr/>
        </p:nvSpPr>
        <p:spPr>
          <a:xfrm>
            <a:off x="5996434" y="3410843"/>
            <a:ext cx="8001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Oracle</a:t>
            </a:r>
            <a:endParaRPr lang="en-US" sz="1050" dirty="0"/>
          </a:p>
        </p:txBody>
      </p:sp>
      <p:sp>
        <p:nvSpPr>
          <p:cNvPr id="39" name="SK-1-text-38"/>
          <p:cNvSpPr/>
          <p:nvPr/>
        </p:nvSpPr>
        <p:spPr>
          <a:xfrm>
            <a:off x="6186934" y="3629918"/>
            <a:ext cx="419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리스크</a:t>
            </a:r>
            <a:endParaRPr lang="en-US" sz="900" dirty="0"/>
          </a:p>
        </p:txBody>
      </p:sp>
      <p:sp>
        <p:nvSpPr>
          <p:cNvPr id="40" name="SK-1-text-39"/>
          <p:cNvSpPr/>
          <p:nvPr/>
        </p:nvSpPr>
        <p:spPr>
          <a:xfrm>
            <a:off x="5035302" y="5084118"/>
            <a:ext cx="1219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Stakeholder Pulse</a:t>
            </a:r>
            <a:endParaRPr lang="en-US" sz="1050" dirty="0"/>
          </a:p>
        </p:txBody>
      </p:sp>
      <p:sp>
        <p:nvSpPr>
          <p:cNvPr id="41" name="SK-1-text-40"/>
          <p:cNvSpPr/>
          <p:nvPr/>
        </p:nvSpPr>
        <p:spPr>
          <a:xfrm>
            <a:off x="5321052" y="5303193"/>
            <a:ext cx="647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이해관계자</a:t>
            </a:r>
            <a:endParaRPr lang="en-US" sz="900" dirty="0"/>
          </a:p>
        </p:txBody>
      </p:sp>
      <p:sp>
        <p:nvSpPr>
          <p:cNvPr id="42" name="SK-1-text-41"/>
          <p:cNvSpPr/>
          <p:nvPr/>
        </p:nvSpPr>
        <p:spPr>
          <a:xfrm>
            <a:off x="3169890" y="5355431"/>
            <a:ext cx="1066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Radar</a:t>
            </a:r>
            <a:endParaRPr lang="en-US" sz="1050" dirty="0"/>
          </a:p>
        </p:txBody>
      </p:sp>
      <p:sp>
        <p:nvSpPr>
          <p:cNvPr id="43" name="SK-1-text-42"/>
          <p:cNvSpPr/>
          <p:nvPr/>
        </p:nvSpPr>
        <p:spPr>
          <a:xfrm>
            <a:off x="3550890" y="5574506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자원</a:t>
            </a:r>
            <a:endParaRPr lang="en-US" sz="900" dirty="0"/>
          </a:p>
        </p:txBody>
      </p:sp>
      <p:sp>
        <p:nvSpPr>
          <p:cNvPr id="44" name="SK-1-text-43"/>
          <p:cNvSpPr/>
          <p:nvPr/>
        </p:nvSpPr>
        <p:spPr>
          <a:xfrm>
            <a:off x="1270992" y="5084118"/>
            <a:ext cx="9810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Cost Protector</a:t>
            </a:r>
            <a:endParaRPr lang="en-US" sz="1050" dirty="0"/>
          </a:p>
        </p:txBody>
      </p:sp>
      <p:sp>
        <p:nvSpPr>
          <p:cNvPr id="45" name="SK-1-text-44"/>
          <p:cNvSpPr/>
          <p:nvPr/>
        </p:nvSpPr>
        <p:spPr>
          <a:xfrm>
            <a:off x="1609130" y="5303193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B5563"/>
                </a:solidFill>
              </a:rPr>
              <a:t>재무</a:t>
            </a:r>
            <a:endParaRPr lang="en-US" sz="900" dirty="0"/>
          </a:p>
        </p:txBody>
      </p:sp>
      <p:sp>
        <p:nvSpPr>
          <p:cNvPr id="46" name="SK-1-text-45"/>
          <p:cNvSpPr/>
          <p:nvPr/>
        </p:nvSpPr>
        <p:spPr>
          <a:xfrm>
            <a:off x="7580858" y="208210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5AEE"/>
                </a:solidFill>
              </a:rPr>
              <a:t>1</a:t>
            </a:r>
            <a:endParaRPr lang="en-US" sz="1800" dirty="0"/>
          </a:p>
        </p:txBody>
      </p:sp>
      <p:sp>
        <p:nvSpPr>
          <p:cNvPr id="47" name="SK-1-text-46"/>
          <p:cNvSpPr/>
          <p:nvPr/>
        </p:nvSpPr>
        <p:spPr>
          <a:xfrm>
            <a:off x="8002786" y="2082105"/>
            <a:ext cx="3693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징후 감지</a:t>
            </a:r>
            <a:endParaRPr lang="en-US" sz="1200" dirty="0"/>
          </a:p>
        </p:txBody>
      </p:sp>
      <p:sp>
        <p:nvSpPr>
          <p:cNvPr id="48" name="SK-1-text-47"/>
          <p:cNvSpPr/>
          <p:nvPr/>
        </p:nvSpPr>
        <p:spPr>
          <a:xfrm>
            <a:off x="8002786" y="2329755"/>
            <a:ext cx="3617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7개 에이전트가 각 전문 영역에서 신호와 근거를 감지하고 보고합니다.</a:t>
            </a:r>
            <a:endParaRPr lang="en-US" sz="1050" dirty="0"/>
          </a:p>
        </p:txBody>
      </p:sp>
      <p:sp>
        <p:nvSpPr>
          <p:cNvPr id="49" name="SK-1-text-48"/>
          <p:cNvSpPr/>
          <p:nvPr/>
        </p:nvSpPr>
        <p:spPr>
          <a:xfrm>
            <a:off x="7553920" y="288220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5AEE"/>
                </a:solidFill>
              </a:rPr>
              <a:t>2</a:t>
            </a:r>
            <a:endParaRPr lang="en-US" sz="1800" dirty="0"/>
          </a:p>
        </p:txBody>
      </p:sp>
      <p:sp>
        <p:nvSpPr>
          <p:cNvPr id="50" name="SK-1-text-49"/>
          <p:cNvSpPr/>
          <p:nvPr/>
        </p:nvSpPr>
        <p:spPr>
          <a:xfrm>
            <a:off x="7948910" y="2882205"/>
            <a:ext cx="3747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조정 (Signal Forge)</a:t>
            </a:r>
            <a:endParaRPr lang="en-US" sz="1200" dirty="0"/>
          </a:p>
        </p:txBody>
      </p:sp>
      <p:sp>
        <p:nvSpPr>
          <p:cNvPr id="51" name="SK-1-text-50"/>
          <p:cNvSpPr/>
          <p:nvPr/>
        </p:nvSpPr>
        <p:spPr>
          <a:xfrm>
            <a:off x="7948910" y="3129855"/>
            <a:ext cx="36715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상충하는 대응안(예: 일정 사수 vs 범위 보존)을 6원칙과 North Star로 조정합니다.</a:t>
            </a:r>
            <a:endParaRPr lang="en-US" sz="1050" dirty="0"/>
          </a:p>
        </p:txBody>
      </p:sp>
      <p:sp>
        <p:nvSpPr>
          <p:cNvPr id="52" name="SK-1-text-51"/>
          <p:cNvSpPr/>
          <p:nvPr/>
        </p:nvSpPr>
        <p:spPr>
          <a:xfrm>
            <a:off x="7600504" y="3682305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005AEE"/>
                </a:solidFill>
              </a:rPr>
              <a:t>3</a:t>
            </a:r>
            <a:endParaRPr lang="en-US" sz="1800" dirty="0"/>
          </a:p>
        </p:txBody>
      </p:sp>
      <p:sp>
        <p:nvSpPr>
          <p:cNvPr id="53" name="SK-1-text-52"/>
          <p:cNvSpPr/>
          <p:nvPr/>
        </p:nvSpPr>
        <p:spPr>
          <a:xfrm>
            <a:off x="8042077" y="3682305"/>
            <a:ext cx="36546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최적안 도출</a:t>
            </a:r>
            <a:endParaRPr lang="en-US" sz="1200" dirty="0"/>
          </a:p>
        </p:txBody>
      </p:sp>
      <p:sp>
        <p:nvSpPr>
          <p:cNvPr id="54" name="SK-1-text-53"/>
          <p:cNvSpPr/>
          <p:nvPr/>
        </p:nvSpPr>
        <p:spPr>
          <a:xfrm>
            <a:off x="8042077" y="3929955"/>
            <a:ext cx="35784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통합 최적안과 하위가치 보완책을 생성하여 제안합니다.</a:t>
            </a:r>
            <a:endParaRPr lang="en-US" sz="1050" dirty="0"/>
          </a:p>
        </p:txBody>
      </p:sp>
      <p:sp>
        <p:nvSpPr>
          <p:cNvPr id="55" name="SK-1-text-54"/>
          <p:cNvSpPr/>
          <p:nvPr/>
        </p:nvSpPr>
        <p:spPr>
          <a:xfrm>
            <a:off x="8054280" y="4482405"/>
            <a:ext cx="3028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승인 및 실행</a:t>
            </a:r>
            <a:endParaRPr lang="en-US" sz="1200" dirty="0"/>
          </a:p>
        </p:txBody>
      </p:sp>
      <p:sp>
        <p:nvSpPr>
          <p:cNvPr id="56" name="SK-1-text-55"/>
          <p:cNvSpPr/>
          <p:nvPr/>
        </p:nvSpPr>
        <p:spPr>
          <a:xfrm>
            <a:off x="8054280" y="4730055"/>
            <a:ext cx="4137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판단과 실행은 PM의 승인을 거쳐 진행됩니다.</a:t>
            </a:r>
            <a:endParaRPr lang="en-US" sz="1050" dirty="0"/>
          </a:p>
        </p:txBody>
      </p:sp>
      <p:sp>
        <p:nvSpPr>
          <p:cNvPr id="57" name="SK-1-text-56"/>
          <p:cNvSpPr/>
          <p:nvPr/>
        </p:nvSpPr>
        <p:spPr>
          <a:xfrm>
            <a:off x="523875" y="6076950"/>
            <a:ext cx="1114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5A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감지의 집합이 아니라, 상충을 가치로 바꾸는 하나의 결단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2026-08-26T06:02:13Z</dcterms:created>
  <dcterms:modified xsi:type="dcterms:W3CDTF">2026-08-26T06:02:13Z</dcterms:modified>
</cp:coreProperties>
</file>
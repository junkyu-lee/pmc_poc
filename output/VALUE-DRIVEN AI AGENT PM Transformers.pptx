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image" Target="../media/image-4-31.png"/><Relationship Id="rId32" Type="http://schemas.openxmlformats.org/officeDocument/2006/relationships/image" Target="../media/image-4-32.png"/><Relationship Id="rId33" Type="http://schemas.openxmlformats.org/officeDocument/2006/relationships/image" Target="../media/image-4-33.png"/><Relationship Id="rId34" Type="http://schemas.openxmlformats.org/officeDocument/2006/relationships/image" Target="../media/image-4-34.png"/><Relationship Id="rId35" Type="http://schemas.openxmlformats.org/officeDocument/2006/relationships/image" Target="../media/image-4-35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image" Target="../media/image-6-26.png"/><Relationship Id="rId27" Type="http://schemas.openxmlformats.org/officeDocument/2006/relationships/image" Target="../media/image-6-27.png"/><Relationship Id="rId28" Type="http://schemas.openxmlformats.org/officeDocument/2006/relationships/image" Target="../media/image-6-28.png"/><Relationship Id="rId29" Type="http://schemas.openxmlformats.org/officeDocument/2006/relationships/image" Target="../media/image-6-29.png"/><Relationship Id="rId30" Type="http://schemas.openxmlformats.org/officeDocument/2006/relationships/image" Target="../media/image-6-30.png"/><Relationship Id="rId31" Type="http://schemas.openxmlformats.org/officeDocument/2006/relationships/image" Target="../media/image-6-31.png"/><Relationship Id="rId32" Type="http://schemas.openxmlformats.org/officeDocument/2006/relationships/image" Target="../media/image-6-32.png"/><Relationship Id="rId33" Type="http://schemas.openxmlformats.org/officeDocument/2006/relationships/image" Target="../media/image-6-33.png"/><Relationship Id="rId34" Type="http://schemas.openxmlformats.org/officeDocument/2006/relationships/image" Target="../media/image-6-34.png"/><Relationship Id="rId35" Type="http://schemas.openxmlformats.org/officeDocument/2006/relationships/image" Target="../media/image-6-35.png"/><Relationship Id="rId36" Type="http://schemas.openxmlformats.org/officeDocument/2006/relationships/image" Target="../media/image-6-36.png"/><Relationship Id="rId37" Type="http://schemas.openxmlformats.org/officeDocument/2006/relationships/image" Target="../media/image-6-37.png"/><Relationship Id="rId38" Type="http://schemas.openxmlformats.org/officeDocument/2006/relationships/image" Target="../media/image-6-38.png"/><Relationship Id="rId39" Type="http://schemas.openxmlformats.org/officeDocument/2006/relationships/image" Target="../media/image-6-39.png"/><Relationship Id="rId40" Type="http://schemas.openxmlformats.org/officeDocument/2006/relationships/image" Target="../media/image-6-40.png"/><Relationship Id="rId41" Type="http://schemas.openxmlformats.org/officeDocument/2006/relationships/image" Target="../media/image-6-41.png"/><Relationship Id="rId42" Type="http://schemas.openxmlformats.org/officeDocument/2006/relationships/image" Target="../media/image-6-42.png"/><Relationship Id="rId43" Type="http://schemas.openxmlformats.org/officeDocument/2006/relationships/image" Target="../media/image-6-43.png"/><Relationship Id="rId44" Type="http://schemas.openxmlformats.org/officeDocument/2006/relationships/image" Target="../media/image-6-44.png"/><Relationship Id="rId45" Type="http://schemas.openxmlformats.org/officeDocument/2006/relationships/image" Target="../media/image-6-45.png"/><Relationship Id="rId46" Type="http://schemas.openxmlformats.org/officeDocument/2006/relationships/image" Target="../media/image-6-46.png"/><Relationship Id="rId47" Type="http://schemas.openxmlformats.org/officeDocument/2006/relationships/image" Target="../media/image-6-47.png"/><Relationship Id="rId48" Type="http://schemas.openxmlformats.org/officeDocument/2006/relationships/slideLayout" Target="../slideLayouts/slideLayout1.xml"/><Relationship Id="rId4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image" Target="../media/image-7-28.png"/><Relationship Id="rId29" Type="http://schemas.openxmlformats.org/officeDocument/2006/relationships/image" Target="../media/image-7-29.png"/><Relationship Id="rId30" Type="http://schemas.openxmlformats.org/officeDocument/2006/relationships/image" Target="../media/image-7-30.png"/><Relationship Id="rId31" Type="http://schemas.openxmlformats.org/officeDocument/2006/relationships/image" Target="../media/image-7-31.png"/><Relationship Id="rId32" Type="http://schemas.openxmlformats.org/officeDocument/2006/relationships/image" Target="../media/image-7-32.png"/><Relationship Id="rId33" Type="http://schemas.openxmlformats.org/officeDocument/2006/relationships/image" Target="../media/image-7-33.png"/><Relationship Id="rId34" Type="http://schemas.openxmlformats.org/officeDocument/2006/relationships/image" Target="../media/image-7-34.png"/><Relationship Id="rId35" Type="http://schemas.openxmlformats.org/officeDocument/2006/relationships/image" Target="../media/image-7-35.png"/><Relationship Id="rId36" Type="http://schemas.openxmlformats.org/officeDocument/2006/relationships/image" Target="../media/image-7-36.png"/><Relationship Id="rId37" Type="http://schemas.openxmlformats.org/officeDocument/2006/relationships/image" Target="../media/image-7-37.png"/><Relationship Id="rId38" Type="http://schemas.openxmlformats.org/officeDocument/2006/relationships/image" Target="../media/image-7-38.png"/><Relationship Id="rId39" Type="http://schemas.openxmlformats.org/officeDocument/2006/relationships/image" Target="../media/image-7-39.png"/><Relationship Id="rId40" Type="http://schemas.openxmlformats.org/officeDocument/2006/relationships/image" Target="../media/image-7-40.png"/><Relationship Id="rId41" Type="http://schemas.openxmlformats.org/officeDocument/2006/relationships/slideLayout" Target="../slideLayouts/slideLayout1.xml"/><Relationship Id="rId4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3451920" cy="295275"/>
          </a:xfrm>
          <a:prstGeom prst="rect">
            <a:avLst/>
          </a:prstGeom>
        </p:spPr>
      </p:pic>
      <p:pic>
        <p:nvPicPr>
          <p:cNvPr id="5" name="SK-1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5257651"/>
            <a:ext cx="10668000" cy="657225"/>
          </a:xfrm>
          <a:prstGeom prst="rect">
            <a:avLst/>
          </a:prstGeom>
        </p:spPr>
      </p:pic>
      <p:sp>
        <p:nvSpPr>
          <p:cNvPr id="6" name="SK-1-text-5"/>
          <p:cNvSpPr/>
          <p:nvPr/>
        </p:nvSpPr>
        <p:spPr>
          <a:xfrm>
            <a:off x="876300" y="762000"/>
            <a:ext cx="585388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ENGINEERING REVIEW · 2026</a:t>
            </a:r>
            <a:endParaRPr lang="en-US" sz="1050" dirty="0"/>
          </a:p>
        </p:txBody>
      </p:sp>
      <p:sp>
        <p:nvSpPr>
          <p:cNvPr id="7" name="SK-1-text-6"/>
          <p:cNvSpPr/>
          <p:nvPr/>
        </p:nvSpPr>
        <p:spPr>
          <a:xfrm>
            <a:off x="762000" y="1362075"/>
            <a:ext cx="10668000" cy="142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5610"/>
              </a:lnSpc>
              <a:buNone/>
            </a:pPr>
            <a:r>
              <a:rPr lang="en-US" sz="5100" b="1" spc="-122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VALUE-DRIVEN AI AGENT</a:t>
            </a:r>
            <a:endParaRPr lang="en-US" sz="5100" dirty="0"/>
          </a:p>
          <a:p>
            <a:pPr indent="0" marL="0">
              <a:lnSpc>
                <a:spcPts val="5610"/>
              </a:lnSpc>
              <a:buNone/>
            </a:pPr>
            <a:r>
              <a:rPr lang="en-US" sz="5100" b="1" spc="-122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Transformers</a:t>
            </a:r>
            <a:endParaRPr lang="en-US" sz="5100" dirty="0"/>
          </a:p>
        </p:txBody>
      </p:sp>
      <p:sp>
        <p:nvSpPr>
          <p:cNvPr id="8" name="SK-1-text-7"/>
          <p:cNvSpPr/>
          <p:nvPr/>
        </p:nvSpPr>
        <p:spPr>
          <a:xfrm>
            <a:off x="762000" y="3120330"/>
            <a:ext cx="1090803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30"/>
              </a:lnSpc>
              <a:buNone/>
            </a:pPr>
            <a:r>
              <a:rPr lang="en-US" sz="2100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SW PM Competition 2026 본선 발표</a:t>
            </a:r>
            <a:endParaRPr lang="en-US" sz="2100" dirty="0"/>
          </a:p>
        </p:txBody>
      </p:sp>
      <p:sp>
        <p:nvSpPr>
          <p:cNvPr id="9" name="SK-1-text-8"/>
          <p:cNvSpPr/>
          <p:nvPr/>
        </p:nvSpPr>
        <p:spPr>
          <a:xfrm>
            <a:off x="762000" y="3619351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PM의 인지를 확장하는 디지털 트윈: 데이터 기반의 통합 판단과 프로젝트 가치 중심의 의사결정 체계 제안</a:t>
            </a:r>
            <a:endParaRPr lang="en-US" sz="1500" dirty="0"/>
          </a:p>
        </p:txBody>
      </p:sp>
      <p:sp>
        <p:nvSpPr>
          <p:cNvPr id="10" name="SK-1-text-9"/>
          <p:cNvSpPr/>
          <p:nvPr/>
        </p:nvSpPr>
        <p:spPr>
          <a:xfrm>
            <a:off x="762000" y="5486251"/>
            <a:ext cx="1981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9CA3AF"/>
                </a:solidFill>
              </a:rPr>
              <a:t>PRESENTED BY</a:t>
            </a:r>
            <a:endParaRPr lang="en-US" sz="900" dirty="0"/>
          </a:p>
        </p:txBody>
      </p:sp>
      <p:sp>
        <p:nvSpPr>
          <p:cNvPr id="11" name="SK-1-text-10"/>
          <p:cNvSpPr/>
          <p:nvPr/>
        </p:nvSpPr>
        <p:spPr>
          <a:xfrm>
            <a:off x="762000" y="5686276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</a:rPr>
              <a:t>PM Transformers Team</a:t>
            </a:r>
            <a:endParaRPr lang="en-US" sz="1200" dirty="0"/>
          </a:p>
        </p:txBody>
      </p:sp>
      <p:sp>
        <p:nvSpPr>
          <p:cNvPr id="12" name="SK-1-text-11"/>
          <p:cNvSpPr/>
          <p:nvPr/>
        </p:nvSpPr>
        <p:spPr>
          <a:xfrm>
            <a:off x="3238500" y="5486251"/>
            <a:ext cx="1859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9CA3AF"/>
                </a:solidFill>
              </a:rPr>
              <a:t>PROJECT PHASE</a:t>
            </a:r>
            <a:endParaRPr lang="en-US" sz="900" dirty="0"/>
          </a:p>
        </p:txBody>
      </p:sp>
      <p:sp>
        <p:nvSpPr>
          <p:cNvPr id="13" name="SK-1-text-12"/>
          <p:cNvSpPr/>
          <p:nvPr/>
        </p:nvSpPr>
        <p:spPr>
          <a:xfrm>
            <a:off x="3238500" y="5686276"/>
            <a:ext cx="3368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</a:rPr>
              <a:t>Final Presentation</a:t>
            </a:r>
            <a:endParaRPr lang="en-US" sz="1200" dirty="0"/>
          </a:p>
        </p:txBody>
      </p:sp>
      <p:sp>
        <p:nvSpPr>
          <p:cNvPr id="14" name="SK-1-text-13"/>
          <p:cNvSpPr/>
          <p:nvPr/>
        </p:nvSpPr>
        <p:spPr>
          <a:xfrm>
            <a:off x="5524500" y="5486251"/>
            <a:ext cx="15849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9CA3AF"/>
                </a:solidFill>
              </a:rPr>
              <a:t>REPORT DATE</a:t>
            </a:r>
            <a:endParaRPr lang="en-US" sz="900" dirty="0"/>
          </a:p>
        </p:txBody>
      </p:sp>
      <p:sp>
        <p:nvSpPr>
          <p:cNvPr id="15" name="SK-1-text-14"/>
          <p:cNvSpPr/>
          <p:nvPr/>
        </p:nvSpPr>
        <p:spPr>
          <a:xfrm>
            <a:off x="5524500" y="5686276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</a:rPr>
              <a:t>2026-08-26</a:t>
            </a:r>
            <a:endParaRPr lang="en-US" sz="1200" dirty="0"/>
          </a:p>
        </p:txBody>
      </p:sp>
      <p:sp>
        <p:nvSpPr>
          <p:cNvPr id="16" name="SK-1-text-15"/>
          <p:cNvSpPr/>
          <p:nvPr/>
        </p:nvSpPr>
        <p:spPr>
          <a:xfrm>
            <a:off x="7048500" y="5486251"/>
            <a:ext cx="2933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spc="36" kern="0" dirty="0">
                <a:solidFill>
                  <a:srgbClr val="9CA3AF"/>
                </a:solidFill>
              </a:rPr>
              <a:t>CLASSIFICATION</a:t>
            </a:r>
            <a:endParaRPr lang="en-US" sz="900" dirty="0"/>
          </a:p>
        </p:txBody>
      </p:sp>
      <p:sp>
        <p:nvSpPr>
          <p:cNvPr id="17" name="SK-1-text-16"/>
          <p:cNvSpPr/>
          <p:nvPr/>
        </p:nvSpPr>
        <p:spPr>
          <a:xfrm>
            <a:off x="7048500" y="5686276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</a:rPr>
              <a:t>Proprietary / Technical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3238500" cy="4095750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3238500" cy="590550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704975"/>
            <a:ext cx="238125" cy="190500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0500" y="3438525"/>
            <a:ext cx="285750" cy="228600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6750" y="1504950"/>
            <a:ext cx="3238500" cy="4095750"/>
          </a:xfrm>
          <a:prstGeom prst="rect">
            <a:avLst/>
          </a:prstGeom>
        </p:spPr>
      </p:pic>
      <p:pic>
        <p:nvPicPr>
          <p:cNvPr id="11" name="SK-2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6750" y="1504950"/>
            <a:ext cx="3238500" cy="590550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7250" y="1704975"/>
            <a:ext cx="238125" cy="190500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750" y="3438525"/>
            <a:ext cx="285750" cy="228600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2000" y="1504950"/>
            <a:ext cx="3238500" cy="4095750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2000" y="1504950"/>
            <a:ext cx="3238500" cy="590550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72500" y="1704975"/>
            <a:ext cx="238125" cy="190500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5829300"/>
            <a:ext cx="11049000" cy="457200"/>
          </a:xfrm>
          <a:prstGeom prst="rect">
            <a:avLst/>
          </a:prstGeom>
        </p:spPr>
      </p:pic>
      <p:sp>
        <p:nvSpPr>
          <p:cNvPr id="18" name="SK-2-text-17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19" name="SK-2-text-18"/>
          <p:cNvSpPr/>
          <p:nvPr/>
        </p:nvSpPr>
        <p:spPr>
          <a:xfrm>
            <a:off x="571500" y="73342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흩어진 신호, 따로 노는 판단</a:t>
            </a:r>
            <a:endParaRPr lang="en-US" sz="2550" dirty="0"/>
          </a:p>
        </p:txBody>
      </p:sp>
      <p:sp>
        <p:nvSpPr>
          <p:cNvPr id="20" name="SK-2-text-19"/>
          <p:cNvSpPr/>
          <p:nvPr/>
        </p:nvSpPr>
        <p:spPr>
          <a:xfrm>
            <a:off x="1114425" y="1657350"/>
            <a:ext cx="16954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(증상)</a:t>
            </a:r>
            <a:endParaRPr lang="en-US" sz="1500" dirty="0"/>
          </a:p>
        </p:txBody>
      </p:sp>
      <p:sp>
        <p:nvSpPr>
          <p:cNvPr id="21" name="SK-2-text-20"/>
          <p:cNvSpPr/>
          <p:nvPr/>
        </p:nvSpPr>
        <p:spPr>
          <a:xfrm>
            <a:off x="952500" y="2324100"/>
            <a:ext cx="27203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이상징후가 </a:t>
            </a:r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흩어져 늦게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발견</a:t>
            </a:r>
            <a:endParaRPr lang="en-US" sz="1275" dirty="0"/>
          </a:p>
        </p:txBody>
      </p:sp>
      <p:sp>
        <p:nvSpPr>
          <p:cNvPr id="22" name="SK-2-text-21"/>
          <p:cNvSpPr/>
          <p:nvPr/>
        </p:nvSpPr>
        <p:spPr>
          <a:xfrm>
            <a:off x="952500" y="2681288"/>
            <a:ext cx="308305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도메인별로 </a:t>
            </a:r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따로 판단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(사일로)</a:t>
            </a:r>
            <a:endParaRPr lang="en-US" sz="1275" dirty="0"/>
          </a:p>
        </p:txBody>
      </p:sp>
      <p:sp>
        <p:nvSpPr>
          <p:cNvPr id="23" name="SK-2-text-22"/>
          <p:cNvSpPr/>
          <p:nvPr/>
        </p:nvSpPr>
        <p:spPr>
          <a:xfrm>
            <a:off x="952500" y="3038475"/>
            <a:ext cx="344576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상충 시 </a:t>
            </a:r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없는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독단·지연·번복</a:t>
            </a:r>
            <a:endParaRPr lang="en-US" sz="1275" dirty="0"/>
          </a:p>
        </p:txBody>
      </p:sp>
      <p:sp>
        <p:nvSpPr>
          <p:cNvPr id="24" name="SK-2-text-23"/>
          <p:cNvSpPr/>
          <p:nvPr/>
        </p:nvSpPr>
        <p:spPr>
          <a:xfrm>
            <a:off x="5019675" y="1657350"/>
            <a:ext cx="123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근본 원인</a:t>
            </a:r>
            <a:endParaRPr lang="en-US" sz="1500" dirty="0"/>
          </a:p>
        </p:txBody>
      </p:sp>
      <p:sp>
        <p:nvSpPr>
          <p:cNvPr id="25" name="SK-2-text-24"/>
          <p:cNvSpPr/>
          <p:nvPr/>
        </p:nvSpPr>
        <p:spPr>
          <a:xfrm>
            <a:off x="4857750" y="2324100"/>
            <a:ext cx="30226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1인의 </a:t>
            </a:r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인지 대역폭 한계</a:t>
            </a:r>
            <a:endParaRPr lang="en-US" sz="1275" dirty="0"/>
          </a:p>
        </p:txBody>
      </p:sp>
      <p:sp>
        <p:nvSpPr>
          <p:cNvPr id="26" name="SK-2-text-25"/>
          <p:cNvSpPr/>
          <p:nvPr/>
        </p:nvSpPr>
        <p:spPr>
          <a:xfrm>
            <a:off x="4857750" y="2681288"/>
            <a:ext cx="316401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사일로에 의한 정보 단절</a:t>
            </a:r>
            <a:endParaRPr lang="en-US" sz="1275" dirty="0"/>
          </a:p>
        </p:txBody>
      </p:sp>
      <p:sp>
        <p:nvSpPr>
          <p:cNvPr id="27" name="SK-2-text-26"/>
          <p:cNvSpPr/>
          <p:nvPr/>
        </p:nvSpPr>
        <p:spPr>
          <a:xfrm>
            <a:off x="4857750" y="3038475"/>
            <a:ext cx="290169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판단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기준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부재</a:t>
            </a:r>
            <a:endParaRPr lang="en-US" sz="1275" dirty="0"/>
          </a:p>
        </p:txBody>
      </p:sp>
      <p:sp>
        <p:nvSpPr>
          <p:cNvPr id="28" name="SK-2-text-27"/>
          <p:cNvSpPr/>
          <p:nvPr/>
        </p:nvSpPr>
        <p:spPr>
          <a:xfrm>
            <a:off x="8924925" y="1657350"/>
            <a:ext cx="123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방향</a:t>
            </a:r>
            <a:endParaRPr lang="en-US" sz="1500" dirty="0"/>
          </a:p>
        </p:txBody>
      </p:sp>
      <p:sp>
        <p:nvSpPr>
          <p:cNvPr id="29" name="SK-2-text-28"/>
          <p:cNvSpPr/>
          <p:nvPr/>
        </p:nvSpPr>
        <p:spPr>
          <a:xfrm>
            <a:off x="8763000" y="2324100"/>
            <a:ext cx="34290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7개 도메인을 </a:t>
            </a:r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상시·동시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관측·판단</a:t>
            </a:r>
            <a:endParaRPr lang="en-US" sz="1275" dirty="0"/>
          </a:p>
        </p:txBody>
      </p:sp>
      <p:sp>
        <p:nvSpPr>
          <p:cNvPr id="30" name="SK-2-text-29"/>
          <p:cNvSpPr/>
          <p:nvPr/>
        </p:nvSpPr>
        <p:spPr>
          <a:xfrm>
            <a:off x="8763000" y="2681288"/>
            <a:ext cx="27203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상충을 </a:t>
            </a:r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가치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중재</a:t>
            </a:r>
            <a:endParaRPr lang="en-US" sz="1275" dirty="0"/>
          </a:p>
        </p:txBody>
      </p:sp>
      <p:sp>
        <p:nvSpPr>
          <p:cNvPr id="31" name="SK-2-text-30"/>
          <p:cNvSpPr/>
          <p:nvPr/>
        </p:nvSpPr>
        <p:spPr>
          <a:xfrm>
            <a:off x="8763000" y="3038475"/>
            <a:ext cx="2667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PM의 </a:t>
            </a:r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주도적 결정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지능적으로 확장</a:t>
            </a:r>
            <a:endParaRPr lang="en-US" sz="1275" dirty="0"/>
          </a:p>
        </p:txBody>
      </p:sp>
      <p:sp>
        <p:nvSpPr>
          <p:cNvPr id="32" name="SK-2-text-31"/>
          <p:cNvSpPr/>
          <p:nvPr/>
        </p:nvSpPr>
        <p:spPr>
          <a:xfrm>
            <a:off x="762000" y="5957888"/>
            <a:ext cx="21564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B5563"/>
                </a:solidFill>
              </a:rPr>
              <a:t>KEY STRATEGY:</a:t>
            </a:r>
            <a:endParaRPr lang="en-US" sz="1050" dirty="0"/>
          </a:p>
        </p:txBody>
      </p:sp>
      <p:sp>
        <p:nvSpPr>
          <p:cNvPr id="33" name="SK-2-text-32"/>
          <p:cNvSpPr/>
          <p:nvPr/>
        </p:nvSpPr>
        <p:spPr>
          <a:xfrm>
            <a:off x="1847850" y="5943600"/>
            <a:ext cx="794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정보의 분절을 제거하고, PM의 인지 한계를 넘어선 통합적 의사결정 체계 구축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3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3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3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409700"/>
            <a:ext cx="11049000" cy="742950"/>
          </a:xfrm>
          <a:prstGeom prst="rect">
            <a:avLst/>
          </a:prstGeom>
        </p:spPr>
      </p:pic>
      <p:pic>
        <p:nvPicPr>
          <p:cNvPr id="7" name="SK-3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2381250"/>
            <a:ext cx="419100" cy="419100"/>
          </a:xfrm>
          <a:prstGeom prst="rect">
            <a:avLst/>
          </a:prstGeom>
        </p:spPr>
      </p:pic>
      <p:pic>
        <p:nvPicPr>
          <p:cNvPr id="8" name="SK-3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975" y="2800350"/>
            <a:ext cx="19050" cy="519113"/>
          </a:xfrm>
          <a:prstGeom prst="rect">
            <a:avLst/>
          </a:prstGeom>
        </p:spPr>
      </p:pic>
      <p:pic>
        <p:nvPicPr>
          <p:cNvPr id="9" name="SK-3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3500" y="2381250"/>
            <a:ext cx="10287000" cy="823913"/>
          </a:xfrm>
          <a:prstGeom prst="rect">
            <a:avLst/>
          </a:prstGeom>
        </p:spPr>
      </p:pic>
      <p:pic>
        <p:nvPicPr>
          <p:cNvPr id="10" name="SK-3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2100" y="2507456"/>
            <a:ext cx="571500" cy="571500"/>
          </a:xfrm>
          <a:prstGeom prst="rect">
            <a:avLst/>
          </a:prstGeom>
        </p:spPr>
      </p:pic>
      <p:pic>
        <p:nvPicPr>
          <p:cNvPr id="11" name="SK-3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04975" y="2678906"/>
            <a:ext cx="285750" cy="228600"/>
          </a:xfrm>
          <a:prstGeom prst="rect">
            <a:avLst/>
          </a:prstGeom>
        </p:spPr>
      </p:pic>
      <p:pic>
        <p:nvPicPr>
          <p:cNvPr id="12" name="SK-3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48100" y="2561779"/>
            <a:ext cx="7543800" cy="462855"/>
          </a:xfrm>
          <a:prstGeom prst="rect">
            <a:avLst/>
          </a:prstGeom>
        </p:spPr>
      </p:pic>
      <p:pic>
        <p:nvPicPr>
          <p:cNvPr id="13" name="SK-3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950" y="3433763"/>
            <a:ext cx="419100" cy="419100"/>
          </a:xfrm>
          <a:prstGeom prst="rect">
            <a:avLst/>
          </a:prstGeom>
        </p:spPr>
      </p:pic>
      <p:pic>
        <p:nvPicPr>
          <p:cNvPr id="14" name="SK-3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2975" y="3852863"/>
            <a:ext cx="19050" cy="519113"/>
          </a:xfrm>
          <a:prstGeom prst="rect">
            <a:avLst/>
          </a:prstGeom>
        </p:spPr>
      </p:pic>
      <p:pic>
        <p:nvPicPr>
          <p:cNvPr id="15" name="SK-3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33500" y="3433763"/>
            <a:ext cx="10287000" cy="823913"/>
          </a:xfrm>
          <a:prstGeom prst="rect">
            <a:avLst/>
          </a:prstGeom>
        </p:spPr>
      </p:pic>
      <p:pic>
        <p:nvPicPr>
          <p:cNvPr id="16" name="SK-3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2100" y="3559969"/>
            <a:ext cx="571500" cy="571500"/>
          </a:xfrm>
          <a:prstGeom prst="rect">
            <a:avLst/>
          </a:prstGeom>
        </p:spPr>
      </p:pic>
      <p:pic>
        <p:nvPicPr>
          <p:cNvPr id="17" name="SK-3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04975" y="3731419"/>
            <a:ext cx="285750" cy="228600"/>
          </a:xfrm>
          <a:prstGeom prst="rect">
            <a:avLst/>
          </a:prstGeom>
        </p:spPr>
      </p:pic>
      <p:pic>
        <p:nvPicPr>
          <p:cNvPr id="18" name="SK-3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48100" y="3614291"/>
            <a:ext cx="7543800" cy="462855"/>
          </a:xfrm>
          <a:prstGeom prst="rect">
            <a:avLst/>
          </a:prstGeom>
        </p:spPr>
      </p:pic>
      <p:pic>
        <p:nvPicPr>
          <p:cNvPr id="19" name="SK-3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2950" y="4486275"/>
            <a:ext cx="419100" cy="419100"/>
          </a:xfrm>
          <a:prstGeom prst="rect">
            <a:avLst/>
          </a:prstGeom>
        </p:spPr>
      </p:pic>
      <p:pic>
        <p:nvPicPr>
          <p:cNvPr id="20" name="SK-3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2975" y="4905375"/>
            <a:ext cx="19050" cy="519113"/>
          </a:xfrm>
          <a:prstGeom prst="rect">
            <a:avLst/>
          </a:prstGeom>
        </p:spPr>
      </p:pic>
      <p:pic>
        <p:nvPicPr>
          <p:cNvPr id="21" name="SK-3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33500" y="4486275"/>
            <a:ext cx="10287000" cy="823913"/>
          </a:xfrm>
          <a:prstGeom prst="rect">
            <a:avLst/>
          </a:prstGeom>
        </p:spPr>
      </p:pic>
      <p:pic>
        <p:nvPicPr>
          <p:cNvPr id="22" name="SK-3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562100" y="4612481"/>
            <a:ext cx="571500" cy="571500"/>
          </a:xfrm>
          <a:prstGeom prst="rect">
            <a:avLst/>
          </a:prstGeom>
        </p:spPr>
      </p:pic>
      <p:pic>
        <p:nvPicPr>
          <p:cNvPr id="23" name="SK-3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04975" y="4783931"/>
            <a:ext cx="285750" cy="228600"/>
          </a:xfrm>
          <a:prstGeom prst="rect">
            <a:avLst/>
          </a:prstGeom>
        </p:spPr>
      </p:pic>
      <p:pic>
        <p:nvPicPr>
          <p:cNvPr id="24" name="SK-3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48100" y="4666804"/>
            <a:ext cx="7543800" cy="462855"/>
          </a:xfrm>
          <a:prstGeom prst="rect">
            <a:avLst/>
          </a:prstGeom>
        </p:spPr>
      </p:pic>
      <p:pic>
        <p:nvPicPr>
          <p:cNvPr id="25" name="SK-3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2950" y="5538788"/>
            <a:ext cx="419100" cy="419100"/>
          </a:xfrm>
          <a:prstGeom prst="rect">
            <a:avLst/>
          </a:prstGeom>
        </p:spPr>
      </p:pic>
      <p:pic>
        <p:nvPicPr>
          <p:cNvPr id="26" name="SK-3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33500" y="5538788"/>
            <a:ext cx="10287000" cy="938213"/>
          </a:xfrm>
          <a:prstGeom prst="rect">
            <a:avLst/>
          </a:prstGeom>
        </p:spPr>
      </p:pic>
      <p:pic>
        <p:nvPicPr>
          <p:cNvPr id="27" name="SK-3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562100" y="5722144"/>
            <a:ext cx="571500" cy="571500"/>
          </a:xfrm>
          <a:prstGeom prst="rect">
            <a:avLst/>
          </a:prstGeom>
        </p:spPr>
      </p:pic>
      <p:pic>
        <p:nvPicPr>
          <p:cNvPr id="28" name="SK-3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704975" y="5893594"/>
            <a:ext cx="285750" cy="228600"/>
          </a:xfrm>
          <a:prstGeom prst="rect">
            <a:avLst/>
          </a:prstGeom>
        </p:spPr>
      </p:pic>
      <p:pic>
        <p:nvPicPr>
          <p:cNvPr id="29" name="SK-3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848100" y="5776466"/>
            <a:ext cx="7543800" cy="462855"/>
          </a:xfrm>
          <a:prstGeom prst="rect">
            <a:avLst/>
          </a:prstGeom>
        </p:spPr>
      </p:pic>
      <p:sp>
        <p:nvSpPr>
          <p:cNvPr id="30" name="SK-3-text-29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31" name="SK-3-text-30"/>
          <p:cNvSpPr/>
          <p:nvPr/>
        </p:nvSpPr>
        <p:spPr>
          <a:xfrm>
            <a:off x="571500" y="73342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개념 — PM의 인지 파이프라인 확장</a:t>
            </a:r>
            <a:endParaRPr lang="en-US" sz="2550" dirty="0"/>
          </a:p>
        </p:txBody>
      </p:sp>
      <p:sp>
        <p:nvSpPr>
          <p:cNvPr id="32" name="SK-3-text-31"/>
          <p:cNvSpPr/>
          <p:nvPr/>
        </p:nvSpPr>
        <p:spPr>
          <a:xfrm>
            <a:off x="685800" y="1524000"/>
            <a:ext cx="108204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PM이 실제로 구동하는 인지 파이프라인 </a:t>
            </a:r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'보다 → 듣다 → 판단하다 → 행동하다'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그대로 확장합니다.</a:t>
            </a:r>
            <a:endParaRPr lang="en-US" sz="135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판단의 주체는 여전히 </a:t>
            </a:r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이며, 에이전트는 관측과 판단의 대역폭을 비약적으로 넓혀주는 도구입니다.</a:t>
            </a:r>
            <a:endParaRPr lang="en-US" sz="1350" dirty="0"/>
          </a:p>
        </p:txBody>
      </p:sp>
      <p:sp>
        <p:nvSpPr>
          <p:cNvPr id="33" name="SK-3-text-32"/>
          <p:cNvSpPr/>
          <p:nvPr/>
        </p:nvSpPr>
        <p:spPr>
          <a:xfrm>
            <a:off x="838200" y="2381250"/>
            <a:ext cx="85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34" name="SK-3-text-33"/>
          <p:cNvSpPr/>
          <p:nvPr/>
        </p:nvSpPr>
        <p:spPr>
          <a:xfrm>
            <a:off x="2324100" y="2536031"/>
            <a:ext cx="1409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</a:rPr>
              <a:t>SEE</a:t>
            </a:r>
            <a:endParaRPr lang="en-US" sz="1050" dirty="0"/>
          </a:p>
        </p:txBody>
      </p:sp>
      <p:sp>
        <p:nvSpPr>
          <p:cNvPr id="35" name="SK-3-text-34"/>
          <p:cNvSpPr/>
          <p:nvPr/>
        </p:nvSpPr>
        <p:spPr>
          <a:xfrm>
            <a:off x="2324100" y="2736056"/>
            <a:ext cx="14382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</a:t>
            </a:r>
            <a:endParaRPr lang="en-US" sz="1650" dirty="0"/>
          </a:p>
        </p:txBody>
      </p:sp>
      <p:sp>
        <p:nvSpPr>
          <p:cNvPr id="36" name="SK-3-text-35"/>
          <p:cNvSpPr/>
          <p:nvPr/>
        </p:nvSpPr>
        <p:spPr>
          <a:xfrm>
            <a:off x="4038600" y="2561779"/>
            <a:ext cx="7353300" cy="4628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일정, 리스크, 이슈, 예산, 요구사항 등 프로젝트의 모든 상태 신호를 상시 수집하여 데이터 기반의 가시성을 확보합니다. 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Phase: Data Ingest</a:t>
            </a:r>
            <a:endParaRPr lang="en-US" sz="1275" dirty="0"/>
          </a:p>
        </p:txBody>
      </p:sp>
      <p:sp>
        <p:nvSpPr>
          <p:cNvPr id="37" name="SK-3-text-36"/>
          <p:cNvSpPr/>
          <p:nvPr/>
        </p:nvSpPr>
        <p:spPr>
          <a:xfrm>
            <a:off x="838200" y="3433763"/>
            <a:ext cx="85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38" name="SK-3-text-37"/>
          <p:cNvSpPr/>
          <p:nvPr/>
        </p:nvSpPr>
        <p:spPr>
          <a:xfrm>
            <a:off x="2324100" y="3588544"/>
            <a:ext cx="1409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</a:rPr>
              <a:t>HEAR</a:t>
            </a:r>
            <a:endParaRPr lang="en-US" sz="1050" dirty="0"/>
          </a:p>
        </p:txBody>
      </p:sp>
      <p:sp>
        <p:nvSpPr>
          <p:cNvPr id="39" name="SK-3-text-38"/>
          <p:cNvSpPr/>
          <p:nvPr/>
        </p:nvSpPr>
        <p:spPr>
          <a:xfrm>
            <a:off x="2324100" y="3788569"/>
            <a:ext cx="14382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수렴</a:t>
            </a:r>
            <a:endParaRPr lang="en-US" sz="1650" dirty="0"/>
          </a:p>
        </p:txBody>
      </p:sp>
      <p:sp>
        <p:nvSpPr>
          <p:cNvPr id="40" name="SK-3-text-39"/>
          <p:cNvSpPr/>
          <p:nvPr/>
        </p:nvSpPr>
        <p:spPr>
          <a:xfrm>
            <a:off x="4038600" y="3614291"/>
            <a:ext cx="7353300" cy="4628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이해관계자의 요청, 회의 내용, 현장의 비정형 목소리까지 신호로 반영하여 정량 데이터가 놓치는 맥락을 보완합니다. 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Phase: Contextual Input</a:t>
            </a:r>
            <a:endParaRPr lang="en-US" sz="1275" dirty="0"/>
          </a:p>
        </p:txBody>
      </p:sp>
      <p:sp>
        <p:nvSpPr>
          <p:cNvPr id="41" name="SK-3-text-40"/>
          <p:cNvSpPr/>
          <p:nvPr/>
        </p:nvSpPr>
        <p:spPr>
          <a:xfrm>
            <a:off x="838200" y="4486275"/>
            <a:ext cx="85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42" name="SK-3-text-41"/>
          <p:cNvSpPr/>
          <p:nvPr/>
        </p:nvSpPr>
        <p:spPr>
          <a:xfrm>
            <a:off x="2324100" y="4641056"/>
            <a:ext cx="1409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</a:rPr>
              <a:t>THINK</a:t>
            </a:r>
            <a:endParaRPr lang="en-US" sz="1050" dirty="0"/>
          </a:p>
        </p:txBody>
      </p:sp>
      <p:sp>
        <p:nvSpPr>
          <p:cNvPr id="43" name="SK-3-text-42"/>
          <p:cNvSpPr/>
          <p:nvPr/>
        </p:nvSpPr>
        <p:spPr>
          <a:xfrm>
            <a:off x="2324100" y="4841081"/>
            <a:ext cx="14382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</a:t>
            </a:r>
            <a:endParaRPr lang="en-US" sz="1650" dirty="0"/>
          </a:p>
        </p:txBody>
      </p:sp>
      <p:sp>
        <p:nvSpPr>
          <p:cNvPr id="44" name="SK-3-text-43"/>
          <p:cNvSpPr/>
          <p:nvPr/>
        </p:nvSpPr>
        <p:spPr>
          <a:xfrm>
            <a:off x="4038600" y="4666804"/>
            <a:ext cx="7353300" cy="4628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7개 도메인 에이전트가 각자의 전문 관점으로 이상징후를 감지하고, 도메인 간 상충을 프로젝트 가치 기준으로 통합합니다. 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Phase: Analysis &amp; Fusion</a:t>
            </a:r>
            <a:endParaRPr lang="en-US" sz="1275" dirty="0"/>
          </a:p>
        </p:txBody>
      </p:sp>
      <p:sp>
        <p:nvSpPr>
          <p:cNvPr id="45" name="SK-3-text-44"/>
          <p:cNvSpPr/>
          <p:nvPr/>
        </p:nvSpPr>
        <p:spPr>
          <a:xfrm>
            <a:off x="838200" y="5538788"/>
            <a:ext cx="857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46" name="SK-3-text-45"/>
          <p:cNvSpPr/>
          <p:nvPr/>
        </p:nvSpPr>
        <p:spPr>
          <a:xfrm>
            <a:off x="2324100" y="5750719"/>
            <a:ext cx="1409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</a:rPr>
              <a:t>ACT</a:t>
            </a:r>
            <a:endParaRPr lang="en-US" sz="1050" dirty="0"/>
          </a:p>
        </p:txBody>
      </p:sp>
      <p:sp>
        <p:nvSpPr>
          <p:cNvPr id="47" name="SK-3-text-46"/>
          <p:cNvSpPr/>
          <p:nvPr/>
        </p:nvSpPr>
        <p:spPr>
          <a:xfrm>
            <a:off x="2324100" y="5950744"/>
            <a:ext cx="14382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</a:t>
            </a:r>
            <a:endParaRPr lang="en-US" sz="1650" dirty="0"/>
          </a:p>
        </p:txBody>
      </p:sp>
      <p:sp>
        <p:nvSpPr>
          <p:cNvPr id="48" name="SK-3-text-47"/>
          <p:cNvSpPr/>
          <p:nvPr/>
        </p:nvSpPr>
        <p:spPr>
          <a:xfrm>
            <a:off x="4038600" y="5776466"/>
            <a:ext cx="7353300" cy="4628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도출된 판단을 실제 조치로 연결합니다. Jira 티켓 발행, 알림 발송 등을 수행하며 최종 승인은 반드시 PM이 결정합니다. 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Phase: Action &amp; Feedback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4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301329" cy="276225"/>
          </a:xfrm>
          <a:prstGeom prst="rect">
            <a:avLst/>
          </a:prstGeom>
        </p:spPr>
      </p:pic>
      <p:pic>
        <p:nvPicPr>
          <p:cNvPr id="5" name="SK-4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7129" y="514350"/>
            <a:ext cx="8633371" cy="9525"/>
          </a:xfrm>
          <a:prstGeom prst="rect">
            <a:avLst/>
          </a:prstGeom>
        </p:spPr>
      </p:pic>
      <p:pic>
        <p:nvPicPr>
          <p:cNvPr id="6" name="SK-4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11049000" cy="4972050"/>
          </a:xfrm>
          <a:prstGeom prst="rect">
            <a:avLst/>
          </a:prstGeom>
        </p:spPr>
      </p:pic>
      <p:pic>
        <p:nvPicPr>
          <p:cNvPr id="7" name="SK-4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2762250" cy="428625"/>
          </a:xfrm>
          <a:prstGeom prst="rect">
            <a:avLst/>
          </a:prstGeom>
        </p:spPr>
      </p:pic>
      <p:pic>
        <p:nvPicPr>
          <p:cNvPr id="8" name="SK-4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3750" y="1504950"/>
            <a:ext cx="1657350" cy="428625"/>
          </a:xfrm>
          <a:prstGeom prst="rect">
            <a:avLst/>
          </a:prstGeom>
        </p:spPr>
      </p:pic>
      <p:pic>
        <p:nvPicPr>
          <p:cNvPr id="9" name="SK-4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1100" y="1504950"/>
            <a:ext cx="6629400" cy="428625"/>
          </a:xfrm>
          <a:prstGeom prst="rect">
            <a:avLst/>
          </a:prstGeom>
        </p:spPr>
      </p:pic>
      <p:pic>
        <p:nvPicPr>
          <p:cNvPr id="10" name="SK-4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1933575"/>
            <a:ext cx="2762250" cy="587127"/>
          </a:xfrm>
          <a:prstGeom prst="rect">
            <a:avLst/>
          </a:prstGeom>
        </p:spPr>
      </p:pic>
      <p:pic>
        <p:nvPicPr>
          <p:cNvPr id="11" name="SK-4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3197" y="2150269"/>
            <a:ext cx="202406" cy="163711"/>
          </a:xfrm>
          <a:prstGeom prst="rect">
            <a:avLst/>
          </a:prstGeom>
        </p:spPr>
      </p:pic>
      <p:pic>
        <p:nvPicPr>
          <p:cNvPr id="12" name="SK-4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33750" y="1933575"/>
            <a:ext cx="1657350" cy="587127"/>
          </a:xfrm>
          <a:prstGeom prst="rect">
            <a:avLst/>
          </a:prstGeom>
        </p:spPr>
      </p:pic>
      <p:pic>
        <p:nvPicPr>
          <p:cNvPr id="13" name="SK-4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91100" y="1933575"/>
            <a:ext cx="6629400" cy="587127"/>
          </a:xfrm>
          <a:prstGeom prst="rect">
            <a:avLst/>
          </a:prstGeom>
        </p:spPr>
      </p:pic>
      <p:pic>
        <p:nvPicPr>
          <p:cNvPr id="14" name="SK-4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2520702"/>
            <a:ext cx="2762250" cy="587127"/>
          </a:xfrm>
          <a:prstGeom prst="rect">
            <a:avLst/>
          </a:prstGeom>
        </p:spPr>
      </p:pic>
      <p:pic>
        <p:nvPicPr>
          <p:cNvPr id="15" name="SK-4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3197" y="2737396"/>
            <a:ext cx="202406" cy="163711"/>
          </a:xfrm>
          <a:prstGeom prst="rect">
            <a:avLst/>
          </a:prstGeom>
        </p:spPr>
      </p:pic>
      <p:pic>
        <p:nvPicPr>
          <p:cNvPr id="16" name="SK-4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33750" y="2520702"/>
            <a:ext cx="1657350" cy="587127"/>
          </a:xfrm>
          <a:prstGeom prst="rect">
            <a:avLst/>
          </a:prstGeom>
        </p:spPr>
      </p:pic>
      <p:pic>
        <p:nvPicPr>
          <p:cNvPr id="17" name="SK-4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91100" y="2520702"/>
            <a:ext cx="6629400" cy="587127"/>
          </a:xfrm>
          <a:prstGeom prst="rect">
            <a:avLst/>
          </a:prstGeom>
        </p:spPr>
      </p:pic>
      <p:pic>
        <p:nvPicPr>
          <p:cNvPr id="18" name="SK-4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3107829"/>
            <a:ext cx="2762250" cy="587127"/>
          </a:xfrm>
          <a:prstGeom prst="rect">
            <a:avLst/>
          </a:prstGeom>
        </p:spPr>
      </p:pic>
      <p:pic>
        <p:nvPicPr>
          <p:cNvPr id="19" name="SK-4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3197" y="3324523"/>
            <a:ext cx="202406" cy="163711"/>
          </a:xfrm>
          <a:prstGeom prst="rect">
            <a:avLst/>
          </a:prstGeom>
        </p:spPr>
      </p:pic>
      <p:pic>
        <p:nvPicPr>
          <p:cNvPr id="20" name="SK-4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33750" y="3107829"/>
            <a:ext cx="1657350" cy="587127"/>
          </a:xfrm>
          <a:prstGeom prst="rect">
            <a:avLst/>
          </a:prstGeom>
        </p:spPr>
      </p:pic>
      <p:pic>
        <p:nvPicPr>
          <p:cNvPr id="21" name="SK-4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91100" y="3107829"/>
            <a:ext cx="6629400" cy="587127"/>
          </a:xfrm>
          <a:prstGeom prst="rect">
            <a:avLst/>
          </a:prstGeom>
        </p:spPr>
      </p:pic>
      <p:pic>
        <p:nvPicPr>
          <p:cNvPr id="22" name="SK-4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3694956"/>
            <a:ext cx="2762250" cy="587127"/>
          </a:xfrm>
          <a:prstGeom prst="rect">
            <a:avLst/>
          </a:prstGeom>
        </p:spPr>
      </p:pic>
      <p:pic>
        <p:nvPicPr>
          <p:cNvPr id="23" name="SK-4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3197" y="3911650"/>
            <a:ext cx="202406" cy="163711"/>
          </a:xfrm>
          <a:prstGeom prst="rect">
            <a:avLst/>
          </a:prstGeom>
        </p:spPr>
      </p:pic>
      <p:pic>
        <p:nvPicPr>
          <p:cNvPr id="24" name="SK-4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33750" y="3694956"/>
            <a:ext cx="1657350" cy="587127"/>
          </a:xfrm>
          <a:prstGeom prst="rect">
            <a:avLst/>
          </a:prstGeom>
        </p:spPr>
      </p:pic>
      <p:pic>
        <p:nvPicPr>
          <p:cNvPr id="25" name="SK-4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991100" y="3694956"/>
            <a:ext cx="6629400" cy="587127"/>
          </a:xfrm>
          <a:prstGeom prst="rect">
            <a:avLst/>
          </a:prstGeom>
        </p:spPr>
      </p:pic>
      <p:pic>
        <p:nvPicPr>
          <p:cNvPr id="26" name="SK-4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71500" y="4282083"/>
            <a:ext cx="2762250" cy="587127"/>
          </a:xfrm>
          <a:prstGeom prst="rect">
            <a:avLst/>
          </a:prstGeom>
        </p:spPr>
      </p:pic>
      <p:pic>
        <p:nvPicPr>
          <p:cNvPr id="27" name="SK-4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3197" y="4498777"/>
            <a:ext cx="202406" cy="163711"/>
          </a:xfrm>
          <a:prstGeom prst="rect">
            <a:avLst/>
          </a:prstGeom>
        </p:spPr>
      </p:pic>
      <p:pic>
        <p:nvPicPr>
          <p:cNvPr id="28" name="SK-4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333750" y="4282083"/>
            <a:ext cx="1657350" cy="587127"/>
          </a:xfrm>
          <a:prstGeom prst="rect">
            <a:avLst/>
          </a:prstGeom>
        </p:spPr>
      </p:pic>
      <p:pic>
        <p:nvPicPr>
          <p:cNvPr id="29" name="SK-4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991100" y="4282083"/>
            <a:ext cx="6629400" cy="587127"/>
          </a:xfrm>
          <a:prstGeom prst="rect">
            <a:avLst/>
          </a:prstGeom>
        </p:spPr>
      </p:pic>
      <p:pic>
        <p:nvPicPr>
          <p:cNvPr id="30" name="SK-4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71500" y="4869210"/>
            <a:ext cx="2762250" cy="587127"/>
          </a:xfrm>
          <a:prstGeom prst="rect">
            <a:avLst/>
          </a:prstGeom>
        </p:spPr>
      </p:pic>
      <p:pic>
        <p:nvPicPr>
          <p:cNvPr id="31" name="SK-4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13197" y="5085904"/>
            <a:ext cx="202406" cy="163711"/>
          </a:xfrm>
          <a:prstGeom prst="rect">
            <a:avLst/>
          </a:prstGeom>
        </p:spPr>
      </p:pic>
      <p:pic>
        <p:nvPicPr>
          <p:cNvPr id="32" name="SK-4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333750" y="4869210"/>
            <a:ext cx="1657350" cy="587127"/>
          </a:xfrm>
          <a:prstGeom prst="rect">
            <a:avLst/>
          </a:prstGeom>
        </p:spPr>
      </p:pic>
      <p:pic>
        <p:nvPicPr>
          <p:cNvPr id="33" name="SK-4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991100" y="4869210"/>
            <a:ext cx="6629400" cy="587127"/>
          </a:xfrm>
          <a:prstGeom prst="rect">
            <a:avLst/>
          </a:prstGeom>
        </p:spPr>
      </p:pic>
      <p:pic>
        <p:nvPicPr>
          <p:cNvPr id="34" name="SK-4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13197" y="5670649"/>
            <a:ext cx="202406" cy="163711"/>
          </a:xfrm>
          <a:prstGeom prst="rect">
            <a:avLst/>
          </a:prstGeom>
        </p:spPr>
      </p:pic>
      <p:pic>
        <p:nvPicPr>
          <p:cNvPr id="35" name="SK-4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71500" y="6043613"/>
            <a:ext cx="11049000" cy="433388"/>
          </a:xfrm>
          <a:prstGeom prst="rect">
            <a:avLst/>
          </a:prstGeom>
        </p:spPr>
      </p:pic>
      <p:sp>
        <p:nvSpPr>
          <p:cNvPr id="36" name="SK-4-text-35"/>
          <p:cNvSpPr/>
          <p:nvPr/>
        </p:nvSpPr>
        <p:spPr>
          <a:xfrm>
            <a:off x="647700" y="381000"/>
            <a:ext cx="366235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OPERATIONAL ARCHITECTURE</a:t>
            </a:r>
            <a:endParaRPr lang="en-US" sz="1050" dirty="0"/>
          </a:p>
        </p:txBody>
      </p:sp>
      <p:sp>
        <p:nvSpPr>
          <p:cNvPr id="37" name="SK-4-text-36"/>
          <p:cNvSpPr/>
          <p:nvPr/>
        </p:nvSpPr>
        <p:spPr>
          <a:xfrm>
            <a:off x="571500" y="73342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방식: 7개 도메인 에이전트의 통합</a:t>
            </a:r>
            <a:endParaRPr lang="en-US" sz="2550" dirty="0"/>
          </a:p>
        </p:txBody>
      </p:sp>
      <p:sp>
        <p:nvSpPr>
          <p:cNvPr id="38" name="SK-4-text-37"/>
          <p:cNvSpPr/>
          <p:nvPr/>
        </p:nvSpPr>
        <p:spPr>
          <a:xfrm>
            <a:off x="762000" y="1504950"/>
            <a:ext cx="2457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 (전문가 역할)</a:t>
            </a:r>
            <a:endParaRPr lang="en-US" sz="1050" dirty="0"/>
          </a:p>
        </p:txBody>
      </p:sp>
      <p:sp>
        <p:nvSpPr>
          <p:cNvPr id="39" name="SK-4-text-38"/>
          <p:cNvSpPr/>
          <p:nvPr/>
        </p:nvSpPr>
        <p:spPr>
          <a:xfrm>
            <a:off x="3524250" y="1504950"/>
            <a:ext cx="13525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DOMAIN</a:t>
            </a:r>
            <a:endParaRPr lang="en-US" sz="1050" dirty="0"/>
          </a:p>
        </p:txBody>
      </p:sp>
      <p:sp>
        <p:nvSpPr>
          <p:cNvPr id="40" name="SK-4-text-39"/>
          <p:cNvSpPr/>
          <p:nvPr/>
        </p:nvSpPr>
        <p:spPr>
          <a:xfrm>
            <a:off x="5181600" y="1504950"/>
            <a:ext cx="6324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RESPONSIBILITY (역할 및 책임)</a:t>
            </a:r>
            <a:endParaRPr lang="en-US" sz="1050" dirty="0"/>
          </a:p>
        </p:txBody>
      </p:sp>
      <p:sp>
        <p:nvSpPr>
          <p:cNvPr id="41" name="SK-4-text-40"/>
          <p:cNvSpPr/>
          <p:nvPr/>
        </p:nvSpPr>
        <p:spPr>
          <a:xfrm>
            <a:off x="1181100" y="2113806"/>
            <a:ext cx="388620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Governance Watchdog</a:t>
            </a:r>
            <a:endParaRPr lang="en-US" sz="1275" dirty="0"/>
          </a:p>
        </p:txBody>
      </p:sp>
      <p:sp>
        <p:nvSpPr>
          <p:cNvPr id="42" name="SK-4-textBg-41"/>
          <p:cNvSpPr/>
          <p:nvPr/>
        </p:nvSpPr>
        <p:spPr>
          <a:xfrm>
            <a:off x="3524250" y="2102346"/>
            <a:ext cx="685800" cy="249436"/>
          </a:xfrm>
          <a:prstGeom prst="roundRect">
            <a:avLst>
              <a:gd name="adj" fmla="val 763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SK-4-text-42"/>
          <p:cNvSpPr/>
          <p:nvPr/>
        </p:nvSpPr>
        <p:spPr>
          <a:xfrm>
            <a:off x="3619500" y="2102346"/>
            <a:ext cx="495300" cy="24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</a:rPr>
              <a:t>거버넌스</a:t>
            </a:r>
            <a:endParaRPr lang="en-US" sz="975" dirty="0"/>
          </a:p>
        </p:txBody>
      </p:sp>
      <p:sp>
        <p:nvSpPr>
          <p:cNvPr id="44" name="SK-4-text-43"/>
          <p:cNvSpPr/>
          <p:nvPr/>
        </p:nvSpPr>
        <p:spPr>
          <a:xfrm>
            <a:off x="5181600" y="2123331"/>
            <a:ext cx="59283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변경통제·CCB·보고 무결성 위반 감지 및 절차 복원 유도</a:t>
            </a:r>
            <a:endParaRPr lang="en-US" sz="1200" dirty="0"/>
          </a:p>
        </p:txBody>
      </p:sp>
      <p:sp>
        <p:nvSpPr>
          <p:cNvPr id="45" name="SK-4-text-44"/>
          <p:cNvSpPr/>
          <p:nvPr/>
        </p:nvSpPr>
        <p:spPr>
          <a:xfrm>
            <a:off x="1181100" y="2700933"/>
            <a:ext cx="310896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Change Guardian</a:t>
            </a:r>
            <a:endParaRPr lang="en-US" sz="1275" dirty="0"/>
          </a:p>
        </p:txBody>
      </p:sp>
      <p:sp>
        <p:nvSpPr>
          <p:cNvPr id="46" name="SK-4-textBg-45"/>
          <p:cNvSpPr/>
          <p:nvPr/>
        </p:nvSpPr>
        <p:spPr>
          <a:xfrm>
            <a:off x="3524250" y="2689473"/>
            <a:ext cx="438150" cy="249436"/>
          </a:xfrm>
          <a:prstGeom prst="roundRect">
            <a:avLst>
              <a:gd name="adj" fmla="val 763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" name="SK-4-text-46"/>
          <p:cNvSpPr/>
          <p:nvPr/>
        </p:nvSpPr>
        <p:spPr>
          <a:xfrm>
            <a:off x="3619500" y="2689473"/>
            <a:ext cx="247650" cy="24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</a:rPr>
              <a:t>범위</a:t>
            </a:r>
            <a:endParaRPr lang="en-US" sz="975" dirty="0"/>
          </a:p>
        </p:txBody>
      </p:sp>
      <p:sp>
        <p:nvSpPr>
          <p:cNvPr id="48" name="SK-4-text-47"/>
          <p:cNvSpPr/>
          <p:nvPr/>
        </p:nvSpPr>
        <p:spPr>
          <a:xfrm>
            <a:off x="5181600" y="2710458"/>
            <a:ext cx="701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Scope Creep 및 베이스라인 이탈 감지, 변경요청(CR) 필요성 판단</a:t>
            </a:r>
            <a:endParaRPr lang="en-US" sz="1200" dirty="0"/>
          </a:p>
        </p:txBody>
      </p:sp>
      <p:sp>
        <p:nvSpPr>
          <p:cNvPr id="49" name="SK-4-text-48"/>
          <p:cNvSpPr/>
          <p:nvPr/>
        </p:nvSpPr>
        <p:spPr>
          <a:xfrm>
            <a:off x="1181100" y="3288060"/>
            <a:ext cx="349758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Schedule Sentinel</a:t>
            </a:r>
            <a:endParaRPr lang="en-US" sz="1275" dirty="0"/>
          </a:p>
        </p:txBody>
      </p:sp>
      <p:sp>
        <p:nvSpPr>
          <p:cNvPr id="50" name="SK-4-textBg-49"/>
          <p:cNvSpPr/>
          <p:nvPr/>
        </p:nvSpPr>
        <p:spPr>
          <a:xfrm>
            <a:off x="3524250" y="3276600"/>
            <a:ext cx="438150" cy="249436"/>
          </a:xfrm>
          <a:prstGeom prst="roundRect">
            <a:avLst>
              <a:gd name="adj" fmla="val 763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" name="SK-4-text-50"/>
          <p:cNvSpPr/>
          <p:nvPr/>
        </p:nvSpPr>
        <p:spPr>
          <a:xfrm>
            <a:off x="3619500" y="3276600"/>
            <a:ext cx="247650" cy="24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</a:rPr>
              <a:t>일정</a:t>
            </a:r>
            <a:endParaRPr lang="en-US" sz="975" dirty="0"/>
          </a:p>
        </p:txBody>
      </p:sp>
      <p:sp>
        <p:nvSpPr>
          <p:cNvPr id="52" name="SK-4-text-51"/>
          <p:cNvSpPr/>
          <p:nvPr/>
        </p:nvSpPr>
        <p:spPr>
          <a:xfrm>
            <a:off x="5181600" y="3297585"/>
            <a:ext cx="6111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임계경로(CP)·게이트 리스크 식별 및 지연 파급 효과 분석</a:t>
            </a:r>
            <a:endParaRPr lang="en-US" sz="1200" dirty="0"/>
          </a:p>
        </p:txBody>
      </p:sp>
      <p:sp>
        <p:nvSpPr>
          <p:cNvPr id="53" name="SK-4-text-52"/>
          <p:cNvSpPr/>
          <p:nvPr/>
        </p:nvSpPr>
        <p:spPr>
          <a:xfrm>
            <a:off x="1181100" y="3875187"/>
            <a:ext cx="238125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Oracle</a:t>
            </a:r>
            <a:endParaRPr lang="en-US" sz="1275" dirty="0"/>
          </a:p>
        </p:txBody>
      </p:sp>
      <p:sp>
        <p:nvSpPr>
          <p:cNvPr id="54" name="SK-4-textBg-53"/>
          <p:cNvSpPr/>
          <p:nvPr/>
        </p:nvSpPr>
        <p:spPr>
          <a:xfrm>
            <a:off x="3524250" y="3863727"/>
            <a:ext cx="561975" cy="249436"/>
          </a:xfrm>
          <a:prstGeom prst="roundRect">
            <a:avLst>
              <a:gd name="adj" fmla="val 763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5" name="SK-4-text-54"/>
          <p:cNvSpPr/>
          <p:nvPr/>
        </p:nvSpPr>
        <p:spPr>
          <a:xfrm>
            <a:off x="3619500" y="3863727"/>
            <a:ext cx="371475" cy="24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</a:rPr>
              <a:t>리스크</a:t>
            </a:r>
            <a:endParaRPr lang="en-US" sz="975" dirty="0"/>
          </a:p>
        </p:txBody>
      </p:sp>
      <p:sp>
        <p:nvSpPr>
          <p:cNvPr id="56" name="SK-4-text-55"/>
          <p:cNvSpPr/>
          <p:nvPr/>
        </p:nvSpPr>
        <p:spPr>
          <a:xfrm>
            <a:off x="5181600" y="3884712"/>
            <a:ext cx="51968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잠재 위협 식별·평가 및 가치 기반 대응 전략 제안</a:t>
            </a:r>
            <a:endParaRPr lang="en-US" sz="1200" dirty="0"/>
          </a:p>
        </p:txBody>
      </p:sp>
      <p:sp>
        <p:nvSpPr>
          <p:cNvPr id="57" name="SK-4-text-56"/>
          <p:cNvSpPr/>
          <p:nvPr/>
        </p:nvSpPr>
        <p:spPr>
          <a:xfrm>
            <a:off x="1181100" y="4462314"/>
            <a:ext cx="349758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Stakeholder Pulse</a:t>
            </a:r>
            <a:endParaRPr lang="en-US" sz="1275" dirty="0"/>
          </a:p>
        </p:txBody>
      </p:sp>
      <p:sp>
        <p:nvSpPr>
          <p:cNvPr id="58" name="SK-4-textBg-57"/>
          <p:cNvSpPr/>
          <p:nvPr/>
        </p:nvSpPr>
        <p:spPr>
          <a:xfrm>
            <a:off x="3524250" y="4450854"/>
            <a:ext cx="809625" cy="249436"/>
          </a:xfrm>
          <a:prstGeom prst="roundRect">
            <a:avLst>
              <a:gd name="adj" fmla="val 763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9" name="SK-4-text-58"/>
          <p:cNvSpPr/>
          <p:nvPr/>
        </p:nvSpPr>
        <p:spPr>
          <a:xfrm>
            <a:off x="3619500" y="4450854"/>
            <a:ext cx="619125" cy="24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</a:rPr>
              <a:t>이해관계자</a:t>
            </a:r>
            <a:endParaRPr lang="en-US" sz="975" dirty="0"/>
          </a:p>
        </p:txBody>
      </p:sp>
      <p:sp>
        <p:nvSpPr>
          <p:cNvPr id="60" name="SK-4-text-59"/>
          <p:cNvSpPr/>
          <p:nvPr/>
        </p:nvSpPr>
        <p:spPr>
          <a:xfrm>
            <a:off x="5181600" y="4471839"/>
            <a:ext cx="556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이해관계자 신뢰도·기대 충돌 및 소통 필요성 상시 감지</a:t>
            </a:r>
            <a:endParaRPr lang="en-US" sz="1200" dirty="0"/>
          </a:p>
        </p:txBody>
      </p:sp>
      <p:sp>
        <p:nvSpPr>
          <p:cNvPr id="61" name="SK-4-text-60"/>
          <p:cNvSpPr/>
          <p:nvPr/>
        </p:nvSpPr>
        <p:spPr>
          <a:xfrm>
            <a:off x="1181100" y="5049441"/>
            <a:ext cx="291465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Resource Radar</a:t>
            </a:r>
            <a:endParaRPr lang="en-US" sz="1275" dirty="0"/>
          </a:p>
        </p:txBody>
      </p:sp>
      <p:sp>
        <p:nvSpPr>
          <p:cNvPr id="62" name="SK-4-textBg-61"/>
          <p:cNvSpPr/>
          <p:nvPr/>
        </p:nvSpPr>
        <p:spPr>
          <a:xfrm>
            <a:off x="3524250" y="5037981"/>
            <a:ext cx="438150" cy="249436"/>
          </a:xfrm>
          <a:prstGeom prst="roundRect">
            <a:avLst>
              <a:gd name="adj" fmla="val 763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3" name="SK-4-text-62"/>
          <p:cNvSpPr/>
          <p:nvPr/>
        </p:nvSpPr>
        <p:spPr>
          <a:xfrm>
            <a:off x="3619500" y="5037981"/>
            <a:ext cx="247650" cy="24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</a:rPr>
              <a:t>자원</a:t>
            </a:r>
            <a:endParaRPr lang="en-US" sz="975" dirty="0"/>
          </a:p>
        </p:txBody>
      </p:sp>
      <p:sp>
        <p:nvSpPr>
          <p:cNvPr id="64" name="SK-4-text-63"/>
          <p:cNvSpPr/>
          <p:nvPr/>
        </p:nvSpPr>
        <p:spPr>
          <a:xfrm>
            <a:off x="5181600" y="5058966"/>
            <a:ext cx="5562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가용 역량·과부하 분석 및 의존성 기반 병목 구간 감지</a:t>
            </a:r>
            <a:endParaRPr lang="en-US" sz="1200" dirty="0"/>
          </a:p>
        </p:txBody>
      </p:sp>
      <p:sp>
        <p:nvSpPr>
          <p:cNvPr id="65" name="SK-4-text-64"/>
          <p:cNvSpPr/>
          <p:nvPr/>
        </p:nvSpPr>
        <p:spPr>
          <a:xfrm>
            <a:off x="1181100" y="5634186"/>
            <a:ext cx="291465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Cost Protector</a:t>
            </a:r>
            <a:endParaRPr lang="en-US" sz="1275" dirty="0"/>
          </a:p>
        </p:txBody>
      </p:sp>
      <p:sp>
        <p:nvSpPr>
          <p:cNvPr id="66" name="SK-4-textBg-65"/>
          <p:cNvSpPr/>
          <p:nvPr/>
        </p:nvSpPr>
        <p:spPr>
          <a:xfrm>
            <a:off x="3524250" y="5625257"/>
            <a:ext cx="438150" cy="249436"/>
          </a:xfrm>
          <a:prstGeom prst="roundRect">
            <a:avLst>
              <a:gd name="adj" fmla="val 7637"/>
            </a:avLst>
          </a:prstGeom>
          <a:solidFill>
            <a:srgbClr val="F3F4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7" name="SK-4-text-66"/>
          <p:cNvSpPr/>
          <p:nvPr/>
        </p:nvSpPr>
        <p:spPr>
          <a:xfrm>
            <a:off x="3619500" y="5625257"/>
            <a:ext cx="247650" cy="24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563"/>
                </a:solidFill>
              </a:rPr>
              <a:t>재무</a:t>
            </a:r>
            <a:endParaRPr lang="en-US" sz="975" dirty="0"/>
          </a:p>
        </p:txBody>
      </p:sp>
      <p:sp>
        <p:nvSpPr>
          <p:cNvPr id="68" name="SK-4-text-67"/>
          <p:cNvSpPr/>
          <p:nvPr/>
        </p:nvSpPr>
        <p:spPr>
          <a:xfrm>
            <a:off x="5181600" y="5646093"/>
            <a:ext cx="59283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 초과·예비비 소진 및 원가 구조 리스크 상시 모니터링</a:t>
            </a:r>
            <a:endParaRPr lang="en-US" sz="1200" dirty="0"/>
          </a:p>
        </p:txBody>
      </p:sp>
      <p:sp>
        <p:nvSpPr>
          <p:cNvPr id="69" name="SK-4-text-68"/>
          <p:cNvSpPr/>
          <p:nvPr/>
        </p:nvSpPr>
        <p:spPr>
          <a:xfrm>
            <a:off x="571500" y="6043613"/>
            <a:ext cx="1066800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에이전트의 신호는 </a:t>
            </a:r>
            <a:pPr algn="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Signal Forge</a:t>
            </a:r>
            <a:pPr algn="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엔진에서 통합 분석되며, </a:t>
            </a:r>
            <a:pPr algn="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판단과 처리는 PM이 결정합니다.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5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5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5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7829550" cy="1690688"/>
          </a:xfrm>
          <a:prstGeom prst="rect">
            <a:avLst/>
          </a:prstGeom>
        </p:spPr>
      </p:pic>
      <p:pic>
        <p:nvPicPr>
          <p:cNvPr id="7" name="SK-5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381000" cy="381000"/>
          </a:xfrm>
          <a:prstGeom prst="rect">
            <a:avLst/>
          </a:prstGeom>
        </p:spPr>
      </p:pic>
      <p:pic>
        <p:nvPicPr>
          <p:cNvPr id="8" name="SK-5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8" y="1600200"/>
            <a:ext cx="238125" cy="190500"/>
          </a:xfrm>
          <a:prstGeom prst="rect">
            <a:avLst/>
          </a:prstGeom>
        </p:spPr>
      </p:pic>
      <p:pic>
        <p:nvPicPr>
          <p:cNvPr id="9" name="SK-5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000250"/>
            <a:ext cx="3838575" cy="1004887"/>
          </a:xfrm>
          <a:prstGeom prst="rect">
            <a:avLst/>
          </a:prstGeom>
        </p:spPr>
      </p:pic>
      <p:pic>
        <p:nvPicPr>
          <p:cNvPr id="10" name="SK-5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62475" y="2000250"/>
            <a:ext cx="3838575" cy="1004887"/>
          </a:xfrm>
          <a:prstGeom prst="rect">
            <a:avLst/>
          </a:prstGeom>
        </p:spPr>
      </p:pic>
      <p:pic>
        <p:nvPicPr>
          <p:cNvPr id="11" name="SK-5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240881"/>
            <a:ext cx="7829550" cy="1690688"/>
          </a:xfrm>
          <a:prstGeom prst="rect">
            <a:avLst/>
          </a:prstGeom>
        </p:spPr>
      </p:pic>
      <p:pic>
        <p:nvPicPr>
          <p:cNvPr id="12" name="SK-5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40881"/>
            <a:ext cx="381000" cy="381000"/>
          </a:xfrm>
          <a:prstGeom prst="rect">
            <a:avLst/>
          </a:prstGeom>
        </p:spPr>
      </p:pic>
      <p:pic>
        <p:nvPicPr>
          <p:cNvPr id="13" name="SK-5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8" y="3336131"/>
            <a:ext cx="238125" cy="190500"/>
          </a:xfrm>
          <a:prstGeom prst="rect">
            <a:avLst/>
          </a:prstGeom>
        </p:spPr>
      </p:pic>
      <p:pic>
        <p:nvPicPr>
          <p:cNvPr id="14" name="SK-5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3736181"/>
            <a:ext cx="3838575" cy="1004887"/>
          </a:xfrm>
          <a:prstGeom prst="rect">
            <a:avLst/>
          </a:prstGeom>
        </p:spPr>
      </p:pic>
      <p:pic>
        <p:nvPicPr>
          <p:cNvPr id="15" name="SK-5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62475" y="3736181"/>
            <a:ext cx="3838575" cy="1004887"/>
          </a:xfrm>
          <a:prstGeom prst="rect">
            <a:avLst/>
          </a:prstGeom>
        </p:spPr>
      </p:pic>
      <p:pic>
        <p:nvPicPr>
          <p:cNvPr id="16" name="SK-5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4976813"/>
            <a:ext cx="381000" cy="381000"/>
          </a:xfrm>
          <a:prstGeom prst="rect">
            <a:avLst/>
          </a:prstGeom>
        </p:spPr>
      </p:pic>
      <p:pic>
        <p:nvPicPr>
          <p:cNvPr id="17" name="SK-5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2938" y="5072063"/>
            <a:ext cx="238125" cy="190500"/>
          </a:xfrm>
          <a:prstGeom prst="rect">
            <a:avLst/>
          </a:prstGeom>
        </p:spPr>
      </p:pic>
      <p:pic>
        <p:nvPicPr>
          <p:cNvPr id="18" name="SK-5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5472113"/>
            <a:ext cx="3838575" cy="1004887"/>
          </a:xfrm>
          <a:prstGeom prst="rect">
            <a:avLst/>
          </a:prstGeom>
        </p:spPr>
      </p:pic>
      <p:pic>
        <p:nvPicPr>
          <p:cNvPr id="19" name="SK-5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62475" y="5472113"/>
            <a:ext cx="3838575" cy="1004887"/>
          </a:xfrm>
          <a:prstGeom prst="rect">
            <a:avLst/>
          </a:prstGeom>
        </p:spPr>
      </p:pic>
      <p:pic>
        <p:nvPicPr>
          <p:cNvPr id="20" name="SK-5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29650" y="1504950"/>
            <a:ext cx="2990850" cy="4972050"/>
          </a:xfrm>
          <a:prstGeom prst="rect">
            <a:avLst/>
          </a:prstGeom>
        </p:spPr>
      </p:pic>
      <p:pic>
        <p:nvPicPr>
          <p:cNvPr id="21" name="SK-5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20150" y="1736378"/>
            <a:ext cx="214313" cy="175320"/>
          </a:xfrm>
          <a:prstGeom prst="rect">
            <a:avLst/>
          </a:prstGeom>
        </p:spPr>
      </p:pic>
      <p:pic>
        <p:nvPicPr>
          <p:cNvPr id="22" name="SK-5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20150" y="2381250"/>
            <a:ext cx="581025" cy="195263"/>
          </a:xfrm>
          <a:prstGeom prst="rect">
            <a:avLst/>
          </a:prstGeom>
        </p:spPr>
      </p:pic>
      <p:pic>
        <p:nvPicPr>
          <p:cNvPr id="23" name="SK-5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20150" y="3281363"/>
            <a:ext cx="581025" cy="195263"/>
          </a:xfrm>
          <a:prstGeom prst="rect">
            <a:avLst/>
          </a:prstGeom>
        </p:spPr>
      </p:pic>
      <p:pic>
        <p:nvPicPr>
          <p:cNvPr id="24" name="SK-5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820150" y="4181475"/>
            <a:ext cx="581025" cy="195263"/>
          </a:xfrm>
          <a:prstGeom prst="rect">
            <a:avLst/>
          </a:prstGeom>
        </p:spPr>
      </p:pic>
      <p:pic>
        <p:nvPicPr>
          <p:cNvPr id="25" name="SK-5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820150" y="5467350"/>
            <a:ext cx="2609850" cy="819150"/>
          </a:xfrm>
          <a:prstGeom prst="rect">
            <a:avLst/>
          </a:prstGeom>
        </p:spPr>
      </p:pic>
      <p:pic>
        <p:nvPicPr>
          <p:cNvPr id="26" name="SK-5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20150" y="5657850"/>
            <a:ext cx="2609850" cy="628650"/>
          </a:xfrm>
          <a:prstGeom prst="rect">
            <a:avLst/>
          </a:prstGeom>
        </p:spPr>
      </p:pic>
      <p:pic>
        <p:nvPicPr>
          <p:cNvPr id="27" name="SK-5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934450" y="5895975"/>
            <a:ext cx="190500" cy="152400"/>
          </a:xfrm>
          <a:prstGeom prst="rect">
            <a:avLst/>
          </a:prstGeom>
        </p:spPr>
      </p:pic>
      <p:sp>
        <p:nvSpPr>
          <p:cNvPr id="28" name="SK-5-text-27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9" name="SK-5-text-28"/>
          <p:cNvSpPr/>
          <p:nvPr/>
        </p:nvSpPr>
        <p:spPr>
          <a:xfrm>
            <a:off x="571500" y="733425"/>
            <a:ext cx="11620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상충을 '가치'로 결단 — Signal Forge + North Star</a:t>
            </a:r>
            <a:endParaRPr lang="en-US" sz="2550" dirty="0"/>
          </a:p>
        </p:txBody>
      </p:sp>
      <p:sp>
        <p:nvSpPr>
          <p:cNvPr id="30" name="SK-5-text-29"/>
          <p:cNvSpPr/>
          <p:nvPr/>
        </p:nvSpPr>
        <p:spPr>
          <a:xfrm>
            <a:off x="1066800" y="1524000"/>
            <a:ext cx="422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선제적 (Proactive)</a:t>
            </a:r>
            <a:endParaRPr lang="en-US" sz="1800" dirty="0"/>
          </a:p>
        </p:txBody>
      </p:sp>
      <p:sp>
        <p:nvSpPr>
          <p:cNvPr id="31" name="SK-5-text-30"/>
          <p:cNvSpPr/>
          <p:nvPr/>
        </p:nvSpPr>
        <p:spPr>
          <a:xfrm>
            <a:off x="7486650" y="1595438"/>
            <a:ext cx="2209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</a:rPr>
              <a:t>DIMENSION 01</a:t>
            </a:r>
            <a:endParaRPr lang="en-US" sz="1050" dirty="0"/>
          </a:p>
        </p:txBody>
      </p:sp>
      <p:sp>
        <p:nvSpPr>
          <p:cNvPr id="32" name="SK-5-text-31"/>
          <p:cNvSpPr/>
          <p:nvPr/>
        </p:nvSpPr>
        <p:spPr>
          <a:xfrm>
            <a:off x="723900" y="2152650"/>
            <a:ext cx="361473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전체론적 관점 채택</a:t>
            </a:r>
            <a:endParaRPr lang="en-US" sz="1275" dirty="0"/>
          </a:p>
        </p:txBody>
      </p:sp>
      <p:sp>
        <p:nvSpPr>
          <p:cNvPr id="33" name="SK-5-text-32"/>
          <p:cNvSpPr/>
          <p:nvPr/>
        </p:nvSpPr>
        <p:spPr>
          <a:xfrm>
            <a:off x="723900" y="2452688"/>
            <a:ext cx="35337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부분 최적화가 아닌 프로젝트 전체 생애주기와 시스템적 영향을 분석하여 대응</a:t>
            </a:r>
            <a:endParaRPr lang="en-US" sz="1125" dirty="0"/>
          </a:p>
        </p:txBody>
      </p:sp>
      <p:sp>
        <p:nvSpPr>
          <p:cNvPr id="34" name="SK-5-text-33"/>
          <p:cNvSpPr/>
          <p:nvPr/>
        </p:nvSpPr>
        <p:spPr>
          <a:xfrm>
            <a:off x="4714875" y="2152650"/>
            <a:ext cx="493871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내재화 (Built-in Quality)</a:t>
            </a:r>
            <a:endParaRPr lang="en-US" sz="1275" dirty="0"/>
          </a:p>
        </p:txBody>
      </p:sp>
      <p:sp>
        <p:nvSpPr>
          <p:cNvPr id="35" name="SK-5-text-34"/>
          <p:cNvSpPr/>
          <p:nvPr/>
        </p:nvSpPr>
        <p:spPr>
          <a:xfrm>
            <a:off x="4714875" y="2452688"/>
            <a:ext cx="35337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프로세스와 인도물 초기 단계부터 품질 기준을 적용하여 기술 부채 및 재작업 방지</a:t>
            </a:r>
            <a:endParaRPr lang="en-US" sz="1125" dirty="0"/>
          </a:p>
        </p:txBody>
      </p:sp>
      <p:sp>
        <p:nvSpPr>
          <p:cNvPr id="36" name="SK-5-text-35"/>
          <p:cNvSpPr/>
          <p:nvPr/>
        </p:nvSpPr>
        <p:spPr>
          <a:xfrm>
            <a:off x="1066800" y="3259931"/>
            <a:ext cx="422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소유권 (Ownership)</a:t>
            </a:r>
            <a:endParaRPr lang="en-US" sz="1800" dirty="0"/>
          </a:p>
        </p:txBody>
      </p:sp>
      <p:sp>
        <p:nvSpPr>
          <p:cNvPr id="37" name="SK-5-text-36"/>
          <p:cNvSpPr/>
          <p:nvPr/>
        </p:nvSpPr>
        <p:spPr>
          <a:xfrm>
            <a:off x="7486650" y="3331369"/>
            <a:ext cx="2209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</a:rPr>
              <a:t>DIMENSION 02</a:t>
            </a:r>
            <a:endParaRPr lang="en-US" sz="1050" dirty="0"/>
          </a:p>
        </p:txBody>
      </p:sp>
      <p:sp>
        <p:nvSpPr>
          <p:cNvPr id="38" name="SK-5-text-37"/>
          <p:cNvSpPr/>
          <p:nvPr/>
        </p:nvSpPr>
        <p:spPr>
          <a:xfrm>
            <a:off x="723900" y="3888581"/>
            <a:ext cx="361473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 있는 리더 되기</a:t>
            </a:r>
            <a:endParaRPr lang="en-US" sz="1275" dirty="0"/>
          </a:p>
        </p:txBody>
      </p:sp>
      <p:sp>
        <p:nvSpPr>
          <p:cNvPr id="39" name="SK-5-text-38"/>
          <p:cNvSpPr/>
          <p:nvPr/>
        </p:nvSpPr>
        <p:spPr>
          <a:xfrm>
            <a:off x="723900" y="4188619"/>
            <a:ext cx="35337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기반의 투명한 보고와 정직한 리스크 공개를 통해 전문가적 책임감 수행</a:t>
            </a:r>
            <a:endParaRPr lang="en-US" sz="1125" dirty="0"/>
          </a:p>
        </p:txBody>
      </p:sp>
      <p:sp>
        <p:nvSpPr>
          <p:cNvPr id="40" name="SK-5-text-39"/>
          <p:cNvSpPr/>
          <p:nvPr/>
        </p:nvSpPr>
        <p:spPr>
          <a:xfrm>
            <a:off x="4714875" y="3888581"/>
            <a:ext cx="361473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권한이 강화된 문화 구축</a:t>
            </a:r>
            <a:endParaRPr lang="en-US" sz="1275" dirty="0"/>
          </a:p>
        </p:txBody>
      </p:sp>
      <p:sp>
        <p:nvSpPr>
          <p:cNvPr id="41" name="SK-5-text-40"/>
          <p:cNvSpPr/>
          <p:nvPr/>
        </p:nvSpPr>
        <p:spPr>
          <a:xfrm>
            <a:off x="4714875" y="4188619"/>
            <a:ext cx="35337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에이전트의 판단 근거를 팀원과 공유하여 자율적 의사결정을 지원하는 환경 조성</a:t>
            </a:r>
            <a:endParaRPr lang="en-US" sz="1125" dirty="0"/>
          </a:p>
        </p:txBody>
      </p:sp>
      <p:sp>
        <p:nvSpPr>
          <p:cNvPr id="42" name="SK-5-text-41"/>
          <p:cNvSpPr/>
          <p:nvPr/>
        </p:nvSpPr>
        <p:spPr>
          <a:xfrm>
            <a:off x="1066800" y="4995863"/>
            <a:ext cx="5600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중심 (Value-Driven)</a:t>
            </a:r>
            <a:endParaRPr lang="en-US" sz="1800" dirty="0"/>
          </a:p>
        </p:txBody>
      </p:sp>
      <p:sp>
        <p:nvSpPr>
          <p:cNvPr id="43" name="SK-5-text-42"/>
          <p:cNvSpPr/>
          <p:nvPr/>
        </p:nvSpPr>
        <p:spPr>
          <a:xfrm>
            <a:off x="7486650" y="5067300"/>
            <a:ext cx="2209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</a:rPr>
              <a:t>DIMENSION 03</a:t>
            </a:r>
            <a:endParaRPr lang="en-US" sz="1050" dirty="0"/>
          </a:p>
        </p:txBody>
      </p:sp>
      <p:sp>
        <p:nvSpPr>
          <p:cNvPr id="44" name="SK-5-text-43"/>
          <p:cNvSpPr/>
          <p:nvPr/>
        </p:nvSpPr>
        <p:spPr>
          <a:xfrm>
            <a:off x="723900" y="5624513"/>
            <a:ext cx="361473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가치에 대한 집중</a:t>
            </a:r>
            <a:endParaRPr lang="en-US" sz="1275" dirty="0"/>
          </a:p>
        </p:txBody>
      </p:sp>
      <p:sp>
        <p:nvSpPr>
          <p:cNvPr id="45" name="SK-5-text-44"/>
          <p:cNvSpPr/>
          <p:nvPr/>
        </p:nvSpPr>
        <p:spPr>
          <a:xfrm>
            <a:off x="723900" y="5924550"/>
            <a:ext cx="35337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일정 준수보다 비즈니스 가치 창출과 사용자 요구 만족을 최우선 판단 기준으로 설정</a:t>
            </a:r>
            <a:endParaRPr lang="en-US" sz="1125" dirty="0"/>
          </a:p>
        </p:txBody>
      </p:sp>
      <p:sp>
        <p:nvSpPr>
          <p:cNvPr id="46" name="SK-5-text-45"/>
          <p:cNvSpPr/>
          <p:nvPr/>
        </p:nvSpPr>
        <p:spPr>
          <a:xfrm>
            <a:off x="4714875" y="5624513"/>
            <a:ext cx="361473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지속가능성 통합</a:t>
            </a:r>
            <a:endParaRPr lang="en-US" sz="1275" dirty="0"/>
          </a:p>
        </p:txBody>
      </p:sp>
      <p:sp>
        <p:nvSpPr>
          <p:cNvPr id="47" name="SK-5-text-46"/>
          <p:cNvSpPr/>
          <p:nvPr/>
        </p:nvSpPr>
        <p:spPr>
          <a:xfrm>
            <a:off x="4714875" y="5924550"/>
            <a:ext cx="35337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단기적 성과에 매몰되지 않고 프로젝트 결과물의 유지보수성 및 운영 지속성 고려</a:t>
            </a:r>
            <a:endParaRPr lang="en-US" sz="1125" dirty="0"/>
          </a:p>
        </p:txBody>
      </p:sp>
      <p:sp>
        <p:nvSpPr>
          <p:cNvPr id="48" name="SK-5-text-47"/>
          <p:cNvSpPr/>
          <p:nvPr/>
        </p:nvSpPr>
        <p:spPr>
          <a:xfrm>
            <a:off x="9110663" y="1695450"/>
            <a:ext cx="26098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Signal Forge</a:t>
            </a:r>
            <a:endParaRPr lang="en-US" sz="1350" dirty="0"/>
          </a:p>
        </p:txBody>
      </p:sp>
      <p:sp>
        <p:nvSpPr>
          <p:cNvPr id="49" name="SK-5-text-48"/>
          <p:cNvSpPr/>
          <p:nvPr/>
        </p:nvSpPr>
        <p:spPr>
          <a:xfrm>
            <a:off x="8820150" y="1990725"/>
            <a:ext cx="2686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엔진 결단 메커니즘</a:t>
            </a:r>
            <a:endParaRPr lang="en-US" sz="1050" dirty="0"/>
          </a:p>
        </p:txBody>
      </p:sp>
      <p:sp>
        <p:nvSpPr>
          <p:cNvPr id="50" name="SK-5-text-49"/>
          <p:cNvSpPr/>
          <p:nvPr/>
        </p:nvSpPr>
        <p:spPr>
          <a:xfrm>
            <a:off x="8877300" y="2381250"/>
            <a:ext cx="91783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STEP 01</a:t>
            </a:r>
            <a:endParaRPr lang="en-US" sz="825" dirty="0"/>
          </a:p>
        </p:txBody>
      </p:sp>
      <p:sp>
        <p:nvSpPr>
          <p:cNvPr id="51" name="SK-5-text-50"/>
          <p:cNvSpPr/>
          <p:nvPr/>
        </p:nvSpPr>
        <p:spPr>
          <a:xfrm>
            <a:off x="8820150" y="2652713"/>
            <a:ext cx="2609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7개 도메인 에이전트 간의 상충하는 신호 감지 (Conflict Detection)</a:t>
            </a:r>
            <a:endParaRPr lang="en-US" sz="1125" dirty="0"/>
          </a:p>
        </p:txBody>
      </p:sp>
      <p:sp>
        <p:nvSpPr>
          <p:cNvPr id="52" name="SK-5-text-51"/>
          <p:cNvSpPr/>
          <p:nvPr/>
        </p:nvSpPr>
        <p:spPr>
          <a:xfrm>
            <a:off x="8877300" y="3281363"/>
            <a:ext cx="91783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STEP 02</a:t>
            </a:r>
            <a:endParaRPr lang="en-US" sz="825" dirty="0"/>
          </a:p>
        </p:txBody>
      </p:sp>
      <p:sp>
        <p:nvSpPr>
          <p:cNvPr id="53" name="SK-5-text-52"/>
          <p:cNvSpPr/>
          <p:nvPr/>
        </p:nvSpPr>
        <p:spPr>
          <a:xfrm>
            <a:off x="8820150" y="3552825"/>
            <a:ext cx="2609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6대 원칙 기반 가치 가중치 시뮬레이션 및 우선순위 필터링</a:t>
            </a:r>
            <a:endParaRPr lang="en-US" sz="1125" dirty="0"/>
          </a:p>
        </p:txBody>
      </p:sp>
      <p:sp>
        <p:nvSpPr>
          <p:cNvPr id="54" name="SK-5-text-53"/>
          <p:cNvSpPr/>
          <p:nvPr/>
        </p:nvSpPr>
        <p:spPr>
          <a:xfrm>
            <a:off x="8877300" y="4181475"/>
            <a:ext cx="91783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05AEE"/>
                </a:solidFill>
              </a:rPr>
              <a:t>STEP 03</a:t>
            </a:r>
            <a:endParaRPr lang="en-US" sz="825" dirty="0"/>
          </a:p>
        </p:txBody>
      </p:sp>
      <p:sp>
        <p:nvSpPr>
          <p:cNvPr id="55" name="SK-5-text-54"/>
          <p:cNvSpPr/>
          <p:nvPr/>
        </p:nvSpPr>
        <p:spPr>
          <a:xfrm>
            <a:off x="8820150" y="4452938"/>
            <a:ext cx="2609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가치 서열(North Star)에 따른 최적 대응안 확정</a:t>
            </a:r>
            <a:endParaRPr lang="en-US" sz="1125" dirty="0"/>
          </a:p>
        </p:txBody>
      </p:sp>
      <p:sp>
        <p:nvSpPr>
          <p:cNvPr id="56" name="SK-5-text-55"/>
          <p:cNvSpPr/>
          <p:nvPr/>
        </p:nvSpPr>
        <p:spPr>
          <a:xfrm>
            <a:off x="9239250" y="5772150"/>
            <a:ext cx="2819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DECISION BASIS</a:t>
            </a:r>
            <a:endParaRPr lang="en-US" sz="900" dirty="0"/>
          </a:p>
        </p:txBody>
      </p:sp>
      <p:sp>
        <p:nvSpPr>
          <p:cNvPr id="57" name="SK-5-text-56"/>
          <p:cNvSpPr/>
          <p:nvPr/>
        </p:nvSpPr>
        <p:spPr>
          <a:xfrm>
            <a:off x="9239250" y="5943600"/>
            <a:ext cx="2952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North Star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6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4" name="SK-6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5" name="SK-6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04950"/>
            <a:ext cx="11049000" cy="4972050"/>
          </a:xfrm>
          <a:prstGeom prst="rect">
            <a:avLst/>
          </a:prstGeom>
        </p:spPr>
      </p:pic>
      <p:pic>
        <p:nvPicPr>
          <p:cNvPr id="6" name="SK-6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11049000" cy="428625"/>
          </a:xfrm>
          <a:prstGeom prst="rect">
            <a:avLst/>
          </a:prstGeom>
        </p:spPr>
      </p:pic>
      <p:pic>
        <p:nvPicPr>
          <p:cNvPr id="7" name="SK-6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2762250" cy="428625"/>
          </a:xfrm>
          <a:prstGeom prst="rect">
            <a:avLst/>
          </a:prstGeom>
        </p:spPr>
      </p:pic>
      <p:pic>
        <p:nvPicPr>
          <p:cNvPr id="8" name="SK-6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3750" y="1504950"/>
            <a:ext cx="1657350" cy="428625"/>
          </a:xfrm>
          <a:prstGeom prst="rect">
            <a:avLst/>
          </a:prstGeom>
        </p:spPr>
      </p:pic>
      <p:pic>
        <p:nvPicPr>
          <p:cNvPr id="9" name="SK-6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1100" y="1504950"/>
            <a:ext cx="6629400" cy="428625"/>
          </a:xfrm>
          <a:prstGeom prst="rect">
            <a:avLst/>
          </a:prstGeom>
        </p:spPr>
      </p:pic>
      <p:pic>
        <p:nvPicPr>
          <p:cNvPr id="10" name="SK-6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1933575"/>
            <a:ext cx="2762250" cy="567928"/>
          </a:xfrm>
          <a:prstGeom prst="rect">
            <a:avLst/>
          </a:prstGeom>
        </p:spPr>
      </p:pic>
      <p:pic>
        <p:nvPicPr>
          <p:cNvPr id="11" name="SK-6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131665"/>
            <a:ext cx="266700" cy="171450"/>
          </a:xfrm>
          <a:prstGeom prst="rect">
            <a:avLst/>
          </a:prstGeom>
        </p:spPr>
      </p:pic>
      <p:pic>
        <p:nvPicPr>
          <p:cNvPr id="12" name="SK-6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33750" y="1933575"/>
            <a:ext cx="1657350" cy="567928"/>
          </a:xfrm>
          <a:prstGeom prst="rect">
            <a:avLst/>
          </a:prstGeom>
        </p:spPr>
      </p:pic>
      <p:pic>
        <p:nvPicPr>
          <p:cNvPr id="13" name="SK-6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24250" y="2099370"/>
            <a:ext cx="352425" cy="236190"/>
          </a:xfrm>
          <a:prstGeom prst="rect">
            <a:avLst/>
          </a:prstGeom>
        </p:spPr>
      </p:pic>
      <p:pic>
        <p:nvPicPr>
          <p:cNvPr id="14" name="SK-6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91100" y="1933575"/>
            <a:ext cx="6629400" cy="567928"/>
          </a:xfrm>
          <a:prstGeom prst="rect">
            <a:avLst/>
          </a:prstGeom>
        </p:spPr>
      </p:pic>
      <p:pic>
        <p:nvPicPr>
          <p:cNvPr id="15" name="SK-6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2501503"/>
            <a:ext cx="2762250" cy="567928"/>
          </a:xfrm>
          <a:prstGeom prst="rect">
            <a:avLst/>
          </a:prstGeom>
        </p:spPr>
      </p:pic>
      <p:pic>
        <p:nvPicPr>
          <p:cNvPr id="16" name="SK-6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2699593"/>
            <a:ext cx="266700" cy="171450"/>
          </a:xfrm>
          <a:prstGeom prst="rect">
            <a:avLst/>
          </a:prstGeom>
        </p:spPr>
      </p:pic>
      <p:pic>
        <p:nvPicPr>
          <p:cNvPr id="17" name="SK-6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33750" y="2501503"/>
            <a:ext cx="1657350" cy="567928"/>
          </a:xfrm>
          <a:prstGeom prst="rect">
            <a:avLst/>
          </a:prstGeom>
        </p:spPr>
      </p:pic>
      <p:pic>
        <p:nvPicPr>
          <p:cNvPr id="18" name="SK-6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24250" y="2667298"/>
            <a:ext cx="419100" cy="236190"/>
          </a:xfrm>
          <a:prstGeom prst="rect">
            <a:avLst/>
          </a:prstGeom>
        </p:spPr>
      </p:pic>
      <p:pic>
        <p:nvPicPr>
          <p:cNvPr id="19" name="SK-6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91100" y="2501503"/>
            <a:ext cx="6629400" cy="567928"/>
          </a:xfrm>
          <a:prstGeom prst="rect">
            <a:avLst/>
          </a:prstGeom>
        </p:spPr>
      </p:pic>
      <p:pic>
        <p:nvPicPr>
          <p:cNvPr id="20" name="SK-6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3069431"/>
            <a:ext cx="2762250" cy="567928"/>
          </a:xfrm>
          <a:prstGeom prst="rect">
            <a:avLst/>
          </a:prstGeom>
        </p:spPr>
      </p:pic>
      <p:pic>
        <p:nvPicPr>
          <p:cNvPr id="21" name="SK-6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" y="3267521"/>
            <a:ext cx="266700" cy="171450"/>
          </a:xfrm>
          <a:prstGeom prst="rect">
            <a:avLst/>
          </a:prstGeom>
        </p:spPr>
      </p:pic>
      <p:pic>
        <p:nvPicPr>
          <p:cNvPr id="22" name="SK-6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33750" y="3069431"/>
            <a:ext cx="1657350" cy="567928"/>
          </a:xfrm>
          <a:prstGeom prst="rect">
            <a:avLst/>
          </a:prstGeom>
        </p:spPr>
      </p:pic>
      <p:pic>
        <p:nvPicPr>
          <p:cNvPr id="23" name="SK-6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24250" y="3235226"/>
            <a:ext cx="352425" cy="236190"/>
          </a:xfrm>
          <a:prstGeom prst="rect">
            <a:avLst/>
          </a:prstGeom>
        </p:spPr>
      </p:pic>
      <p:pic>
        <p:nvPicPr>
          <p:cNvPr id="24" name="SK-6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991100" y="3069431"/>
            <a:ext cx="6629400" cy="567928"/>
          </a:xfrm>
          <a:prstGeom prst="rect">
            <a:avLst/>
          </a:prstGeom>
        </p:spPr>
      </p:pic>
      <p:pic>
        <p:nvPicPr>
          <p:cNvPr id="25" name="SK-6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1500" y="3637359"/>
            <a:ext cx="2762250" cy="567928"/>
          </a:xfrm>
          <a:prstGeom prst="rect">
            <a:avLst/>
          </a:prstGeom>
        </p:spPr>
      </p:pic>
      <p:pic>
        <p:nvPicPr>
          <p:cNvPr id="26" name="SK-6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62000" y="3835450"/>
            <a:ext cx="266700" cy="171450"/>
          </a:xfrm>
          <a:prstGeom prst="rect">
            <a:avLst/>
          </a:prstGeom>
        </p:spPr>
      </p:pic>
      <p:pic>
        <p:nvPicPr>
          <p:cNvPr id="27" name="SK-6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333750" y="3637359"/>
            <a:ext cx="1657350" cy="567928"/>
          </a:xfrm>
          <a:prstGeom prst="rect">
            <a:avLst/>
          </a:prstGeom>
        </p:spPr>
      </p:pic>
      <p:pic>
        <p:nvPicPr>
          <p:cNvPr id="28" name="SK-6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524250" y="3803154"/>
            <a:ext cx="485775" cy="236190"/>
          </a:xfrm>
          <a:prstGeom prst="rect">
            <a:avLst/>
          </a:prstGeom>
        </p:spPr>
      </p:pic>
      <p:pic>
        <p:nvPicPr>
          <p:cNvPr id="29" name="SK-6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67175" y="3803154"/>
            <a:ext cx="352425" cy="236190"/>
          </a:xfrm>
          <a:prstGeom prst="rect">
            <a:avLst/>
          </a:prstGeom>
        </p:spPr>
      </p:pic>
      <p:pic>
        <p:nvPicPr>
          <p:cNvPr id="30" name="SK-6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991100" y="3637359"/>
            <a:ext cx="6629400" cy="567928"/>
          </a:xfrm>
          <a:prstGeom prst="rect">
            <a:avLst/>
          </a:prstGeom>
        </p:spPr>
      </p:pic>
      <p:pic>
        <p:nvPicPr>
          <p:cNvPr id="31" name="SK-6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71500" y="4205288"/>
            <a:ext cx="2762250" cy="567928"/>
          </a:xfrm>
          <a:prstGeom prst="rect">
            <a:avLst/>
          </a:prstGeom>
        </p:spPr>
      </p:pic>
      <p:pic>
        <p:nvPicPr>
          <p:cNvPr id="32" name="SK-6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62000" y="4403378"/>
            <a:ext cx="266700" cy="171450"/>
          </a:xfrm>
          <a:prstGeom prst="rect">
            <a:avLst/>
          </a:prstGeom>
        </p:spPr>
      </p:pic>
      <p:pic>
        <p:nvPicPr>
          <p:cNvPr id="33" name="SK-6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333750" y="4205288"/>
            <a:ext cx="1657350" cy="567928"/>
          </a:xfrm>
          <a:prstGeom prst="rect">
            <a:avLst/>
          </a:prstGeom>
        </p:spPr>
      </p:pic>
      <p:pic>
        <p:nvPicPr>
          <p:cNvPr id="34" name="SK-6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524250" y="4371082"/>
            <a:ext cx="352425" cy="236190"/>
          </a:xfrm>
          <a:prstGeom prst="rect">
            <a:avLst/>
          </a:prstGeom>
        </p:spPr>
      </p:pic>
      <p:pic>
        <p:nvPicPr>
          <p:cNvPr id="35" name="SK-6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991100" y="4205288"/>
            <a:ext cx="6629400" cy="567928"/>
          </a:xfrm>
          <a:prstGeom prst="rect">
            <a:avLst/>
          </a:prstGeom>
        </p:spPr>
      </p:pic>
      <p:pic>
        <p:nvPicPr>
          <p:cNvPr id="36" name="SK-6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71500" y="4773216"/>
            <a:ext cx="2762250" cy="567928"/>
          </a:xfrm>
          <a:prstGeom prst="rect">
            <a:avLst/>
          </a:prstGeom>
        </p:spPr>
      </p:pic>
      <p:pic>
        <p:nvPicPr>
          <p:cNvPr id="37" name="SK-6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62000" y="4971306"/>
            <a:ext cx="266700" cy="171450"/>
          </a:xfrm>
          <a:prstGeom prst="rect">
            <a:avLst/>
          </a:prstGeom>
        </p:spPr>
      </p:pic>
      <p:pic>
        <p:nvPicPr>
          <p:cNvPr id="38" name="SK-6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333750" y="4773216"/>
            <a:ext cx="1657350" cy="567928"/>
          </a:xfrm>
          <a:prstGeom prst="rect">
            <a:avLst/>
          </a:prstGeom>
        </p:spPr>
      </p:pic>
      <p:pic>
        <p:nvPicPr>
          <p:cNvPr id="39" name="SK-6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524250" y="4939010"/>
            <a:ext cx="352425" cy="236190"/>
          </a:xfrm>
          <a:prstGeom prst="rect">
            <a:avLst/>
          </a:prstGeom>
        </p:spPr>
      </p:pic>
      <p:pic>
        <p:nvPicPr>
          <p:cNvPr id="40" name="SK-6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991100" y="4773216"/>
            <a:ext cx="6629400" cy="567928"/>
          </a:xfrm>
          <a:prstGeom prst="rect">
            <a:avLst/>
          </a:prstGeom>
        </p:spPr>
      </p:pic>
      <p:pic>
        <p:nvPicPr>
          <p:cNvPr id="41" name="SK-6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71500" y="5341144"/>
            <a:ext cx="2762250" cy="567928"/>
          </a:xfrm>
          <a:prstGeom prst="rect">
            <a:avLst/>
          </a:prstGeom>
        </p:spPr>
      </p:pic>
      <p:pic>
        <p:nvPicPr>
          <p:cNvPr id="42" name="SK-6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62000" y="5539234"/>
            <a:ext cx="266700" cy="171450"/>
          </a:xfrm>
          <a:prstGeom prst="rect">
            <a:avLst/>
          </a:prstGeom>
        </p:spPr>
      </p:pic>
      <p:pic>
        <p:nvPicPr>
          <p:cNvPr id="43" name="SK-6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333750" y="5341144"/>
            <a:ext cx="1657350" cy="567928"/>
          </a:xfrm>
          <a:prstGeom prst="rect">
            <a:avLst/>
          </a:prstGeom>
        </p:spPr>
      </p:pic>
      <p:pic>
        <p:nvPicPr>
          <p:cNvPr id="44" name="SK-6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524250" y="5506938"/>
            <a:ext cx="352425" cy="236190"/>
          </a:xfrm>
          <a:prstGeom prst="rect">
            <a:avLst/>
          </a:prstGeom>
        </p:spPr>
      </p:pic>
      <p:pic>
        <p:nvPicPr>
          <p:cNvPr id="45" name="SK-6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991100" y="5341144"/>
            <a:ext cx="6629400" cy="567928"/>
          </a:xfrm>
          <a:prstGeom prst="rect">
            <a:avLst/>
          </a:prstGeom>
        </p:spPr>
      </p:pic>
      <p:pic>
        <p:nvPicPr>
          <p:cNvPr id="46" name="SK-6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62000" y="6107162"/>
            <a:ext cx="266700" cy="171450"/>
          </a:xfrm>
          <a:prstGeom prst="rect">
            <a:avLst/>
          </a:prstGeom>
        </p:spPr>
      </p:pic>
      <p:pic>
        <p:nvPicPr>
          <p:cNvPr id="47" name="SK-6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524250" y="6074866"/>
            <a:ext cx="352425" cy="236190"/>
          </a:xfrm>
          <a:prstGeom prst="rect">
            <a:avLst/>
          </a:prstGeom>
        </p:spPr>
      </p:pic>
      <p:sp>
        <p:nvSpPr>
          <p:cNvPr id="48" name="SK-6-text-47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49" name="SK-6-text-48"/>
          <p:cNvSpPr/>
          <p:nvPr/>
        </p:nvSpPr>
        <p:spPr>
          <a:xfrm>
            <a:off x="571500" y="73342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워크스페이스 구성: 기능과 역할</a:t>
            </a:r>
            <a:endParaRPr lang="en-US" sz="2550" dirty="0"/>
          </a:p>
        </p:txBody>
      </p:sp>
      <p:sp>
        <p:nvSpPr>
          <p:cNvPr id="50" name="SK-6-text-49"/>
          <p:cNvSpPr/>
          <p:nvPr/>
        </p:nvSpPr>
        <p:spPr>
          <a:xfrm>
            <a:off x="762000" y="1504950"/>
            <a:ext cx="2457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(화면)</a:t>
            </a:r>
            <a:endParaRPr lang="en-US" sz="1050" dirty="0"/>
          </a:p>
        </p:txBody>
      </p:sp>
      <p:sp>
        <p:nvSpPr>
          <p:cNvPr id="51" name="SK-6-text-50"/>
          <p:cNvSpPr/>
          <p:nvPr/>
        </p:nvSpPr>
        <p:spPr>
          <a:xfrm>
            <a:off x="3524250" y="1504950"/>
            <a:ext cx="13525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</a:t>
            </a:r>
            <a:endParaRPr lang="en-US" sz="1050" dirty="0"/>
          </a:p>
        </p:txBody>
      </p:sp>
      <p:sp>
        <p:nvSpPr>
          <p:cNvPr id="52" name="SK-6-text-51"/>
          <p:cNvSpPr/>
          <p:nvPr/>
        </p:nvSpPr>
        <p:spPr>
          <a:xfrm>
            <a:off x="5181600" y="1504950"/>
            <a:ext cx="6324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</a:t>
            </a:r>
            <a:endParaRPr lang="en-US" sz="1050" dirty="0"/>
          </a:p>
        </p:txBody>
      </p:sp>
      <p:sp>
        <p:nvSpPr>
          <p:cNvPr id="53" name="SK-6-text-52"/>
          <p:cNvSpPr/>
          <p:nvPr/>
        </p:nvSpPr>
        <p:spPr>
          <a:xfrm>
            <a:off x="1143000" y="2110829"/>
            <a:ext cx="23812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 대시보드</a:t>
            </a:r>
            <a:endParaRPr lang="en-US" sz="1200" dirty="0"/>
          </a:p>
        </p:txBody>
      </p:sp>
      <p:sp>
        <p:nvSpPr>
          <p:cNvPr id="54" name="SK-6-text-53"/>
          <p:cNvSpPr/>
          <p:nvPr/>
        </p:nvSpPr>
        <p:spPr>
          <a:xfrm>
            <a:off x="3600450" y="2099370"/>
            <a:ext cx="309743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SEE</a:t>
            </a:r>
            <a:endParaRPr lang="en-US" sz="900" dirty="0"/>
          </a:p>
        </p:txBody>
      </p:sp>
      <p:sp>
        <p:nvSpPr>
          <p:cNvPr id="55" name="SK-6-text-54"/>
          <p:cNvSpPr/>
          <p:nvPr/>
        </p:nvSpPr>
        <p:spPr>
          <a:xfrm>
            <a:off x="5181600" y="2117527"/>
            <a:ext cx="6324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7개 에이전트 감지 종합 브리핑 · 건강도 · 우선 조치</a:t>
            </a:r>
            <a:endParaRPr lang="en-US" sz="1125" dirty="0"/>
          </a:p>
        </p:txBody>
      </p:sp>
      <p:sp>
        <p:nvSpPr>
          <p:cNvPr id="56" name="SK-6-text-55"/>
          <p:cNvSpPr/>
          <p:nvPr/>
        </p:nvSpPr>
        <p:spPr>
          <a:xfrm>
            <a:off x="1143000" y="2678757"/>
            <a:ext cx="23812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Note</a:t>
            </a:r>
            <a:endParaRPr lang="en-US" sz="1200" dirty="0"/>
          </a:p>
        </p:txBody>
      </p:sp>
      <p:sp>
        <p:nvSpPr>
          <p:cNvPr id="57" name="SK-6-text-56"/>
          <p:cNvSpPr/>
          <p:nvPr/>
        </p:nvSpPr>
        <p:spPr>
          <a:xfrm>
            <a:off x="3600450" y="2667298"/>
            <a:ext cx="425335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HEAR</a:t>
            </a:r>
            <a:endParaRPr lang="en-US" sz="900" dirty="0"/>
          </a:p>
        </p:txBody>
      </p:sp>
      <p:sp>
        <p:nvSpPr>
          <p:cNvPr id="58" name="SK-6-text-57"/>
          <p:cNvSpPr/>
          <p:nvPr/>
        </p:nvSpPr>
        <p:spPr>
          <a:xfrm>
            <a:off x="5181600" y="2685455"/>
            <a:ext cx="6324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메일·전화·메모·회의 등 비정형 신호 입력</a:t>
            </a:r>
            <a:endParaRPr lang="en-US" sz="1125" dirty="0"/>
          </a:p>
        </p:txBody>
      </p:sp>
      <p:sp>
        <p:nvSpPr>
          <p:cNvPr id="59" name="SK-6-text-58"/>
          <p:cNvSpPr/>
          <p:nvPr/>
        </p:nvSpPr>
        <p:spPr>
          <a:xfrm>
            <a:off x="1143000" y="3246686"/>
            <a:ext cx="23812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</a:t>
            </a:r>
            <a:endParaRPr lang="en-US" sz="1200" dirty="0"/>
          </a:p>
        </p:txBody>
      </p:sp>
      <p:sp>
        <p:nvSpPr>
          <p:cNvPr id="60" name="SK-6-text-59"/>
          <p:cNvSpPr/>
          <p:nvPr/>
        </p:nvSpPr>
        <p:spPr>
          <a:xfrm>
            <a:off x="3600450" y="3235226"/>
            <a:ext cx="309743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SEE</a:t>
            </a:r>
            <a:endParaRPr lang="en-US" sz="900" dirty="0"/>
          </a:p>
        </p:txBody>
      </p:sp>
      <p:sp>
        <p:nvSpPr>
          <p:cNvPr id="61" name="SK-6-text-60"/>
          <p:cNvSpPr/>
          <p:nvPr/>
        </p:nvSpPr>
        <p:spPr>
          <a:xfrm>
            <a:off x="5181600" y="3253383"/>
            <a:ext cx="6324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마일스톤·게이트·스프린트 진행 현황</a:t>
            </a:r>
            <a:endParaRPr lang="en-US" sz="1125" dirty="0"/>
          </a:p>
        </p:txBody>
      </p:sp>
      <p:sp>
        <p:nvSpPr>
          <p:cNvPr id="62" name="SK-6-text-61"/>
          <p:cNvSpPr/>
          <p:nvPr/>
        </p:nvSpPr>
        <p:spPr>
          <a:xfrm>
            <a:off x="1143000" y="3814614"/>
            <a:ext cx="23812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 &amp; 리스크</a:t>
            </a:r>
            <a:endParaRPr lang="en-US" sz="1200" dirty="0"/>
          </a:p>
        </p:txBody>
      </p:sp>
      <p:sp>
        <p:nvSpPr>
          <p:cNvPr id="63" name="SK-6-text-62"/>
          <p:cNvSpPr/>
          <p:nvPr/>
        </p:nvSpPr>
        <p:spPr>
          <a:xfrm>
            <a:off x="3600450" y="3803154"/>
            <a:ext cx="546847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THINK</a:t>
            </a:r>
            <a:endParaRPr lang="en-US" sz="900" dirty="0"/>
          </a:p>
        </p:txBody>
      </p:sp>
      <p:sp>
        <p:nvSpPr>
          <p:cNvPr id="64" name="SK-6-text-63"/>
          <p:cNvSpPr/>
          <p:nvPr/>
        </p:nvSpPr>
        <p:spPr>
          <a:xfrm>
            <a:off x="4143375" y="3803154"/>
            <a:ext cx="309743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ACT</a:t>
            </a:r>
            <a:endParaRPr lang="en-US" sz="900" dirty="0"/>
          </a:p>
        </p:txBody>
      </p:sp>
      <p:sp>
        <p:nvSpPr>
          <p:cNvPr id="65" name="SK-6-text-64"/>
          <p:cNvSpPr/>
          <p:nvPr/>
        </p:nvSpPr>
        <p:spPr>
          <a:xfrm>
            <a:off x="5181600" y="3821311"/>
            <a:ext cx="6324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감지 신호 등재 · AI 대응안 생성 · 실제 Jira 티켓 발행</a:t>
            </a:r>
            <a:endParaRPr lang="en-US" sz="1125" dirty="0"/>
          </a:p>
        </p:txBody>
      </p:sp>
      <p:sp>
        <p:nvSpPr>
          <p:cNvPr id="66" name="SK-6-text-65"/>
          <p:cNvSpPr/>
          <p:nvPr/>
        </p:nvSpPr>
        <p:spPr>
          <a:xfrm>
            <a:off x="1143000" y="4382542"/>
            <a:ext cx="23812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 &amp; 자원</a:t>
            </a:r>
            <a:endParaRPr lang="en-US" sz="1200" dirty="0"/>
          </a:p>
        </p:txBody>
      </p:sp>
      <p:sp>
        <p:nvSpPr>
          <p:cNvPr id="67" name="SK-6-text-66"/>
          <p:cNvSpPr/>
          <p:nvPr/>
        </p:nvSpPr>
        <p:spPr>
          <a:xfrm>
            <a:off x="3600450" y="4371082"/>
            <a:ext cx="309743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SEE</a:t>
            </a:r>
            <a:endParaRPr lang="en-US" sz="900" dirty="0"/>
          </a:p>
        </p:txBody>
      </p:sp>
      <p:sp>
        <p:nvSpPr>
          <p:cNvPr id="68" name="SK-6-text-67"/>
          <p:cNvSpPr/>
          <p:nvPr/>
        </p:nvSpPr>
        <p:spPr>
          <a:xfrm>
            <a:off x="5181600" y="4389239"/>
            <a:ext cx="6324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 집행·예비비·자원 배분 모니터링</a:t>
            </a:r>
            <a:endParaRPr lang="en-US" sz="1125" dirty="0"/>
          </a:p>
        </p:txBody>
      </p:sp>
      <p:sp>
        <p:nvSpPr>
          <p:cNvPr id="69" name="SK-6-text-68"/>
          <p:cNvSpPr/>
          <p:nvPr/>
        </p:nvSpPr>
        <p:spPr>
          <a:xfrm>
            <a:off x="1143000" y="4950470"/>
            <a:ext cx="23812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커뮤니케이션</a:t>
            </a:r>
            <a:endParaRPr lang="en-US" sz="1200" dirty="0"/>
          </a:p>
        </p:txBody>
      </p:sp>
      <p:sp>
        <p:nvSpPr>
          <p:cNvPr id="70" name="SK-6-text-69"/>
          <p:cNvSpPr/>
          <p:nvPr/>
        </p:nvSpPr>
        <p:spPr>
          <a:xfrm>
            <a:off x="3600450" y="4939010"/>
            <a:ext cx="309743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ACT</a:t>
            </a:r>
            <a:endParaRPr lang="en-US" sz="900" dirty="0"/>
          </a:p>
        </p:txBody>
      </p:sp>
      <p:sp>
        <p:nvSpPr>
          <p:cNvPr id="71" name="SK-6-text-70"/>
          <p:cNvSpPr/>
          <p:nvPr/>
        </p:nvSpPr>
        <p:spPr>
          <a:xfrm>
            <a:off x="5181600" y="4957167"/>
            <a:ext cx="6324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이해관계자 소통 · 알림/메일 초안</a:t>
            </a:r>
            <a:endParaRPr lang="en-US" sz="1125" dirty="0"/>
          </a:p>
        </p:txBody>
      </p:sp>
      <p:sp>
        <p:nvSpPr>
          <p:cNvPr id="72" name="SK-6-text-71"/>
          <p:cNvSpPr/>
          <p:nvPr/>
        </p:nvSpPr>
        <p:spPr>
          <a:xfrm>
            <a:off x="1143000" y="5518398"/>
            <a:ext cx="23812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</a:t>
            </a:r>
            <a:endParaRPr lang="en-US" sz="1200" dirty="0"/>
          </a:p>
        </p:txBody>
      </p:sp>
      <p:sp>
        <p:nvSpPr>
          <p:cNvPr id="73" name="SK-6-text-72"/>
          <p:cNvSpPr/>
          <p:nvPr/>
        </p:nvSpPr>
        <p:spPr>
          <a:xfrm>
            <a:off x="3600450" y="5506938"/>
            <a:ext cx="309743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ACT</a:t>
            </a:r>
            <a:endParaRPr lang="en-US" sz="900" dirty="0"/>
          </a:p>
        </p:txBody>
      </p:sp>
      <p:sp>
        <p:nvSpPr>
          <p:cNvPr id="74" name="SK-6-text-73"/>
          <p:cNvSpPr/>
          <p:nvPr/>
        </p:nvSpPr>
        <p:spPr>
          <a:xfrm>
            <a:off x="5181600" y="5525095"/>
            <a:ext cx="6324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주간·스프린트 리포트 자동 생성</a:t>
            </a:r>
            <a:endParaRPr lang="en-US" sz="1125" dirty="0"/>
          </a:p>
        </p:txBody>
      </p:sp>
      <p:sp>
        <p:nvSpPr>
          <p:cNvPr id="75" name="SK-6-text-74"/>
          <p:cNvSpPr/>
          <p:nvPr/>
        </p:nvSpPr>
        <p:spPr>
          <a:xfrm>
            <a:off x="1143000" y="6086326"/>
            <a:ext cx="23812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문서</a:t>
            </a:r>
            <a:endParaRPr lang="en-US" sz="1200" dirty="0"/>
          </a:p>
        </p:txBody>
      </p:sp>
      <p:sp>
        <p:nvSpPr>
          <p:cNvPr id="76" name="SK-6-text-75"/>
          <p:cNvSpPr/>
          <p:nvPr/>
        </p:nvSpPr>
        <p:spPr>
          <a:xfrm>
            <a:off x="3600450" y="6074866"/>
            <a:ext cx="309743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SEE</a:t>
            </a:r>
            <a:endParaRPr lang="en-US" sz="900" dirty="0"/>
          </a:p>
        </p:txBody>
      </p:sp>
      <p:sp>
        <p:nvSpPr>
          <p:cNvPr id="77" name="SK-6-text-76"/>
          <p:cNvSpPr/>
          <p:nvPr/>
        </p:nvSpPr>
        <p:spPr>
          <a:xfrm>
            <a:off x="5181600" y="6093023"/>
            <a:ext cx="7010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요구사항·TRM·CR·이슈·리스크 단일 원본(SSOT) — 대시보드와 미러링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7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7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7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7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11049000" cy="4972050"/>
          </a:xfrm>
          <a:prstGeom prst="rect">
            <a:avLst/>
          </a:prstGeom>
        </p:spPr>
      </p:pic>
      <p:pic>
        <p:nvPicPr>
          <p:cNvPr id="7" name="SK-7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04950"/>
            <a:ext cx="1143000" cy="504825"/>
          </a:xfrm>
          <a:prstGeom prst="rect">
            <a:avLst/>
          </a:prstGeom>
        </p:spPr>
      </p:pic>
      <p:pic>
        <p:nvPicPr>
          <p:cNvPr id="8" name="SK-7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4500" y="1504950"/>
            <a:ext cx="3867150" cy="504825"/>
          </a:xfrm>
          <a:prstGeom prst="rect">
            <a:avLst/>
          </a:prstGeom>
        </p:spPr>
      </p:pic>
      <p:pic>
        <p:nvPicPr>
          <p:cNvPr id="9" name="SK-7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1650" y="1504950"/>
            <a:ext cx="2762250" cy="504825"/>
          </a:xfrm>
          <a:prstGeom prst="rect">
            <a:avLst/>
          </a:prstGeom>
        </p:spPr>
      </p:pic>
      <p:pic>
        <p:nvPicPr>
          <p:cNvPr id="10" name="SK-7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3900" y="1504950"/>
            <a:ext cx="3276600" cy="504825"/>
          </a:xfrm>
          <a:prstGeom prst="rect">
            <a:avLst/>
          </a:prstGeom>
        </p:spPr>
      </p:pic>
      <p:pic>
        <p:nvPicPr>
          <p:cNvPr id="11" name="SK-7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2009775"/>
            <a:ext cx="1143000" cy="893415"/>
          </a:xfrm>
          <a:prstGeom prst="rect">
            <a:avLst/>
          </a:prstGeom>
        </p:spPr>
      </p:pic>
      <p:pic>
        <p:nvPicPr>
          <p:cNvPr id="12" name="SK-7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14500" y="2009775"/>
            <a:ext cx="3867150" cy="893415"/>
          </a:xfrm>
          <a:prstGeom prst="rect">
            <a:avLst/>
          </a:prstGeom>
        </p:spPr>
      </p:pic>
      <p:pic>
        <p:nvPicPr>
          <p:cNvPr id="13" name="SK-7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5000" y="2362795"/>
            <a:ext cx="190500" cy="161925"/>
          </a:xfrm>
          <a:prstGeom prst="rect">
            <a:avLst/>
          </a:prstGeom>
        </p:spPr>
      </p:pic>
      <p:pic>
        <p:nvPicPr>
          <p:cNvPr id="14" name="SK-7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81650" y="2009775"/>
            <a:ext cx="2762250" cy="893415"/>
          </a:xfrm>
          <a:prstGeom prst="rect">
            <a:avLst/>
          </a:prstGeom>
        </p:spPr>
      </p:pic>
      <p:pic>
        <p:nvPicPr>
          <p:cNvPr id="15" name="SK-7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43900" y="2009775"/>
            <a:ext cx="3276600" cy="893415"/>
          </a:xfrm>
          <a:prstGeom prst="rect">
            <a:avLst/>
          </a:prstGeom>
        </p:spPr>
      </p:pic>
      <p:pic>
        <p:nvPicPr>
          <p:cNvPr id="16" name="SK-7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72550" y="2394198"/>
            <a:ext cx="166688" cy="137220"/>
          </a:xfrm>
          <a:prstGeom prst="rect">
            <a:avLst/>
          </a:prstGeom>
        </p:spPr>
      </p:pic>
      <p:pic>
        <p:nvPicPr>
          <p:cNvPr id="17" name="SK-7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2903190"/>
            <a:ext cx="1143000" cy="893415"/>
          </a:xfrm>
          <a:prstGeom prst="rect">
            <a:avLst/>
          </a:prstGeom>
        </p:spPr>
      </p:pic>
      <p:pic>
        <p:nvPicPr>
          <p:cNvPr id="18" name="SK-7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14500" y="2903190"/>
            <a:ext cx="3867150" cy="893415"/>
          </a:xfrm>
          <a:prstGeom prst="rect">
            <a:avLst/>
          </a:prstGeom>
        </p:spPr>
      </p:pic>
      <p:pic>
        <p:nvPicPr>
          <p:cNvPr id="19" name="SK-7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05000" y="3256211"/>
            <a:ext cx="190500" cy="161925"/>
          </a:xfrm>
          <a:prstGeom prst="rect">
            <a:avLst/>
          </a:prstGeom>
        </p:spPr>
      </p:pic>
      <p:pic>
        <p:nvPicPr>
          <p:cNvPr id="20" name="SK-7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81650" y="2903190"/>
            <a:ext cx="2762250" cy="893415"/>
          </a:xfrm>
          <a:prstGeom prst="rect">
            <a:avLst/>
          </a:prstGeom>
        </p:spPr>
      </p:pic>
      <p:pic>
        <p:nvPicPr>
          <p:cNvPr id="21" name="SK-7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43900" y="2903190"/>
            <a:ext cx="3276600" cy="893415"/>
          </a:xfrm>
          <a:prstGeom prst="rect">
            <a:avLst/>
          </a:prstGeom>
        </p:spPr>
      </p:pic>
      <p:pic>
        <p:nvPicPr>
          <p:cNvPr id="22" name="SK-7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72550" y="3287613"/>
            <a:ext cx="166688" cy="137220"/>
          </a:xfrm>
          <a:prstGeom prst="rect">
            <a:avLst/>
          </a:prstGeom>
        </p:spPr>
      </p:pic>
      <p:pic>
        <p:nvPicPr>
          <p:cNvPr id="23" name="SK-7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3796605"/>
            <a:ext cx="1143000" cy="893415"/>
          </a:xfrm>
          <a:prstGeom prst="rect">
            <a:avLst/>
          </a:prstGeom>
        </p:spPr>
      </p:pic>
      <p:pic>
        <p:nvPicPr>
          <p:cNvPr id="24" name="SK-7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714500" y="3796605"/>
            <a:ext cx="3867150" cy="893415"/>
          </a:xfrm>
          <a:prstGeom prst="rect">
            <a:avLst/>
          </a:prstGeom>
        </p:spPr>
      </p:pic>
      <p:pic>
        <p:nvPicPr>
          <p:cNvPr id="25" name="SK-7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905000" y="4149626"/>
            <a:ext cx="190500" cy="161925"/>
          </a:xfrm>
          <a:prstGeom prst="rect">
            <a:avLst/>
          </a:prstGeom>
        </p:spPr>
      </p:pic>
      <p:pic>
        <p:nvPicPr>
          <p:cNvPr id="26" name="SK-7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581650" y="3796605"/>
            <a:ext cx="2762250" cy="893415"/>
          </a:xfrm>
          <a:prstGeom prst="rect">
            <a:avLst/>
          </a:prstGeom>
        </p:spPr>
      </p:pic>
      <p:pic>
        <p:nvPicPr>
          <p:cNvPr id="27" name="SK-7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43900" y="3796605"/>
            <a:ext cx="3276600" cy="893415"/>
          </a:xfrm>
          <a:prstGeom prst="rect">
            <a:avLst/>
          </a:prstGeom>
        </p:spPr>
      </p:pic>
      <p:pic>
        <p:nvPicPr>
          <p:cNvPr id="28" name="SK-7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172575" y="4181029"/>
            <a:ext cx="166688" cy="137220"/>
          </a:xfrm>
          <a:prstGeom prst="rect">
            <a:avLst/>
          </a:prstGeom>
        </p:spPr>
      </p:pic>
      <p:pic>
        <p:nvPicPr>
          <p:cNvPr id="29" name="SK-7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71500" y="4690021"/>
            <a:ext cx="1143000" cy="893415"/>
          </a:xfrm>
          <a:prstGeom prst="rect">
            <a:avLst/>
          </a:prstGeom>
        </p:spPr>
      </p:pic>
      <p:pic>
        <p:nvPicPr>
          <p:cNvPr id="30" name="SK-7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714500" y="4690021"/>
            <a:ext cx="3867150" cy="893415"/>
          </a:xfrm>
          <a:prstGeom prst="rect">
            <a:avLst/>
          </a:prstGeom>
        </p:spPr>
      </p:pic>
      <p:pic>
        <p:nvPicPr>
          <p:cNvPr id="31" name="SK-7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905000" y="5043041"/>
            <a:ext cx="190500" cy="161925"/>
          </a:xfrm>
          <a:prstGeom prst="rect">
            <a:avLst/>
          </a:prstGeom>
        </p:spPr>
      </p:pic>
      <p:pic>
        <p:nvPicPr>
          <p:cNvPr id="32" name="SK-7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581650" y="4690021"/>
            <a:ext cx="2762250" cy="893415"/>
          </a:xfrm>
          <a:prstGeom prst="rect">
            <a:avLst/>
          </a:prstGeom>
        </p:spPr>
      </p:pic>
      <p:pic>
        <p:nvPicPr>
          <p:cNvPr id="33" name="SK-7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343900" y="4690021"/>
            <a:ext cx="3276600" cy="893415"/>
          </a:xfrm>
          <a:prstGeom prst="rect">
            <a:avLst/>
          </a:prstGeom>
        </p:spPr>
      </p:pic>
      <p:pic>
        <p:nvPicPr>
          <p:cNvPr id="34" name="SK-7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972550" y="5074444"/>
            <a:ext cx="166688" cy="137220"/>
          </a:xfrm>
          <a:prstGeom prst="rect">
            <a:avLst/>
          </a:prstGeom>
        </p:spPr>
      </p:pic>
      <p:pic>
        <p:nvPicPr>
          <p:cNvPr id="35" name="SK-7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71500" y="5583436"/>
            <a:ext cx="1143000" cy="893564"/>
          </a:xfrm>
          <a:prstGeom prst="rect">
            <a:avLst/>
          </a:prstGeom>
        </p:spPr>
      </p:pic>
      <p:pic>
        <p:nvPicPr>
          <p:cNvPr id="36" name="SK-7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714500" y="5583436"/>
            <a:ext cx="3867150" cy="893564"/>
          </a:xfrm>
          <a:prstGeom prst="rect">
            <a:avLst/>
          </a:prstGeom>
        </p:spPr>
      </p:pic>
      <p:pic>
        <p:nvPicPr>
          <p:cNvPr id="37" name="SK-7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905000" y="5936605"/>
            <a:ext cx="190500" cy="161925"/>
          </a:xfrm>
          <a:prstGeom prst="rect">
            <a:avLst/>
          </a:prstGeom>
        </p:spPr>
      </p:pic>
      <p:pic>
        <p:nvPicPr>
          <p:cNvPr id="38" name="SK-7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581650" y="5583436"/>
            <a:ext cx="2762250" cy="893564"/>
          </a:xfrm>
          <a:prstGeom prst="rect">
            <a:avLst/>
          </a:prstGeom>
        </p:spPr>
      </p:pic>
      <p:pic>
        <p:nvPicPr>
          <p:cNvPr id="39" name="SK-7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343900" y="5583436"/>
            <a:ext cx="3276600" cy="893564"/>
          </a:xfrm>
          <a:prstGeom prst="rect">
            <a:avLst/>
          </a:prstGeom>
        </p:spPr>
      </p:pic>
      <p:pic>
        <p:nvPicPr>
          <p:cNvPr id="40" name="SK-7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658350" y="5968008"/>
            <a:ext cx="166688" cy="137220"/>
          </a:xfrm>
          <a:prstGeom prst="rect">
            <a:avLst/>
          </a:prstGeom>
        </p:spPr>
      </p:pic>
      <p:sp>
        <p:nvSpPr>
          <p:cNvPr id="41" name="SK-7-text-40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42" name="SK-7-text-41"/>
          <p:cNvSpPr/>
          <p:nvPr/>
        </p:nvSpPr>
        <p:spPr>
          <a:xfrm>
            <a:off x="571500" y="73342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기대효과 및 KPI</a:t>
            </a:r>
            <a:endParaRPr lang="en-US" sz="2550" dirty="0"/>
          </a:p>
        </p:txBody>
      </p:sp>
      <p:sp>
        <p:nvSpPr>
          <p:cNvPr id="43" name="SK-7-text-42"/>
          <p:cNvSpPr/>
          <p:nvPr/>
        </p:nvSpPr>
        <p:spPr>
          <a:xfrm>
            <a:off x="762000" y="1504950"/>
            <a:ext cx="83820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</a:t>
            </a:r>
            <a:endParaRPr lang="en-US" sz="1050" dirty="0"/>
          </a:p>
        </p:txBody>
      </p:sp>
      <p:sp>
        <p:nvSpPr>
          <p:cNvPr id="44" name="SK-7-text-43"/>
          <p:cNvSpPr/>
          <p:nvPr/>
        </p:nvSpPr>
        <p:spPr>
          <a:xfrm>
            <a:off x="1905000" y="1504950"/>
            <a:ext cx="35623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기대효과</a:t>
            </a:r>
            <a:endParaRPr lang="en-US" sz="1050" dirty="0"/>
          </a:p>
        </p:txBody>
      </p:sp>
      <p:sp>
        <p:nvSpPr>
          <p:cNvPr id="45" name="SK-7-text-44"/>
          <p:cNvSpPr/>
          <p:nvPr/>
        </p:nvSpPr>
        <p:spPr>
          <a:xfrm>
            <a:off x="5772150" y="1504950"/>
            <a:ext cx="24574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KPI (측정 지표)</a:t>
            </a:r>
            <a:endParaRPr lang="en-US" sz="1050" dirty="0"/>
          </a:p>
        </p:txBody>
      </p:sp>
      <p:sp>
        <p:nvSpPr>
          <p:cNvPr id="46" name="SK-7-text-45"/>
          <p:cNvSpPr/>
          <p:nvPr/>
        </p:nvSpPr>
        <p:spPr>
          <a:xfrm>
            <a:off x="8534400" y="1504950"/>
            <a:ext cx="297180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변화 (예시)</a:t>
            </a:r>
            <a:endParaRPr lang="en-US" sz="1050" dirty="0"/>
          </a:p>
        </p:txBody>
      </p:sp>
      <p:sp>
        <p:nvSpPr>
          <p:cNvPr id="47" name="SK-7-textBg-46"/>
          <p:cNvSpPr/>
          <p:nvPr/>
        </p:nvSpPr>
        <p:spPr>
          <a:xfrm>
            <a:off x="762000" y="2311152"/>
            <a:ext cx="723900" cy="276225"/>
          </a:xfrm>
          <a:prstGeom prst="roundRect">
            <a:avLst>
              <a:gd name="adj" fmla="val 6897"/>
            </a:avLst>
          </a:prstGeom>
          <a:solidFill>
            <a:srgbClr val="005AEE">
              <a:alpha val="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" name="SK-7-text-47"/>
          <p:cNvSpPr/>
          <p:nvPr/>
        </p:nvSpPr>
        <p:spPr>
          <a:xfrm>
            <a:off x="838200" y="2311152"/>
            <a:ext cx="112495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</a:rPr>
              <a:t>BEN-01</a:t>
            </a:r>
            <a:endParaRPr lang="en-US" sz="1275" dirty="0"/>
          </a:p>
        </p:txBody>
      </p:sp>
      <p:sp>
        <p:nvSpPr>
          <p:cNvPr id="49" name="SK-7-text-48"/>
          <p:cNvSpPr/>
          <p:nvPr/>
        </p:nvSpPr>
        <p:spPr>
          <a:xfrm>
            <a:off x="2190750" y="2315914"/>
            <a:ext cx="34861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이상징후 감지 리드타임 단축</a:t>
            </a:r>
            <a:endParaRPr lang="en-US" sz="1275" dirty="0"/>
          </a:p>
        </p:txBody>
      </p:sp>
      <p:sp>
        <p:nvSpPr>
          <p:cNvPr id="50" name="SK-7-text-49"/>
          <p:cNvSpPr/>
          <p:nvPr/>
        </p:nvSpPr>
        <p:spPr>
          <a:xfrm>
            <a:off x="5772150" y="2009775"/>
            <a:ext cx="2462213" cy="89341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신호 발생 → 감지 시간</a:t>
            </a:r>
            <a:endParaRPr lang="en-US" sz="1275" dirty="0"/>
          </a:p>
        </p:txBody>
      </p:sp>
      <p:sp>
        <p:nvSpPr>
          <p:cNvPr id="51" name="SK-7-text-50"/>
          <p:cNvSpPr/>
          <p:nvPr/>
        </p:nvSpPr>
        <p:spPr>
          <a:xfrm>
            <a:off x="8534400" y="2334964"/>
            <a:ext cx="28956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strike="sngStrike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수일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실시간(&lt;1h)</a:t>
            </a:r>
            <a:endParaRPr lang="en-US" sz="1275" dirty="0"/>
          </a:p>
        </p:txBody>
      </p:sp>
      <p:sp>
        <p:nvSpPr>
          <p:cNvPr id="52" name="SK-7-textBg-51"/>
          <p:cNvSpPr/>
          <p:nvPr/>
        </p:nvSpPr>
        <p:spPr>
          <a:xfrm>
            <a:off x="762000" y="3204567"/>
            <a:ext cx="723900" cy="276225"/>
          </a:xfrm>
          <a:prstGeom prst="roundRect">
            <a:avLst>
              <a:gd name="adj" fmla="val 6897"/>
            </a:avLst>
          </a:prstGeom>
          <a:solidFill>
            <a:srgbClr val="005AEE">
              <a:alpha val="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3" name="SK-7-text-52"/>
          <p:cNvSpPr/>
          <p:nvPr/>
        </p:nvSpPr>
        <p:spPr>
          <a:xfrm>
            <a:off x="838200" y="3204567"/>
            <a:ext cx="112495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</a:rPr>
              <a:t>BEN-02</a:t>
            </a:r>
            <a:endParaRPr lang="en-US" sz="1275" dirty="0"/>
          </a:p>
        </p:txBody>
      </p:sp>
      <p:sp>
        <p:nvSpPr>
          <p:cNvPr id="54" name="SK-7-text-53"/>
          <p:cNvSpPr/>
          <p:nvPr/>
        </p:nvSpPr>
        <p:spPr>
          <a:xfrm>
            <a:off x="2190750" y="3209330"/>
            <a:ext cx="34861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리스크·이슈 누락 방지</a:t>
            </a:r>
            <a:endParaRPr lang="en-US" sz="1275" dirty="0"/>
          </a:p>
        </p:txBody>
      </p:sp>
      <p:sp>
        <p:nvSpPr>
          <p:cNvPr id="55" name="SK-7-text-54"/>
          <p:cNvSpPr/>
          <p:nvPr/>
        </p:nvSpPr>
        <p:spPr>
          <a:xfrm>
            <a:off x="5772150" y="2903190"/>
            <a:ext cx="2462213" cy="89341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 도메인 스캔 커버리지</a:t>
            </a:r>
            <a:endParaRPr lang="en-US" sz="1275" dirty="0"/>
          </a:p>
        </p:txBody>
      </p:sp>
      <p:sp>
        <p:nvSpPr>
          <p:cNvPr id="56" name="SK-7-text-55"/>
          <p:cNvSpPr/>
          <p:nvPr/>
        </p:nvSpPr>
        <p:spPr>
          <a:xfrm>
            <a:off x="8534400" y="3228380"/>
            <a:ext cx="28956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strike="sngStrike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부분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도메인 상시</a:t>
            </a:r>
            <a:endParaRPr lang="en-US" sz="1275" dirty="0"/>
          </a:p>
        </p:txBody>
      </p:sp>
      <p:sp>
        <p:nvSpPr>
          <p:cNvPr id="57" name="SK-7-textBg-56"/>
          <p:cNvSpPr/>
          <p:nvPr/>
        </p:nvSpPr>
        <p:spPr>
          <a:xfrm>
            <a:off x="762000" y="4097982"/>
            <a:ext cx="723900" cy="276225"/>
          </a:xfrm>
          <a:prstGeom prst="roundRect">
            <a:avLst>
              <a:gd name="adj" fmla="val 6897"/>
            </a:avLst>
          </a:prstGeom>
          <a:solidFill>
            <a:srgbClr val="005AEE">
              <a:alpha val="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8" name="SK-7-text-57"/>
          <p:cNvSpPr/>
          <p:nvPr/>
        </p:nvSpPr>
        <p:spPr>
          <a:xfrm>
            <a:off x="838200" y="4097982"/>
            <a:ext cx="112495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</a:rPr>
              <a:t>BEN-03</a:t>
            </a:r>
            <a:endParaRPr lang="en-US" sz="1275" dirty="0"/>
          </a:p>
        </p:txBody>
      </p:sp>
      <p:sp>
        <p:nvSpPr>
          <p:cNvPr id="59" name="SK-7-text-58"/>
          <p:cNvSpPr/>
          <p:nvPr/>
        </p:nvSpPr>
        <p:spPr>
          <a:xfrm>
            <a:off x="2190750" y="4102745"/>
            <a:ext cx="34861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대응안 작성 공수 절감</a:t>
            </a:r>
            <a:endParaRPr lang="en-US" sz="1275" dirty="0"/>
          </a:p>
        </p:txBody>
      </p:sp>
      <p:sp>
        <p:nvSpPr>
          <p:cNvPr id="60" name="SK-7-text-59"/>
          <p:cNvSpPr/>
          <p:nvPr/>
        </p:nvSpPr>
        <p:spPr>
          <a:xfrm>
            <a:off x="5772150" y="3796605"/>
            <a:ext cx="2462213" cy="89341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대응안 초안 작성 시간</a:t>
            </a:r>
            <a:endParaRPr lang="en-US" sz="1275" dirty="0"/>
          </a:p>
        </p:txBody>
      </p:sp>
      <p:sp>
        <p:nvSpPr>
          <p:cNvPr id="61" name="SK-7-text-60"/>
          <p:cNvSpPr/>
          <p:nvPr/>
        </p:nvSpPr>
        <p:spPr>
          <a:xfrm>
            <a:off x="8534400" y="4121795"/>
            <a:ext cx="28956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strike="sngStrike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~2시간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~10분</a:t>
            </a:r>
            <a:endParaRPr lang="en-US" sz="1275" dirty="0"/>
          </a:p>
        </p:txBody>
      </p:sp>
      <p:sp>
        <p:nvSpPr>
          <p:cNvPr id="62" name="SK-7-textBg-61"/>
          <p:cNvSpPr/>
          <p:nvPr/>
        </p:nvSpPr>
        <p:spPr>
          <a:xfrm>
            <a:off x="762000" y="4991398"/>
            <a:ext cx="723900" cy="276225"/>
          </a:xfrm>
          <a:prstGeom prst="roundRect">
            <a:avLst>
              <a:gd name="adj" fmla="val 6897"/>
            </a:avLst>
          </a:prstGeom>
          <a:solidFill>
            <a:srgbClr val="005AEE">
              <a:alpha val="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3" name="SK-7-text-62"/>
          <p:cNvSpPr/>
          <p:nvPr/>
        </p:nvSpPr>
        <p:spPr>
          <a:xfrm>
            <a:off x="838200" y="4991398"/>
            <a:ext cx="112495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</a:rPr>
              <a:t>BEN-04</a:t>
            </a:r>
            <a:endParaRPr lang="en-US" sz="1275" dirty="0"/>
          </a:p>
        </p:txBody>
      </p:sp>
      <p:sp>
        <p:nvSpPr>
          <p:cNvPr id="64" name="SK-7-text-63"/>
          <p:cNvSpPr/>
          <p:nvPr/>
        </p:nvSpPr>
        <p:spPr>
          <a:xfrm>
            <a:off x="2190750" y="4996160"/>
            <a:ext cx="34861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거버넌스 준수율 향상</a:t>
            </a:r>
            <a:endParaRPr lang="en-US" sz="1275" dirty="0"/>
          </a:p>
        </p:txBody>
      </p:sp>
      <p:sp>
        <p:nvSpPr>
          <p:cNvPr id="65" name="SK-7-text-64"/>
          <p:cNvSpPr/>
          <p:nvPr/>
        </p:nvSpPr>
        <p:spPr>
          <a:xfrm>
            <a:off x="5772150" y="4690021"/>
            <a:ext cx="3096118" cy="89341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변경통제(CR·CCB) 준수 비율</a:t>
            </a:r>
            <a:endParaRPr lang="en-US" sz="1275" dirty="0"/>
          </a:p>
        </p:txBody>
      </p:sp>
      <p:sp>
        <p:nvSpPr>
          <p:cNvPr id="66" name="SK-7-text-65"/>
          <p:cNvSpPr/>
          <p:nvPr/>
        </p:nvSpPr>
        <p:spPr>
          <a:xfrm>
            <a:off x="8534400" y="5015210"/>
            <a:ext cx="28956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strike="sngStrike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수동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유도</a:t>
            </a:r>
            <a:endParaRPr lang="en-US" sz="1275" dirty="0"/>
          </a:p>
        </p:txBody>
      </p:sp>
      <p:sp>
        <p:nvSpPr>
          <p:cNvPr id="67" name="SK-7-textBg-66"/>
          <p:cNvSpPr/>
          <p:nvPr/>
        </p:nvSpPr>
        <p:spPr>
          <a:xfrm>
            <a:off x="762000" y="5884962"/>
            <a:ext cx="723900" cy="276225"/>
          </a:xfrm>
          <a:prstGeom prst="roundRect">
            <a:avLst>
              <a:gd name="adj" fmla="val 6897"/>
            </a:avLst>
          </a:prstGeom>
          <a:solidFill>
            <a:srgbClr val="005AEE">
              <a:alpha val="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8" name="SK-7-text-67"/>
          <p:cNvSpPr/>
          <p:nvPr/>
        </p:nvSpPr>
        <p:spPr>
          <a:xfrm>
            <a:off x="838200" y="5884962"/>
            <a:ext cx="112495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5AEE"/>
                </a:solidFill>
              </a:rPr>
              <a:t>BEN-05</a:t>
            </a:r>
            <a:endParaRPr lang="en-US" sz="1275" dirty="0"/>
          </a:p>
        </p:txBody>
      </p:sp>
      <p:sp>
        <p:nvSpPr>
          <p:cNvPr id="69" name="SK-7-text-68"/>
          <p:cNvSpPr/>
          <p:nvPr/>
        </p:nvSpPr>
        <p:spPr>
          <a:xfrm>
            <a:off x="2190750" y="5889724"/>
            <a:ext cx="34861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일관성 향상</a:t>
            </a:r>
            <a:endParaRPr lang="en-US" sz="1275" dirty="0"/>
          </a:p>
        </p:txBody>
      </p:sp>
      <p:sp>
        <p:nvSpPr>
          <p:cNvPr id="70" name="SK-7-text-69"/>
          <p:cNvSpPr/>
          <p:nvPr/>
        </p:nvSpPr>
        <p:spPr>
          <a:xfrm>
            <a:off x="5772150" y="5583436"/>
            <a:ext cx="2462213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가치서열 기반 판정 비율</a:t>
            </a:r>
            <a:endParaRPr lang="en-US" sz="1275" dirty="0"/>
          </a:p>
        </p:txBody>
      </p:sp>
      <p:sp>
        <p:nvSpPr>
          <p:cNvPr id="71" name="SK-7-text-70"/>
          <p:cNvSpPr/>
          <p:nvPr/>
        </p:nvSpPr>
        <p:spPr>
          <a:xfrm>
            <a:off x="8534400" y="5908774"/>
            <a:ext cx="28956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strike="sngStrike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담당자별 편차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일관 기준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8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8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8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122289" cy="276225"/>
          </a:xfrm>
          <a:prstGeom prst="rect">
            <a:avLst/>
          </a:prstGeom>
        </p:spPr>
      </p:pic>
      <p:pic>
        <p:nvPicPr>
          <p:cNvPr id="5" name="SK-8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8089" y="514350"/>
            <a:ext cx="8812411" cy="9525"/>
          </a:xfrm>
          <a:prstGeom prst="rect">
            <a:avLst/>
          </a:prstGeom>
        </p:spPr>
      </p:pic>
      <p:pic>
        <p:nvPicPr>
          <p:cNvPr id="6" name="SK-8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04950"/>
            <a:ext cx="4419749" cy="4972050"/>
          </a:xfrm>
          <a:prstGeom prst="rect">
            <a:avLst/>
          </a:prstGeom>
        </p:spPr>
      </p:pic>
      <p:pic>
        <p:nvPicPr>
          <p:cNvPr id="7" name="SK-8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5410200"/>
            <a:ext cx="3657749" cy="685800"/>
          </a:xfrm>
          <a:prstGeom prst="rect">
            <a:avLst/>
          </a:prstGeom>
        </p:spPr>
      </p:pic>
      <p:pic>
        <p:nvPicPr>
          <p:cNvPr id="8" name="SK-8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2249" y="1504950"/>
            <a:ext cx="6248251" cy="2371725"/>
          </a:xfrm>
          <a:prstGeom prst="rect">
            <a:avLst/>
          </a:prstGeom>
        </p:spPr>
      </p:pic>
      <p:pic>
        <p:nvPicPr>
          <p:cNvPr id="9" name="SK-8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0849" y="1733550"/>
            <a:ext cx="304800" cy="304800"/>
          </a:xfrm>
          <a:prstGeom prst="rect">
            <a:avLst/>
          </a:prstGeom>
        </p:spPr>
      </p:pic>
      <p:pic>
        <p:nvPicPr>
          <p:cNvPr id="10" name="SK-8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57999" y="1809750"/>
            <a:ext cx="190500" cy="152400"/>
          </a:xfrm>
          <a:prstGeom prst="rect">
            <a:avLst/>
          </a:prstGeom>
        </p:spPr>
      </p:pic>
      <p:pic>
        <p:nvPicPr>
          <p:cNvPr id="11" name="SK-8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00849" y="2190750"/>
            <a:ext cx="142875" cy="114300"/>
          </a:xfrm>
          <a:prstGeom prst="rect">
            <a:avLst/>
          </a:prstGeom>
        </p:spPr>
      </p:pic>
      <p:pic>
        <p:nvPicPr>
          <p:cNvPr id="12" name="SK-8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0849" y="2495550"/>
            <a:ext cx="142875" cy="114300"/>
          </a:xfrm>
          <a:prstGeom prst="rect">
            <a:avLst/>
          </a:prstGeom>
        </p:spPr>
      </p:pic>
      <p:pic>
        <p:nvPicPr>
          <p:cNvPr id="13" name="SK-8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00849" y="2814638"/>
            <a:ext cx="142875" cy="114300"/>
          </a:xfrm>
          <a:prstGeom prst="rect">
            <a:avLst/>
          </a:prstGeom>
        </p:spPr>
      </p:pic>
      <p:pic>
        <p:nvPicPr>
          <p:cNvPr id="14" name="SK-8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00849" y="3133725"/>
            <a:ext cx="142875" cy="114300"/>
          </a:xfrm>
          <a:prstGeom prst="rect">
            <a:avLst/>
          </a:prstGeom>
        </p:spPr>
      </p:pic>
      <p:pic>
        <p:nvPicPr>
          <p:cNvPr id="15" name="SK-8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72249" y="4105275"/>
            <a:ext cx="6248251" cy="2371725"/>
          </a:xfrm>
          <a:prstGeom prst="rect">
            <a:avLst/>
          </a:prstGeom>
        </p:spPr>
      </p:pic>
      <p:pic>
        <p:nvPicPr>
          <p:cNvPr id="16" name="SK-8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00849" y="4333875"/>
            <a:ext cx="304800" cy="304800"/>
          </a:xfrm>
          <a:prstGeom prst="rect">
            <a:avLst/>
          </a:prstGeom>
        </p:spPr>
      </p:pic>
      <p:pic>
        <p:nvPicPr>
          <p:cNvPr id="17" name="SK-8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57999" y="4410075"/>
            <a:ext cx="190500" cy="152400"/>
          </a:xfrm>
          <a:prstGeom prst="rect">
            <a:avLst/>
          </a:prstGeom>
        </p:spPr>
      </p:pic>
      <p:pic>
        <p:nvPicPr>
          <p:cNvPr id="18" name="SK-8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00849" y="4791075"/>
            <a:ext cx="142875" cy="114300"/>
          </a:xfrm>
          <a:prstGeom prst="rect">
            <a:avLst/>
          </a:prstGeom>
        </p:spPr>
      </p:pic>
      <p:pic>
        <p:nvPicPr>
          <p:cNvPr id="19" name="SK-8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00849" y="5095875"/>
            <a:ext cx="142875" cy="114300"/>
          </a:xfrm>
          <a:prstGeom prst="rect">
            <a:avLst/>
          </a:prstGeom>
        </p:spPr>
      </p:pic>
      <p:pic>
        <p:nvPicPr>
          <p:cNvPr id="20" name="SK-8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00849" y="5476875"/>
            <a:ext cx="1828800" cy="666750"/>
          </a:xfrm>
          <a:prstGeom prst="rect">
            <a:avLst/>
          </a:prstGeom>
        </p:spPr>
      </p:pic>
      <p:pic>
        <p:nvPicPr>
          <p:cNvPr id="21" name="SK-8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82049" y="5476875"/>
            <a:ext cx="1828800" cy="666750"/>
          </a:xfrm>
          <a:prstGeom prst="rect">
            <a:avLst/>
          </a:prstGeom>
        </p:spPr>
      </p:pic>
      <p:pic>
        <p:nvPicPr>
          <p:cNvPr id="22" name="SK-8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563249" y="5476875"/>
            <a:ext cx="1828800" cy="666750"/>
          </a:xfrm>
          <a:prstGeom prst="rect">
            <a:avLst/>
          </a:prstGeom>
        </p:spPr>
      </p:pic>
      <p:sp>
        <p:nvSpPr>
          <p:cNvPr id="23" name="SK-8-text-22"/>
          <p:cNvSpPr/>
          <p:nvPr/>
        </p:nvSpPr>
        <p:spPr>
          <a:xfrm>
            <a:off x="647700" y="381000"/>
            <a:ext cx="37399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005AEE"/>
                </a:solidFill>
              </a:rPr>
              <a:t>DIAGNOSTIC REPORT 2026</a:t>
            </a:r>
            <a:endParaRPr lang="en-US" sz="1050" dirty="0"/>
          </a:p>
        </p:txBody>
      </p:sp>
      <p:sp>
        <p:nvSpPr>
          <p:cNvPr id="24" name="SK-8-text-23"/>
          <p:cNvSpPr/>
          <p:nvPr/>
        </p:nvSpPr>
        <p:spPr>
          <a:xfrm>
            <a:off x="571500" y="733425"/>
            <a:ext cx="11210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825"/>
              </a:lnSpc>
              <a:buNone/>
            </a:pPr>
            <a:r>
              <a:rPr lang="en-US" sz="2550" b="1" spc="-41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전후 확장 및 지속가능성</a:t>
            </a:r>
            <a:endParaRPr lang="en-US" sz="2550" dirty="0"/>
          </a:p>
        </p:txBody>
      </p:sp>
      <p:sp>
        <p:nvSpPr>
          <p:cNvPr id="25" name="SK-8-text-24"/>
          <p:cNvSpPr/>
          <p:nvPr/>
        </p:nvSpPr>
        <p:spPr>
          <a:xfrm>
            <a:off x="952500" y="1885950"/>
            <a:ext cx="3657749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4950"/>
              </a:lnSpc>
              <a:buNone/>
            </a:pPr>
            <a:r>
              <a:rPr lang="en-US" sz="4500" b="1" spc="-144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CONTINUOUS</a:t>
            </a:r>
            <a:endParaRPr lang="en-US" sz="4500" dirty="0"/>
          </a:p>
          <a:p>
            <a:pPr indent="0" marL="0">
              <a:lnSpc>
                <a:spcPts val="4950"/>
              </a:lnSpc>
              <a:buNone/>
            </a:pPr>
            <a:r>
              <a:rPr lang="en-US" sz="4500" b="1" spc="-144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EVOLUTION</a:t>
            </a:r>
            <a:endParaRPr lang="en-US" sz="4500" dirty="0"/>
          </a:p>
        </p:txBody>
      </p:sp>
      <p:sp>
        <p:nvSpPr>
          <p:cNvPr id="26" name="SK-8-text-25"/>
          <p:cNvSpPr/>
          <p:nvPr/>
        </p:nvSpPr>
        <p:spPr>
          <a:xfrm>
            <a:off x="952500" y="3371850"/>
            <a:ext cx="3657749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자동화 도구를 넘어,</a:t>
            </a:r>
            <a:endParaRPr lang="en-US" sz="1350" dirty="0"/>
          </a:p>
          <a:p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PM의 인지 능력을 무한히 확장하는</a:t>
            </a:r>
            <a:endParaRPr lang="en-US" sz="1350" dirty="0"/>
          </a:p>
          <a:p>
            <a:pPr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 가능한 디지털 트윈의 완성.</a:t>
            </a:r>
            <a:endParaRPr lang="en-US" sz="1350" dirty="0"/>
          </a:p>
        </p:txBody>
      </p:sp>
      <p:sp>
        <p:nvSpPr>
          <p:cNvPr id="27" name="SK-8-text-26"/>
          <p:cNvSpPr/>
          <p:nvPr/>
        </p:nvSpPr>
        <p:spPr>
          <a:xfrm>
            <a:off x="6019949" y="1743075"/>
            <a:ext cx="617205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전후 변화 (Baseline Validation)</a:t>
            </a:r>
            <a:endParaRPr lang="en-US" sz="1500" dirty="0"/>
          </a:p>
        </p:txBody>
      </p:sp>
      <p:sp>
        <p:nvSpPr>
          <p:cNvPr id="28" name="SK-8-text-27"/>
          <p:cNvSpPr/>
          <p:nvPr/>
        </p:nvSpPr>
        <p:spPr>
          <a:xfrm>
            <a:off x="5838974" y="2152650"/>
            <a:ext cx="6353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NovaHome 프로젝트 기준 Baseline 적용 및 효과 검증 완료</a:t>
            </a:r>
            <a:endParaRPr lang="en-US" sz="1200" dirty="0"/>
          </a:p>
        </p:txBody>
      </p:sp>
      <p:sp>
        <p:nvSpPr>
          <p:cNvPr id="29" name="SK-8-text-28"/>
          <p:cNvSpPr/>
          <p:nvPr/>
        </p:nvSpPr>
        <p:spPr>
          <a:xfrm>
            <a:off x="5838974" y="2457450"/>
            <a:ext cx="52863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이상징후 감지 리드타임: 수일 소요에서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실시간(1시간 이내)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단축 </a:t>
            </a:r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BEN-01</a:t>
            </a:r>
            <a:endParaRPr lang="en-US" sz="1200" dirty="0"/>
          </a:p>
        </p:txBody>
      </p:sp>
      <p:sp>
        <p:nvSpPr>
          <p:cNvPr id="30" name="SK-8-text-29"/>
          <p:cNvSpPr/>
          <p:nvPr/>
        </p:nvSpPr>
        <p:spPr>
          <a:xfrm>
            <a:off x="5838974" y="2776538"/>
            <a:ext cx="54006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대응안 작성 공수: 120분 수준에서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10분 내외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90% 이상 절감 </a:t>
            </a:r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BEN-03</a:t>
            </a:r>
            <a:endParaRPr lang="en-US" sz="1200" dirty="0"/>
          </a:p>
        </p:txBody>
      </p:sp>
      <p:sp>
        <p:nvSpPr>
          <p:cNvPr id="31" name="SK-8-text-30"/>
          <p:cNvSpPr/>
          <p:nvPr/>
        </p:nvSpPr>
        <p:spPr>
          <a:xfrm>
            <a:off x="5838974" y="3095625"/>
            <a:ext cx="6353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가치서열(North Star) 기반 판단으로 의사결정의 주관적 편차 최소화</a:t>
            </a:r>
            <a:endParaRPr lang="en-US" sz="1200" dirty="0"/>
          </a:p>
        </p:txBody>
      </p:sp>
      <p:sp>
        <p:nvSpPr>
          <p:cNvPr id="32" name="SK-8-text-31"/>
          <p:cNvSpPr/>
          <p:nvPr/>
        </p:nvSpPr>
        <p:spPr>
          <a:xfrm>
            <a:off x="6019949" y="4343400"/>
            <a:ext cx="3524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확장성 및 지속가능성 로드맵</a:t>
            </a:r>
            <a:endParaRPr lang="en-US" sz="1500" dirty="0"/>
          </a:p>
        </p:txBody>
      </p:sp>
      <p:sp>
        <p:nvSpPr>
          <p:cNvPr id="33" name="SK-8-text-32"/>
          <p:cNvSpPr/>
          <p:nvPr/>
        </p:nvSpPr>
        <p:spPr>
          <a:xfrm>
            <a:off x="5838974" y="4752975"/>
            <a:ext cx="6353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에이전트 추가 (예: 품질, 보안)를 통한 관측 범위의 유연한 확장</a:t>
            </a:r>
            <a:endParaRPr lang="en-US" sz="1200" dirty="0"/>
          </a:p>
        </p:txBody>
      </p:sp>
      <p:sp>
        <p:nvSpPr>
          <p:cNvPr id="34" name="SK-8-text-33"/>
          <p:cNvSpPr/>
          <p:nvPr/>
        </p:nvSpPr>
        <p:spPr>
          <a:xfrm>
            <a:off x="5838974" y="5057775"/>
            <a:ext cx="6353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기반 비정형 데이터(회의록, 메일) 분석 고도화로 인지 대역폭 극대화</a:t>
            </a:r>
            <a:endParaRPr lang="en-US" sz="1200" dirty="0"/>
          </a:p>
        </p:txBody>
      </p:sp>
      <p:sp>
        <p:nvSpPr>
          <p:cNvPr id="35" name="SK-8-text-34"/>
          <p:cNvSpPr/>
          <p:nvPr/>
        </p:nvSpPr>
        <p:spPr>
          <a:xfrm>
            <a:off x="5677049" y="5591175"/>
            <a:ext cx="1676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5AEE"/>
                </a:solidFill>
              </a:rPr>
              <a:t>Phase 1</a:t>
            </a:r>
            <a:endParaRPr lang="en-US" sz="900" dirty="0"/>
          </a:p>
        </p:txBody>
      </p:sp>
      <p:sp>
        <p:nvSpPr>
          <p:cNvPr id="36" name="SK-8-text-35"/>
          <p:cNvSpPr/>
          <p:nvPr/>
        </p:nvSpPr>
        <p:spPr>
          <a:xfrm>
            <a:off x="5991374" y="5838825"/>
            <a:ext cx="1047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Baseline 고도화</a:t>
            </a:r>
            <a:endParaRPr lang="en-US" sz="1050" dirty="0"/>
          </a:p>
        </p:txBody>
      </p:sp>
      <p:sp>
        <p:nvSpPr>
          <p:cNvPr id="37" name="SK-8-text-36"/>
          <p:cNvSpPr/>
          <p:nvPr/>
        </p:nvSpPr>
        <p:spPr>
          <a:xfrm>
            <a:off x="7658249" y="5591175"/>
            <a:ext cx="1676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5AEE"/>
                </a:solidFill>
              </a:rPr>
              <a:t>Phase 2</a:t>
            </a:r>
            <a:endParaRPr lang="en-US" sz="900" dirty="0"/>
          </a:p>
        </p:txBody>
      </p:sp>
      <p:sp>
        <p:nvSpPr>
          <p:cNvPr id="38" name="SK-8-text-37"/>
          <p:cNvSpPr/>
          <p:nvPr/>
        </p:nvSpPr>
        <p:spPr>
          <a:xfrm>
            <a:off x="7896374" y="5838825"/>
            <a:ext cx="12001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전사 프로젝트 확산</a:t>
            </a:r>
            <a:endParaRPr lang="en-US" sz="1050" dirty="0"/>
          </a:p>
        </p:txBody>
      </p:sp>
      <p:sp>
        <p:nvSpPr>
          <p:cNvPr id="39" name="SK-8-text-38"/>
          <p:cNvSpPr/>
          <p:nvPr/>
        </p:nvSpPr>
        <p:spPr>
          <a:xfrm>
            <a:off x="9639449" y="5591175"/>
            <a:ext cx="1676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5AEE"/>
                </a:solidFill>
              </a:rPr>
              <a:t>Phase 3</a:t>
            </a:r>
            <a:endParaRPr lang="en-US" sz="900" dirty="0"/>
          </a:p>
        </p:txBody>
      </p:sp>
      <p:sp>
        <p:nvSpPr>
          <p:cNvPr id="40" name="SK-8-text-39"/>
          <p:cNvSpPr/>
          <p:nvPr/>
        </p:nvSpPr>
        <p:spPr>
          <a:xfrm>
            <a:off x="9825186" y="5838825"/>
            <a:ext cx="13049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지능형 자율 PM 보좌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2026-08-26T02:33:56Z</dcterms:created>
  <dcterms:modified xsi:type="dcterms:W3CDTF">2026-08-26T02:33:56Z</dcterms:modified>
</cp:coreProperties>
</file>
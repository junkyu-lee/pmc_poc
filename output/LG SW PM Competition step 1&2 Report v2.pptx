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39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6.png"/><Relationship Id="rId9" Type="http://schemas.openxmlformats.org/officeDocument/2006/relationships/image" Target="../media/image41.png"/><Relationship Id="rId10" Type="http://schemas.openxmlformats.org/officeDocument/2006/relationships/image" Target="../media/image35.png"/><Relationship Id="rId11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6.png"/><Relationship Id="rId9" Type="http://schemas.openxmlformats.org/officeDocument/2006/relationships/image" Target="../media/image41.png"/><Relationship Id="rId10" Type="http://schemas.openxmlformats.org/officeDocument/2006/relationships/image" Target="../media/image35.png"/><Relationship Id="rId11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044380"/>
            <a:ext cx="959048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948" y="5044380"/>
            <a:ext cx="1095523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347" y="5044380"/>
            <a:ext cx="1082873" cy="295275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1928" y="1945034"/>
            <a:ext cx="10148143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0" sz="4800" i="0" u="none">
                <a:solidFill>
                  <a:srgbClr val="FFFFFF"/>
                </a:solidFill>
                <a:latin typeface="Poppins ExtraBold"/>
              </a:rPr>
              <a:t>Stage ① Identify &amp;</a:t>
            </a:r>
            <a:r>
              <a:rPr>
                <a:solidFill/>
              </a:rPr>
              <a:t>
</a:t>
            </a:r>
            <a:r>
              <a:rPr b="0" sz="4800" i="0" u="none">
                <a:solidFill>
                  <a:srgbClr val="FFFFFF"/>
                </a:solidFill>
                <a:latin typeface="Poppins ExtraBold"/>
              </a:rPr>
              <a:t> Stage ② Analyze 종합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4066" y="3979515"/>
            <a:ext cx="5223718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Noto Sans KR"/>
              </a:rPr>
              <a:t>시나리오: </a:t>
            </a:r>
            <a:r>
              <a:rPr b="1" sz="1500" i="0" u="none">
                <a:solidFill>
                  <a:srgbClr val="FFFFFF"/>
                </a:solidFill>
                <a:latin typeface="Noto Sans KR"/>
              </a:rPr>
              <a:t>NovaHome Connect 통합 프로젝트 + 돌발 이슈 01</a:t>
            </a:r>
            <a:r>
              <a:rPr>
                <a:solidFill/>
              </a:rPr>
              <a:t>
</a:t>
            </a:r>
            <a:r>
              <a:rPr b="0" sz="1500" i="0" u="none">
                <a:solidFill>
                  <a:srgbClr val="FFFFFF"/>
                </a:solidFill>
                <a:latin typeface="Noto Sans KR"/>
              </a:rPr>
              <a:t> (내부 갈등: 베타 D-15 소셜 로그인 강행 및 대립)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961" y="5160615"/>
            <a:ext cx="138678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617" y="5160615"/>
            <a:ext cx="2391072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564" y="5160615"/>
            <a:ext cx="2434976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416" y="5160615"/>
            <a:ext cx="1400621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7836" y="5246340"/>
            <a:ext cx="96440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7492" y="5246340"/>
            <a:ext cx="9644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1439" y="5236815"/>
            <a:ext cx="96440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9291" y="5246340"/>
            <a:ext cx="9644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8018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02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5381625" cy="497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409700"/>
            <a:ext cx="5381625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1657350"/>
            <a:ext cx="5130641" cy="285750"/>
          </a:xfrm>
          <a:prstGeom prst="rect">
            <a:avLst/>
          </a:prstGeom>
          <a:noFill/>
        </p:spPr>
        <p:txBody>
          <a:bodyPr wrap="square" lIns="16311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oppins SemiBold"/>
              </a:rPr>
              <a:t>프로젝트 위기 핵심 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085975"/>
            <a:ext cx="4886325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NovaHome Connect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프로젝트는 론칭 D-15(10/05) 시점에서 </a:t>
            </a:r>
            <a:r>
              <a:rPr b="1" sz="1200" i="0" u="none">
                <a:solidFill>
                  <a:srgbClr val="FFFFFF"/>
                </a:solidFill>
                <a:latin typeface="Noto Sans KR"/>
              </a:rPr>
              <a:t>소셜 로그인(REQ-017)의 기습 반영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및 </a:t>
            </a:r>
            <a:r>
              <a:rPr b="1" sz="1200" i="0" u="none">
                <a:solidFill>
                  <a:srgbClr val="FFFFFF"/>
                </a:solidFill>
                <a:latin typeface="Noto Sans KR"/>
              </a:rPr>
              <a:t>SDK 2.4 빌드 충돌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, </a:t>
            </a:r>
            <a:r>
              <a:rPr b="1" sz="1200" i="0" u="none">
                <a:solidFill>
                  <a:srgbClr val="FFFFFF"/>
                </a:solidFill>
                <a:latin typeface="Noto Sans KR"/>
              </a:rPr>
              <a:t>약관 누락(법률 리스크)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, </a:t>
            </a:r>
            <a:r>
              <a:rPr b="1" sz="1200" i="0" u="none">
                <a:solidFill>
                  <a:srgbClr val="FFFFFF"/>
                </a:solidFill>
                <a:latin typeface="Noto Sans KR"/>
              </a:rPr>
              <a:t>테스트 전수검증 불능(품질 붕괴)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으로 인해 전사적 팀 간 갈등(개발 vs QA vs 보안 vs PO)이 극에 달했습니다.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150" y="3359943"/>
            <a:ext cx="4886325" cy="1112341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9650" y="3550443"/>
            <a:ext cx="450532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핵심 진단: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현상은 "일정 지연 및 직무 대립"이나, 근본 원인은 </a:t>
            </a:r>
            <a:r>
              <a:rPr b="1" sz="1200" i="0" u="none">
                <a:solidFill>
                  <a:srgbClr val="FFFFFF"/>
                </a:solidFill>
                <a:latin typeface="Noto Sans KR"/>
              </a:rPr>
              <a:t>PMBOK 8판 체계 미비, 변경 통제(CRB) 부재, 그리고 비공식적 의사결정 방식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에 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150" y="3359943"/>
            <a:ext cx="47625" cy="1112341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6525" y="1657350"/>
            <a:ext cx="5130641" cy="285750"/>
          </a:xfrm>
          <a:prstGeom prst="rect">
            <a:avLst/>
          </a:prstGeom>
          <a:noFill/>
        </p:spPr>
        <p:txBody>
          <a:bodyPr wrap="square" lIns="16311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oppins SemiBold"/>
              </a:rPr>
              <a:t>5대 핵심 문제 &amp; 실물 도구(Visual Tools)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695450"/>
            <a:ext cx="16311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1695450"/>
            <a:ext cx="16311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24650" y="2085975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[문제 1] 거버넌스 붕괴 &amp; 비공식 변경:</a:t>
            </a:r>
            <a:r>
              <a:rPr>
                <a:solidFill/>
              </a:rPr>
              <a:t>
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RACI 표, Stakeholder Matrix표, 5 Whys 다이어그램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268605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[문제 2] 요구사항 통제 미비 &amp; Scope Creep:</a:t>
            </a:r>
            <a:r>
              <a:rPr>
                <a:solidFill/>
              </a:rPr>
              <a:t>
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RTM 추적표, Sprint 3 Burndown Chart, Mindset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3286125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[문제 3] 검증/품질 파이프라인 붕괴:</a:t>
            </a:r>
            <a:r>
              <a:rPr>
                <a:solidFill/>
              </a:rPr>
              <a:t>
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Control Chart, Variance Analysis표, Fishbone Diagram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388620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[문제 4] 법무/보안 Compliance 리스크:</a:t>
            </a:r>
            <a:r>
              <a:rPr>
                <a:solidFill/>
              </a:rPr>
              <a:t>
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Risk 5x5 Heatmap표, Quant Risk Impact, Feedback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4486275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[문제 5] 팀 간 R&amp;R 대립 및 사기 저하:</a:t>
            </a:r>
            <a:r>
              <a:rPr>
                <a:solidFill/>
              </a:rPr>
              <a:t>
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Causal Map, Pareto Chart표, Trend Analysis 선형회귀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2028825"/>
            <a:ext cx="76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2628900"/>
            <a:ext cx="76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3228975"/>
            <a:ext cx="76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3829050"/>
            <a:ext cx="76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4429125"/>
            <a:ext cx="76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7250" y="224313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72542" y="2243137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62725" y="22431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84381" y="22431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09484" y="22431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52712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72542" y="2652712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250" y="306228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62725" y="265271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84381" y="265271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09484" y="265271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306228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84381" y="306228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09484" y="306228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47186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84381" y="347186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09484" y="347186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8814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84381" y="38814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09484" y="38814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PROJECT OVERVIEW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47850"/>
          <a:ext cx="4810124" cy="1228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292"/>
                <a:gridCol w="3894832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목표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Noto Sans KR"/>
                        </a:rPr>
                        <a:t>가전 연동, RTM 확인, 개인화 캠페인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2025.08 ~ 2025.11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방식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Agile 스크럼 + Milestone 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47850"/>
          <a:ext cx="4810124" cy="244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656"/>
                <a:gridCol w="825103"/>
                <a:gridCol w="2163365"/>
              </a:tblGrid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일정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현재 상태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G1 Scope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09/15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(REQ-017 혼선)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G2 Design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(약관 누락)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G3 Beta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(D-15 충돌)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G4 LRR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(p95 초과)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799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G5 Launch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5381625" cy="497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409700"/>
            <a:ext cx="5381625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1609725"/>
            <a:ext cx="523065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oppins SemiBold"/>
              </a:rPr>
              <a:t>프로젝트 개요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1525" y="2038350"/>
          <a:ext cx="4962524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488727"/>
                <a:gridCol w="3473797"/>
              </a:tblGrid>
              <a:tr h="60198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프로젝트명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"/>
                        </a:rPr>
                        <a:t>NovaHome Connect (글로벌 가전·스마트홈 통합 플랫폼)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가전/디바이스 연동, RTM 실시간 상태 확인, 개인화 캠페인 제공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기간 / 론칭일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2025.08 ~ 2025.11 / </a:t>
                      </a:r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2025년 11월 15일 글로벌 론칭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수행 방식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Agile 스크럼 (2주 스프린트) + Milestone Gate 체계 병행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핵심 파트너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NebulaWorks (인증 게이트웨이), AdVantage (광고/캠페인)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38900" y="1609725"/>
            <a:ext cx="523065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oppins SemiBold"/>
              </a:rPr>
              <a:t>마일스톤 게이트(Gate) 체계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38900" y="2038350"/>
          <a:ext cx="4962522" cy="3752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206996"/>
                <a:gridCol w="1201935"/>
                <a:gridCol w="643383"/>
                <a:gridCol w="1910208"/>
              </a:tblGrid>
              <a:tr h="625475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게이트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일정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현재 상태 &amp; 리스크 신호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G1 Scope Freeze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범위/우선순위 확정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09/15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</a:t>
                      </a:r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 REQ-017/011 범위 혼선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G2 Design Freeze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아키텍처/보안 승인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10/01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</a:t>
                      </a:r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 REQ-021 약관 CRB 지연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G3 Beta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핵심기능 제한공개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10/20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</a:t>
                      </a:r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 D-15 소셜로그인 충돌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G4 LRR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Go/No-Go 검증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11/05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</a:t>
                      </a:r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 p95 410ms 초과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G5 Launch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글로벌 정식 론칭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11/15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위험</a:t>
                      </a:r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 High 리스크 미해소 시 실패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81050" y="2638425"/>
            <a:ext cx="14887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69777" y="2638425"/>
            <a:ext cx="34737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8425" y="2457450"/>
            <a:ext cx="12069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55421" y="2457450"/>
            <a:ext cx="12019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7357" y="2457450"/>
            <a:ext cx="6433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0741" y="2457450"/>
            <a:ext cx="19102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050" y="3238500"/>
            <a:ext cx="14887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69777" y="3238500"/>
            <a:ext cx="34737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050" y="3838575"/>
            <a:ext cx="14887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69777" y="3838575"/>
            <a:ext cx="34737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050" y="4438650"/>
            <a:ext cx="14887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69777" y="4438650"/>
            <a:ext cx="34737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050" y="5029200"/>
            <a:ext cx="14887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8425" y="3133725"/>
            <a:ext cx="12069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55421" y="3133725"/>
            <a:ext cx="12019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57357" y="3133725"/>
            <a:ext cx="6433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0741" y="3133725"/>
            <a:ext cx="19102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8425" y="3810000"/>
            <a:ext cx="12069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55421" y="3810000"/>
            <a:ext cx="12019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57357" y="3810000"/>
            <a:ext cx="6433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0741" y="3810000"/>
            <a:ext cx="19102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8425" y="4457700"/>
            <a:ext cx="12069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55421" y="4457700"/>
            <a:ext cx="12019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57357" y="4457700"/>
            <a:ext cx="6433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0741" y="4457700"/>
            <a:ext cx="19102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8425" y="5105400"/>
            <a:ext cx="12069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55421" y="5105400"/>
            <a:ext cx="12019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57357" y="5105400"/>
            <a:ext cx="6433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00741" y="5105400"/>
            <a:ext cx="19102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3616" y="2581275"/>
            <a:ext cx="438150" cy="2571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3616" y="3257550"/>
            <a:ext cx="438150" cy="2571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3616" y="3933825"/>
            <a:ext cx="742950" cy="2286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3616" y="4581525"/>
            <a:ext cx="742950" cy="2286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3616" y="5229225"/>
            <a:ext cx="438150" cy="257175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485900"/>
            <a:ext cx="767506" cy="247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7250" y="227171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67607" y="227171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9305" y="227171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1485900"/>
            <a:ext cx="767506" cy="2476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62725" y="227171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27565" y="227171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270331" y="227171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81287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67607" y="2681287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9305" y="2681287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7250" y="309086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67607" y="309086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9305" y="309086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268128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27565" y="268128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270331" y="268128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09086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27565" y="309086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70331" y="309086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50043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27565" y="350043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70331" y="350043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IDENTIFY: KPI GAP &amp; PRIORITY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76425"/>
          <a:ext cx="4810124" cy="1628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357"/>
                <a:gridCol w="1441698"/>
                <a:gridCol w="1458069"/>
              </a:tblGrid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KPI 지표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Actual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응답속도 (p95)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300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 Black"/>
                        </a:rPr>
                        <a:t>410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5xx 오류율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 Black"/>
                        </a:rPr>
                        <a:t>0.35%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719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CI 성공률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≥ 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78%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76425"/>
          <a:ext cx="4810124" cy="203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840"/>
                <a:gridCol w="2842766"/>
                <a:gridCol w="1102518"/>
              </a:tblGrid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핵심 문제명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긴급/영향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 Blac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거버넌스 붕괴 &amp; 비공식 변경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 Black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요구사항 통제 미비 (Scope Creep)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검증 파이프라인 붕괴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Compliance 리스크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5530"/>
            <a:ext cx="2619375" cy="15769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815530"/>
            <a:ext cx="2619375" cy="15769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815530"/>
            <a:ext cx="2619375" cy="15769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25" y="2815530"/>
            <a:ext cx="2619375" cy="157698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1409700"/>
            <a:ext cx="11049000" cy="92958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600200"/>
            <a:ext cx="10668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Noto Sans KR"/>
              </a:rPr>
              <a:t>사태 요약:</a:t>
            </a:r>
            <a:r>
              <a:rPr b="0" sz="1350" i="0" u="none">
                <a:solidFill>
                  <a:srgbClr val="FFFFFF"/>
                </a:solidFill>
                <a:latin typeface="Noto Sans KR"/>
              </a:rPr>
              <a:t> PO가 마케팅 캠페인 일정 압박에 밀려, 이슈 미팅 결정을 뒤집고 </a:t>
            </a:r>
            <a:r>
              <a:rPr b="1" sz="1350" i="0" u="none">
                <a:solidFill>
                  <a:srgbClr val="FFFFFF"/>
                </a:solidFill>
                <a:latin typeface="Noto Sans KR"/>
              </a:rPr>
              <a:t>소셜 로그인(REQ-017)을 베타(D-15)에 기습 반영</a:t>
            </a:r>
            <a:r>
              <a:rPr b="0" sz="1350" i="0" u="none">
                <a:solidFill>
                  <a:srgbClr val="FFFFFF"/>
                </a:solidFill>
                <a:latin typeface="Noto Sans KR"/>
              </a:rPr>
              <a:t>하면서 기술 충돌, 품질 전수검증 불능, 약관 미비 법적 리스크가 동시 폭발하여 각 팀 리드(BE, QA, 보안)가 집단 반발 및 직무 거부 선언.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409700"/>
            <a:ext cx="47625" cy="92958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6341" y="3044130"/>
            <a:ext cx="2024508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Noto Sans KR"/>
              </a:rPr>
              <a:t>PO / 마케팅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339405"/>
            <a:ext cx="221932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"마케팅 캠페인과 연동 필수. 구글/애플 로그인 이미 지난주 개발 착수했고 이번 주 통합 테스트 강행해야 함."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216" y="3044130"/>
            <a:ext cx="2024508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Noto Sans KR"/>
              </a:rPr>
              <a:t>서비스 BE (오지후)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00" y="3339405"/>
            <a:ext cx="221932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"Nebula SDK 2.4 막바지인데 갑자기 로그인 들어와 빌드 충돌 발생. 자원도 없고 QA 지원도 못 받는 상황."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6091" y="3044130"/>
            <a:ext cx="2024508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Noto Sans KR"/>
              </a:rPr>
              <a:t>품질/QA (문해인)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339405"/>
            <a:ext cx="2219325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"테스트 매트릭스 2배(40개 TC) 급증. 체크리스트에도 없어 전수 검증 불가능. 불안정한 서비스 노출 시 QA 책임 몰림."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5966" y="3044130"/>
            <a:ext cx="2024508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Noto Sans KR"/>
              </a:rPr>
              <a:t>보안/법무 (윤세라)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1150" y="3339405"/>
            <a:ext cx="2219325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"개인정보 처리 동의 문구 약관 초안 누락. CRB 승인 이번 주 마감 불가 시 론칭 불가. 법적 리스크 나중에 보완 동의 불가."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067942"/>
            <a:ext cx="118616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1400" y="3067942"/>
            <a:ext cx="118616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3067942"/>
            <a:ext cx="118616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1150" y="3067942"/>
            <a:ext cx="118616" cy="1524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400"/>
            <a:ext cx="5286375" cy="7180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215637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0075" y="3112591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299245"/>
            <a:ext cx="400198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255466"/>
            <a:ext cx="400198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P1.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거버넌스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비공식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변경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5381625" cy="497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409700"/>
            <a:ext cx="5381625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1657350"/>
            <a:ext cx="5130641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oppins SemiBold"/>
              </a:rPr>
              <a:t>KPI Gap Analysis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9150" y="2124075"/>
          <a:ext cx="4867273" cy="270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00782"/>
                <a:gridCol w="1072753"/>
                <a:gridCol w="1264890"/>
                <a:gridCol w="1028848"/>
              </a:tblGrid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KPI 지표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목표 (Target)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실적 (Actual)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서비스 응답속도 (p95)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300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410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서버 5xx 오류율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0.2%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0.35%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RTM 장애 건수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0 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간헐적 실패 발생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CI 빌드 성공률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≥ 85%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78%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86525" y="1657350"/>
            <a:ext cx="5130641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oppins SemiBold"/>
              </a:rPr>
              <a:t>Category Symptom Mapping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657350"/>
            <a:ext cx="710058" cy="2762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8675" y="2705100"/>
            <a:ext cx="150078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29457" y="2705100"/>
            <a:ext cx="10727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2210" y="2705100"/>
            <a:ext cx="12648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7101" y="2705100"/>
            <a:ext cx="10288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1657350"/>
            <a:ext cx="710058" cy="2762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4650" y="2171700"/>
            <a:ext cx="4648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범위(Scope):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G1 Freeze 무시 및 소셜 로그인(REQ-017) 기습 투입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2543175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일정(Schedule):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SDK 2.4 연동 일정 누락, CRB(10/18) 승인 타임라인 압박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314325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이해관계자(Stakeholder):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스폰서-PM-PO 독단 의사결정 및 인도 QA 통번역 혼선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3743325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Noto Sans KR"/>
              </a:rPr>
              <a:t>품질/리스크(Quality/Risk):</a:t>
            </a:r>
            <a:r>
              <a:rPr b="0" sz="1200" i="0" u="none">
                <a:solidFill>
                  <a:srgbClr val="FFFFFF"/>
                </a:solidFill>
                <a:latin typeface="Noto Sans KR"/>
              </a:rPr>
              <a:t> 테스트 전수검증 불능 및 개인정보 약관 누락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675" y="3286125"/>
            <a:ext cx="150078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29457" y="3286125"/>
            <a:ext cx="10727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2210" y="3286125"/>
            <a:ext cx="12648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7101" y="3286125"/>
            <a:ext cx="10288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8675" y="3752850"/>
            <a:ext cx="150078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29457" y="3752850"/>
            <a:ext cx="10727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2210" y="3752850"/>
            <a:ext cx="12648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7101" y="3752850"/>
            <a:ext cx="10288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675" y="4352925"/>
            <a:ext cx="150078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29457" y="4352925"/>
            <a:ext cx="10727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02210" y="4352925"/>
            <a:ext cx="12648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7101" y="4352925"/>
            <a:ext cx="10288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6525" y="2114550"/>
            <a:ext cx="76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6525" y="2486025"/>
            <a:ext cx="76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6525" y="3086100"/>
            <a:ext cx="76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6525" y="3686175"/>
            <a:ext cx="76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976" y="2886075"/>
            <a:ext cx="742950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976" y="3409950"/>
            <a:ext cx="742950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9976" y="3943350"/>
            <a:ext cx="495300" cy="2286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9976" y="4476750"/>
            <a:ext cx="495300" cy="2286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0015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156368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34302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299245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P2. SCOPE CREEP &amp; RTM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11049000" cy="4972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1657350"/>
            <a:ext cx="1108138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oppins SemiBold"/>
              </a:rPr>
              <a:t>Impact-Urgency Prioritization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9150" y="2124075"/>
          <a:ext cx="10534647" cy="4010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53405"/>
                <a:gridCol w="3687067"/>
                <a:gridCol w="1053405"/>
                <a:gridCol w="1053405"/>
                <a:gridCol w="3687365"/>
              </a:tblGrid>
              <a:tr h="66833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선정된 핵심 문제명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긴급도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영향도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핵심 원인 도출 도구 (문제별 3개 풀패키지)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6683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Rank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거버넌스 붕괴 &amp; 권한/스폰서십 비공식 변경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RACI Matrix, Stakeholder Matrix, 5 Whys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683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Rank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요구사항 변경 통제 미비 &amp; Scope Creep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RTM Matrix, Burndown Chart, Mindset Mapping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683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Rank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검증/품질 보증 파이프라인 붕괴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Control Chart, Variance Analysis, Fishbone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683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Rank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법무/보안 규제 준수(Compliance) 리스크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Risk P-I Matrix, Quant Risk Impact, Feedback Loop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6834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Rank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팀 간 R&amp;R 대립 및 조직 사기 저하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Noto Sans KR"/>
                        </a:rPr>
                        <a:t>Causal Map, Pareto Chart, Trend Analysis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657350"/>
            <a:ext cx="710058" cy="2762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8675" y="2543175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82080" y="2543175"/>
            <a:ext cx="36870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69148" y="2543175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2553" y="2543175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75959" y="2543175"/>
            <a:ext cx="3687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675" y="3260675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82080" y="3260675"/>
            <a:ext cx="36870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69148" y="3260675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2553" y="3260675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75959" y="3260675"/>
            <a:ext cx="3687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675" y="3978175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82080" y="3978175"/>
            <a:ext cx="36870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69148" y="3978175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2553" y="3978175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75959" y="3978175"/>
            <a:ext cx="3687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8675" y="4695676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82080" y="4695676"/>
            <a:ext cx="36870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69148" y="4695676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22553" y="4695676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75959" y="4695676"/>
            <a:ext cx="3687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8675" y="5413176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82080" y="5413176"/>
            <a:ext cx="36870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69148" y="5413176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22553" y="5413176"/>
            <a:ext cx="10534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75959" y="5413176"/>
            <a:ext cx="3687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2655093" cy="1152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468" y="1409700"/>
            <a:ext cx="2655093" cy="1152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437" y="1409700"/>
            <a:ext cx="2655093" cy="1152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406" y="1409700"/>
            <a:ext cx="2655093" cy="1152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43225"/>
            <a:ext cx="3555950" cy="3438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2943225"/>
            <a:ext cx="3555950" cy="3438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2943225"/>
            <a:ext cx="3556099" cy="3438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5857875"/>
            <a:ext cx="31559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7975" y="5857875"/>
            <a:ext cx="31559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4425" y="5857875"/>
            <a:ext cx="3156049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1. MINDSET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1809750"/>
            <a:ext cx="2350293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의사결정을 공식 체계(CRB)가 아닌 '영업/마케팅 단독 압박 및 임기응변식 타협'으로 처리함.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1868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2.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1868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Governance Performance Domain &amp; Stakeholder Performance Domain 붕괴.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9837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3. AI 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9837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AI 기반 의사결정 영향도 자동 검증 &amp; RACI 승인 에이전트 구축.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7806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4. FUTURE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7806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스폰서-PO-PM 3자 공식 승인 절차 미거친 변경 요청의 투입 0건 달성.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143250"/>
            <a:ext cx="3155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RACI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525" y="3409950"/>
            <a:ext cx="3155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71525" y="3562350"/>
          <a:ext cx="313684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921097"/>
                <a:gridCol w="506759"/>
                <a:gridCol w="549622"/>
                <a:gridCol w="544264"/>
                <a:gridCol w="615106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활동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스폰서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PM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개발/QA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소셜로그인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I (누락)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C (동의)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A (독단)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I (불통)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SDK 2.4 일정변경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A / 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R (충돌)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517975" y="3143250"/>
            <a:ext cx="3155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Stakeholder Engagement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7975" y="3409950"/>
            <a:ext cx="3155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17975" y="3562350"/>
          <a:ext cx="3136849" cy="1685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47725"/>
                <a:gridCol w="706784"/>
                <a:gridCol w="782538"/>
                <a:gridCol w="799802"/>
              </a:tblGrid>
              <a:tr h="421481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이해관계자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현재 (C)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바람직 (D)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갭 분석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스폰서(전무)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Unaware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Leading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치명적 단절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마케팅 실장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Resistant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Supportive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대립 심화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21482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QA (문해인)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Resistant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Supportive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직무 거부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264425" y="3143250"/>
            <a:ext cx="3156049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5 Whys Root Cause 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4425" y="3409950"/>
            <a:ext cx="31560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4425" y="3562350"/>
            <a:ext cx="3156049" cy="990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FFFFF"/>
                </a:solidFill>
                <a:latin typeface="Noto Sans KR"/>
              </a:rPr>
              <a:t>1.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Why?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소셜로그인 기습 반영 ➔ PO 마케팅 압박 수용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2.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Why?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PO 일방수용? ➔ CRB 승인 절차 생략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3.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Why?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PM 미제지? ➔ 영향도 분석 없이 동의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4.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Why?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통제불가? ➔ 거버넌스 승인 권한 미비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5.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Root Cause: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PMBOK 8판 거버넌스 부재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3152775"/>
            <a:ext cx="511522" cy="1524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781050" y="4067175"/>
            <a:ext cx="9210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02147" y="4067175"/>
            <a:ext cx="5067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08907" y="4067175"/>
            <a:ext cx="54962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58529" y="4067175"/>
            <a:ext cx="5442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02793" y="4067175"/>
            <a:ext cx="61510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6029325"/>
            <a:ext cx="96440" cy="1238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17975" y="3152775"/>
            <a:ext cx="569714" cy="1524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527500" y="3895725"/>
            <a:ext cx="847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75225" y="3895725"/>
            <a:ext cx="7067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82010" y="3895725"/>
            <a:ext cx="78253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64548" y="3895725"/>
            <a:ext cx="79980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17975" y="6029325"/>
            <a:ext cx="96440" cy="1238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64425" y="3152775"/>
            <a:ext cx="511522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4425" y="6029325"/>
            <a:ext cx="96440" cy="123825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781050" y="4572000"/>
            <a:ext cx="9210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702147" y="4572000"/>
            <a:ext cx="5067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08907" y="4572000"/>
            <a:ext cx="54962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58529" y="4572000"/>
            <a:ext cx="5442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02793" y="4572000"/>
            <a:ext cx="61510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27500" y="4400550"/>
            <a:ext cx="847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75225" y="4400550"/>
            <a:ext cx="7067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82010" y="4400550"/>
            <a:ext cx="78253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64548" y="4400550"/>
            <a:ext cx="79980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27500" y="4733925"/>
            <a:ext cx="847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75225" y="4733925"/>
            <a:ext cx="7067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82010" y="4733925"/>
            <a:ext cx="78253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64548" y="4733925"/>
            <a:ext cx="79980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251618"/>
            <a:ext cx="5286375" cy="12971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43827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394495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P4. COMPLIANCE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리스크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2655093" cy="1152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468" y="1409700"/>
            <a:ext cx="2655093" cy="1152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437" y="1409700"/>
            <a:ext cx="2655093" cy="1152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406" y="1409700"/>
            <a:ext cx="2655093" cy="1152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43225"/>
            <a:ext cx="3555950" cy="3438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2943225"/>
            <a:ext cx="3555950" cy="3438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2943225"/>
            <a:ext cx="3556099" cy="3438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5857875"/>
            <a:ext cx="31559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7975" y="5857875"/>
            <a:ext cx="3155900" cy="3238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1. MINDSET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1809750"/>
            <a:ext cx="2350293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보안/법무 약관을 프로젝트 론칭 직전의 형식적 절차로 치부하는 컴플라이언스 민감도 결여.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1868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2.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1868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Risk Performance Domain &amp; Compliance Domain 붕괴.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9837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3. AI USE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9837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AI 컴플라이언스 사전 약관 검증기 &amp; Geo-IP 자동 신청 에이전트.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7806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4. FUTURE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7806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CRB 승인 100% 사전 확보 및 글로벌 법적 과징금/접속 차단 리스크 ZERO.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3143250"/>
            <a:ext cx="3155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Risk P-I Heatmap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1525" y="3409950"/>
            <a:ext cx="3155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71525" y="3562350"/>
          <a:ext cx="3136848" cy="1123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50367"/>
                <a:gridCol w="277415"/>
                <a:gridCol w="263425"/>
                <a:gridCol w="845641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리스크 항목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개인정보 동의 약관 누락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25 (Crit)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Geo-IP Enforcement 미대응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20 (Crit)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17975" y="3143250"/>
            <a:ext cx="3155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Quant Risk Impact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7975" y="3409950"/>
            <a:ext cx="3155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975" y="3657600"/>
            <a:ext cx="3155900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FFFFF"/>
                </a:solidFill>
                <a:latin typeface="Noto Sans KR"/>
              </a:rPr>
              <a:t>•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유럽 지역 차단: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Geo-IP 미신청 시 11/01 차단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•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과징금 정량: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매출 대비 패널티 + 법률 분쟁 비용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•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론칭 불가: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CRB(10/18) 미통과 시 론칭 보류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425" y="3143250"/>
            <a:ext cx="3156049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Feedback Loop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4425" y="3409950"/>
            <a:ext cx="31560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4425" y="3705225"/>
            <a:ext cx="3156049" cy="1538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약관 검토 지연</a:t>
            </a:r>
            <a:r>
              <a:rPr>
                <a:solidFill/>
              </a:rPr>
              <a:t>
</a:t>
            </a:r>
            <a:r>
              <a:rPr>
                <a:solidFill/>
              </a:rPr>
              <a:t>
</a:t>
            </a:r>
            <a:r>
              <a:rPr b="0" sz="1050" i="0" u="none">
                <a:solidFill>
                  <a:srgbClr val="FFFFFF"/>
                </a:solidFill>
                <a:latin typeface="Noto Sans KR"/>
              </a:rPr>
              <a:t> CRB 승인 실패</a:t>
            </a:r>
            <a:r>
              <a:rPr>
                <a:solidFill/>
              </a:rPr>
              <a:t>
</a:t>
            </a:r>
            <a:r>
              <a:rPr>
                <a:solidFill/>
              </a:rPr>
              <a:t>
</a:t>
            </a:r>
            <a:r>
              <a:rPr b="0" sz="1050" i="0" u="none">
                <a:solidFill>
                  <a:srgbClr val="FFFFFF"/>
                </a:solidFill>
                <a:latin typeface="Noto Sans KR"/>
              </a:rPr>
              <a:t> 론칭 연기 또는 과징금</a:t>
            </a:r>
            <a:r>
              <a:rPr>
                <a:solidFill/>
              </a:rPr>
              <a:t>
</a:t>
            </a:r>
            <a:r>
              <a:rPr>
                <a:solidFill/>
              </a:rPr>
              <a:t>
</a:t>
            </a:r>
            <a:r>
              <a:rPr b="0" sz="1050" i="0" u="none">
                <a:solidFill>
                  <a:srgbClr val="FFFFFF"/>
                </a:solidFill>
                <a:latin typeface="Noto Sans KR"/>
              </a:rPr>
              <a:t> 마케팅 손실 및 전사 신뢰 추락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3152775"/>
            <a:ext cx="511522" cy="1524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81050" y="3895725"/>
            <a:ext cx="17503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31417" y="3895725"/>
            <a:ext cx="2774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08833" y="3895725"/>
            <a:ext cx="2634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72258" y="3895725"/>
            <a:ext cx="84564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6029325"/>
            <a:ext cx="96440" cy="1238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17975" y="3152775"/>
            <a:ext cx="569714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17975" y="6029325"/>
            <a:ext cx="96440" cy="1238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4425" y="3152775"/>
            <a:ext cx="569714" cy="152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90509" y="3966120"/>
            <a:ext cx="103733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90509" y="4407991"/>
            <a:ext cx="103733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90509" y="4849862"/>
            <a:ext cx="103733" cy="13335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781050" y="4286250"/>
            <a:ext cx="17503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31417" y="4286250"/>
            <a:ext cx="2774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08833" y="4286250"/>
            <a:ext cx="2634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72258" y="4286250"/>
            <a:ext cx="84564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7508" y="3981450"/>
            <a:ext cx="641449" cy="2286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67508" y="4371975"/>
            <a:ext cx="641449" cy="228600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0075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0075" y="2251621"/>
            <a:ext cx="5286375" cy="10266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394495"/>
            <a:ext cx="473273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P5. 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팀 간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대립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사기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저하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2655093" cy="1152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468" y="1409700"/>
            <a:ext cx="2655093" cy="1152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437" y="1409700"/>
            <a:ext cx="2655093" cy="1152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406" y="1409700"/>
            <a:ext cx="2655093" cy="1152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43225"/>
            <a:ext cx="3555950" cy="3438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2943225"/>
            <a:ext cx="3555950" cy="3438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2943225"/>
            <a:ext cx="3556099" cy="3438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562350"/>
            <a:ext cx="3155900" cy="2200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5857875"/>
            <a:ext cx="31559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17975" y="5857875"/>
            <a:ext cx="315590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1. MINDSET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1809750"/>
            <a:ext cx="2350293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리더십을 일방 통제로 인식하고 팀원과의 투명한 소통과 서번트 리더십 제공 실패.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1868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2.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1868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Team Performance Domain &amp; Culture Domain 붕괴.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9837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3. AI 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9837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AI 다국어 회의록/의사결정 요약 봇 &amp; 팀 사기/업무 과중도 감지 에이전트.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7806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4. FUTURE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7806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의사결정의 100% 투명 공유 및 글로벌 팀 협업 만족도 90% 달성.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143250"/>
            <a:ext cx="3155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Causal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525" y="3409950"/>
            <a:ext cx="3155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975" y="3143250"/>
            <a:ext cx="3155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Pareto Chart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7975" y="3409950"/>
            <a:ext cx="3155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17975" y="3562350"/>
          <a:ext cx="3136849" cy="100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53195"/>
                <a:gridCol w="614511"/>
                <a:gridCol w="769143"/>
              </a:tblGrid>
              <a:tr h="33655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불만 원인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건수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누적%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일방적 스코프 변경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34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33.3%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기술부채/빌드충돌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60.8%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264425" y="3143250"/>
            <a:ext cx="3156049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Trend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4425" y="3409950"/>
            <a:ext cx="31560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4425" y="3657600"/>
            <a:ext cx="3156049" cy="990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FFFFF"/>
                </a:solidFill>
                <a:latin typeface="Noto Sans KR"/>
              </a:rPr>
              <a:t>•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해외 QA 번역오해: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Disabled vs Reconnect delay 회의록 오역으로 테스트 왜곡</a:t>
            </a:r>
            <a:r>
              <a:rPr>
                <a:solidFill/>
              </a:rPr>
              <a:t>
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•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개발자 이탈 추세: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블라인드 게시판 불만 폭발 ➔ 게이트 통과 동력 상실 위험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3152775"/>
            <a:ext cx="569714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6300" y="3667125"/>
            <a:ext cx="2946350" cy="19907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525" y="6029325"/>
            <a:ext cx="96440" cy="1238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17975" y="3152775"/>
            <a:ext cx="569714" cy="1524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527500" y="3895725"/>
            <a:ext cx="17531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80695" y="3895725"/>
            <a:ext cx="61451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95207" y="3895725"/>
            <a:ext cx="7691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17975" y="6029325"/>
            <a:ext cx="96440" cy="1238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4425" y="3152775"/>
            <a:ext cx="569714" cy="1524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527500" y="4229100"/>
            <a:ext cx="17531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80695" y="4229100"/>
            <a:ext cx="61451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95207" y="4229100"/>
            <a:ext cx="7691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24493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10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731912"/>
            <a:ext cx="246608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26085"/>
            <a:ext cx="355595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3926085"/>
            <a:ext cx="355595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3926085"/>
            <a:ext cx="3556099" cy="1714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1409700"/>
            <a:ext cx="11049000" cy="120387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600200"/>
            <a:ext cx="10668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Noto Sans KR"/>
              </a:rPr>
              <a:t>종합 진단 총평:</a:t>
            </a:r>
            <a:r>
              <a:rPr b="0" sz="1350" i="0" u="none">
                <a:solidFill>
                  <a:srgbClr val="FFFFFF"/>
                </a:solidFill>
                <a:latin typeface="Noto Sans KR"/>
              </a:rPr>
              <a:t> 5개 문제에 매핑된 </a:t>
            </a:r>
            <a:r>
              <a:rPr b="1" sz="1350" i="0" u="none">
                <a:solidFill>
                  <a:srgbClr val="FFFFFF"/>
                </a:solidFill>
                <a:latin typeface="Noto Sans KR"/>
              </a:rPr>
              <a:t>실물 분석 도구 15종(RACI, RTM, Control Chart, Burndown, Pareto, Heatmap 등)</a:t>
            </a:r>
            <a:r>
              <a:rPr b="0" sz="1350" i="0" u="none">
                <a:solidFill>
                  <a:srgbClr val="FFFFFF"/>
                </a:solidFill>
                <a:latin typeface="Noto Sans KR"/>
              </a:rPr>
              <a:t>을 문제 카드에 직접 통합하여 </a:t>
            </a:r>
            <a:r>
              <a:rPr b="1" sz="1350" i="0" u="none">
                <a:solidFill>
                  <a:srgbClr val="FFFFFF"/>
                </a:solidFill>
                <a:latin typeface="Noto Sans KR"/>
              </a:rPr>
              <a:t>PMBOK 8판 거버넌스 붕괴 및 비공식적 변경 절차</a:t>
            </a:r>
            <a:r>
              <a:rPr b="0" sz="1350" i="0" u="none">
                <a:solidFill>
                  <a:srgbClr val="FFFFFF"/>
                </a:solidFill>
                <a:latin typeface="Noto Sans KR"/>
              </a:rPr>
              <a:t>라는 근본 원인을 완벽히 증명했습니다. 이제 </a:t>
            </a:r>
            <a:r>
              <a:rPr b="1" sz="1350" i="0" u="none">
                <a:solidFill>
                  <a:srgbClr val="FFFFFF"/>
                </a:solidFill>
                <a:latin typeface="Noto Sans KR"/>
              </a:rPr>
              <a:t>Value-Driven AI Agentic 시스템(Stage ③)</a:t>
            </a:r>
            <a:r>
              <a:rPr b="0" sz="1350" i="0" u="none">
                <a:solidFill>
                  <a:srgbClr val="FFFFFF"/>
                </a:solidFill>
                <a:latin typeface="Noto Sans KR"/>
              </a:rPr>
              <a:t> 설계로 즉시 이행합니다.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409700"/>
            <a:ext cx="47625" cy="120387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525" y="4354710"/>
            <a:ext cx="31559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Noto Sans KR"/>
              </a:rPr>
              <a:t>1. Stage ① Identify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850010"/>
            <a:ext cx="3155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FFFFF"/>
                </a:solidFill>
                <a:latin typeface="Noto Sans KR"/>
              </a:rPr>
              <a:t>5대 KPI 갭 식별 완료</a:t>
            </a:r>
            <a:r>
              <a:rPr>
                <a:solidFill/>
              </a:rPr>
              <a:t>
</a:t>
            </a:r>
            <a:r>
              <a:rPr b="0" sz="1125" i="0" u="none">
                <a:solidFill>
                  <a:srgbClr val="FFFFFF"/>
                </a:solidFill>
                <a:latin typeface="Noto Sans KR"/>
              </a:rPr>
              <a:t> (p95 410ms, CI 78%, 돌발 이슈 01 포착)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975" y="4354710"/>
            <a:ext cx="31559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Noto Sans KR"/>
              </a:rPr>
              <a:t>2. Stage ②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975" y="4850010"/>
            <a:ext cx="3155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FFFFF"/>
                </a:solidFill>
                <a:latin typeface="Noto Sans KR"/>
              </a:rPr>
              <a:t>문제별 3개 실물 도구(총 15종)를 내장하여 근본 원인 증명 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425" y="4354710"/>
            <a:ext cx="3156049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Noto Sans KR"/>
              </a:rPr>
              <a:t>3. Stage ③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425" y="4850010"/>
            <a:ext cx="31560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FFFFF"/>
                </a:solidFill>
                <a:latin typeface="Noto Sans KR"/>
              </a:rPr>
              <a:t>AI RTM Agent, CRB 자동검증 봇, AI 회의록 시스템 기반 개선안 설계 이행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0015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198492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2769691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3554462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4537323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49573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34344"/>
            <a:ext cx="857250" cy="4762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19114"/>
            <a:ext cx="857250" cy="4762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03005"/>
            <a:ext cx="857250" cy="4762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785866"/>
            <a:ext cx="857250" cy="4762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669607"/>
            <a:ext cx="857250" cy="4762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IMAGE SOURCES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5381625" cy="497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409700"/>
            <a:ext cx="5381625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1657350"/>
            <a:ext cx="513064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oppins SemiBold"/>
              </a:rPr>
              <a:t>Stage ① Identify (8개 도구)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150" y="203835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525" y="1657350"/>
            <a:ext cx="513064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oppins SemiBold"/>
              </a:rPr>
              <a:t>Stage ② Analyze (12개 도구)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6525" y="2038350"/>
            <a:ext cx="488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825" y="21907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21907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KPI Gap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4955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24955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Requirements Traceability Matrix (RTM)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28003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28003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RACI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1051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31051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Risk Probability-Impact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4099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34099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영역별 증상 분류 (Category Symptom Mapping)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7147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" y="37147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영향도-긴급도 매트릭스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40195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" y="40195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Earned Value Management (EVM)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43243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650" y="43243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Variance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0" y="21907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7025" y="21907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5 Whys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3200" y="24955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7025" y="24955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Fishbone (Ishikawa) Diagram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200" y="28003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7025" y="28003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PMBOK 8판 Mindset Mapping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200" y="31051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4.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7025" y="31051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Performance Domain Mapping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200" y="34099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7025" y="34099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Stakeholder Engagement Matrix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3200" y="37147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7025" y="37147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Feedback Loop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3200" y="40195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7.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7025" y="40195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Causal Relationship 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3200" y="43243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8.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7025" y="43243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Quantitative Risk Impact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3200" y="4629150"/>
            <a:ext cx="1238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9.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7025" y="4629150"/>
            <a:ext cx="4695825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Control Chart (관리도)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7475" y="4933950"/>
            <a:ext cx="209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10.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7025" y="4933950"/>
            <a:ext cx="4695825" cy="3048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Burndown Chart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0" y="5238750"/>
            <a:ext cx="2000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11.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7025" y="5238750"/>
            <a:ext cx="4695825" cy="30480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Pareto Chart (파레토 분석)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7475" y="5543550"/>
            <a:ext cx="209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12.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7025" y="5543550"/>
            <a:ext cx="4695825" cy="3048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Trend Analysis (추세 분석)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2655093" cy="1152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468" y="1409700"/>
            <a:ext cx="2655093" cy="1152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437" y="1409700"/>
            <a:ext cx="2655093" cy="1152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406" y="1409700"/>
            <a:ext cx="2655093" cy="1152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43225"/>
            <a:ext cx="3555950" cy="3438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2943225"/>
            <a:ext cx="3555950" cy="3438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2943225"/>
            <a:ext cx="3556099" cy="3438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5857875"/>
            <a:ext cx="31559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7975" y="3562350"/>
            <a:ext cx="3155900" cy="2200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17975" y="5857875"/>
            <a:ext cx="315590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1. MINDSET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1809750"/>
            <a:ext cx="2350293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G1 Scope Freeze 베이스라인을 경시하고 변경에 따른 기술적 의존관계를 통제하지 않음.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1868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2.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1868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Planning Performance Domain &amp; Scope Management Domain 붕괴.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9837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3. AI 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9837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AI RTM 추적성 분석기 &amp; 스코프 변동 자동 경고 봇 구축.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7806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4. FUTURE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7806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베이스라인 변경 시 자동 영향도 분석 및 스코프 크립 0건 달성.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143250"/>
            <a:ext cx="3155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RTM Traceability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525" y="3409950"/>
            <a:ext cx="3155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71525" y="3562350"/>
          <a:ext cx="313684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665112"/>
                <a:gridCol w="738485"/>
                <a:gridCol w="863054"/>
                <a:gridCol w="87019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Req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요구사항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의존성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REQ-017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소셜로그인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REQ-021약관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RTM파괴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REQ-011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RTM알림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SDK 2.4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Blocked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517975" y="3143250"/>
            <a:ext cx="3155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Sprint 3 Burndown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7975" y="3409950"/>
            <a:ext cx="3155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4425" y="3143250"/>
            <a:ext cx="3156049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Mindset Mapping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4425" y="3409950"/>
            <a:ext cx="31560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4425" y="3657600"/>
            <a:ext cx="3156049" cy="1386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FFFFF"/>
                </a:solidFill>
                <a:latin typeface="Noto Sans KR"/>
              </a:rPr>
              <a:t>•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기존 마인드셋: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"요구사항 추가는 흔한 일, 개발자가 버티면 됨"</a:t>
            </a:r>
            <a:r>
              <a:rPr>
                <a:solidFill/>
              </a:rPr>
              <a:t>
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•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PMBOK 마인드셋: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"Scope Freeze 준수 및 영향도 자동 통제 체계 수립"</a:t>
            </a:r>
            <a:r>
              <a:rPr>
                <a:solidFill/>
              </a:rPr>
              <a:t>
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➔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결과: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마인드셋 결여로 스코프 크립 제어 실패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3152775"/>
            <a:ext cx="511522" cy="1524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81050" y="3895725"/>
            <a:ext cx="6651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46162" y="3895725"/>
            <a:ext cx="7384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84648" y="3895725"/>
            <a:ext cx="86305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47702" y="3895725"/>
            <a:ext cx="8701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6029325"/>
            <a:ext cx="96440" cy="1238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17975" y="3152775"/>
            <a:ext cx="569714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22750" y="3667125"/>
            <a:ext cx="2946350" cy="19907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17975" y="6029325"/>
            <a:ext cx="96440" cy="123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4425" y="3152775"/>
            <a:ext cx="563909" cy="1524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781050" y="4476750"/>
            <a:ext cx="6651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46162" y="4476750"/>
            <a:ext cx="7384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84648" y="4476750"/>
            <a:ext cx="86305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7702" y="4476750"/>
            <a:ext cx="8701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42952" y="3981450"/>
            <a:ext cx="679698" cy="4191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42952" y="4591050"/>
            <a:ext cx="654248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2655093" cy="1152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468" y="1409700"/>
            <a:ext cx="2655093" cy="1152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437" y="1409700"/>
            <a:ext cx="2655093" cy="1152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406" y="1409700"/>
            <a:ext cx="2655093" cy="1152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43225"/>
            <a:ext cx="3555950" cy="3438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2943225"/>
            <a:ext cx="3555950" cy="3438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2943225"/>
            <a:ext cx="3556099" cy="3438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562350"/>
            <a:ext cx="3155900" cy="2200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5857875"/>
            <a:ext cx="31559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17975" y="5857875"/>
            <a:ext cx="315590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1. MINDSET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1809750"/>
            <a:ext cx="2350293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단기 임시 대책(캐시 무효화 임시변경)이 전체 테스트 파이프라인을 붕괴시키는 품질 부채 간과.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1868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2.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1868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Delivery Performance Domain &amp; Quality Performance Domain 붕괴.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9837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3. AI 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9837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AI 자동 테스트 케이스 생성기 &amp; 회귀 성능 예측 모니터링 에이전트.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7806" y="1581150"/>
            <a:ext cx="235029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4. FUTURE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7806" y="1809750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Noto Sans KR"/>
              </a:rPr>
              <a:t>CI 빌드 성공률 90% 이상 확보 및 p95 ≤ 300ms 목표 안정 달성.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143250"/>
            <a:ext cx="3155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Control Chart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525" y="3409950"/>
            <a:ext cx="3155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975" y="3143250"/>
            <a:ext cx="3155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Variance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7975" y="3409950"/>
            <a:ext cx="3155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17975" y="3562350"/>
          <a:ext cx="3136848" cy="134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79599"/>
                <a:gridCol w="654843"/>
                <a:gridCol w="654843"/>
                <a:gridCol w="747563"/>
              </a:tblGrid>
              <a:tr h="335756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Noto Sans KR SemiBold"/>
                        </a:rPr>
                        <a:t>분산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응답속도 p95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300ms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410ms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+110ms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CI성공률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85%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78%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-7%p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3575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결함밀도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2.0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4.8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+2.8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264425" y="3143250"/>
            <a:ext cx="3156049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 SemiBold"/>
              </a:rPr>
              <a:t>Fishbone Diagram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4425" y="3409950"/>
            <a:ext cx="31560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4425" y="3657600"/>
            <a:ext cx="3156049" cy="990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FFFFF"/>
                </a:solidFill>
                <a:latin typeface="Noto Sans KR"/>
              </a:rPr>
              <a:t>•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People: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QA 40개 TC 전수검증 불능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•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Process: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캐시 임시적용, CR 미등록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•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Tech: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SDK 2.4 빌드충돌, 스키마 v3 파서혼선</a:t>
            </a:r>
            <a:r>
              <a:rPr>
                <a:solidFill/>
              </a:rPr>
              <a:t>
</a:t>
            </a:r>
            <a:r>
              <a:rPr>
                <a:solidFill/>
              </a:rPr>
              <a:t>
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➔ </a:t>
            </a:r>
            <a:r>
              <a:rPr b="1" sz="975" i="0" u="none">
                <a:solidFill>
                  <a:srgbClr val="FFFFFF"/>
                </a:solidFill>
                <a:latin typeface="Noto Sans KR"/>
              </a:rPr>
              <a:t>결과:</a:t>
            </a:r>
            <a:r>
              <a:rPr b="0" sz="975" i="0" u="none">
                <a:solidFill>
                  <a:srgbClr val="FFFFFF"/>
                </a:solidFill>
                <a:latin typeface="Noto Sans KR"/>
              </a:rPr>
              <a:t> CI 78% 추락 및 품질 붕괴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3152775"/>
            <a:ext cx="569714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6300" y="3667125"/>
            <a:ext cx="2946350" cy="19907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525" y="6029325"/>
            <a:ext cx="96440" cy="1238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17975" y="3152775"/>
            <a:ext cx="511522" cy="1524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527500" y="3895725"/>
            <a:ext cx="107959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07099" y="3895725"/>
            <a:ext cx="6548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1943" y="3895725"/>
            <a:ext cx="6548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16787" y="3895725"/>
            <a:ext cx="74756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17975" y="6029325"/>
            <a:ext cx="96440" cy="123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4425" y="3152775"/>
            <a:ext cx="569714" cy="1524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4527500" y="4229100"/>
            <a:ext cx="107959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07099" y="4229100"/>
            <a:ext cx="6548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1943" y="4229100"/>
            <a:ext cx="6548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16787" y="4229100"/>
            <a:ext cx="74756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27500" y="4562475"/>
            <a:ext cx="107959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07099" y="4562475"/>
            <a:ext cx="6548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1943" y="4562475"/>
            <a:ext cx="6548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16787" y="4562475"/>
            <a:ext cx="74756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044380"/>
            <a:ext cx="959048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948" y="5044380"/>
            <a:ext cx="1095523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347" y="5044380"/>
            <a:ext cx="1082873" cy="2952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88092" y="1914525"/>
            <a:ext cx="401581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0" sz="6000" i="0" u="none">
                <a:solidFill>
                  <a:srgbClr val="FFFFFF"/>
                </a:solidFill>
                <a:latin typeface="Poppins ExtraBold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92958" y="3305175"/>
            <a:ext cx="580608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FFFFF"/>
                </a:solidFill>
                <a:latin typeface="Noto Sans KR Light"/>
              </a:rPr>
              <a:t>LG SW PM Competition 2025 Final</a:t>
            </a:r>
            <a:r>
              <a:rPr>
                <a:solidFill/>
              </a:rPr>
              <a:t>
</a:t>
            </a:r>
            <a:r>
              <a:rPr b="0" sz="1800" i="0" u="none">
                <a:solidFill>
                  <a:srgbClr val="FFFFFF"/>
                </a:solidFill>
                <a:latin typeface="Noto Sans KR Light"/>
              </a:rPr>
              <a:t> Stage ① Identify &amp; Stage ② Analyze 모범 답안 작성 완료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980" y="4448175"/>
            <a:ext cx="5163889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528" y="4610100"/>
            <a:ext cx="133498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574</Words>
  <Application>Microsoft Office PowerPoint</Application>
  <PresentationFormat>와이드스크린</PresentationFormat>
  <Paragraphs>122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Noto Sans KR</vt:lpstr>
      <vt:lpstr>Noto Sans KR Black</vt:lpstr>
      <vt:lpstr>Arial</vt:lpstr>
      <vt:lpstr>Calibri</vt:lpstr>
      <vt:lpstr>Montserrat</vt:lpstr>
      <vt:lpstr>Montserrat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이준규/책임연구원/webOS ACP RP개발팀</dc:creator>
  <cp:keywords/>
  <dc:description>generated using python-pptx</dc:description>
  <cp:lastModifiedBy>이준규/책임연구원/SW Platform(연)Multimedia TP(zunkyu.lee@lge.com)</cp:lastModifiedBy>
  <cp:revision>2</cp:revision>
  <dcterms:created xsi:type="dcterms:W3CDTF">2013-01-27T09:14:16Z</dcterms:created>
  <dcterms:modified xsi:type="dcterms:W3CDTF">2026-08-22T07:09:50Z</dcterms:modified>
  <cp:category/>
</cp:coreProperties>
</file>
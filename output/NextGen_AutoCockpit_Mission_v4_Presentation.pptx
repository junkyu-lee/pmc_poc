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</p:sldIdLst>
  <p:notesMasterIdLst>
    <p:notesMasterId r:id="rId28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201314" Type="http://schemas.openxmlformats.org/officeDocument/2006/relationships/font" Target="fonts/201314.fntdata"/><Relationship Id="rId301314" Type="http://schemas.openxmlformats.org/officeDocument/2006/relationships/font" Target="fonts/301314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slideLayout" Target="../slideLayouts/slideLayout1.xml"/><Relationship Id="rId5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image" Target="../media/image-4-27.png"/><Relationship Id="rId28" Type="http://schemas.openxmlformats.org/officeDocument/2006/relationships/image" Target="../media/image-4-28.png"/><Relationship Id="rId29" Type="http://schemas.openxmlformats.org/officeDocument/2006/relationships/image" Target="../media/image-4-29.png"/><Relationship Id="rId30" Type="http://schemas.openxmlformats.org/officeDocument/2006/relationships/image" Target="../media/image-4-30.png"/><Relationship Id="rId31" Type="http://schemas.openxmlformats.org/officeDocument/2006/relationships/image" Target="../media/image-4-31.png"/><Relationship Id="rId32" Type="http://schemas.openxmlformats.org/officeDocument/2006/relationships/image" Target="../media/image-4-32.png"/><Relationship Id="rId33" Type="http://schemas.openxmlformats.org/officeDocument/2006/relationships/image" Target="../media/image-4-33.png"/><Relationship Id="rId34" Type="http://schemas.openxmlformats.org/officeDocument/2006/relationships/image" Target="../media/image-4-34.png"/><Relationship Id="rId35" Type="http://schemas.openxmlformats.org/officeDocument/2006/relationships/image" Target="../media/image-4-35.png"/><Relationship Id="rId36" Type="http://schemas.openxmlformats.org/officeDocument/2006/relationships/image" Target="../media/image-4-36.png"/><Relationship Id="rId37" Type="http://schemas.openxmlformats.org/officeDocument/2006/relationships/image" Target="../media/image-4-37.png"/><Relationship Id="rId38" Type="http://schemas.openxmlformats.org/officeDocument/2006/relationships/image" Target="../media/image-4-38.png"/><Relationship Id="rId39" Type="http://schemas.openxmlformats.org/officeDocument/2006/relationships/image" Target="../media/image-4-39.png"/><Relationship Id="rId40" Type="http://schemas.openxmlformats.org/officeDocument/2006/relationships/image" Target="../media/image-4-40.png"/><Relationship Id="rId41" Type="http://schemas.openxmlformats.org/officeDocument/2006/relationships/image" Target="../media/image-4-41.png"/><Relationship Id="rId42" Type="http://schemas.openxmlformats.org/officeDocument/2006/relationships/slideLayout" Target="../slideLayouts/slideLayout1.xml"/><Relationship Id="rId4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image" Target="../media/image-5-32.png"/><Relationship Id="rId33" Type="http://schemas.openxmlformats.org/officeDocument/2006/relationships/image" Target="../media/image-5-33.png"/><Relationship Id="rId34" Type="http://schemas.openxmlformats.org/officeDocument/2006/relationships/image" Target="../media/image-5-34.png"/><Relationship Id="rId35" Type="http://schemas.openxmlformats.org/officeDocument/2006/relationships/image" Target="../media/image-5-35.png"/><Relationship Id="rId36" Type="http://schemas.openxmlformats.org/officeDocument/2006/relationships/image" Target="../media/image-5-36.png"/><Relationship Id="rId37" Type="http://schemas.openxmlformats.org/officeDocument/2006/relationships/image" Target="../media/image-5-37.png"/><Relationship Id="rId38" Type="http://schemas.openxmlformats.org/officeDocument/2006/relationships/image" Target="../media/image-5-38.png"/><Relationship Id="rId39" Type="http://schemas.openxmlformats.org/officeDocument/2006/relationships/image" Target="../media/image-5-39.png"/><Relationship Id="rId40" Type="http://schemas.openxmlformats.org/officeDocument/2006/relationships/image" Target="../media/image-5-40.png"/><Relationship Id="rId41" Type="http://schemas.openxmlformats.org/officeDocument/2006/relationships/image" Target="../media/image-5-41.png"/><Relationship Id="rId42" Type="http://schemas.openxmlformats.org/officeDocument/2006/relationships/image" Target="../media/image-5-42.png"/><Relationship Id="rId43" Type="http://schemas.openxmlformats.org/officeDocument/2006/relationships/image" Target="../media/image-5-43.png"/><Relationship Id="rId44" Type="http://schemas.openxmlformats.org/officeDocument/2006/relationships/image" Target="../media/image-5-44.png"/><Relationship Id="rId45" Type="http://schemas.openxmlformats.org/officeDocument/2006/relationships/image" Target="../media/image-5-45.png"/><Relationship Id="rId46" Type="http://schemas.openxmlformats.org/officeDocument/2006/relationships/image" Target="../media/image-5-46.png"/><Relationship Id="rId47" Type="http://schemas.openxmlformats.org/officeDocument/2006/relationships/image" Target="../media/image-5-47.png"/><Relationship Id="rId48" Type="http://schemas.openxmlformats.org/officeDocument/2006/relationships/image" Target="../media/image-5-48.png"/><Relationship Id="rId49" Type="http://schemas.openxmlformats.org/officeDocument/2006/relationships/image" Target="../media/image-5-49.png"/><Relationship Id="rId50" Type="http://schemas.openxmlformats.org/officeDocument/2006/relationships/image" Target="../media/image-5-50.png"/><Relationship Id="rId51" Type="http://schemas.openxmlformats.org/officeDocument/2006/relationships/image" Target="../media/image-5-51.png"/><Relationship Id="rId52" Type="http://schemas.openxmlformats.org/officeDocument/2006/relationships/image" Target="../media/image-5-52.png"/><Relationship Id="rId53" Type="http://schemas.openxmlformats.org/officeDocument/2006/relationships/image" Target="../media/image-5-53.png"/><Relationship Id="rId54" Type="http://schemas.openxmlformats.org/officeDocument/2006/relationships/image" Target="../media/image-5-54.png"/><Relationship Id="rId55" Type="http://schemas.openxmlformats.org/officeDocument/2006/relationships/image" Target="../media/image-5-55.png"/><Relationship Id="rId56" Type="http://schemas.openxmlformats.org/officeDocument/2006/relationships/image" Target="../media/image-5-56.png"/><Relationship Id="rId57" Type="http://schemas.openxmlformats.org/officeDocument/2006/relationships/image" Target="../media/image-5-57.png"/><Relationship Id="rId58" Type="http://schemas.openxmlformats.org/officeDocument/2006/relationships/image" Target="../media/image-5-58.png"/><Relationship Id="rId59" Type="http://schemas.openxmlformats.org/officeDocument/2006/relationships/image" Target="../media/image-5-59.png"/><Relationship Id="rId60" Type="http://schemas.openxmlformats.org/officeDocument/2006/relationships/image" Target="../media/image-5-60.png"/><Relationship Id="rId61" Type="http://schemas.openxmlformats.org/officeDocument/2006/relationships/image" Target="../media/image-5-61.png"/><Relationship Id="rId62" Type="http://schemas.openxmlformats.org/officeDocument/2006/relationships/image" Target="../media/image-5-62.png"/><Relationship Id="rId63" Type="http://schemas.openxmlformats.org/officeDocument/2006/relationships/image" Target="../media/image-5-63.png"/><Relationship Id="rId64" Type="http://schemas.openxmlformats.org/officeDocument/2006/relationships/image" Target="../media/image-5-64.png"/><Relationship Id="rId65" Type="http://schemas.openxmlformats.org/officeDocument/2006/relationships/image" Target="../media/image-5-65.png"/><Relationship Id="rId66" Type="http://schemas.openxmlformats.org/officeDocument/2006/relationships/image" Target="../media/image-5-66.png"/><Relationship Id="rId67" Type="http://schemas.openxmlformats.org/officeDocument/2006/relationships/image" Target="../media/image-5-67.png"/><Relationship Id="rId68" Type="http://schemas.openxmlformats.org/officeDocument/2006/relationships/slideLayout" Target="../slideLayouts/slideLayout1.xml"/><Relationship Id="rId6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image" Target="../media/image-6-23.png"/><Relationship Id="rId24" Type="http://schemas.openxmlformats.org/officeDocument/2006/relationships/image" Target="../media/image-6-24.png"/><Relationship Id="rId25" Type="http://schemas.openxmlformats.org/officeDocument/2006/relationships/image" Target="../media/image-6-25.png"/><Relationship Id="rId26" Type="http://schemas.openxmlformats.org/officeDocument/2006/relationships/image" Target="../media/image-6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pn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pn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pn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pn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pn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pn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pn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pn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pn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png"/><Relationship Id="rId43" Type="http://schemas.openxmlformats.org/officeDocument/2006/relationships/image" Target="../media/image-11-43.png"/><Relationship Id="rId44" Type="http://schemas.openxmlformats.org/officeDocument/2006/relationships/image" Target="../media/image-11-44.png"/><Relationship Id="rId45" Type="http://schemas.openxmlformats.org/officeDocument/2006/relationships/image" Target="../media/image-11-45.png"/><Relationship Id="rId46" Type="http://schemas.openxmlformats.org/officeDocument/2006/relationships/image" Target="../media/image-11-46.png"/><Relationship Id="rId47" Type="http://schemas.openxmlformats.org/officeDocument/2006/relationships/image" Target="../media/image-11-47.png"/><Relationship Id="rId48" Type="http://schemas.openxmlformats.org/officeDocument/2006/relationships/image" Target="../media/image-11-48.png"/><Relationship Id="rId49" Type="http://schemas.openxmlformats.org/officeDocument/2006/relationships/image" Target="../media/image-11-49.png"/><Relationship Id="rId50" Type="http://schemas.openxmlformats.org/officeDocument/2006/relationships/image" Target="../media/image-11-50.png"/><Relationship Id="rId51" Type="http://schemas.openxmlformats.org/officeDocument/2006/relationships/image" Target="../media/image-11-51.png"/><Relationship Id="rId52" Type="http://schemas.openxmlformats.org/officeDocument/2006/relationships/image" Target="../media/image-11-52.png"/><Relationship Id="rId53" Type="http://schemas.openxmlformats.org/officeDocument/2006/relationships/image" Target="../media/image-11-53.png"/><Relationship Id="rId54" Type="http://schemas.openxmlformats.org/officeDocument/2006/relationships/image" Target="../media/image-11-54.png"/><Relationship Id="rId55" Type="http://schemas.openxmlformats.org/officeDocument/2006/relationships/slideLayout" Target="../slideLayouts/slideLayout1.xml"/><Relationship Id="rId5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image" Target="../media/image-13-25.png"/><Relationship Id="rId26" Type="http://schemas.openxmlformats.org/officeDocument/2006/relationships/image" Target="../media/image-1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image" Target="../media/image-14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image" Target="../media/image-17-21.png"/><Relationship Id="rId22" Type="http://schemas.openxmlformats.org/officeDocument/2006/relationships/image" Target="../media/image-17-22.png"/><Relationship Id="rId23" Type="http://schemas.openxmlformats.org/officeDocument/2006/relationships/image" Target="../media/image-17-23.png"/><Relationship Id="rId24" Type="http://schemas.openxmlformats.org/officeDocument/2006/relationships/image" Target="../media/image-17-24.png"/><Relationship Id="rId25" Type="http://schemas.openxmlformats.org/officeDocument/2006/relationships/image" Target="../media/image-17-25.png"/><Relationship Id="rId26" Type="http://schemas.openxmlformats.org/officeDocument/2006/relationships/image" Target="../media/image-17-26.png"/><Relationship Id="rId27" Type="http://schemas.openxmlformats.org/officeDocument/2006/relationships/image" Target="../media/image-17-27.png"/><Relationship Id="rId28" Type="http://schemas.openxmlformats.org/officeDocument/2006/relationships/image" Target="../media/image-17-28.png"/><Relationship Id="rId29" Type="http://schemas.openxmlformats.org/officeDocument/2006/relationships/image" Target="../media/image-17-29.png"/><Relationship Id="rId30" Type="http://schemas.openxmlformats.org/officeDocument/2006/relationships/image" Target="../media/image-17-30.png"/><Relationship Id="rId31" Type="http://schemas.openxmlformats.org/officeDocument/2006/relationships/image" Target="../media/image-17-31.png"/><Relationship Id="rId32" Type="http://schemas.openxmlformats.org/officeDocument/2006/relationships/image" Target="../media/image-17-32.png"/><Relationship Id="rId33" Type="http://schemas.openxmlformats.org/officeDocument/2006/relationships/image" Target="../media/image-17-33.png"/><Relationship Id="rId34" Type="http://schemas.openxmlformats.org/officeDocument/2006/relationships/image" Target="../media/image-17-34.png"/><Relationship Id="rId35" Type="http://schemas.openxmlformats.org/officeDocument/2006/relationships/image" Target="../media/image-17-35.png"/><Relationship Id="rId36" Type="http://schemas.openxmlformats.org/officeDocument/2006/relationships/image" Target="../media/image-17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pn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pn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pn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pn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pn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png"/><Relationship Id="rId23" Type="http://schemas.openxmlformats.org/officeDocument/2006/relationships/image" Target="../media/image-19-23.png"/><Relationship Id="rId24" Type="http://schemas.openxmlformats.org/officeDocument/2006/relationships/image" Target="../media/image-19-24.png"/><Relationship Id="rId25" Type="http://schemas.openxmlformats.org/officeDocument/2006/relationships/image" Target="../media/image-19-25.png"/><Relationship Id="rId26" Type="http://schemas.openxmlformats.org/officeDocument/2006/relationships/image" Target="../media/image-19-26.png"/><Relationship Id="rId27" Type="http://schemas.openxmlformats.org/officeDocument/2006/relationships/image" Target="../media/image-19-27.png"/><Relationship Id="rId28" Type="http://schemas.openxmlformats.org/officeDocument/2006/relationships/image" Target="../media/image-19-28.png"/><Relationship Id="rId29" Type="http://schemas.openxmlformats.org/officeDocument/2006/relationships/image" Target="../media/image-19-29.png"/><Relationship Id="rId30" Type="http://schemas.openxmlformats.org/officeDocument/2006/relationships/image" Target="../media/image-19-30.png"/><Relationship Id="rId31" Type="http://schemas.openxmlformats.org/officeDocument/2006/relationships/image" Target="../media/image-19-31.png"/><Relationship Id="rId32" Type="http://schemas.openxmlformats.org/officeDocument/2006/relationships/image" Target="../media/image-19-32.png"/><Relationship Id="rId33" Type="http://schemas.openxmlformats.org/officeDocument/2006/relationships/image" Target="../media/image-19-33.png"/><Relationship Id="rId34" Type="http://schemas.openxmlformats.org/officeDocument/2006/relationships/image" Target="../media/image-19-34.png"/><Relationship Id="rId35" Type="http://schemas.openxmlformats.org/officeDocument/2006/relationships/image" Target="../media/image-19-35.png"/><Relationship Id="rId36" Type="http://schemas.openxmlformats.org/officeDocument/2006/relationships/image" Target="../media/image-19-36.png"/><Relationship Id="rId37" Type="http://schemas.openxmlformats.org/officeDocument/2006/relationships/image" Target="../media/image-19-37.png"/><Relationship Id="rId38" Type="http://schemas.openxmlformats.org/officeDocument/2006/relationships/image" Target="../media/image-19-38.png"/><Relationship Id="rId39" Type="http://schemas.openxmlformats.org/officeDocument/2006/relationships/image" Target="../media/image-19-39.png"/><Relationship Id="rId40" Type="http://schemas.openxmlformats.org/officeDocument/2006/relationships/image" Target="../media/image-19-40.png"/><Relationship Id="rId41" Type="http://schemas.openxmlformats.org/officeDocument/2006/relationships/image" Target="../media/image-19-41.png"/><Relationship Id="rId42" Type="http://schemas.openxmlformats.org/officeDocument/2006/relationships/image" Target="../media/image-19-42.png"/><Relationship Id="rId43" Type="http://schemas.openxmlformats.org/officeDocument/2006/relationships/image" Target="../media/image-19-43.png"/><Relationship Id="rId44" Type="http://schemas.openxmlformats.org/officeDocument/2006/relationships/image" Target="../media/image-19-44.png"/><Relationship Id="rId45" Type="http://schemas.openxmlformats.org/officeDocument/2006/relationships/image" Target="../media/image-19-45.png"/><Relationship Id="rId46" Type="http://schemas.openxmlformats.org/officeDocument/2006/relationships/image" Target="../media/image-19-46.png"/><Relationship Id="rId47" Type="http://schemas.openxmlformats.org/officeDocument/2006/relationships/slideLayout" Target="../slideLayouts/slideLayout1.xml"/><Relationship Id="rId4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png"/><Relationship Id="rId19" Type="http://schemas.openxmlformats.org/officeDocument/2006/relationships/image" Target="../media/image-20-19.png"/><Relationship Id="rId20" Type="http://schemas.openxmlformats.org/officeDocument/2006/relationships/image" Target="../media/image-20-20.png"/><Relationship Id="rId21" Type="http://schemas.openxmlformats.org/officeDocument/2006/relationships/image" Target="../media/image-20-21.png"/><Relationship Id="rId22" Type="http://schemas.openxmlformats.org/officeDocument/2006/relationships/image" Target="../media/image-20-22.png"/><Relationship Id="rId23" Type="http://schemas.openxmlformats.org/officeDocument/2006/relationships/image" Target="../media/image-20-23.png"/><Relationship Id="rId24" Type="http://schemas.openxmlformats.org/officeDocument/2006/relationships/image" Target="../media/image-20-24.png"/><Relationship Id="rId25" Type="http://schemas.openxmlformats.org/officeDocument/2006/relationships/image" Target="../media/image-20-25.png"/><Relationship Id="rId26" Type="http://schemas.openxmlformats.org/officeDocument/2006/relationships/image" Target="../media/image-20-26.png"/><Relationship Id="rId27" Type="http://schemas.openxmlformats.org/officeDocument/2006/relationships/image" Target="../media/image-20-27.png"/><Relationship Id="rId28" Type="http://schemas.openxmlformats.org/officeDocument/2006/relationships/image" Target="../media/image-20-28.png"/><Relationship Id="rId29" Type="http://schemas.openxmlformats.org/officeDocument/2006/relationships/image" Target="../media/image-20-29.png"/><Relationship Id="rId30" Type="http://schemas.openxmlformats.org/officeDocument/2006/relationships/image" Target="../media/image-20-30.png"/><Relationship Id="rId31" Type="http://schemas.openxmlformats.org/officeDocument/2006/relationships/image" Target="../media/image-20-31.png"/><Relationship Id="rId32" Type="http://schemas.openxmlformats.org/officeDocument/2006/relationships/image" Target="../media/image-20-32.png"/><Relationship Id="rId33" Type="http://schemas.openxmlformats.org/officeDocument/2006/relationships/image" Target="../media/image-20-33.png"/><Relationship Id="rId34" Type="http://schemas.openxmlformats.org/officeDocument/2006/relationships/image" Target="../media/image-20-34.png"/><Relationship Id="rId35" Type="http://schemas.openxmlformats.org/officeDocument/2006/relationships/image" Target="../media/image-20-35.png"/><Relationship Id="rId36" Type="http://schemas.openxmlformats.org/officeDocument/2006/relationships/image" Target="../media/image-20-36.png"/><Relationship Id="rId37" Type="http://schemas.openxmlformats.org/officeDocument/2006/relationships/image" Target="../media/image-20-37.png"/><Relationship Id="rId38" Type="http://schemas.openxmlformats.org/officeDocument/2006/relationships/image" Target="../media/image-20-38.png"/><Relationship Id="rId39" Type="http://schemas.openxmlformats.org/officeDocument/2006/relationships/image" Target="../media/image-20-39.png"/><Relationship Id="rId40" Type="http://schemas.openxmlformats.org/officeDocument/2006/relationships/image" Target="../media/image-20-40.png"/><Relationship Id="rId41" Type="http://schemas.openxmlformats.org/officeDocument/2006/relationships/image" Target="../media/image-20-41.png"/><Relationship Id="rId42" Type="http://schemas.openxmlformats.org/officeDocument/2006/relationships/image" Target="../media/image-20-42.png"/><Relationship Id="rId43" Type="http://schemas.openxmlformats.org/officeDocument/2006/relationships/image" Target="../media/image-20-43.png"/><Relationship Id="rId44" Type="http://schemas.openxmlformats.org/officeDocument/2006/relationships/image" Target="../media/image-20-44.png"/><Relationship Id="rId45" Type="http://schemas.openxmlformats.org/officeDocument/2006/relationships/image" Target="../media/image-20-45.png"/><Relationship Id="rId46" Type="http://schemas.openxmlformats.org/officeDocument/2006/relationships/image" Target="../media/image-20-46.png"/><Relationship Id="rId47" Type="http://schemas.openxmlformats.org/officeDocument/2006/relationships/image" Target="../media/image-20-47.png"/><Relationship Id="rId48" Type="http://schemas.openxmlformats.org/officeDocument/2006/relationships/image" Target="../media/image-20-48.png"/><Relationship Id="rId49" Type="http://schemas.openxmlformats.org/officeDocument/2006/relationships/image" Target="../media/image-20-49.png"/><Relationship Id="rId50" Type="http://schemas.openxmlformats.org/officeDocument/2006/relationships/image" Target="../media/image-20-50.png"/><Relationship Id="rId51" Type="http://schemas.openxmlformats.org/officeDocument/2006/relationships/image" Target="../media/image-20-51.png"/><Relationship Id="rId52" Type="http://schemas.openxmlformats.org/officeDocument/2006/relationships/image" Target="../media/image-20-52.png"/><Relationship Id="rId53" Type="http://schemas.openxmlformats.org/officeDocument/2006/relationships/image" Target="../media/image-20-53.png"/><Relationship Id="rId54" Type="http://schemas.openxmlformats.org/officeDocument/2006/relationships/image" Target="../media/image-20-54.png"/><Relationship Id="rId55" Type="http://schemas.openxmlformats.org/officeDocument/2006/relationships/image" Target="../media/image-20-55.png"/><Relationship Id="rId56" Type="http://schemas.openxmlformats.org/officeDocument/2006/relationships/image" Target="../media/image-20-56.png"/><Relationship Id="rId57" Type="http://schemas.openxmlformats.org/officeDocument/2006/relationships/slideLayout" Target="../slideLayouts/slideLayout1.xml"/><Relationship Id="rId58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png"/><Relationship Id="rId23" Type="http://schemas.openxmlformats.org/officeDocument/2006/relationships/image" Target="../media/image-21-23.png"/><Relationship Id="rId24" Type="http://schemas.openxmlformats.org/officeDocument/2006/relationships/image" Target="../media/image-21-24.png"/><Relationship Id="rId25" Type="http://schemas.openxmlformats.org/officeDocument/2006/relationships/image" Target="../media/image-21-25.png"/><Relationship Id="rId26" Type="http://schemas.openxmlformats.org/officeDocument/2006/relationships/image" Target="../media/image-21-26.png"/><Relationship Id="rId27" Type="http://schemas.openxmlformats.org/officeDocument/2006/relationships/image" Target="../media/image-21-27.png"/><Relationship Id="rId28" Type="http://schemas.openxmlformats.org/officeDocument/2006/relationships/image" Target="../media/image-21-28.png"/><Relationship Id="rId29" Type="http://schemas.openxmlformats.org/officeDocument/2006/relationships/image" Target="../media/image-21-29.png"/><Relationship Id="rId30" Type="http://schemas.openxmlformats.org/officeDocument/2006/relationships/image" Target="../media/image-21-30.png"/><Relationship Id="rId31" Type="http://schemas.openxmlformats.org/officeDocument/2006/relationships/image" Target="../media/image-21-31.png"/><Relationship Id="rId32" Type="http://schemas.openxmlformats.org/officeDocument/2006/relationships/image" Target="../media/image-21-32.png"/><Relationship Id="rId33" Type="http://schemas.openxmlformats.org/officeDocument/2006/relationships/slideLayout" Target="../slideLayouts/slideLayout1.xml"/><Relationship Id="rId3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image" Target="../media/image-22-9.png"/><Relationship Id="rId10" Type="http://schemas.openxmlformats.org/officeDocument/2006/relationships/image" Target="../media/image-22-10.pn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pn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pn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pn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pn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png"/><Relationship Id="rId21" Type="http://schemas.openxmlformats.org/officeDocument/2006/relationships/image" Target="../media/image-22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image" Target="../media/image-23-7.png"/><Relationship Id="rId8" Type="http://schemas.openxmlformats.org/officeDocument/2006/relationships/image" Target="../media/image-23-8.png"/><Relationship Id="rId9" Type="http://schemas.openxmlformats.org/officeDocument/2006/relationships/image" Target="../media/image-23-9.png"/><Relationship Id="rId10" Type="http://schemas.openxmlformats.org/officeDocument/2006/relationships/image" Target="../media/image-23-10.pn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pn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pn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png"/><Relationship Id="rId17" Type="http://schemas.openxmlformats.org/officeDocument/2006/relationships/image" Target="../media/image-23-17.png"/><Relationship Id="rId18" Type="http://schemas.openxmlformats.org/officeDocument/2006/relationships/image" Target="../media/image-23-18.png"/><Relationship Id="rId19" Type="http://schemas.openxmlformats.org/officeDocument/2006/relationships/image" Target="../media/image-23-19.png"/><Relationship Id="rId20" Type="http://schemas.openxmlformats.org/officeDocument/2006/relationships/image" Target="../media/image-23-20.png"/><Relationship Id="rId21" Type="http://schemas.openxmlformats.org/officeDocument/2006/relationships/image" Target="../media/image-23-21.png"/><Relationship Id="rId22" Type="http://schemas.openxmlformats.org/officeDocument/2006/relationships/image" Target="../media/image-23-22.png"/><Relationship Id="rId23" Type="http://schemas.openxmlformats.org/officeDocument/2006/relationships/image" Target="../media/image-23-23.png"/><Relationship Id="rId24" Type="http://schemas.openxmlformats.org/officeDocument/2006/relationships/image" Target="../media/image-23-24.png"/><Relationship Id="rId25" Type="http://schemas.openxmlformats.org/officeDocument/2006/relationships/image" Target="../media/image-23-25.png"/><Relationship Id="rId26" Type="http://schemas.openxmlformats.org/officeDocument/2006/relationships/image" Target="../media/image-2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image" Target="../media/image-24-8.png"/><Relationship Id="rId9" Type="http://schemas.openxmlformats.org/officeDocument/2006/relationships/image" Target="../media/image-24-9.png"/><Relationship Id="rId10" Type="http://schemas.openxmlformats.org/officeDocument/2006/relationships/image" Target="../media/image-24-10.png"/><Relationship Id="rId11" Type="http://schemas.openxmlformats.org/officeDocument/2006/relationships/image" Target="../media/image-24-11.png"/><Relationship Id="rId12" Type="http://schemas.openxmlformats.org/officeDocument/2006/relationships/image" Target="../media/image-24-12.png"/><Relationship Id="rId13" Type="http://schemas.openxmlformats.org/officeDocument/2006/relationships/image" Target="../media/image-24-13.png"/><Relationship Id="rId14" Type="http://schemas.openxmlformats.org/officeDocument/2006/relationships/image" Target="../media/image-24-14.png"/><Relationship Id="rId15" Type="http://schemas.openxmlformats.org/officeDocument/2006/relationships/image" Target="../media/image-24-15.png"/><Relationship Id="rId16" Type="http://schemas.openxmlformats.org/officeDocument/2006/relationships/image" Target="../media/image-24-16.png"/><Relationship Id="rId17" Type="http://schemas.openxmlformats.org/officeDocument/2006/relationships/image" Target="../media/image-24-17.png"/><Relationship Id="rId18" Type="http://schemas.openxmlformats.org/officeDocument/2006/relationships/image" Target="../media/image-24-18.png"/><Relationship Id="rId19" Type="http://schemas.openxmlformats.org/officeDocument/2006/relationships/image" Target="../media/image-24-19.png"/><Relationship Id="rId20" Type="http://schemas.openxmlformats.org/officeDocument/2006/relationships/image" Target="../media/image-24-20.png"/><Relationship Id="rId21" Type="http://schemas.openxmlformats.org/officeDocument/2006/relationships/image" Target="../media/image-24-21.png"/><Relationship Id="rId22" Type="http://schemas.openxmlformats.org/officeDocument/2006/relationships/image" Target="../media/image-24-22.png"/><Relationship Id="rId23" Type="http://schemas.openxmlformats.org/officeDocument/2006/relationships/image" Target="../media/image-24-23.png"/><Relationship Id="rId24" Type="http://schemas.openxmlformats.org/officeDocument/2006/relationships/image" Target="../media/image-24-24.png"/><Relationship Id="rId25" Type="http://schemas.openxmlformats.org/officeDocument/2006/relationships/image" Target="../media/image-24-25.png"/><Relationship Id="rId26" Type="http://schemas.openxmlformats.org/officeDocument/2006/relationships/image" Target="../media/image-24-26.png"/><Relationship Id="rId27" Type="http://schemas.openxmlformats.org/officeDocument/2006/relationships/image" Target="../media/image-24-27.png"/><Relationship Id="rId28" Type="http://schemas.openxmlformats.org/officeDocument/2006/relationships/image" Target="../media/image-24-28.png"/><Relationship Id="rId29" Type="http://schemas.openxmlformats.org/officeDocument/2006/relationships/slideLayout" Target="../slideLayouts/slideLayout1.xml"/><Relationship Id="rId3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image" Target="../media/image-26-21.png"/><Relationship Id="rId22" Type="http://schemas.openxmlformats.org/officeDocument/2006/relationships/image" Target="../media/image-26-22.png"/><Relationship Id="rId23" Type="http://schemas.openxmlformats.org/officeDocument/2006/relationships/image" Target="../media/image-26-23.png"/><Relationship Id="rId24" Type="http://schemas.openxmlformats.org/officeDocument/2006/relationships/image" Target="../media/image-26-24.png"/><Relationship Id="rId25" Type="http://schemas.openxmlformats.org/officeDocument/2006/relationships/image" Target="../media/image-26-25.png"/><Relationship Id="rId26" Type="http://schemas.openxmlformats.org/officeDocument/2006/relationships/image" Target="../media/image-26-26.png"/><Relationship Id="rId27" Type="http://schemas.openxmlformats.org/officeDocument/2006/relationships/image" Target="../media/image-26-27.png"/><Relationship Id="rId28" Type="http://schemas.openxmlformats.org/officeDocument/2006/relationships/image" Target="../media/image-26-28.png"/><Relationship Id="rId29" Type="http://schemas.openxmlformats.org/officeDocument/2006/relationships/image" Target="../media/image-26-29.png"/><Relationship Id="rId30" Type="http://schemas.openxmlformats.org/officeDocument/2006/relationships/image" Target="../media/image-26-30.png"/><Relationship Id="rId31" Type="http://schemas.openxmlformats.org/officeDocument/2006/relationships/image" Target="../media/image-26-31.png"/><Relationship Id="rId32" Type="http://schemas.openxmlformats.org/officeDocument/2006/relationships/image" Target="../media/image-26-32.png"/><Relationship Id="rId33" Type="http://schemas.openxmlformats.org/officeDocument/2006/relationships/image" Target="../media/image-26-33.png"/><Relationship Id="rId34" Type="http://schemas.openxmlformats.org/officeDocument/2006/relationships/image" Target="../media/image-26-34.png"/><Relationship Id="rId35" Type="http://schemas.openxmlformats.org/officeDocument/2006/relationships/image" Target="../media/image-26-35.png"/><Relationship Id="rId36" Type="http://schemas.openxmlformats.org/officeDocument/2006/relationships/image" Target="../media/image-26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1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image" Target="../media/image-2-7.png"/><Relationship Id="rId9" Type="http://schemas.openxmlformats.org/officeDocument/2006/relationships/image" Target="../media/image-2-8.png"/><Relationship Id="rId10" Type="http://schemas.openxmlformats.org/officeDocument/2006/relationships/image" Target="../media/image-2-9.png"/><Relationship Id="rId11" Type="http://schemas.openxmlformats.org/officeDocument/2006/relationships/image" Target="../media/image-2-10.png"/><Relationship Id="rId12" Type="http://schemas.openxmlformats.org/officeDocument/2006/relationships/image" Target="../media/image-2-11.png"/><Relationship Id="rId13" Type="http://schemas.openxmlformats.org/officeDocument/2006/relationships/image" Target="../media/image-2-12.png"/><Relationship Id="rId14" Type="http://schemas.openxmlformats.org/officeDocument/2006/relationships/image" Target="../media/image-2-13.png"/><Relationship Id="rId15" Type="http://schemas.openxmlformats.org/officeDocument/2006/relationships/image" Target="../media/image-2-14.png"/><Relationship Id="rId16" Type="http://schemas.openxmlformats.org/officeDocument/2006/relationships/image" Target="../media/image-2-15.png"/><Relationship Id="rId17" Type="http://schemas.openxmlformats.org/officeDocument/2006/relationships/image" Target="../media/image-2-16.png"/><Relationship Id="rId18" Type="http://schemas.openxmlformats.org/officeDocument/2006/relationships/image" Target="../media/image-2-17.png"/><Relationship Id="rId19" Type="http://schemas.openxmlformats.org/officeDocument/2006/relationships/image" Target="../media/image-2-18.png"/><Relationship Id="rId20" Type="http://schemas.openxmlformats.org/officeDocument/2006/relationships/image" Target="../media/image-2-19.png"/><Relationship Id="rId21" Type="http://schemas.openxmlformats.org/officeDocument/2006/relationships/image" Target="../media/image-2-20.png"/><Relationship Id="rId22" Type="http://schemas.openxmlformats.org/officeDocument/2006/relationships/image" Target="../media/image-2-21.png"/><Relationship Id="rId23" Type="http://schemas.openxmlformats.org/officeDocument/2006/relationships/image" Target="../media/image-2-22.png"/><Relationship Id="rId24" Type="http://schemas.openxmlformats.org/officeDocument/2006/relationships/image" Target="../media/image-2-23.png"/><Relationship Id="rId25" Type="http://schemas.openxmlformats.org/officeDocument/2006/relationships/image" Target="../media/image-2-24.png"/><Relationship Id="rId26" Type="http://schemas.openxmlformats.org/officeDocument/2006/relationships/image" Target="../media/image-2-25.png"/><Relationship Id="rId27" Type="http://schemas.openxmlformats.org/officeDocument/2006/relationships/image" Target="../media/image-2-26.png"/><Relationship Id="rId28" Type="http://schemas.openxmlformats.org/officeDocument/2006/relationships/image" Target="../media/image-2-27.png"/><Relationship Id="rId29" Type="http://schemas.openxmlformats.org/officeDocument/2006/relationships/image" Target="../media/image-2-28.png"/><Relationship Id="rId30" Type="http://schemas.openxmlformats.org/officeDocument/2006/relationships/image" Target="../media/image-2-29.png"/><Relationship Id="rId31" Type="http://schemas.openxmlformats.org/officeDocument/2006/relationships/image" Target="../media/image-2-30.png"/><Relationship Id="rId32" Type="http://schemas.openxmlformats.org/officeDocument/2006/relationships/image" Target="../media/image-2-31.png"/><Relationship Id="rId33" Type="http://schemas.openxmlformats.org/officeDocument/2006/relationships/image" Target="../media/image-2-32.png"/><Relationship Id="rId34" Type="http://schemas.openxmlformats.org/officeDocument/2006/relationships/image" Target="../media/image-2-33.png"/><Relationship Id="rId35" Type="http://schemas.openxmlformats.org/officeDocument/2006/relationships/image" Target="../media/image-2-34.png"/><Relationship Id="rId36" Type="http://schemas.openxmlformats.org/officeDocument/2006/relationships/image" Target="../media/image-2-35.png"/><Relationship Id="rId37" Type="http://schemas.openxmlformats.org/officeDocument/2006/relationships/image" Target="../media/image-2-36.png"/><Relationship Id="rId38" Type="http://schemas.openxmlformats.org/officeDocument/2006/relationships/image" Target="../media/image-2-37.png"/><Relationship Id="rId39" Type="http://schemas.openxmlformats.org/officeDocument/2006/relationships/image" Target="../media/image-2-38.png"/><Relationship Id="rId40" Type="http://schemas.openxmlformats.org/officeDocument/2006/relationships/image" Target="../media/image-2-39.png"/><Relationship Id="rId41" Type="http://schemas.openxmlformats.org/officeDocument/2006/relationships/image" Target="../media/image-2-40.png"/><Relationship Id="rId42" Type="http://schemas.openxmlformats.org/officeDocument/2006/relationships/image" Target="../media/image-2-41.png"/><Relationship Id="rId43" Type="http://schemas.openxmlformats.org/officeDocument/2006/relationships/image" Target="../media/image-2-42.png"/><Relationship Id="rId44" Type="http://schemas.openxmlformats.org/officeDocument/2006/relationships/image" Target="../media/image-2-43.png"/><Relationship Id="rId45" Type="http://schemas.openxmlformats.org/officeDocument/2006/relationships/image" Target="../media/image-2-44.png"/><Relationship Id="rId46" Type="http://schemas.openxmlformats.org/officeDocument/2006/relationships/image" Target="../media/image-2-45.png"/><Relationship Id="rId47" Type="http://schemas.openxmlformats.org/officeDocument/2006/relationships/image" Target="../media/image-2-46.png"/><Relationship Id="rId48" Type="http://schemas.openxmlformats.org/officeDocument/2006/relationships/image" Target="../media/image-2-47.png"/><Relationship Id="rId49" Type="http://schemas.openxmlformats.org/officeDocument/2006/relationships/image" Target="../media/image-2-48.png"/><Relationship Id="rId50" Type="http://schemas.openxmlformats.org/officeDocument/2006/relationships/image" Target="../media/image-2-49.png"/><Relationship Id="rId51" Type="http://schemas.openxmlformats.org/officeDocument/2006/relationships/image" Target="../media/image-2-50.png"/><Relationship Id="rId5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SK-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SK-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1371600"/>
            <a:ext cx="3810000" cy="3810000"/>
          </a:xfrm>
          <a:prstGeom prst="rect">
            <a:avLst/>
          </a:prstGeom>
        </p:spPr>
      </p:pic>
      <p:pic>
        <p:nvPicPr>
          <p:cNvPr id="7" name="SK-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571500"/>
            <a:ext cx="1520279" cy="276225"/>
          </a:xfrm>
          <a:prstGeom prst="rect">
            <a:avLst/>
          </a:prstGeom>
        </p:spPr>
      </p:pic>
      <p:pic>
        <p:nvPicPr>
          <p:cNvPr id="8" name="SK-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462314"/>
            <a:ext cx="762000" cy="38100"/>
          </a:xfrm>
          <a:prstGeom prst="rect">
            <a:avLst/>
          </a:prstGeom>
        </p:spPr>
      </p:pic>
      <p:sp>
        <p:nvSpPr>
          <p:cNvPr id="9" name="SK-1-text-8"/>
          <p:cNvSpPr/>
          <p:nvPr/>
        </p:nvSpPr>
        <p:spPr>
          <a:xfrm>
            <a:off x="876300" y="571500"/>
            <a:ext cx="170769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168" kern="0" dirty="0">
                <a:solidFill>
                  <a:srgbClr val="38BDF8"/>
                </a:solidFill>
              </a:rPr>
              <a:t>CONFIDENTIAL</a:t>
            </a:r>
            <a:endParaRPr lang="en-US" sz="1050" dirty="0"/>
          </a:p>
        </p:txBody>
      </p:sp>
      <p:sp>
        <p:nvSpPr>
          <p:cNvPr id="10" name="SK-1-text-9"/>
          <p:cNvSpPr/>
          <p:nvPr/>
        </p:nvSpPr>
        <p:spPr>
          <a:xfrm>
            <a:off x="2396579" y="609600"/>
            <a:ext cx="4076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spc="84" kern="0" dirty="0">
                <a:solidFill>
                  <a:srgbClr val="94A3B8"/>
                </a:solidFill>
              </a:rPr>
              <a:t>PROJECT DIAGNOSTIC REPORT</a:t>
            </a:r>
            <a:endParaRPr lang="en-US" sz="1050" dirty="0"/>
          </a:p>
        </p:txBody>
      </p:sp>
      <p:sp>
        <p:nvSpPr>
          <p:cNvPr id="11" name="SK-1-text-10"/>
          <p:cNvSpPr/>
          <p:nvPr/>
        </p:nvSpPr>
        <p:spPr>
          <a:xfrm>
            <a:off x="762000" y="2222302"/>
            <a:ext cx="7620000" cy="20114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</a:rPr>
              <a:t>NextGen AutoCockpit</a:t>
            </a:r>
            <a:endParaRPr lang="en-US" sz="4800" dirty="0"/>
          </a:p>
          <a:p>
            <a:pPr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</a:rPr>
              <a:t>프로젝트 진단 및</a:t>
            </a:r>
            <a:endParaRPr lang="en-US" sz="4800" dirty="0"/>
          </a:p>
          <a:p>
            <a:pPr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F8FAFC"/>
                </a:solidFill>
              </a:rPr>
              <a:t>AI 에이전틱 종합 리포트</a:t>
            </a:r>
            <a:endParaRPr lang="en-US" sz="4800" dirty="0"/>
          </a:p>
        </p:txBody>
      </p:sp>
      <p:sp>
        <p:nvSpPr>
          <p:cNvPr id="12" name="SK-1-text-11"/>
          <p:cNvSpPr/>
          <p:nvPr/>
        </p:nvSpPr>
        <p:spPr>
          <a:xfrm>
            <a:off x="762000" y="4729014"/>
            <a:ext cx="76200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붕괴 진단 및 Cognitive PM-Twin 기반</a:t>
            </a:r>
            <a:endParaRPr lang="en-US" sz="1800" dirty="0"/>
          </a:p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리스크 복구 전략</a:t>
            </a:r>
            <a:endParaRPr lang="en-US" sz="1800" dirty="0"/>
          </a:p>
        </p:txBody>
      </p:sp>
      <p:sp>
        <p:nvSpPr>
          <p:cNvPr id="13" name="SK-1-text-12"/>
          <p:cNvSpPr/>
          <p:nvPr/>
        </p:nvSpPr>
        <p:spPr>
          <a:xfrm>
            <a:off x="762000" y="5600551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PM Transformers</a:t>
            </a:r>
            <a:endParaRPr lang="en-US" sz="1350" dirty="0"/>
          </a:p>
        </p:txBody>
      </p:sp>
      <p:sp>
        <p:nvSpPr>
          <p:cNvPr id="14" name="SK-1-text-13"/>
          <p:cNvSpPr/>
          <p:nvPr/>
        </p:nvSpPr>
        <p:spPr>
          <a:xfrm>
            <a:off x="762000" y="5895826"/>
            <a:ext cx="63169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Specialized Project Recovery Task Force</a:t>
            </a:r>
            <a:endParaRPr lang="en-US" sz="1050" dirty="0"/>
          </a:p>
        </p:txBody>
      </p:sp>
      <p:sp>
        <p:nvSpPr>
          <p:cNvPr id="15" name="SK-1-text-14"/>
          <p:cNvSpPr/>
          <p:nvPr/>
        </p:nvSpPr>
        <p:spPr>
          <a:xfrm>
            <a:off x="8153400" y="5657701"/>
            <a:ext cx="1009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</a:rPr>
              <a:t>DATE</a:t>
            </a:r>
            <a:endParaRPr lang="en-US" sz="900" dirty="0"/>
          </a:p>
        </p:txBody>
      </p:sp>
      <p:sp>
        <p:nvSpPr>
          <p:cNvPr id="16" name="SK-1-text-15"/>
          <p:cNvSpPr/>
          <p:nvPr/>
        </p:nvSpPr>
        <p:spPr>
          <a:xfrm>
            <a:off x="8153400" y="5867251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2026. 08. 23</a:t>
            </a:r>
            <a:endParaRPr lang="en-US" sz="1200" dirty="0"/>
          </a:p>
        </p:txBody>
      </p:sp>
      <p:sp>
        <p:nvSpPr>
          <p:cNvPr id="17" name="SK-1-text-16"/>
          <p:cNvSpPr/>
          <p:nvPr/>
        </p:nvSpPr>
        <p:spPr>
          <a:xfrm>
            <a:off x="9467850" y="5657701"/>
            <a:ext cx="10363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</a:rPr>
              <a:t>VERSION</a:t>
            </a:r>
            <a:endParaRPr lang="en-US" sz="900" dirty="0"/>
          </a:p>
        </p:txBody>
      </p:sp>
      <p:sp>
        <p:nvSpPr>
          <p:cNvPr id="18" name="SK-1-text-17"/>
          <p:cNvSpPr/>
          <p:nvPr/>
        </p:nvSpPr>
        <p:spPr>
          <a:xfrm>
            <a:off x="9467850" y="5867251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v1.0 Final</a:t>
            </a:r>
            <a:endParaRPr lang="en-US" sz="1200" dirty="0"/>
          </a:p>
        </p:txBody>
      </p:sp>
      <p:sp>
        <p:nvSpPr>
          <p:cNvPr id="19" name="SK-1-text-18"/>
          <p:cNvSpPr/>
          <p:nvPr/>
        </p:nvSpPr>
        <p:spPr>
          <a:xfrm>
            <a:off x="10525125" y="5657701"/>
            <a:ext cx="9810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spc="72" kern="0" dirty="0">
                <a:solidFill>
                  <a:srgbClr val="94A3B8"/>
                </a:solidFill>
              </a:rPr>
              <a:t>STATUS</a:t>
            </a:r>
            <a:endParaRPr lang="en-US" sz="900" dirty="0"/>
          </a:p>
        </p:txBody>
      </p:sp>
      <p:sp>
        <p:nvSpPr>
          <p:cNvPr id="20" name="SK-1-text-19"/>
          <p:cNvSpPr/>
          <p:nvPr/>
        </p:nvSpPr>
        <p:spPr>
          <a:xfrm>
            <a:off x="10525125" y="5867251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Alert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1" name="SK-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280321"/>
            <a:ext cx="6400800" cy="3330029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sp>
        <p:nvSpPr>
          <p:cNvPr id="51" name="SK-2-text-50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52" name="SK-2-text-51"/>
          <p:cNvSpPr/>
          <p:nvPr/>
        </p:nvSpPr>
        <p:spPr>
          <a:xfrm>
            <a:off x="762000" y="49530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Executive Summary 및 5대 수행 임무 체계</a:t>
            </a:r>
            <a:endParaRPr lang="en-US" sz="2400" dirty="0"/>
          </a:p>
        </p:txBody>
      </p:sp>
      <p:sp>
        <p:nvSpPr>
          <p:cNvPr id="53" name="SK-2-text-52"/>
          <p:cNvSpPr/>
          <p:nvPr/>
        </p:nvSpPr>
        <p:spPr>
          <a:xfrm>
            <a:off x="762000" y="9085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거버넌스 붕괴 현상 진단 및 프로젝트 정상화를 위한 에이전틱 수행 프레임워크</a:t>
            </a:r>
            <a:endParaRPr lang="en-US" sz="1200" dirty="0"/>
          </a:p>
        </p:txBody>
      </p:sp>
      <p:sp>
        <p:nvSpPr>
          <p:cNvPr id="54" name="SK-2-text-53"/>
          <p:cNvSpPr/>
          <p:nvPr/>
        </p:nvSpPr>
        <p:spPr>
          <a:xfrm>
            <a:off x="762000" y="1470571"/>
            <a:ext cx="6019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실차 베타를 앞두고 5대 거버넌스 붕괴 현상이 동시다발적으로 발생, 프로젝트 사멸 위기 직면</a:t>
            </a:r>
            <a:endParaRPr lang="en-US" sz="1500" dirty="0"/>
          </a:p>
        </p:txBody>
      </p:sp>
      <p:sp>
        <p:nvSpPr>
          <p:cNvPr id="55" name="SK-2-text-54"/>
          <p:cNvSpPr/>
          <p:nvPr/>
        </p:nvSpPr>
        <p:spPr>
          <a:xfrm>
            <a:off x="876300" y="2118271"/>
            <a:ext cx="209998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지연</a:t>
            </a:r>
            <a:endParaRPr lang="en-US" sz="1050" dirty="0"/>
          </a:p>
        </p:txBody>
      </p:sp>
      <p:sp>
        <p:nvSpPr>
          <p:cNvPr id="56" name="SK-2-text-55"/>
          <p:cNvSpPr/>
          <p:nvPr/>
        </p:nvSpPr>
        <p:spPr>
          <a:xfrm>
            <a:off x="2447925" y="2118271"/>
            <a:ext cx="25556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Boot Time 3.5s 미달</a:t>
            </a:r>
            <a:endParaRPr lang="en-US" sz="1050" dirty="0"/>
          </a:p>
        </p:txBody>
      </p:sp>
      <p:sp>
        <p:nvSpPr>
          <p:cNvPr id="57" name="SK-2-text-56"/>
          <p:cNvSpPr/>
          <p:nvPr/>
        </p:nvSpPr>
        <p:spPr>
          <a:xfrm>
            <a:off x="4038600" y="2118271"/>
            <a:ext cx="297043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Scope Creep</a:t>
            </a:r>
            <a:endParaRPr lang="en-US" sz="1050" dirty="0"/>
          </a:p>
        </p:txBody>
      </p:sp>
      <p:sp>
        <p:nvSpPr>
          <p:cNvPr id="58" name="SK-2-text-57"/>
          <p:cNvSpPr/>
          <p:nvPr/>
        </p:nvSpPr>
        <p:spPr>
          <a:xfrm>
            <a:off x="876300" y="2546896"/>
            <a:ext cx="134815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협업 파손</a:t>
            </a:r>
            <a:endParaRPr lang="en-US" sz="1050" dirty="0"/>
          </a:p>
        </p:txBody>
      </p:sp>
      <p:sp>
        <p:nvSpPr>
          <p:cNvPr id="59" name="SK-2-text-58"/>
          <p:cNvSpPr/>
          <p:nvPr/>
        </p:nvSpPr>
        <p:spPr>
          <a:xfrm>
            <a:off x="2105025" y="2546896"/>
            <a:ext cx="12283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보안/HSM 미결</a:t>
            </a:r>
            <a:endParaRPr lang="en-US" sz="1050" dirty="0"/>
          </a:p>
        </p:txBody>
      </p:sp>
      <p:sp>
        <p:nvSpPr>
          <p:cNvPr id="60" name="SK-2-text-59"/>
          <p:cNvSpPr/>
          <p:nvPr/>
        </p:nvSpPr>
        <p:spPr>
          <a:xfrm>
            <a:off x="685800" y="3280321"/>
            <a:ext cx="17677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 (DOD)</a:t>
            </a:r>
            <a:endParaRPr lang="en-US" sz="1050" dirty="0"/>
          </a:p>
        </p:txBody>
      </p:sp>
      <p:sp>
        <p:nvSpPr>
          <p:cNvPr id="61" name="SK-2-text-60"/>
          <p:cNvSpPr/>
          <p:nvPr/>
        </p:nvSpPr>
        <p:spPr>
          <a:xfrm>
            <a:off x="2605980" y="3280321"/>
            <a:ext cx="14478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기준</a:t>
            </a:r>
            <a:endParaRPr lang="en-US" sz="1050" dirty="0"/>
          </a:p>
        </p:txBody>
      </p:sp>
      <p:sp>
        <p:nvSpPr>
          <p:cNvPr id="62" name="SK-2-text-61"/>
          <p:cNvSpPr/>
          <p:nvPr/>
        </p:nvSpPr>
        <p:spPr>
          <a:xfrm>
            <a:off x="4206180" y="3280321"/>
            <a:ext cx="17677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10/5 실측치</a:t>
            </a:r>
            <a:endParaRPr lang="en-US" sz="1050" dirty="0"/>
          </a:p>
        </p:txBody>
      </p:sp>
      <p:sp>
        <p:nvSpPr>
          <p:cNvPr id="63" name="SK-2-text-62"/>
          <p:cNvSpPr/>
          <p:nvPr/>
        </p:nvSpPr>
        <p:spPr>
          <a:xfrm>
            <a:off x="6126361" y="3280321"/>
            <a:ext cx="8078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050" dirty="0"/>
          </a:p>
        </p:txBody>
      </p:sp>
      <p:sp>
        <p:nvSpPr>
          <p:cNvPr id="64" name="SK-2-text-63"/>
          <p:cNvSpPr/>
          <p:nvPr/>
        </p:nvSpPr>
        <p:spPr>
          <a:xfrm>
            <a:off x="685800" y="3708946"/>
            <a:ext cx="204977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Time</a:t>
            </a:r>
            <a:endParaRPr lang="en-US" sz="1050" dirty="0"/>
          </a:p>
        </p:txBody>
      </p:sp>
      <p:sp>
        <p:nvSpPr>
          <p:cNvPr id="65" name="SK-2-text-64"/>
          <p:cNvSpPr/>
          <p:nvPr/>
        </p:nvSpPr>
        <p:spPr>
          <a:xfrm>
            <a:off x="2605980" y="3708946"/>
            <a:ext cx="144780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≤ 2.0초</a:t>
            </a:r>
            <a:endParaRPr lang="en-US" sz="1050" dirty="0"/>
          </a:p>
        </p:txBody>
      </p:sp>
      <p:sp>
        <p:nvSpPr>
          <p:cNvPr id="66" name="SK-2-text-65"/>
          <p:cNvSpPr/>
          <p:nvPr/>
        </p:nvSpPr>
        <p:spPr>
          <a:xfrm>
            <a:off x="4206180" y="3708946"/>
            <a:ext cx="209676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3.5초 (메모리 누수)</a:t>
            </a:r>
            <a:endParaRPr lang="en-US" sz="1050" dirty="0"/>
          </a:p>
        </p:txBody>
      </p:sp>
      <p:sp>
        <p:nvSpPr>
          <p:cNvPr id="67" name="SK-2-textBg-66"/>
          <p:cNvSpPr/>
          <p:nvPr/>
        </p:nvSpPr>
        <p:spPr>
          <a:xfrm>
            <a:off x="6126361" y="3898999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2-text-67"/>
          <p:cNvSpPr/>
          <p:nvPr/>
        </p:nvSpPr>
        <p:spPr>
          <a:xfrm>
            <a:off x="6212086" y="3898999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69" name="SK-2-text-68"/>
          <p:cNvSpPr/>
          <p:nvPr/>
        </p:nvSpPr>
        <p:spPr>
          <a:xfrm>
            <a:off x="685800" y="4289227"/>
            <a:ext cx="176778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OTA 모의 성공률</a:t>
            </a:r>
            <a:endParaRPr lang="en-US" sz="1050" dirty="0"/>
          </a:p>
        </p:txBody>
      </p:sp>
      <p:sp>
        <p:nvSpPr>
          <p:cNvPr id="70" name="SK-2-text-69"/>
          <p:cNvSpPr/>
          <p:nvPr/>
        </p:nvSpPr>
        <p:spPr>
          <a:xfrm>
            <a:off x="2605980" y="4289227"/>
            <a:ext cx="144780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≥ 99.9%</a:t>
            </a:r>
            <a:endParaRPr lang="en-US" sz="1050" dirty="0"/>
          </a:p>
        </p:txBody>
      </p:sp>
      <p:sp>
        <p:nvSpPr>
          <p:cNvPr id="71" name="SK-2-text-70"/>
          <p:cNvSpPr/>
          <p:nvPr/>
        </p:nvSpPr>
        <p:spPr>
          <a:xfrm>
            <a:off x="4206180" y="4289227"/>
            <a:ext cx="204977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불가 (인프라 부족)</a:t>
            </a:r>
            <a:endParaRPr lang="en-US" sz="1050" dirty="0"/>
          </a:p>
        </p:txBody>
      </p:sp>
      <p:sp>
        <p:nvSpPr>
          <p:cNvPr id="72" name="SK-2-textBg-71"/>
          <p:cNvSpPr/>
          <p:nvPr/>
        </p:nvSpPr>
        <p:spPr>
          <a:xfrm>
            <a:off x="6126361" y="4479280"/>
            <a:ext cx="666750" cy="228600"/>
          </a:xfrm>
          <a:prstGeom prst="roundRect">
            <a:avLst>
              <a:gd name="adj" fmla="val 16667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3" name="SK-2-text-72"/>
          <p:cNvSpPr/>
          <p:nvPr/>
        </p:nvSpPr>
        <p:spPr>
          <a:xfrm>
            <a:off x="6212086" y="4479280"/>
            <a:ext cx="678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</a:t>
            </a:r>
            <a:endParaRPr lang="en-US" sz="825" dirty="0"/>
          </a:p>
        </p:txBody>
      </p:sp>
      <p:sp>
        <p:nvSpPr>
          <p:cNvPr id="74" name="SK-2-text-73"/>
          <p:cNvSpPr/>
          <p:nvPr/>
        </p:nvSpPr>
        <p:spPr>
          <a:xfrm>
            <a:off x="685800" y="4869507"/>
            <a:ext cx="176778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취약점</a:t>
            </a:r>
            <a:endParaRPr lang="en-US" sz="1050" dirty="0"/>
          </a:p>
        </p:txBody>
      </p:sp>
      <p:sp>
        <p:nvSpPr>
          <p:cNvPr id="75" name="SK-2-text-74"/>
          <p:cNvSpPr/>
          <p:nvPr/>
        </p:nvSpPr>
        <p:spPr>
          <a:xfrm>
            <a:off x="2605980" y="4869507"/>
            <a:ext cx="181356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High/Crit 0건</a:t>
            </a:r>
            <a:endParaRPr lang="en-US" sz="1050" dirty="0"/>
          </a:p>
        </p:txBody>
      </p:sp>
      <p:sp>
        <p:nvSpPr>
          <p:cNvPr id="76" name="SK-2-text-75"/>
          <p:cNvSpPr/>
          <p:nvPr/>
        </p:nvSpPr>
        <p:spPr>
          <a:xfrm>
            <a:off x="4206180" y="4869507"/>
            <a:ext cx="2049772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연동 Blocked</a:t>
            </a:r>
            <a:endParaRPr lang="en-US" sz="1050" dirty="0"/>
          </a:p>
        </p:txBody>
      </p:sp>
      <p:sp>
        <p:nvSpPr>
          <p:cNvPr id="77" name="SK-2-textBg-76"/>
          <p:cNvSpPr/>
          <p:nvPr/>
        </p:nvSpPr>
        <p:spPr>
          <a:xfrm>
            <a:off x="6126361" y="5059561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SK-2-text-77"/>
          <p:cNvSpPr/>
          <p:nvPr/>
        </p:nvSpPr>
        <p:spPr>
          <a:xfrm>
            <a:off x="6212086" y="5059561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79" name="SK-2-text-78"/>
          <p:cNvSpPr/>
          <p:nvPr/>
        </p:nvSpPr>
        <p:spPr>
          <a:xfrm>
            <a:off x="685800" y="5449788"/>
            <a:ext cx="2237731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26262 인증</a:t>
            </a:r>
            <a:endParaRPr lang="en-US" sz="1050" dirty="0"/>
          </a:p>
        </p:txBody>
      </p:sp>
      <p:sp>
        <p:nvSpPr>
          <p:cNvPr id="80" name="SK-2-text-79"/>
          <p:cNvSpPr/>
          <p:nvPr/>
        </p:nvSpPr>
        <p:spPr>
          <a:xfrm>
            <a:off x="2605980" y="5449788"/>
            <a:ext cx="144780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 획득</a:t>
            </a:r>
            <a:endParaRPr lang="en-US" sz="1050" dirty="0"/>
          </a:p>
        </p:txBody>
      </p:sp>
      <p:sp>
        <p:nvSpPr>
          <p:cNvPr id="81" name="SK-2-text-80"/>
          <p:cNvSpPr/>
          <p:nvPr/>
        </p:nvSpPr>
        <p:spPr>
          <a:xfrm>
            <a:off x="4206180" y="5449788"/>
            <a:ext cx="2331711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테스트 300개 파손</a:t>
            </a:r>
            <a:endParaRPr lang="en-US" sz="1050" dirty="0"/>
          </a:p>
        </p:txBody>
      </p:sp>
      <p:sp>
        <p:nvSpPr>
          <p:cNvPr id="82" name="SK-2-textBg-81"/>
          <p:cNvSpPr/>
          <p:nvPr/>
        </p:nvSpPr>
        <p:spPr>
          <a:xfrm>
            <a:off x="6126361" y="5639842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2-text-82"/>
          <p:cNvSpPr/>
          <p:nvPr/>
        </p:nvSpPr>
        <p:spPr>
          <a:xfrm>
            <a:off x="6212086" y="5639842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84" name="SK-2-text-83"/>
          <p:cNvSpPr/>
          <p:nvPr/>
        </p:nvSpPr>
        <p:spPr>
          <a:xfrm>
            <a:off x="685800" y="6030069"/>
            <a:ext cx="176778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마일스톤 사수</a:t>
            </a:r>
            <a:endParaRPr lang="en-US" sz="1050" dirty="0"/>
          </a:p>
        </p:txBody>
      </p:sp>
      <p:sp>
        <p:nvSpPr>
          <p:cNvPr id="85" name="SK-2-text-84"/>
          <p:cNvSpPr/>
          <p:nvPr/>
        </p:nvSpPr>
        <p:spPr>
          <a:xfrm>
            <a:off x="2605980" y="6030069"/>
            <a:ext cx="2042160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베타 10/20</a:t>
            </a:r>
            <a:endParaRPr lang="en-US" sz="1050" dirty="0"/>
          </a:p>
        </p:txBody>
      </p:sp>
      <p:sp>
        <p:nvSpPr>
          <p:cNvPr id="86" name="SK-2-text-85"/>
          <p:cNvSpPr/>
          <p:nvPr/>
        </p:nvSpPr>
        <p:spPr>
          <a:xfrm>
            <a:off x="4206180" y="6030069"/>
            <a:ext cx="1861813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3주 연기 통보</a:t>
            </a:r>
            <a:endParaRPr lang="en-US" sz="1050" dirty="0"/>
          </a:p>
        </p:txBody>
      </p:sp>
      <p:sp>
        <p:nvSpPr>
          <p:cNvPr id="87" name="SK-2-textBg-86"/>
          <p:cNvSpPr/>
          <p:nvPr/>
        </p:nvSpPr>
        <p:spPr>
          <a:xfrm>
            <a:off x="6126361" y="6220123"/>
            <a:ext cx="647700" cy="228600"/>
          </a:xfrm>
          <a:prstGeom prst="roundRect">
            <a:avLst>
              <a:gd name="adj" fmla="val 1666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8" name="SK-2-text-87"/>
          <p:cNvSpPr/>
          <p:nvPr/>
        </p:nvSpPr>
        <p:spPr>
          <a:xfrm>
            <a:off x="6212086" y="6220123"/>
            <a:ext cx="7691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825" dirty="0"/>
          </a:p>
        </p:txBody>
      </p:sp>
      <p:sp>
        <p:nvSpPr>
          <p:cNvPr id="89" name="SK-2-text-88"/>
          <p:cNvSpPr/>
          <p:nvPr/>
        </p:nvSpPr>
        <p:spPr>
          <a:xfrm>
            <a:off x="8115300" y="1476375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① Identify: 징후 식별</a:t>
            </a:r>
            <a:endParaRPr lang="en-US" sz="1200" dirty="0"/>
          </a:p>
        </p:txBody>
      </p:sp>
      <p:sp>
        <p:nvSpPr>
          <p:cNvPr id="90" name="SK-2-text-89"/>
          <p:cNvSpPr/>
          <p:nvPr/>
        </p:nvSpPr>
        <p:spPr>
          <a:xfrm>
            <a:off x="8115300" y="1724025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지연, 부팅 미달, JIRA 파손 등 표면적으로 드러난 5가지 핵심 위기 징후를 실시간 수집</a:t>
            </a:r>
            <a:endParaRPr lang="en-US" sz="975" dirty="0"/>
          </a:p>
        </p:txBody>
      </p:sp>
      <p:sp>
        <p:nvSpPr>
          <p:cNvPr id="91" name="SK-2-text-90"/>
          <p:cNvSpPr/>
          <p:nvPr/>
        </p:nvSpPr>
        <p:spPr>
          <a:xfrm>
            <a:off x="8115300" y="2108597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 Orchestrator / Project Pulse</a:t>
            </a:r>
            <a:endParaRPr lang="en-US" sz="825" dirty="0"/>
          </a:p>
        </p:txBody>
      </p:sp>
      <p:sp>
        <p:nvSpPr>
          <p:cNvPr id="92" name="SK-2-text-91"/>
          <p:cNvSpPr/>
          <p:nvPr/>
        </p:nvSpPr>
        <p:spPr>
          <a:xfrm>
            <a:off x="8115300" y="2513409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② Analyze: 원인 분석</a:t>
            </a:r>
            <a:endParaRPr lang="en-US" sz="1200" dirty="0"/>
          </a:p>
        </p:txBody>
      </p:sp>
      <p:sp>
        <p:nvSpPr>
          <p:cNvPr id="93" name="SK-2-text-92"/>
          <p:cNvSpPr/>
          <p:nvPr/>
        </p:nvSpPr>
        <p:spPr>
          <a:xfrm>
            <a:off x="8115300" y="2761059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Systems Thinking을 통해 벤더 통제 실패 및 Silo 조직 문화 등 5대 근본 원인을 도출</a:t>
            </a:r>
            <a:endParaRPr lang="en-US" sz="975" dirty="0"/>
          </a:p>
        </p:txBody>
      </p:sp>
      <p:sp>
        <p:nvSpPr>
          <p:cNvPr id="94" name="SK-2-text-93"/>
          <p:cNvSpPr/>
          <p:nvPr/>
        </p:nvSpPr>
        <p:spPr>
          <a:xfrm>
            <a:off x="8115300" y="3145631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 Advisor / Systems Thinking</a:t>
            </a:r>
            <a:endParaRPr lang="en-US" sz="825" dirty="0"/>
          </a:p>
        </p:txBody>
      </p:sp>
      <p:sp>
        <p:nvSpPr>
          <p:cNvPr id="95" name="SK-2-text-94"/>
          <p:cNvSpPr/>
          <p:nvPr/>
        </p:nvSpPr>
        <p:spPr>
          <a:xfrm>
            <a:off x="8115300" y="3550444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③ Design: 대응 설계</a:t>
            </a:r>
            <a:endParaRPr lang="en-US" sz="1200" dirty="0"/>
          </a:p>
        </p:txBody>
      </p:sp>
      <p:sp>
        <p:nvSpPr>
          <p:cNvPr id="96" name="SK-2-text-95"/>
          <p:cNvSpPr/>
          <p:nvPr/>
        </p:nvSpPr>
        <p:spPr>
          <a:xfrm>
            <a:off x="8115300" y="3798094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 복구를 위한 AI Agentic PoC 구조 및 거버넌스 가이드라인 설계</a:t>
            </a:r>
            <a:endParaRPr lang="en-US" sz="975" dirty="0"/>
          </a:p>
        </p:txBody>
      </p:sp>
      <p:sp>
        <p:nvSpPr>
          <p:cNvPr id="97" name="SK-2-text-96"/>
          <p:cNvSpPr/>
          <p:nvPr/>
        </p:nvSpPr>
        <p:spPr>
          <a:xfrm>
            <a:off x="8115300" y="4182666"/>
            <a:ext cx="38481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Cognitive PM-Twin Architecture</a:t>
            </a:r>
            <a:endParaRPr lang="en-US" sz="825" dirty="0"/>
          </a:p>
        </p:txBody>
      </p:sp>
      <p:sp>
        <p:nvSpPr>
          <p:cNvPr id="98" name="SK-2-text-97"/>
          <p:cNvSpPr/>
          <p:nvPr/>
        </p:nvSpPr>
        <p:spPr>
          <a:xfrm>
            <a:off x="8115300" y="4587478"/>
            <a:ext cx="346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④ Develop: 해결책 개발</a:t>
            </a:r>
            <a:endParaRPr lang="en-US" sz="1200" dirty="0"/>
          </a:p>
        </p:txBody>
      </p:sp>
      <p:sp>
        <p:nvSpPr>
          <p:cNvPr id="99" name="SK-2-text-98"/>
          <p:cNvSpPr/>
          <p:nvPr/>
        </p:nvSpPr>
        <p:spPr>
          <a:xfrm>
            <a:off x="8115300" y="4835128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복구 계획서 자동 생성 및 CI Self-healing 스크립트 등 에이전틱 해결책 구현</a:t>
            </a:r>
            <a:endParaRPr lang="en-US" sz="975" dirty="0"/>
          </a:p>
        </p:txBody>
      </p:sp>
      <p:sp>
        <p:nvSpPr>
          <p:cNvPr id="100" name="SK-2-text-99"/>
          <p:cNvSpPr/>
          <p:nvPr/>
        </p:nvSpPr>
        <p:spPr>
          <a:xfrm>
            <a:off x="8115300" y="5219700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Plan Optimizer / Quality Sentinel</a:t>
            </a:r>
            <a:endParaRPr lang="en-US" sz="825" dirty="0"/>
          </a:p>
        </p:txBody>
      </p:sp>
      <p:sp>
        <p:nvSpPr>
          <p:cNvPr id="101" name="SK-2-text-100"/>
          <p:cNvSpPr/>
          <p:nvPr/>
        </p:nvSpPr>
        <p:spPr>
          <a:xfrm>
            <a:off x="8115300" y="5624513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⑤ Validate: 검증 및 확산</a:t>
            </a:r>
            <a:endParaRPr lang="en-US" sz="1200" dirty="0"/>
          </a:p>
        </p:txBody>
      </p:sp>
      <p:sp>
        <p:nvSpPr>
          <p:cNvPr id="102" name="SK-2-text-101"/>
          <p:cNvSpPr/>
          <p:nvPr/>
        </p:nvSpPr>
        <p:spPr>
          <a:xfrm>
            <a:off x="8115300" y="5872163"/>
            <a:ext cx="33909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 거버넌스 전환 여부 확인 및 SOP 양산 안전성 최종 검증</a:t>
            </a:r>
            <a:endParaRPr lang="en-US" sz="975" dirty="0"/>
          </a:p>
        </p:txBody>
      </p:sp>
      <p:sp>
        <p:nvSpPr>
          <p:cNvPr id="103" name="SK-2-text-102"/>
          <p:cNvSpPr/>
          <p:nvPr/>
        </p:nvSpPr>
        <p:spPr>
          <a:xfrm>
            <a:off x="8115300" y="6256734"/>
            <a:ext cx="40767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Lifecycle Navigator / Value Engine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00025"/>
            <a:ext cx="11049000" cy="946696"/>
          </a:xfrm>
          <a:prstGeom prst="rect">
            <a:avLst/>
          </a:prstGeom>
        </p:spPr>
      </p:pic>
      <p:pic>
        <p:nvPicPr>
          <p:cNvPr id="5" name="SK-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61021"/>
            <a:ext cx="5295900" cy="1419225"/>
          </a:xfrm>
          <a:prstGeom prst="rect">
            <a:avLst/>
          </a:prstGeom>
        </p:spPr>
      </p:pic>
      <p:pic>
        <p:nvPicPr>
          <p:cNvPr id="6" name="SK-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84846"/>
            <a:ext cx="238125" cy="190500"/>
          </a:xfrm>
          <a:prstGeom prst="rect">
            <a:avLst/>
          </a:prstGeom>
        </p:spPr>
      </p:pic>
      <p:pic>
        <p:nvPicPr>
          <p:cNvPr id="7" name="SK-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75371"/>
            <a:ext cx="1587550" cy="828675"/>
          </a:xfrm>
          <a:prstGeom prst="rect">
            <a:avLst/>
          </a:prstGeom>
        </p:spPr>
      </p:pic>
      <p:pic>
        <p:nvPicPr>
          <p:cNvPr id="8" name="SK-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5750" y="1775371"/>
            <a:ext cx="1587550" cy="828675"/>
          </a:xfrm>
          <a:prstGeom prst="rect">
            <a:avLst/>
          </a:prstGeom>
        </p:spPr>
      </p:pic>
      <p:pic>
        <p:nvPicPr>
          <p:cNvPr id="9" name="SK-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99" y="1775371"/>
            <a:ext cx="1587550" cy="828675"/>
          </a:xfrm>
          <a:prstGeom prst="rect">
            <a:avLst/>
          </a:prstGeom>
        </p:spPr>
      </p:pic>
      <p:pic>
        <p:nvPicPr>
          <p:cNvPr id="10" name="SK-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851696"/>
            <a:ext cx="238125" cy="190500"/>
          </a:xfrm>
          <a:prstGeom prst="rect">
            <a:avLst/>
          </a:prstGeom>
        </p:spPr>
      </p:pic>
      <p:pic>
        <p:nvPicPr>
          <p:cNvPr id="11" name="SK-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166021"/>
            <a:ext cx="5295900" cy="3491954"/>
          </a:xfrm>
          <a:prstGeom prst="rect">
            <a:avLst/>
          </a:prstGeom>
        </p:spPr>
      </p:pic>
      <p:pic>
        <p:nvPicPr>
          <p:cNvPr id="12" name="SK-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166021"/>
            <a:ext cx="1323975" cy="314325"/>
          </a:xfrm>
          <a:prstGeom prst="rect">
            <a:avLst/>
          </a:prstGeom>
        </p:spPr>
      </p:pic>
      <p:pic>
        <p:nvPicPr>
          <p:cNvPr id="13" name="SK-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5475" y="3166021"/>
            <a:ext cx="1059061" cy="314325"/>
          </a:xfrm>
          <a:prstGeom prst="rect">
            <a:avLst/>
          </a:prstGeom>
        </p:spPr>
      </p:pic>
      <p:pic>
        <p:nvPicPr>
          <p:cNvPr id="14" name="SK-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54536" y="3166021"/>
            <a:ext cx="2912864" cy="314325"/>
          </a:xfrm>
          <a:prstGeom prst="rect">
            <a:avLst/>
          </a:prstGeom>
        </p:spPr>
      </p:pic>
      <p:pic>
        <p:nvPicPr>
          <p:cNvPr id="15" name="SK-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480346"/>
            <a:ext cx="1323975" cy="635496"/>
          </a:xfrm>
          <a:prstGeom prst="rect">
            <a:avLst/>
          </a:prstGeom>
        </p:spPr>
      </p:pic>
      <p:pic>
        <p:nvPicPr>
          <p:cNvPr id="16" name="SK-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95475" y="3480346"/>
            <a:ext cx="1059061" cy="635496"/>
          </a:xfrm>
          <a:prstGeom prst="rect">
            <a:avLst/>
          </a:prstGeom>
        </p:spPr>
      </p:pic>
      <p:pic>
        <p:nvPicPr>
          <p:cNvPr id="17" name="SK-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4536" y="3480346"/>
            <a:ext cx="2912864" cy="635496"/>
          </a:xfrm>
          <a:prstGeom prst="rect">
            <a:avLst/>
          </a:prstGeom>
        </p:spPr>
      </p:pic>
      <p:pic>
        <p:nvPicPr>
          <p:cNvPr id="18" name="SK-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115842"/>
            <a:ext cx="1323975" cy="635496"/>
          </a:xfrm>
          <a:prstGeom prst="rect">
            <a:avLst/>
          </a:prstGeom>
        </p:spPr>
      </p:pic>
      <p:pic>
        <p:nvPicPr>
          <p:cNvPr id="19" name="SK-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95475" y="4115842"/>
            <a:ext cx="1059061" cy="635496"/>
          </a:xfrm>
          <a:prstGeom prst="rect">
            <a:avLst/>
          </a:prstGeom>
        </p:spPr>
      </p:pic>
      <p:pic>
        <p:nvPicPr>
          <p:cNvPr id="20" name="SK-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954536" y="4115842"/>
            <a:ext cx="2912864" cy="635496"/>
          </a:xfrm>
          <a:prstGeom prst="rect">
            <a:avLst/>
          </a:prstGeom>
        </p:spPr>
      </p:pic>
      <p:pic>
        <p:nvPicPr>
          <p:cNvPr id="21" name="SK-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4751338"/>
            <a:ext cx="1323975" cy="635496"/>
          </a:xfrm>
          <a:prstGeom prst="rect">
            <a:avLst/>
          </a:prstGeom>
        </p:spPr>
      </p:pic>
      <p:pic>
        <p:nvPicPr>
          <p:cNvPr id="22" name="SK-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95475" y="4751338"/>
            <a:ext cx="1059061" cy="635496"/>
          </a:xfrm>
          <a:prstGeom prst="rect">
            <a:avLst/>
          </a:prstGeom>
        </p:spPr>
      </p:pic>
      <p:pic>
        <p:nvPicPr>
          <p:cNvPr id="23" name="SK-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954536" y="4751338"/>
            <a:ext cx="2912864" cy="635496"/>
          </a:xfrm>
          <a:prstGeom prst="rect">
            <a:avLst/>
          </a:prstGeom>
        </p:spPr>
      </p:pic>
      <p:pic>
        <p:nvPicPr>
          <p:cNvPr id="24" name="SK-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5386834"/>
            <a:ext cx="1323975" cy="635496"/>
          </a:xfrm>
          <a:prstGeom prst="rect">
            <a:avLst/>
          </a:prstGeom>
        </p:spPr>
      </p:pic>
      <p:pic>
        <p:nvPicPr>
          <p:cNvPr id="25" name="SK-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895475" y="5386834"/>
            <a:ext cx="1059061" cy="635496"/>
          </a:xfrm>
          <a:prstGeom prst="rect">
            <a:avLst/>
          </a:prstGeom>
        </p:spPr>
      </p:pic>
      <p:pic>
        <p:nvPicPr>
          <p:cNvPr id="26" name="SK-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54536" y="5386834"/>
            <a:ext cx="2912864" cy="635496"/>
          </a:xfrm>
          <a:prstGeom prst="rect">
            <a:avLst/>
          </a:prstGeom>
        </p:spPr>
      </p:pic>
      <p:pic>
        <p:nvPicPr>
          <p:cNvPr id="27" name="SK-3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96000" y="1261021"/>
            <a:ext cx="5524500" cy="5396954"/>
          </a:xfrm>
          <a:prstGeom prst="rect">
            <a:avLst/>
          </a:prstGeom>
        </p:spPr>
      </p:pic>
      <p:pic>
        <p:nvPicPr>
          <p:cNvPr id="28" name="SK-3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1680567"/>
            <a:ext cx="238125" cy="190500"/>
          </a:xfrm>
          <a:prstGeom prst="rect">
            <a:avLst/>
          </a:prstGeom>
        </p:spPr>
      </p:pic>
      <p:pic>
        <p:nvPicPr>
          <p:cNvPr id="29" name="SK-3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324600" y="1994892"/>
            <a:ext cx="5181600" cy="4291013"/>
          </a:xfrm>
          <a:prstGeom prst="rect">
            <a:avLst/>
          </a:prstGeom>
        </p:spPr>
      </p:pic>
      <p:pic>
        <p:nvPicPr>
          <p:cNvPr id="30" name="SK-3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238875" y="2032992"/>
            <a:ext cx="152400" cy="152400"/>
          </a:xfrm>
          <a:prstGeom prst="rect">
            <a:avLst/>
          </a:prstGeom>
        </p:spPr>
      </p:pic>
      <p:pic>
        <p:nvPicPr>
          <p:cNvPr id="31" name="SK-3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553200" y="2242542"/>
            <a:ext cx="4953000" cy="623888"/>
          </a:xfrm>
          <a:prstGeom prst="rect">
            <a:avLst/>
          </a:prstGeom>
        </p:spPr>
      </p:pic>
      <p:pic>
        <p:nvPicPr>
          <p:cNvPr id="32" name="SK-3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38875" y="2980730"/>
            <a:ext cx="152400" cy="152400"/>
          </a:xfrm>
          <a:prstGeom prst="rect">
            <a:avLst/>
          </a:prstGeom>
        </p:spPr>
      </p:pic>
      <p:pic>
        <p:nvPicPr>
          <p:cNvPr id="33" name="SK-3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53200" y="3190280"/>
            <a:ext cx="4953000" cy="623888"/>
          </a:xfrm>
          <a:prstGeom prst="rect">
            <a:avLst/>
          </a:prstGeom>
        </p:spPr>
      </p:pic>
      <p:pic>
        <p:nvPicPr>
          <p:cNvPr id="34" name="SK-3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8875" y="3928467"/>
            <a:ext cx="152400" cy="152400"/>
          </a:xfrm>
          <a:prstGeom prst="rect">
            <a:avLst/>
          </a:prstGeom>
        </p:spPr>
      </p:pic>
      <p:pic>
        <p:nvPicPr>
          <p:cNvPr id="35" name="SK-3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553200" y="4138017"/>
            <a:ext cx="4953000" cy="438150"/>
          </a:xfrm>
          <a:prstGeom prst="rect">
            <a:avLst/>
          </a:prstGeom>
        </p:spPr>
      </p:pic>
      <p:pic>
        <p:nvPicPr>
          <p:cNvPr id="36" name="SK-3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238875" y="4690467"/>
            <a:ext cx="152400" cy="152400"/>
          </a:xfrm>
          <a:prstGeom prst="rect">
            <a:avLst/>
          </a:prstGeom>
        </p:spPr>
      </p:pic>
      <p:pic>
        <p:nvPicPr>
          <p:cNvPr id="37" name="SK-3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553200" y="4900017"/>
            <a:ext cx="4953000" cy="438150"/>
          </a:xfrm>
          <a:prstGeom prst="rect">
            <a:avLst/>
          </a:prstGeom>
        </p:spPr>
      </p:pic>
      <p:pic>
        <p:nvPicPr>
          <p:cNvPr id="38" name="SK-3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238875" y="5452467"/>
            <a:ext cx="152400" cy="152400"/>
          </a:xfrm>
          <a:prstGeom prst="rect">
            <a:avLst/>
          </a:prstGeom>
        </p:spPr>
      </p:pic>
      <p:pic>
        <p:nvPicPr>
          <p:cNvPr id="39" name="SK-3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553200" y="5662017"/>
            <a:ext cx="4953000" cy="623888"/>
          </a:xfrm>
          <a:prstGeom prst="rect">
            <a:avLst/>
          </a:prstGeom>
        </p:spPr>
      </p:pic>
      <p:sp>
        <p:nvSpPr>
          <p:cNvPr id="40" name="SK-3-text-39"/>
          <p:cNvSpPr/>
          <p:nvPr/>
        </p:nvSpPr>
        <p:spPr>
          <a:xfrm>
            <a:off x="762000" y="200025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41" name="SK-3-text-40"/>
          <p:cNvSpPr/>
          <p:nvPr/>
        </p:nvSpPr>
        <p:spPr>
          <a:xfrm>
            <a:off x="762000" y="47625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프로젝트 개요 및 10월 5일 위기 에피소드 타임라인</a:t>
            </a:r>
            <a:endParaRPr lang="en-US" sz="2400" dirty="0"/>
          </a:p>
        </p:txBody>
      </p:sp>
      <p:sp>
        <p:nvSpPr>
          <p:cNvPr id="42" name="SK-3-text-41"/>
          <p:cNvSpPr/>
          <p:nvPr/>
        </p:nvSpPr>
        <p:spPr>
          <a:xfrm>
            <a:off x="762000" y="918121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6개월의 프로젝트 일정 중 10월 5일에 발생한 5개 주요 사건과 이해관계자 간의 갈등 상황을 정리합니다.</a:t>
            </a:r>
            <a:endParaRPr lang="en-US" sz="1200" dirty="0"/>
          </a:p>
        </p:txBody>
      </p:sp>
      <p:sp>
        <p:nvSpPr>
          <p:cNvPr id="43" name="SK-3-text-42"/>
          <p:cNvSpPr/>
          <p:nvPr/>
        </p:nvSpPr>
        <p:spPr>
          <a:xfrm>
            <a:off x="1000125" y="1337221"/>
            <a:ext cx="5067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프로젝트 개요</a:t>
            </a:r>
            <a:endParaRPr lang="en-US" sz="1500" dirty="0"/>
          </a:p>
        </p:txBody>
      </p:sp>
      <p:sp>
        <p:nvSpPr>
          <p:cNvPr id="44" name="SK-3-text-43"/>
          <p:cNvSpPr/>
          <p:nvPr/>
        </p:nvSpPr>
        <p:spPr>
          <a:xfrm>
            <a:off x="762000" y="1851571"/>
            <a:ext cx="143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수행 기간</a:t>
            </a:r>
            <a:endParaRPr lang="en-US" sz="900" dirty="0"/>
          </a:p>
        </p:txBody>
      </p:sp>
      <p:sp>
        <p:nvSpPr>
          <p:cNvPr id="45" name="SK-3-text-44"/>
          <p:cNvSpPr/>
          <p:nvPr/>
        </p:nvSpPr>
        <p:spPr>
          <a:xfrm>
            <a:off x="803225" y="2061121"/>
            <a:ext cx="135255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2025.06 ~ 12 (6개월)</a:t>
            </a:r>
            <a:endParaRPr lang="en-US" sz="1275" dirty="0"/>
          </a:p>
        </p:txBody>
      </p:sp>
      <p:sp>
        <p:nvSpPr>
          <p:cNvPr id="46" name="SK-3-text-45"/>
          <p:cNvSpPr/>
          <p:nvPr/>
        </p:nvSpPr>
        <p:spPr>
          <a:xfrm>
            <a:off x="2501950" y="1851571"/>
            <a:ext cx="143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인증 목표</a:t>
            </a:r>
            <a:endParaRPr lang="en-US" sz="900" dirty="0"/>
          </a:p>
        </p:txBody>
      </p:sp>
      <p:sp>
        <p:nvSpPr>
          <p:cNvPr id="47" name="SK-3-text-46"/>
          <p:cNvSpPr/>
          <p:nvPr/>
        </p:nvSpPr>
        <p:spPr>
          <a:xfrm>
            <a:off x="2564606" y="2061121"/>
            <a:ext cx="1309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15일 ASIL-B</a:t>
            </a:r>
            <a:endParaRPr lang="en-US" sz="1275" dirty="0"/>
          </a:p>
        </p:txBody>
      </p:sp>
      <p:sp>
        <p:nvSpPr>
          <p:cNvPr id="48" name="SK-3-text-47"/>
          <p:cNvSpPr/>
          <p:nvPr/>
        </p:nvSpPr>
        <p:spPr>
          <a:xfrm>
            <a:off x="4241899" y="1851571"/>
            <a:ext cx="1435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SOP 양산 목표</a:t>
            </a:r>
            <a:endParaRPr lang="en-US" sz="900" dirty="0"/>
          </a:p>
        </p:txBody>
      </p:sp>
      <p:sp>
        <p:nvSpPr>
          <p:cNvPr id="49" name="SK-3-text-48"/>
          <p:cNvSpPr/>
          <p:nvPr/>
        </p:nvSpPr>
        <p:spPr>
          <a:xfrm>
            <a:off x="4299793" y="2061121"/>
            <a:ext cx="13192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12월 15일 Target</a:t>
            </a:r>
            <a:endParaRPr lang="en-US" sz="1275" dirty="0"/>
          </a:p>
        </p:txBody>
      </p:sp>
      <p:sp>
        <p:nvSpPr>
          <p:cNvPr id="50" name="SK-3-text-49"/>
          <p:cNvSpPr/>
          <p:nvPr/>
        </p:nvSpPr>
        <p:spPr>
          <a:xfrm>
            <a:off x="885825" y="2804071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주요 이해관계자 및 갈등</a:t>
            </a:r>
            <a:endParaRPr lang="en-US" sz="1500" dirty="0"/>
          </a:p>
        </p:txBody>
      </p:sp>
      <p:sp>
        <p:nvSpPr>
          <p:cNvPr id="51" name="SK-3-text-50"/>
          <p:cNvSpPr/>
          <p:nvPr/>
        </p:nvSpPr>
        <p:spPr>
          <a:xfrm>
            <a:off x="685800" y="3166021"/>
            <a:ext cx="11715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이해관계자</a:t>
            </a:r>
            <a:endParaRPr lang="en-US" sz="1050" dirty="0"/>
          </a:p>
        </p:txBody>
      </p:sp>
      <p:sp>
        <p:nvSpPr>
          <p:cNvPr id="52" name="SK-3-text-51"/>
          <p:cNvSpPr/>
          <p:nvPr/>
        </p:nvSpPr>
        <p:spPr>
          <a:xfrm>
            <a:off x="2009775" y="3166021"/>
            <a:ext cx="9066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</a:t>
            </a:r>
            <a:endParaRPr lang="en-US" sz="1050" dirty="0"/>
          </a:p>
        </p:txBody>
      </p:sp>
      <p:sp>
        <p:nvSpPr>
          <p:cNvPr id="53" name="SK-3-text-52"/>
          <p:cNvSpPr/>
          <p:nvPr/>
        </p:nvSpPr>
        <p:spPr>
          <a:xfrm>
            <a:off x="3068836" y="3166021"/>
            <a:ext cx="27604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관심사 및 대립</a:t>
            </a:r>
            <a:endParaRPr lang="en-US" sz="1050" dirty="0"/>
          </a:p>
        </p:txBody>
      </p:sp>
      <p:sp>
        <p:nvSpPr>
          <p:cNvPr id="54" name="SK-3-text-53"/>
          <p:cNvSpPr/>
          <p:nvPr/>
        </p:nvSpPr>
        <p:spPr>
          <a:xfrm>
            <a:off x="685800" y="3547021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박태산 전무</a:t>
            </a:r>
            <a:endParaRPr lang="en-US" sz="1050" dirty="0"/>
          </a:p>
        </p:txBody>
      </p:sp>
      <p:sp>
        <p:nvSpPr>
          <p:cNvPr id="55" name="SK-3-text-54"/>
          <p:cNvSpPr/>
          <p:nvPr/>
        </p:nvSpPr>
        <p:spPr>
          <a:xfrm>
            <a:off x="2009775" y="3480346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</a:t>
            </a:r>
            <a:endParaRPr lang="en-US" sz="1050" dirty="0"/>
          </a:p>
        </p:txBody>
      </p:sp>
      <p:sp>
        <p:nvSpPr>
          <p:cNvPr id="56" name="SK-3-text-55"/>
          <p:cNvSpPr/>
          <p:nvPr/>
        </p:nvSpPr>
        <p:spPr>
          <a:xfrm>
            <a:off x="3068836" y="3480346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임원 대응 및 SOP 달성 중시, 리스크 보고 누락에 격노</a:t>
            </a:r>
            <a:endParaRPr lang="en-US" sz="1050" dirty="0"/>
          </a:p>
        </p:txBody>
      </p:sp>
      <p:sp>
        <p:nvSpPr>
          <p:cNvPr id="57" name="SK-3-text-56"/>
          <p:cNvSpPr/>
          <p:nvPr/>
        </p:nvSpPr>
        <p:spPr>
          <a:xfrm>
            <a:off x="685800" y="4182517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이도윤 PM</a:t>
            </a:r>
            <a:endParaRPr lang="en-US" sz="1050" dirty="0"/>
          </a:p>
        </p:txBody>
      </p:sp>
      <p:sp>
        <p:nvSpPr>
          <p:cNvPr id="58" name="SK-3-text-57"/>
          <p:cNvSpPr/>
          <p:nvPr/>
        </p:nvSpPr>
        <p:spPr>
          <a:xfrm>
            <a:off x="2009775" y="4115842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</a:t>
            </a:r>
            <a:endParaRPr lang="en-US" sz="1050" dirty="0"/>
          </a:p>
        </p:txBody>
      </p:sp>
      <p:sp>
        <p:nvSpPr>
          <p:cNvPr id="59" name="SK-3-text-58"/>
          <p:cNvSpPr/>
          <p:nvPr/>
        </p:nvSpPr>
        <p:spPr>
          <a:xfrm>
            <a:off x="3068836" y="4115842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마일스톤 사수 vs 껍데기 데모 및 임시방편으로 기술부채 가중</a:t>
            </a:r>
            <a:endParaRPr lang="en-US" sz="1050" dirty="0"/>
          </a:p>
        </p:txBody>
      </p:sp>
      <p:sp>
        <p:nvSpPr>
          <p:cNvPr id="60" name="SK-3-text-59"/>
          <p:cNvSpPr/>
          <p:nvPr/>
        </p:nvSpPr>
        <p:spPr>
          <a:xfrm>
            <a:off x="685800" y="4818013"/>
            <a:ext cx="10363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최서린 PO</a:t>
            </a:r>
            <a:endParaRPr lang="en-US" sz="1050" dirty="0"/>
          </a:p>
        </p:txBody>
      </p:sp>
      <p:sp>
        <p:nvSpPr>
          <p:cNvPr id="61" name="SK-3-text-60"/>
          <p:cNvSpPr/>
          <p:nvPr/>
        </p:nvSpPr>
        <p:spPr>
          <a:xfrm>
            <a:off x="2009775" y="4751338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상품기획</a:t>
            </a:r>
            <a:endParaRPr lang="en-US" sz="1050" dirty="0"/>
          </a:p>
        </p:txBody>
      </p:sp>
      <p:sp>
        <p:nvSpPr>
          <p:cNvPr id="62" name="SK-3-text-61"/>
          <p:cNvSpPr/>
          <p:nvPr/>
        </p:nvSpPr>
        <p:spPr>
          <a:xfrm>
            <a:off x="3068836" y="4751338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요구사항(REQ-045) 수용 vs Scope Creep 통제 실패</a:t>
            </a:r>
            <a:endParaRPr lang="en-US" sz="1050" dirty="0"/>
          </a:p>
        </p:txBody>
      </p:sp>
      <p:sp>
        <p:nvSpPr>
          <p:cNvPr id="63" name="SK-3-text-62"/>
          <p:cNvSpPr/>
          <p:nvPr/>
        </p:nvSpPr>
        <p:spPr>
          <a:xfrm>
            <a:off x="685800" y="5453509"/>
            <a:ext cx="19964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리드(FE/PF)</a:t>
            </a:r>
            <a:endParaRPr lang="en-US" sz="1050" dirty="0"/>
          </a:p>
        </p:txBody>
      </p:sp>
      <p:sp>
        <p:nvSpPr>
          <p:cNvPr id="64" name="SK-3-text-63"/>
          <p:cNvSpPr/>
          <p:nvPr/>
        </p:nvSpPr>
        <p:spPr>
          <a:xfrm>
            <a:off x="2009775" y="5386834"/>
            <a:ext cx="906661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구현</a:t>
            </a:r>
            <a:endParaRPr lang="en-US" sz="1050" dirty="0"/>
          </a:p>
        </p:txBody>
      </p:sp>
      <p:sp>
        <p:nvSpPr>
          <p:cNvPr id="65" name="SK-3-text-64"/>
          <p:cNvSpPr/>
          <p:nvPr/>
        </p:nvSpPr>
        <p:spPr>
          <a:xfrm>
            <a:off x="3068836" y="5386834"/>
            <a:ext cx="2684264" cy="6354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2.0s 사수 vs NovaChip SDK 누수 및 API 파손</a:t>
            </a:r>
            <a:endParaRPr lang="en-US" sz="1050" dirty="0"/>
          </a:p>
        </p:txBody>
      </p:sp>
      <p:sp>
        <p:nvSpPr>
          <p:cNvPr id="66" name="SK-3-text-65"/>
          <p:cNvSpPr/>
          <p:nvPr/>
        </p:nvSpPr>
        <p:spPr>
          <a:xfrm>
            <a:off x="685800" y="6089005"/>
            <a:ext cx="13563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품질/보안 리드</a:t>
            </a:r>
            <a:endParaRPr lang="en-US" sz="1050" dirty="0"/>
          </a:p>
        </p:txBody>
      </p:sp>
      <p:sp>
        <p:nvSpPr>
          <p:cNvPr id="67" name="SK-3-text-66"/>
          <p:cNvSpPr/>
          <p:nvPr/>
        </p:nvSpPr>
        <p:spPr>
          <a:xfrm>
            <a:off x="2009775" y="6022330"/>
            <a:ext cx="1330994" cy="63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68" name="SK-3-text-67"/>
          <p:cNvSpPr/>
          <p:nvPr/>
        </p:nvSpPr>
        <p:spPr>
          <a:xfrm>
            <a:off x="3068836" y="6022330"/>
            <a:ext cx="2684264" cy="63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ASIL-B·UN R155 준수 vs 보안 우회 및 메신저 전달 관행</a:t>
            </a:r>
            <a:endParaRPr lang="en-US" sz="1050" dirty="0"/>
          </a:p>
        </p:txBody>
      </p:sp>
      <p:sp>
        <p:nvSpPr>
          <p:cNvPr id="69" name="SK-3-text-68"/>
          <p:cNvSpPr/>
          <p:nvPr/>
        </p:nvSpPr>
        <p:spPr>
          <a:xfrm>
            <a:off x="6638925" y="1632942"/>
            <a:ext cx="55530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10월 5일 사건 타임라인 (Crisis Episode)</a:t>
            </a:r>
            <a:endParaRPr lang="en-US" sz="1500" dirty="0"/>
          </a:p>
        </p:txBody>
      </p:sp>
      <p:sp>
        <p:nvSpPr>
          <p:cNvPr id="70" name="SK-3-text-69"/>
          <p:cNvSpPr/>
          <p:nvPr/>
        </p:nvSpPr>
        <p:spPr>
          <a:xfrm>
            <a:off x="6553200" y="2032992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09:30</a:t>
            </a:r>
            <a:endParaRPr lang="en-US" sz="1050" dirty="0"/>
          </a:p>
        </p:txBody>
      </p:sp>
      <p:sp>
        <p:nvSpPr>
          <p:cNvPr id="71" name="SK-3-text-70"/>
          <p:cNvSpPr/>
          <p:nvPr/>
        </p:nvSpPr>
        <p:spPr>
          <a:xfrm>
            <a:off x="7029450" y="2013942"/>
            <a:ext cx="391668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Daily Scrum: 이상 징후 노출</a:t>
            </a:r>
            <a:endParaRPr lang="en-US" sz="1200" dirty="0"/>
          </a:p>
        </p:txBody>
      </p:sp>
      <p:sp>
        <p:nvSpPr>
          <p:cNvPr id="72" name="SK-3-text-71"/>
          <p:cNvSpPr/>
          <p:nvPr/>
        </p:nvSpPr>
        <p:spPr>
          <a:xfrm>
            <a:off x="6629400" y="2242542"/>
            <a:ext cx="48006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부팅 3.5s 미달, NovaChip SDK 누수, CI 300개 파손 확인. 구두 변경으로 인한 인터페이스 불일치 심화.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기능 우선주의, 인터페이스 파손</a:t>
            </a:r>
            <a:endParaRPr lang="en-US" sz="975" dirty="0"/>
          </a:p>
        </p:txBody>
      </p:sp>
      <p:sp>
        <p:nvSpPr>
          <p:cNvPr id="73" name="SK-3-text-72"/>
          <p:cNvSpPr/>
          <p:nvPr/>
        </p:nvSpPr>
        <p:spPr>
          <a:xfrm>
            <a:off x="6553200" y="2980730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11:00</a:t>
            </a:r>
            <a:endParaRPr lang="en-US" sz="1050" dirty="0"/>
          </a:p>
        </p:txBody>
      </p:sp>
      <p:sp>
        <p:nvSpPr>
          <p:cNvPr id="74" name="SK-3-text-73"/>
          <p:cNvSpPr/>
          <p:nvPr/>
        </p:nvSpPr>
        <p:spPr>
          <a:xfrm>
            <a:off x="6972300" y="2961680"/>
            <a:ext cx="4099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Issue Meeting: 거버넌스 균열</a:t>
            </a:r>
            <a:endParaRPr lang="en-US" sz="1200" dirty="0"/>
          </a:p>
        </p:txBody>
      </p:sp>
      <p:sp>
        <p:nvSpPr>
          <p:cNvPr id="75" name="SK-3-text-74"/>
          <p:cNvSpPr/>
          <p:nvPr/>
        </p:nvSpPr>
        <p:spPr>
          <a:xfrm>
            <a:off x="6629400" y="3190280"/>
            <a:ext cx="48006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부사장 Top-down AI 강요 수용. HSM Blocked로 GDPR 위반 위험. 임시 약관으로 리스크 은폐 시도.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Scope Creep, 규제 이월, 리스크 은폐</a:t>
            </a:r>
            <a:endParaRPr lang="en-US" sz="975" dirty="0"/>
          </a:p>
        </p:txBody>
      </p:sp>
      <p:sp>
        <p:nvSpPr>
          <p:cNvPr id="76" name="SK-3-text-75"/>
          <p:cNvSpPr/>
          <p:nvPr/>
        </p:nvSpPr>
        <p:spPr>
          <a:xfrm>
            <a:off x="6553200" y="3928467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14:00</a:t>
            </a:r>
            <a:endParaRPr lang="en-US" sz="1050" dirty="0"/>
          </a:p>
        </p:txBody>
      </p:sp>
      <p:sp>
        <p:nvSpPr>
          <p:cNvPr id="77" name="SK-3-text-76"/>
          <p:cNvSpPr/>
          <p:nvPr/>
        </p:nvSpPr>
        <p:spPr>
          <a:xfrm>
            <a:off x="7000875" y="3909417"/>
            <a:ext cx="40995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Vendor Call: 외부 리스크 폭발</a:t>
            </a:r>
            <a:endParaRPr lang="en-US" sz="1200" dirty="0"/>
          </a:p>
        </p:txBody>
      </p:sp>
      <p:sp>
        <p:nvSpPr>
          <p:cNvPr id="78" name="SK-3-text-77"/>
          <p:cNvSpPr/>
          <p:nvPr/>
        </p:nvSpPr>
        <p:spPr>
          <a:xfrm>
            <a:off x="6629400" y="4138017"/>
            <a:ext cx="4800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릴리즈 3주 연기 통보. HSM 보안키 라이선스 비용 정책 기습 변경 통보.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벤더 통제 실패, 비용 리스크 미협상</a:t>
            </a:r>
            <a:endParaRPr lang="en-US" sz="975" dirty="0"/>
          </a:p>
        </p:txBody>
      </p:sp>
      <p:sp>
        <p:nvSpPr>
          <p:cNvPr id="79" name="SK-3-text-78"/>
          <p:cNvSpPr/>
          <p:nvPr/>
        </p:nvSpPr>
        <p:spPr>
          <a:xfrm>
            <a:off x="6553200" y="4690467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16:30</a:t>
            </a:r>
            <a:endParaRPr lang="en-US" sz="1050" dirty="0"/>
          </a:p>
        </p:txBody>
      </p:sp>
      <p:sp>
        <p:nvSpPr>
          <p:cNvPr id="80" name="SK-3-text-79"/>
          <p:cNvSpPr/>
          <p:nvPr/>
        </p:nvSpPr>
        <p:spPr>
          <a:xfrm>
            <a:off x="6991350" y="4671417"/>
            <a:ext cx="3733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Blind Post: 조직 신뢰 붕괴</a:t>
            </a:r>
            <a:endParaRPr lang="en-US" sz="1200" dirty="0"/>
          </a:p>
        </p:txBody>
      </p:sp>
      <p:sp>
        <p:nvSpPr>
          <p:cNvPr id="81" name="SK-3-text-80"/>
          <p:cNvSpPr/>
          <p:nvPr/>
        </p:nvSpPr>
        <p:spPr>
          <a:xfrm>
            <a:off x="6629400" y="4900017"/>
            <a:ext cx="48006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"타이타닉 같음. 탈출은 지능순." 조직 불신 확산, Silo 비난, PM 리더십 상실 게시물 폭발.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사기 저하, 기술부채 누적, 조직 불신</a:t>
            </a:r>
            <a:endParaRPr lang="en-US" sz="975" dirty="0"/>
          </a:p>
        </p:txBody>
      </p:sp>
      <p:sp>
        <p:nvSpPr>
          <p:cNvPr id="82" name="SK-3-text-81"/>
          <p:cNvSpPr/>
          <p:nvPr/>
        </p:nvSpPr>
        <p:spPr>
          <a:xfrm>
            <a:off x="6553200" y="5452467"/>
            <a:ext cx="1303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20:00</a:t>
            </a:r>
            <a:endParaRPr lang="en-US" sz="1050" dirty="0"/>
          </a:p>
        </p:txBody>
      </p:sp>
      <p:sp>
        <p:nvSpPr>
          <p:cNvPr id="83" name="SK-3-text-82"/>
          <p:cNvSpPr/>
          <p:nvPr/>
        </p:nvSpPr>
        <p:spPr>
          <a:xfrm>
            <a:off x="7038975" y="5433417"/>
            <a:ext cx="44653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Sponsor Call: 에스컬레이션 임계점</a:t>
            </a:r>
            <a:endParaRPr lang="en-US" sz="1200" dirty="0"/>
          </a:p>
        </p:txBody>
      </p:sp>
      <p:sp>
        <p:nvSpPr>
          <p:cNvPr id="84" name="SK-3-text-83"/>
          <p:cNvSpPr/>
          <p:nvPr/>
        </p:nvSpPr>
        <p:spPr>
          <a:xfrm>
            <a:off x="6629400" y="5662017"/>
            <a:ext cx="4800600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격노. OEM 항의 및 벤더 리스크 은폐 지적. 익일 08시까지 리스크 복구 계획서 제출 지시.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식별: 스폰서 에스컬레이션 체계 붕괴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6296"/>
            <a:ext cx="2619375" cy="1076325"/>
          </a:xfrm>
          <a:prstGeom prst="rect">
            <a:avLst/>
          </a:prstGeom>
        </p:spPr>
      </p:pic>
      <p:pic>
        <p:nvPicPr>
          <p:cNvPr id="6" name="SK-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1680121"/>
            <a:ext cx="561975" cy="180975"/>
          </a:xfrm>
          <a:prstGeom prst="rect">
            <a:avLst/>
          </a:prstGeom>
        </p:spPr>
      </p:pic>
      <p:pic>
        <p:nvPicPr>
          <p:cNvPr id="7" name="SK-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375" y="1556296"/>
            <a:ext cx="2619375" cy="1076325"/>
          </a:xfrm>
          <a:prstGeom prst="rect">
            <a:avLst/>
          </a:prstGeom>
        </p:spPr>
      </p:pic>
      <p:pic>
        <p:nvPicPr>
          <p:cNvPr id="8" name="SK-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4475" y="1680121"/>
            <a:ext cx="561975" cy="180975"/>
          </a:xfrm>
          <a:prstGeom prst="rect">
            <a:avLst/>
          </a:prstGeom>
        </p:spPr>
      </p:pic>
      <p:pic>
        <p:nvPicPr>
          <p:cNvPr id="9" name="SK-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0" y="1556296"/>
            <a:ext cx="2619375" cy="1076325"/>
          </a:xfrm>
          <a:prstGeom prst="rect">
            <a:avLst/>
          </a:prstGeom>
        </p:spPr>
      </p:pic>
      <p:pic>
        <p:nvPicPr>
          <p:cNvPr id="10" name="SK-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15300" y="1680121"/>
            <a:ext cx="581025" cy="180975"/>
          </a:xfrm>
          <a:prstGeom prst="rect">
            <a:avLst/>
          </a:prstGeom>
        </p:spPr>
      </p:pic>
      <p:pic>
        <p:nvPicPr>
          <p:cNvPr id="11" name="SK-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01125" y="1556296"/>
            <a:ext cx="2619375" cy="1076325"/>
          </a:xfrm>
          <a:prstGeom prst="rect">
            <a:avLst/>
          </a:prstGeom>
        </p:spPr>
      </p:pic>
      <p:pic>
        <p:nvPicPr>
          <p:cNvPr id="12" name="SK-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4225" y="1680121"/>
            <a:ext cx="561975" cy="180975"/>
          </a:xfrm>
          <a:prstGeom prst="rect">
            <a:avLst/>
          </a:prstGeom>
        </p:spPr>
      </p:pic>
      <p:pic>
        <p:nvPicPr>
          <p:cNvPr id="13" name="SK-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861221"/>
            <a:ext cx="2762250" cy="428625"/>
          </a:xfrm>
          <a:prstGeom prst="rect">
            <a:avLst/>
          </a:prstGeom>
        </p:spPr>
      </p:pic>
      <p:pic>
        <p:nvPicPr>
          <p:cNvPr id="14" name="SK-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33750" y="2861221"/>
            <a:ext cx="2762250" cy="428625"/>
          </a:xfrm>
          <a:prstGeom prst="rect">
            <a:avLst/>
          </a:prstGeom>
        </p:spPr>
      </p:pic>
      <p:pic>
        <p:nvPicPr>
          <p:cNvPr id="15" name="SK-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0" y="2861221"/>
            <a:ext cx="2762250" cy="428625"/>
          </a:xfrm>
          <a:prstGeom prst="rect">
            <a:avLst/>
          </a:prstGeom>
        </p:spPr>
      </p:pic>
      <p:pic>
        <p:nvPicPr>
          <p:cNvPr id="16" name="SK-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58250" y="2861221"/>
            <a:ext cx="2762250" cy="428625"/>
          </a:xfrm>
          <a:prstGeom prst="rect">
            <a:avLst/>
          </a:prstGeom>
        </p:spPr>
      </p:pic>
      <p:pic>
        <p:nvPicPr>
          <p:cNvPr id="17" name="SK-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289846"/>
            <a:ext cx="2762250" cy="637431"/>
          </a:xfrm>
          <a:prstGeom prst="rect">
            <a:avLst/>
          </a:prstGeom>
        </p:spPr>
      </p:pic>
      <p:pic>
        <p:nvPicPr>
          <p:cNvPr id="18" name="SK-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3442395"/>
            <a:ext cx="166688" cy="137220"/>
          </a:xfrm>
          <a:prstGeom prst="rect">
            <a:avLst/>
          </a:prstGeom>
        </p:spPr>
      </p:pic>
      <p:pic>
        <p:nvPicPr>
          <p:cNvPr id="19" name="SK-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33750" y="3289846"/>
            <a:ext cx="2762250" cy="637431"/>
          </a:xfrm>
          <a:prstGeom prst="rect">
            <a:avLst/>
          </a:prstGeom>
        </p:spPr>
      </p:pic>
      <p:pic>
        <p:nvPicPr>
          <p:cNvPr id="20" name="SK-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3289846"/>
            <a:ext cx="2762250" cy="637431"/>
          </a:xfrm>
          <a:prstGeom prst="rect">
            <a:avLst/>
          </a:prstGeom>
        </p:spPr>
      </p:pic>
      <p:pic>
        <p:nvPicPr>
          <p:cNvPr id="21" name="SK-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858250" y="3289846"/>
            <a:ext cx="2762250" cy="637431"/>
          </a:xfrm>
          <a:prstGeom prst="rect">
            <a:avLst/>
          </a:prstGeom>
        </p:spPr>
      </p:pic>
      <p:pic>
        <p:nvPicPr>
          <p:cNvPr id="22" name="SK-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3927277"/>
            <a:ext cx="2762250" cy="637431"/>
          </a:xfrm>
          <a:prstGeom prst="rect">
            <a:avLst/>
          </a:prstGeom>
        </p:spPr>
      </p:pic>
      <p:pic>
        <p:nvPicPr>
          <p:cNvPr id="23" name="SK-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5800" y="4079825"/>
            <a:ext cx="166688" cy="137220"/>
          </a:xfrm>
          <a:prstGeom prst="rect">
            <a:avLst/>
          </a:prstGeom>
        </p:spPr>
      </p:pic>
      <p:pic>
        <p:nvPicPr>
          <p:cNvPr id="24" name="SK-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33750" y="3927277"/>
            <a:ext cx="2762250" cy="637431"/>
          </a:xfrm>
          <a:prstGeom prst="rect">
            <a:avLst/>
          </a:prstGeom>
        </p:spPr>
      </p:pic>
      <p:pic>
        <p:nvPicPr>
          <p:cNvPr id="25" name="SK-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0" y="3927277"/>
            <a:ext cx="2762250" cy="637431"/>
          </a:xfrm>
          <a:prstGeom prst="rect">
            <a:avLst/>
          </a:prstGeom>
        </p:spPr>
      </p:pic>
      <p:pic>
        <p:nvPicPr>
          <p:cNvPr id="26" name="SK-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58250" y="3927277"/>
            <a:ext cx="2762250" cy="637431"/>
          </a:xfrm>
          <a:prstGeom prst="rect">
            <a:avLst/>
          </a:prstGeom>
        </p:spPr>
      </p:pic>
      <p:pic>
        <p:nvPicPr>
          <p:cNvPr id="27" name="SK-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" y="4564707"/>
            <a:ext cx="2762250" cy="637431"/>
          </a:xfrm>
          <a:prstGeom prst="rect">
            <a:avLst/>
          </a:prstGeom>
        </p:spPr>
      </p:pic>
      <p:pic>
        <p:nvPicPr>
          <p:cNvPr id="28" name="SK-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85800" y="4717256"/>
            <a:ext cx="166688" cy="137220"/>
          </a:xfrm>
          <a:prstGeom prst="rect">
            <a:avLst/>
          </a:prstGeom>
        </p:spPr>
      </p:pic>
      <p:pic>
        <p:nvPicPr>
          <p:cNvPr id="29" name="SK-4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33750" y="4564707"/>
            <a:ext cx="2762250" cy="637431"/>
          </a:xfrm>
          <a:prstGeom prst="rect">
            <a:avLst/>
          </a:prstGeom>
        </p:spPr>
      </p:pic>
      <p:pic>
        <p:nvPicPr>
          <p:cNvPr id="30" name="SK-4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096000" y="4564707"/>
            <a:ext cx="2762250" cy="637431"/>
          </a:xfrm>
          <a:prstGeom prst="rect">
            <a:avLst/>
          </a:prstGeom>
        </p:spPr>
      </p:pic>
      <p:pic>
        <p:nvPicPr>
          <p:cNvPr id="31" name="SK-4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858250" y="4564707"/>
            <a:ext cx="2762250" cy="637431"/>
          </a:xfrm>
          <a:prstGeom prst="rect">
            <a:avLst/>
          </a:prstGeom>
        </p:spPr>
      </p:pic>
      <p:pic>
        <p:nvPicPr>
          <p:cNvPr id="32" name="SK-4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5202138"/>
            <a:ext cx="2762250" cy="637431"/>
          </a:xfrm>
          <a:prstGeom prst="rect">
            <a:avLst/>
          </a:prstGeom>
        </p:spPr>
      </p:pic>
      <p:pic>
        <p:nvPicPr>
          <p:cNvPr id="33" name="SK-4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5800" y="5354687"/>
            <a:ext cx="166688" cy="137220"/>
          </a:xfrm>
          <a:prstGeom prst="rect">
            <a:avLst/>
          </a:prstGeom>
        </p:spPr>
      </p:pic>
      <p:pic>
        <p:nvPicPr>
          <p:cNvPr id="34" name="SK-4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333750" y="5202138"/>
            <a:ext cx="2762250" cy="637431"/>
          </a:xfrm>
          <a:prstGeom prst="rect">
            <a:avLst/>
          </a:prstGeom>
        </p:spPr>
      </p:pic>
      <p:pic>
        <p:nvPicPr>
          <p:cNvPr id="35" name="SK-4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96000" y="5202138"/>
            <a:ext cx="2762250" cy="637431"/>
          </a:xfrm>
          <a:prstGeom prst="rect">
            <a:avLst/>
          </a:prstGeom>
        </p:spPr>
      </p:pic>
      <p:pic>
        <p:nvPicPr>
          <p:cNvPr id="36" name="SK-4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58250" y="5202138"/>
            <a:ext cx="2762250" cy="637431"/>
          </a:xfrm>
          <a:prstGeom prst="rect">
            <a:avLst/>
          </a:prstGeom>
        </p:spPr>
      </p:pic>
      <p:pic>
        <p:nvPicPr>
          <p:cNvPr id="37" name="SK-4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5839569"/>
            <a:ext cx="2762250" cy="637431"/>
          </a:xfrm>
          <a:prstGeom prst="rect">
            <a:avLst/>
          </a:prstGeom>
        </p:spPr>
      </p:pic>
      <p:pic>
        <p:nvPicPr>
          <p:cNvPr id="38" name="SK-4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85800" y="5992118"/>
            <a:ext cx="166688" cy="137220"/>
          </a:xfrm>
          <a:prstGeom prst="rect">
            <a:avLst/>
          </a:prstGeom>
        </p:spPr>
      </p:pic>
      <p:pic>
        <p:nvPicPr>
          <p:cNvPr id="39" name="SK-4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333750" y="5839569"/>
            <a:ext cx="2762250" cy="637431"/>
          </a:xfrm>
          <a:prstGeom prst="rect">
            <a:avLst/>
          </a:prstGeom>
        </p:spPr>
      </p:pic>
      <p:pic>
        <p:nvPicPr>
          <p:cNvPr id="40" name="SK-4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096000" y="5839569"/>
            <a:ext cx="2762250" cy="637431"/>
          </a:xfrm>
          <a:prstGeom prst="rect">
            <a:avLst/>
          </a:prstGeom>
        </p:spPr>
      </p:pic>
      <p:pic>
        <p:nvPicPr>
          <p:cNvPr id="41" name="SK-4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8858250" y="5839569"/>
            <a:ext cx="2762250" cy="637431"/>
          </a:xfrm>
          <a:prstGeom prst="rect">
            <a:avLst/>
          </a:prstGeom>
        </p:spPr>
      </p:pic>
      <p:sp>
        <p:nvSpPr>
          <p:cNvPr id="42" name="SK-4-text-41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43" name="SK-4-text-42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성과 분석(KPI 및 Performance Domain Analysis)</a:t>
            </a:r>
            <a:endParaRPr lang="en-US" sz="2400" dirty="0"/>
          </a:p>
        </p:txBody>
      </p:sp>
      <p:sp>
        <p:nvSpPr>
          <p:cNvPr id="44" name="SK-4-text-43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 지표 미달 및 PMBOK 8th 기준 성과 도메인 갭 진단</a:t>
            </a:r>
            <a:endParaRPr lang="en-US" sz="1200" dirty="0"/>
          </a:p>
        </p:txBody>
      </p:sp>
      <p:sp>
        <p:nvSpPr>
          <p:cNvPr id="45" name="SK-4-text-44"/>
          <p:cNvSpPr/>
          <p:nvPr/>
        </p:nvSpPr>
        <p:spPr>
          <a:xfrm>
            <a:off x="685800" y="1670596"/>
            <a:ext cx="23164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TIME</a:t>
            </a:r>
            <a:endParaRPr lang="en-US" sz="1050" dirty="0"/>
          </a:p>
        </p:txBody>
      </p:sp>
      <p:sp>
        <p:nvSpPr>
          <p:cNvPr id="46" name="SK-4-text-45"/>
          <p:cNvSpPr/>
          <p:nvPr/>
        </p:nvSpPr>
        <p:spPr>
          <a:xfrm>
            <a:off x="2571750" y="1680121"/>
            <a:ext cx="804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750" dirty="0"/>
          </a:p>
        </p:txBody>
      </p:sp>
      <p:sp>
        <p:nvSpPr>
          <p:cNvPr id="47" name="SK-4-text-46"/>
          <p:cNvSpPr/>
          <p:nvPr/>
        </p:nvSpPr>
        <p:spPr>
          <a:xfrm>
            <a:off x="685800" y="1946821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3.5s</a:t>
            </a:r>
            <a:endParaRPr lang="en-US" sz="2100" dirty="0"/>
          </a:p>
        </p:txBody>
      </p:sp>
      <p:sp>
        <p:nvSpPr>
          <p:cNvPr id="48" name="SK-4-text-47"/>
          <p:cNvSpPr/>
          <p:nvPr/>
        </p:nvSpPr>
        <p:spPr>
          <a:xfrm>
            <a:off x="685800" y="2346871"/>
            <a:ext cx="31851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≤ 2.0s (+75% 지연)</a:t>
            </a:r>
            <a:endParaRPr lang="en-US" sz="900" dirty="0"/>
          </a:p>
        </p:txBody>
      </p:sp>
      <p:sp>
        <p:nvSpPr>
          <p:cNvPr id="49" name="SK-4-text-48"/>
          <p:cNvSpPr/>
          <p:nvPr/>
        </p:nvSpPr>
        <p:spPr>
          <a:xfrm>
            <a:off x="3495675" y="1670596"/>
            <a:ext cx="1996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PASS RATE</a:t>
            </a:r>
            <a:endParaRPr lang="en-US" sz="1050" dirty="0"/>
          </a:p>
        </p:txBody>
      </p:sp>
      <p:sp>
        <p:nvSpPr>
          <p:cNvPr id="50" name="SK-4-text-49"/>
          <p:cNvSpPr/>
          <p:nvPr/>
        </p:nvSpPr>
        <p:spPr>
          <a:xfrm>
            <a:off x="5381625" y="1680121"/>
            <a:ext cx="804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750" dirty="0"/>
          </a:p>
        </p:txBody>
      </p:sp>
      <p:sp>
        <p:nvSpPr>
          <p:cNvPr id="51" name="SK-4-text-50"/>
          <p:cNvSpPr/>
          <p:nvPr/>
        </p:nvSpPr>
        <p:spPr>
          <a:xfrm>
            <a:off x="3495675" y="1946821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58%</a:t>
            </a:r>
            <a:endParaRPr lang="en-US" sz="2100" dirty="0"/>
          </a:p>
        </p:txBody>
      </p:sp>
      <p:sp>
        <p:nvSpPr>
          <p:cNvPr id="52" name="SK-4-text-51"/>
          <p:cNvSpPr/>
          <p:nvPr/>
        </p:nvSpPr>
        <p:spPr>
          <a:xfrm>
            <a:off x="3495675" y="2346871"/>
            <a:ext cx="31394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≥ 95% (300개 파손)</a:t>
            </a:r>
            <a:endParaRPr lang="en-US" sz="900" dirty="0"/>
          </a:p>
        </p:txBody>
      </p:sp>
      <p:sp>
        <p:nvSpPr>
          <p:cNvPr id="53" name="SK-4-text-52"/>
          <p:cNvSpPr/>
          <p:nvPr/>
        </p:nvSpPr>
        <p:spPr>
          <a:xfrm>
            <a:off x="6305550" y="1670596"/>
            <a:ext cx="1996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DELIVERY</a:t>
            </a:r>
            <a:endParaRPr lang="en-US" sz="1050" dirty="0"/>
          </a:p>
        </p:txBody>
      </p:sp>
      <p:sp>
        <p:nvSpPr>
          <p:cNvPr id="54" name="SK-4-text-53"/>
          <p:cNvSpPr/>
          <p:nvPr/>
        </p:nvSpPr>
        <p:spPr>
          <a:xfrm>
            <a:off x="8172450" y="1680121"/>
            <a:ext cx="7189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WARNING</a:t>
            </a:r>
            <a:endParaRPr lang="en-US" sz="750" dirty="0"/>
          </a:p>
        </p:txBody>
      </p:sp>
      <p:sp>
        <p:nvSpPr>
          <p:cNvPr id="55" name="SK-4-text-54"/>
          <p:cNvSpPr/>
          <p:nvPr/>
        </p:nvSpPr>
        <p:spPr>
          <a:xfrm>
            <a:off x="6305550" y="1946821"/>
            <a:ext cx="29070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+3 Weeks</a:t>
            </a:r>
            <a:endParaRPr lang="en-US" sz="2100" dirty="0"/>
          </a:p>
        </p:txBody>
      </p:sp>
      <p:sp>
        <p:nvSpPr>
          <p:cNvPr id="56" name="SK-4-text-55"/>
          <p:cNvSpPr/>
          <p:nvPr/>
        </p:nvSpPr>
        <p:spPr>
          <a:xfrm>
            <a:off x="6305550" y="2346871"/>
            <a:ext cx="268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릴리즈 지연</a:t>
            </a:r>
            <a:endParaRPr lang="en-US" sz="900" dirty="0"/>
          </a:p>
        </p:txBody>
      </p:sp>
      <p:sp>
        <p:nvSpPr>
          <p:cNvPr id="57" name="SK-4-text-56"/>
          <p:cNvSpPr/>
          <p:nvPr/>
        </p:nvSpPr>
        <p:spPr>
          <a:xfrm>
            <a:off x="9115425" y="1670596"/>
            <a:ext cx="26365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 READINESS</a:t>
            </a:r>
            <a:endParaRPr lang="en-US" sz="1050" dirty="0"/>
          </a:p>
        </p:txBody>
      </p:sp>
      <p:sp>
        <p:nvSpPr>
          <p:cNvPr id="58" name="SK-4-text-57"/>
          <p:cNvSpPr/>
          <p:nvPr/>
        </p:nvSpPr>
        <p:spPr>
          <a:xfrm>
            <a:off x="11001375" y="1680121"/>
            <a:ext cx="804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750" dirty="0"/>
          </a:p>
        </p:txBody>
      </p:sp>
      <p:sp>
        <p:nvSpPr>
          <p:cNvPr id="59" name="SK-4-text-58"/>
          <p:cNvSpPr/>
          <p:nvPr/>
        </p:nvSpPr>
        <p:spPr>
          <a:xfrm>
            <a:off x="9115425" y="1946821"/>
            <a:ext cx="25241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Failure</a:t>
            </a:r>
            <a:endParaRPr lang="en-US" sz="2100" dirty="0"/>
          </a:p>
        </p:txBody>
      </p:sp>
      <p:sp>
        <p:nvSpPr>
          <p:cNvPr id="60" name="SK-4-text-59"/>
          <p:cNvSpPr/>
          <p:nvPr/>
        </p:nvSpPr>
        <p:spPr>
          <a:xfrm>
            <a:off x="9115425" y="2346871"/>
            <a:ext cx="30765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26262 인증 획득 불확실</a:t>
            </a:r>
            <a:endParaRPr lang="en-US" sz="900" dirty="0"/>
          </a:p>
        </p:txBody>
      </p:sp>
      <p:sp>
        <p:nvSpPr>
          <p:cNvPr id="61" name="SK-4-text-60"/>
          <p:cNvSpPr/>
          <p:nvPr/>
        </p:nvSpPr>
        <p:spPr>
          <a:xfrm>
            <a:off x="685800" y="2861221"/>
            <a:ext cx="271818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Domain</a:t>
            </a:r>
            <a:endParaRPr lang="en-US" sz="1050" dirty="0"/>
          </a:p>
        </p:txBody>
      </p:sp>
      <p:sp>
        <p:nvSpPr>
          <p:cNvPr id="62" name="SK-4-text-61"/>
          <p:cNvSpPr/>
          <p:nvPr/>
        </p:nvSpPr>
        <p:spPr>
          <a:xfrm>
            <a:off x="3448050" y="2861221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요구 표준</a:t>
            </a:r>
            <a:endParaRPr lang="en-US" sz="1050" dirty="0"/>
          </a:p>
        </p:txBody>
      </p:sp>
      <p:sp>
        <p:nvSpPr>
          <p:cNvPr id="63" name="SK-4-text-62"/>
          <p:cNvSpPr/>
          <p:nvPr/>
        </p:nvSpPr>
        <p:spPr>
          <a:xfrm>
            <a:off x="6210300" y="2861221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 발생 갭</a:t>
            </a:r>
            <a:endParaRPr lang="en-US" sz="1050" dirty="0"/>
          </a:p>
        </p:txBody>
      </p:sp>
      <p:sp>
        <p:nvSpPr>
          <p:cNvPr id="64" name="SK-4-text-63"/>
          <p:cNvSpPr/>
          <p:nvPr/>
        </p:nvSpPr>
        <p:spPr>
          <a:xfrm>
            <a:off x="8972550" y="2861221"/>
            <a:ext cx="2609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영향도 / 비즈니스 리스크</a:t>
            </a:r>
            <a:endParaRPr lang="en-US" sz="1050" dirty="0"/>
          </a:p>
        </p:txBody>
      </p:sp>
      <p:sp>
        <p:nvSpPr>
          <p:cNvPr id="65" name="SK-4-text-64"/>
          <p:cNvSpPr/>
          <p:nvPr/>
        </p:nvSpPr>
        <p:spPr>
          <a:xfrm>
            <a:off x="909638" y="3289846"/>
            <a:ext cx="3229093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Stakeholder &amp; Supplier</a:t>
            </a:r>
            <a:endParaRPr lang="en-US" sz="1050" dirty="0"/>
          </a:p>
        </p:txBody>
      </p:sp>
      <p:sp>
        <p:nvSpPr>
          <p:cNvPr id="66" name="SK-4-text-65"/>
          <p:cNvSpPr/>
          <p:nvPr/>
        </p:nvSpPr>
        <p:spPr>
          <a:xfrm>
            <a:off x="3448050" y="3289846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SLA 이행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투명 보고</a:t>
            </a:r>
            <a:endParaRPr lang="en-US" sz="1050" dirty="0"/>
          </a:p>
        </p:txBody>
      </p:sp>
      <p:sp>
        <p:nvSpPr>
          <p:cNvPr id="67" name="SK-4-text-66"/>
          <p:cNvSpPr/>
          <p:nvPr/>
        </p:nvSpPr>
        <p:spPr>
          <a:xfrm>
            <a:off x="6210300" y="3289846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3주 연기, HSM 비용 돌발, 스폰서 보고 누락</a:t>
            </a:r>
            <a:endParaRPr lang="en-US" sz="1050" dirty="0"/>
          </a:p>
        </p:txBody>
      </p:sp>
      <p:sp>
        <p:nvSpPr>
          <p:cNvPr id="68" name="SK-4-text-67"/>
          <p:cNvSpPr/>
          <p:nvPr/>
        </p:nvSpPr>
        <p:spPr>
          <a:xfrm>
            <a:off x="8972550" y="3289846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임원 항의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에스컬레이션 붕괴</a:t>
            </a:r>
            <a:endParaRPr lang="en-US" sz="1050" dirty="0"/>
          </a:p>
        </p:txBody>
      </p:sp>
      <p:sp>
        <p:nvSpPr>
          <p:cNvPr id="69" name="SK-4-text-68"/>
          <p:cNvSpPr/>
          <p:nvPr/>
        </p:nvSpPr>
        <p:spPr>
          <a:xfrm>
            <a:off x="909638" y="3927277"/>
            <a:ext cx="3229093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Development &amp; Delivery</a:t>
            </a:r>
            <a:endParaRPr lang="en-US" sz="1050" dirty="0"/>
          </a:p>
        </p:txBody>
      </p:sp>
      <p:sp>
        <p:nvSpPr>
          <p:cNvPr id="70" name="SK-4-text-69"/>
          <p:cNvSpPr/>
          <p:nvPr/>
        </p:nvSpPr>
        <p:spPr>
          <a:xfrm>
            <a:off x="3448050" y="392727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Boot 2.0s, CI 95%,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OTA 99.9%</a:t>
            </a:r>
            <a:endParaRPr lang="en-US" sz="1050" dirty="0"/>
          </a:p>
        </p:txBody>
      </p:sp>
      <p:sp>
        <p:nvSpPr>
          <p:cNvPr id="71" name="SK-4-text-70"/>
          <p:cNvSpPr/>
          <p:nvPr/>
        </p:nvSpPr>
        <p:spPr>
          <a:xfrm>
            <a:off x="6210300" y="392727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Boot 3.5s, CI 58% 파손, QA망 인프라 부족으로 OTA 검증 불능</a:t>
            </a:r>
            <a:endParaRPr lang="en-US" sz="1050" dirty="0"/>
          </a:p>
        </p:txBody>
      </p:sp>
      <p:sp>
        <p:nvSpPr>
          <p:cNvPr id="72" name="SK-4-text-71"/>
          <p:cNvSpPr/>
          <p:nvPr/>
        </p:nvSpPr>
        <p:spPr>
          <a:xfrm>
            <a:off x="8972550" y="392727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양산 이관 실패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실차 테스트 불가능</a:t>
            </a:r>
            <a:endParaRPr lang="en-US" sz="1050" dirty="0"/>
          </a:p>
        </p:txBody>
      </p:sp>
      <p:sp>
        <p:nvSpPr>
          <p:cNvPr id="73" name="SK-4-text-72"/>
          <p:cNvSpPr/>
          <p:nvPr/>
        </p:nvSpPr>
        <p:spPr>
          <a:xfrm>
            <a:off x="909638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&amp; Planning</a:t>
            </a:r>
            <a:endParaRPr lang="en-US" sz="1050" dirty="0"/>
          </a:p>
        </p:txBody>
      </p:sp>
      <p:sp>
        <p:nvSpPr>
          <p:cNvPr id="74" name="SK-4-text-73"/>
          <p:cNvSpPr/>
          <p:nvPr/>
        </p:nvSpPr>
        <p:spPr>
          <a:xfrm>
            <a:off x="3448050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 Scope Freeze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영향도 평가</a:t>
            </a:r>
            <a:endParaRPr lang="en-US" sz="1050" dirty="0"/>
          </a:p>
        </p:txBody>
      </p:sp>
      <p:sp>
        <p:nvSpPr>
          <p:cNvPr id="75" name="SK-4-text-74"/>
          <p:cNvSpPr/>
          <p:nvPr/>
        </p:nvSpPr>
        <p:spPr>
          <a:xfrm>
            <a:off x="6210300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AI 음성 기습 수용,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 핵심 인력 차출</a:t>
            </a:r>
            <a:endParaRPr lang="en-US" sz="1050" dirty="0"/>
          </a:p>
        </p:txBody>
      </p:sp>
      <p:sp>
        <p:nvSpPr>
          <p:cNvPr id="76" name="SK-4-text-75"/>
          <p:cNvSpPr/>
          <p:nvPr/>
        </p:nvSpPr>
        <p:spPr>
          <a:xfrm>
            <a:off x="8972550" y="4564707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베이스라인 붕괴,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개발진 피로 누적 및 태번</a:t>
            </a:r>
            <a:endParaRPr lang="en-US" sz="1050" dirty="0"/>
          </a:p>
        </p:txBody>
      </p:sp>
      <p:sp>
        <p:nvSpPr>
          <p:cNvPr id="77" name="SK-4-text-76"/>
          <p:cNvSpPr/>
          <p:nvPr/>
        </p:nvSpPr>
        <p:spPr>
          <a:xfrm>
            <a:off x="909638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&amp; Culture</a:t>
            </a:r>
            <a:endParaRPr lang="en-US" sz="1050" dirty="0"/>
          </a:p>
        </p:txBody>
      </p:sp>
      <p:sp>
        <p:nvSpPr>
          <p:cNvPr id="78" name="SK-4-text-77"/>
          <p:cNvSpPr/>
          <p:nvPr/>
        </p:nvSpPr>
        <p:spPr>
          <a:xfrm>
            <a:off x="3448050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정보 공유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기반 협업</a:t>
            </a:r>
            <a:endParaRPr lang="en-US" sz="1050" dirty="0"/>
          </a:p>
        </p:txBody>
      </p:sp>
      <p:sp>
        <p:nvSpPr>
          <p:cNvPr id="79" name="SK-4-text-78"/>
          <p:cNvSpPr/>
          <p:nvPr/>
        </p:nvSpPr>
        <p:spPr>
          <a:xfrm>
            <a:off x="6210300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구두 전달로 API 파손,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불신 확산</a:t>
            </a:r>
            <a:endParaRPr lang="en-US" sz="1050" dirty="0"/>
          </a:p>
        </p:txBody>
      </p:sp>
      <p:sp>
        <p:nvSpPr>
          <p:cNvPr id="80" name="SK-4-text-79"/>
          <p:cNvSpPr/>
          <p:nvPr/>
        </p:nvSpPr>
        <p:spPr>
          <a:xfrm>
            <a:off x="8972550" y="5202138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Silo화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인력 이탈 리스크</a:t>
            </a:r>
            <a:endParaRPr lang="en-US" sz="1050" dirty="0"/>
          </a:p>
        </p:txBody>
      </p:sp>
      <p:sp>
        <p:nvSpPr>
          <p:cNvPr id="81" name="SK-4-text-80"/>
          <p:cNvSpPr/>
          <p:nvPr/>
        </p:nvSpPr>
        <p:spPr>
          <a:xfrm>
            <a:off x="909638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Governance &amp; Risk</a:t>
            </a:r>
            <a:endParaRPr lang="en-US" sz="1050" dirty="0"/>
          </a:p>
        </p:txBody>
      </p:sp>
      <p:sp>
        <p:nvSpPr>
          <p:cNvPr id="82" name="SK-4-text-81"/>
          <p:cNvSpPr/>
          <p:nvPr/>
        </p:nvSpPr>
        <p:spPr>
          <a:xfrm>
            <a:off x="3448050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ASIL-B, GDPR, UN R155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Zero Critical</a:t>
            </a:r>
            <a:endParaRPr lang="en-US" sz="1050" dirty="0"/>
          </a:p>
        </p:txBody>
      </p:sp>
      <p:sp>
        <p:nvSpPr>
          <p:cNvPr id="83" name="SK-4-text-82"/>
          <p:cNvSpPr/>
          <p:nvPr/>
        </p:nvSpPr>
        <p:spPr>
          <a:xfrm>
            <a:off x="6210300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REQ-077 HSM Blocked,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게이트 임시 약관 우회</a:t>
            </a:r>
            <a:endParaRPr lang="en-US" sz="1050" dirty="0"/>
          </a:p>
        </p:txBody>
      </p:sp>
      <p:sp>
        <p:nvSpPr>
          <p:cNvPr id="84" name="SK-4-text-83"/>
          <p:cNvSpPr/>
          <p:nvPr/>
        </p:nvSpPr>
        <p:spPr>
          <a:xfrm>
            <a:off x="8972550" y="5839569"/>
            <a:ext cx="2533650" cy="6374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억대 벌금 위험 및</a:t>
            </a:r>
            <a:endParaRPr lang="en-US" sz="1050" dirty="0"/>
          </a:p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제어 멈춤 대형 리콜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946696"/>
          </a:xfrm>
          <a:prstGeom prst="rect">
            <a:avLst/>
          </a:prstGeom>
        </p:spPr>
      </p:pic>
      <p:pic>
        <p:nvPicPr>
          <p:cNvPr id="5" name="SK-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37221"/>
            <a:ext cx="7429500" cy="5273129"/>
          </a:xfrm>
          <a:prstGeom prst="rect">
            <a:avLst/>
          </a:prstGeom>
        </p:spPr>
      </p:pic>
      <p:pic>
        <p:nvPicPr>
          <p:cNvPr id="6" name="SK-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37221"/>
            <a:ext cx="7429500" cy="390525"/>
          </a:xfrm>
          <a:prstGeom prst="rect">
            <a:avLst/>
          </a:prstGeom>
        </p:spPr>
      </p:pic>
      <p:pic>
        <p:nvPicPr>
          <p:cNvPr id="7" name="SK-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727746"/>
            <a:ext cx="7429500" cy="590996"/>
          </a:xfrm>
          <a:prstGeom prst="rect">
            <a:avLst/>
          </a:prstGeom>
        </p:spPr>
      </p:pic>
      <p:pic>
        <p:nvPicPr>
          <p:cNvPr id="8" name="SK-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727746"/>
            <a:ext cx="476250" cy="590996"/>
          </a:xfrm>
          <a:prstGeom prst="rect">
            <a:avLst/>
          </a:prstGeom>
        </p:spPr>
      </p:pic>
      <p:pic>
        <p:nvPicPr>
          <p:cNvPr id="9" name="SK-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50" y="1727746"/>
            <a:ext cx="3562350" cy="590996"/>
          </a:xfrm>
          <a:prstGeom prst="rect">
            <a:avLst/>
          </a:prstGeom>
        </p:spPr>
      </p:pic>
      <p:pic>
        <p:nvPicPr>
          <p:cNvPr id="10" name="SK-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0100" y="1727746"/>
            <a:ext cx="714375" cy="590996"/>
          </a:xfrm>
          <a:prstGeom prst="rect">
            <a:avLst/>
          </a:prstGeom>
        </p:spPr>
      </p:pic>
      <p:pic>
        <p:nvPicPr>
          <p:cNvPr id="11" name="SK-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24475" y="1727746"/>
            <a:ext cx="866775" cy="590996"/>
          </a:xfrm>
          <a:prstGeom prst="rect">
            <a:avLst/>
          </a:prstGeom>
        </p:spPr>
      </p:pic>
      <p:pic>
        <p:nvPicPr>
          <p:cNvPr id="12" name="SK-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91250" y="1727746"/>
            <a:ext cx="666750" cy="590996"/>
          </a:xfrm>
          <a:prstGeom prst="rect">
            <a:avLst/>
          </a:prstGeom>
        </p:spPr>
      </p:pic>
      <p:pic>
        <p:nvPicPr>
          <p:cNvPr id="13" name="SK-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0" y="1727746"/>
            <a:ext cx="1143000" cy="590996"/>
          </a:xfrm>
          <a:prstGeom prst="rect">
            <a:avLst/>
          </a:prstGeom>
        </p:spPr>
      </p:pic>
      <p:pic>
        <p:nvPicPr>
          <p:cNvPr id="14" name="SK-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318742"/>
            <a:ext cx="7429500" cy="590996"/>
          </a:xfrm>
          <a:prstGeom prst="rect">
            <a:avLst/>
          </a:prstGeom>
        </p:spPr>
      </p:pic>
      <p:pic>
        <p:nvPicPr>
          <p:cNvPr id="15" name="SK-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2318742"/>
            <a:ext cx="476250" cy="590996"/>
          </a:xfrm>
          <a:prstGeom prst="rect">
            <a:avLst/>
          </a:prstGeom>
        </p:spPr>
      </p:pic>
      <p:pic>
        <p:nvPicPr>
          <p:cNvPr id="16" name="SK-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7750" y="2318742"/>
            <a:ext cx="3562350" cy="590996"/>
          </a:xfrm>
          <a:prstGeom prst="rect">
            <a:avLst/>
          </a:prstGeom>
        </p:spPr>
      </p:pic>
      <p:pic>
        <p:nvPicPr>
          <p:cNvPr id="17" name="SK-5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10100" y="2318742"/>
            <a:ext cx="714375" cy="590996"/>
          </a:xfrm>
          <a:prstGeom prst="rect">
            <a:avLst/>
          </a:prstGeom>
        </p:spPr>
      </p:pic>
      <p:pic>
        <p:nvPicPr>
          <p:cNvPr id="18" name="SK-5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324475" y="2318742"/>
            <a:ext cx="866775" cy="590996"/>
          </a:xfrm>
          <a:prstGeom prst="rect">
            <a:avLst/>
          </a:prstGeom>
        </p:spPr>
      </p:pic>
      <p:pic>
        <p:nvPicPr>
          <p:cNvPr id="19" name="SK-5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91250" y="2318742"/>
            <a:ext cx="666750" cy="590996"/>
          </a:xfrm>
          <a:prstGeom prst="rect">
            <a:avLst/>
          </a:prstGeom>
        </p:spPr>
      </p:pic>
      <p:pic>
        <p:nvPicPr>
          <p:cNvPr id="20" name="SK-5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0" y="2318742"/>
            <a:ext cx="1143000" cy="590996"/>
          </a:xfrm>
          <a:prstGeom prst="rect">
            <a:avLst/>
          </a:prstGeom>
        </p:spPr>
      </p:pic>
      <p:pic>
        <p:nvPicPr>
          <p:cNvPr id="21" name="SK-5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909739"/>
            <a:ext cx="7429500" cy="590996"/>
          </a:xfrm>
          <a:prstGeom prst="rect">
            <a:avLst/>
          </a:prstGeom>
        </p:spPr>
      </p:pic>
      <p:pic>
        <p:nvPicPr>
          <p:cNvPr id="22" name="SK-5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2909739"/>
            <a:ext cx="476250" cy="590996"/>
          </a:xfrm>
          <a:prstGeom prst="rect">
            <a:avLst/>
          </a:prstGeom>
        </p:spPr>
      </p:pic>
      <p:pic>
        <p:nvPicPr>
          <p:cNvPr id="23" name="SK-5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750" y="2909739"/>
            <a:ext cx="3562350" cy="590996"/>
          </a:xfrm>
          <a:prstGeom prst="rect">
            <a:avLst/>
          </a:prstGeom>
        </p:spPr>
      </p:pic>
      <p:pic>
        <p:nvPicPr>
          <p:cNvPr id="24" name="SK-5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10100" y="2909739"/>
            <a:ext cx="714375" cy="590996"/>
          </a:xfrm>
          <a:prstGeom prst="rect">
            <a:avLst/>
          </a:prstGeom>
        </p:spPr>
      </p:pic>
      <p:pic>
        <p:nvPicPr>
          <p:cNvPr id="25" name="SK-5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24475" y="2909739"/>
            <a:ext cx="866775" cy="590996"/>
          </a:xfrm>
          <a:prstGeom prst="rect">
            <a:avLst/>
          </a:prstGeom>
        </p:spPr>
      </p:pic>
      <p:pic>
        <p:nvPicPr>
          <p:cNvPr id="26" name="SK-5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91250" y="2909739"/>
            <a:ext cx="666750" cy="590996"/>
          </a:xfrm>
          <a:prstGeom prst="rect">
            <a:avLst/>
          </a:prstGeom>
        </p:spPr>
      </p:pic>
      <p:pic>
        <p:nvPicPr>
          <p:cNvPr id="27" name="SK-5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58000" y="2909739"/>
            <a:ext cx="1143000" cy="590996"/>
          </a:xfrm>
          <a:prstGeom prst="rect">
            <a:avLst/>
          </a:prstGeom>
        </p:spPr>
      </p:pic>
      <p:pic>
        <p:nvPicPr>
          <p:cNvPr id="28" name="SK-5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3500735"/>
            <a:ext cx="7429500" cy="385465"/>
          </a:xfrm>
          <a:prstGeom prst="rect">
            <a:avLst/>
          </a:prstGeom>
        </p:spPr>
      </p:pic>
      <p:pic>
        <p:nvPicPr>
          <p:cNvPr id="29" name="SK-5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3500735"/>
            <a:ext cx="476250" cy="385465"/>
          </a:xfrm>
          <a:prstGeom prst="rect">
            <a:avLst/>
          </a:prstGeom>
        </p:spPr>
      </p:pic>
      <p:pic>
        <p:nvPicPr>
          <p:cNvPr id="30" name="SK-5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47750" y="3500735"/>
            <a:ext cx="3562350" cy="385465"/>
          </a:xfrm>
          <a:prstGeom prst="rect">
            <a:avLst/>
          </a:prstGeom>
        </p:spPr>
      </p:pic>
      <p:pic>
        <p:nvPicPr>
          <p:cNvPr id="31" name="SK-5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610100" y="3500735"/>
            <a:ext cx="714375" cy="385465"/>
          </a:xfrm>
          <a:prstGeom prst="rect">
            <a:avLst/>
          </a:prstGeom>
        </p:spPr>
      </p:pic>
      <p:pic>
        <p:nvPicPr>
          <p:cNvPr id="32" name="SK-5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324475" y="3500735"/>
            <a:ext cx="866775" cy="385465"/>
          </a:xfrm>
          <a:prstGeom prst="rect">
            <a:avLst/>
          </a:prstGeom>
        </p:spPr>
      </p:pic>
      <p:pic>
        <p:nvPicPr>
          <p:cNvPr id="33" name="SK-5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191250" y="3500735"/>
            <a:ext cx="666750" cy="385465"/>
          </a:xfrm>
          <a:prstGeom prst="rect">
            <a:avLst/>
          </a:prstGeom>
        </p:spPr>
      </p:pic>
      <p:pic>
        <p:nvPicPr>
          <p:cNvPr id="34" name="SK-5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858000" y="3500735"/>
            <a:ext cx="1143000" cy="385465"/>
          </a:xfrm>
          <a:prstGeom prst="rect">
            <a:avLst/>
          </a:prstGeom>
        </p:spPr>
      </p:pic>
      <p:pic>
        <p:nvPicPr>
          <p:cNvPr id="35" name="SK-5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3886200"/>
            <a:ext cx="7429500" cy="590996"/>
          </a:xfrm>
          <a:prstGeom prst="rect">
            <a:avLst/>
          </a:prstGeom>
        </p:spPr>
      </p:pic>
      <p:pic>
        <p:nvPicPr>
          <p:cNvPr id="36" name="SK-5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71500" y="3886200"/>
            <a:ext cx="476250" cy="590996"/>
          </a:xfrm>
          <a:prstGeom prst="rect">
            <a:avLst/>
          </a:prstGeom>
        </p:spPr>
      </p:pic>
      <p:pic>
        <p:nvPicPr>
          <p:cNvPr id="37" name="SK-5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47750" y="3886200"/>
            <a:ext cx="3562350" cy="590996"/>
          </a:xfrm>
          <a:prstGeom prst="rect">
            <a:avLst/>
          </a:prstGeom>
        </p:spPr>
      </p:pic>
      <p:pic>
        <p:nvPicPr>
          <p:cNvPr id="38" name="SK-5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610100" y="3886200"/>
            <a:ext cx="714375" cy="590996"/>
          </a:xfrm>
          <a:prstGeom prst="rect">
            <a:avLst/>
          </a:prstGeom>
        </p:spPr>
      </p:pic>
      <p:pic>
        <p:nvPicPr>
          <p:cNvPr id="39" name="SK-5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324475" y="3886200"/>
            <a:ext cx="866775" cy="590996"/>
          </a:xfrm>
          <a:prstGeom prst="rect">
            <a:avLst/>
          </a:prstGeom>
        </p:spPr>
      </p:pic>
      <p:pic>
        <p:nvPicPr>
          <p:cNvPr id="40" name="SK-5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91250" y="3886200"/>
            <a:ext cx="666750" cy="590996"/>
          </a:xfrm>
          <a:prstGeom prst="rect">
            <a:avLst/>
          </a:prstGeom>
        </p:spPr>
      </p:pic>
      <p:pic>
        <p:nvPicPr>
          <p:cNvPr id="41" name="SK-5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858000" y="3886200"/>
            <a:ext cx="1143000" cy="590996"/>
          </a:xfrm>
          <a:prstGeom prst="rect">
            <a:avLst/>
          </a:prstGeom>
        </p:spPr>
      </p:pic>
      <p:pic>
        <p:nvPicPr>
          <p:cNvPr id="42" name="SK-5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71500" y="4477196"/>
            <a:ext cx="476250" cy="590996"/>
          </a:xfrm>
          <a:prstGeom prst="rect">
            <a:avLst/>
          </a:prstGeom>
        </p:spPr>
      </p:pic>
      <p:pic>
        <p:nvPicPr>
          <p:cNvPr id="43" name="SK-5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47750" y="4477196"/>
            <a:ext cx="3562350" cy="590996"/>
          </a:xfrm>
          <a:prstGeom prst="rect">
            <a:avLst/>
          </a:prstGeom>
        </p:spPr>
      </p:pic>
      <p:pic>
        <p:nvPicPr>
          <p:cNvPr id="44" name="SK-5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610100" y="4477196"/>
            <a:ext cx="714375" cy="590996"/>
          </a:xfrm>
          <a:prstGeom prst="rect">
            <a:avLst/>
          </a:prstGeom>
        </p:spPr>
      </p:pic>
      <p:pic>
        <p:nvPicPr>
          <p:cNvPr id="45" name="SK-5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324475" y="4477196"/>
            <a:ext cx="866775" cy="590996"/>
          </a:xfrm>
          <a:prstGeom prst="rect">
            <a:avLst/>
          </a:prstGeom>
        </p:spPr>
      </p:pic>
      <p:pic>
        <p:nvPicPr>
          <p:cNvPr id="46" name="SK-5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191250" y="4477196"/>
            <a:ext cx="666750" cy="590996"/>
          </a:xfrm>
          <a:prstGeom prst="rect">
            <a:avLst/>
          </a:prstGeom>
        </p:spPr>
      </p:pic>
      <p:pic>
        <p:nvPicPr>
          <p:cNvPr id="47" name="SK-5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858000" y="4477196"/>
            <a:ext cx="1143000" cy="590996"/>
          </a:xfrm>
          <a:prstGeom prst="rect">
            <a:avLst/>
          </a:prstGeom>
        </p:spPr>
      </p:pic>
      <p:pic>
        <p:nvPicPr>
          <p:cNvPr id="48" name="SK-5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571500" y="5068193"/>
            <a:ext cx="476250" cy="385465"/>
          </a:xfrm>
          <a:prstGeom prst="rect">
            <a:avLst/>
          </a:prstGeom>
        </p:spPr>
      </p:pic>
      <p:pic>
        <p:nvPicPr>
          <p:cNvPr id="49" name="SK-5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047750" y="5068193"/>
            <a:ext cx="3562350" cy="385465"/>
          </a:xfrm>
          <a:prstGeom prst="rect">
            <a:avLst/>
          </a:prstGeom>
        </p:spPr>
      </p:pic>
      <p:pic>
        <p:nvPicPr>
          <p:cNvPr id="50" name="SK-5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10100" y="5068193"/>
            <a:ext cx="714375" cy="385465"/>
          </a:xfrm>
          <a:prstGeom prst="rect">
            <a:avLst/>
          </a:prstGeom>
        </p:spPr>
      </p:pic>
      <p:pic>
        <p:nvPicPr>
          <p:cNvPr id="51" name="SK-5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324475" y="5068193"/>
            <a:ext cx="866775" cy="385465"/>
          </a:xfrm>
          <a:prstGeom prst="rect">
            <a:avLst/>
          </a:prstGeom>
        </p:spPr>
      </p:pic>
      <p:pic>
        <p:nvPicPr>
          <p:cNvPr id="52" name="SK-5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6191250" y="5068193"/>
            <a:ext cx="666750" cy="385465"/>
          </a:xfrm>
          <a:prstGeom prst="rect">
            <a:avLst/>
          </a:prstGeom>
        </p:spPr>
      </p:pic>
      <p:pic>
        <p:nvPicPr>
          <p:cNvPr id="53" name="SK-5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858000" y="5068193"/>
            <a:ext cx="1143000" cy="385465"/>
          </a:xfrm>
          <a:prstGeom prst="rect">
            <a:avLst/>
          </a:prstGeom>
        </p:spPr>
      </p:pic>
      <p:pic>
        <p:nvPicPr>
          <p:cNvPr id="54" name="SK-5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571500" y="5453658"/>
            <a:ext cx="476250" cy="385465"/>
          </a:xfrm>
          <a:prstGeom prst="rect">
            <a:avLst/>
          </a:prstGeom>
        </p:spPr>
      </p:pic>
      <p:pic>
        <p:nvPicPr>
          <p:cNvPr id="55" name="SK-5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047750" y="5453658"/>
            <a:ext cx="3562350" cy="385465"/>
          </a:xfrm>
          <a:prstGeom prst="rect">
            <a:avLst/>
          </a:prstGeom>
        </p:spPr>
      </p:pic>
      <p:pic>
        <p:nvPicPr>
          <p:cNvPr id="56" name="SK-5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610100" y="5453658"/>
            <a:ext cx="714375" cy="385465"/>
          </a:xfrm>
          <a:prstGeom prst="rect">
            <a:avLst/>
          </a:prstGeom>
        </p:spPr>
      </p:pic>
      <p:pic>
        <p:nvPicPr>
          <p:cNvPr id="57" name="SK-5-img-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324475" y="5453658"/>
            <a:ext cx="866775" cy="385465"/>
          </a:xfrm>
          <a:prstGeom prst="rect">
            <a:avLst/>
          </a:prstGeom>
        </p:spPr>
      </p:pic>
      <p:pic>
        <p:nvPicPr>
          <p:cNvPr id="58" name="SK-5-img-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191250" y="5453658"/>
            <a:ext cx="666750" cy="385465"/>
          </a:xfrm>
          <a:prstGeom prst="rect">
            <a:avLst/>
          </a:prstGeom>
        </p:spPr>
      </p:pic>
      <p:pic>
        <p:nvPicPr>
          <p:cNvPr id="59" name="SK-5-img-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858000" y="5453658"/>
            <a:ext cx="1143000" cy="385465"/>
          </a:xfrm>
          <a:prstGeom prst="rect">
            <a:avLst/>
          </a:prstGeom>
        </p:spPr>
      </p:pic>
      <p:pic>
        <p:nvPicPr>
          <p:cNvPr id="60" name="SK-5-img-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71500" y="5839123"/>
            <a:ext cx="476250" cy="385465"/>
          </a:xfrm>
          <a:prstGeom prst="rect">
            <a:avLst/>
          </a:prstGeom>
        </p:spPr>
      </p:pic>
      <p:pic>
        <p:nvPicPr>
          <p:cNvPr id="61" name="SK-5-img-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047750" y="5839123"/>
            <a:ext cx="3562350" cy="385465"/>
          </a:xfrm>
          <a:prstGeom prst="rect">
            <a:avLst/>
          </a:prstGeom>
        </p:spPr>
      </p:pic>
      <p:pic>
        <p:nvPicPr>
          <p:cNvPr id="62" name="SK-5-img-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610100" y="5839123"/>
            <a:ext cx="714375" cy="385465"/>
          </a:xfrm>
          <a:prstGeom prst="rect">
            <a:avLst/>
          </a:prstGeom>
        </p:spPr>
      </p:pic>
      <p:pic>
        <p:nvPicPr>
          <p:cNvPr id="63" name="SK-5-img-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5324475" y="5839123"/>
            <a:ext cx="866775" cy="385465"/>
          </a:xfrm>
          <a:prstGeom prst="rect">
            <a:avLst/>
          </a:prstGeom>
        </p:spPr>
      </p:pic>
      <p:pic>
        <p:nvPicPr>
          <p:cNvPr id="64" name="SK-5-img-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6191250" y="5839123"/>
            <a:ext cx="666750" cy="385465"/>
          </a:xfrm>
          <a:prstGeom prst="rect">
            <a:avLst/>
          </a:prstGeom>
        </p:spPr>
      </p:pic>
      <p:pic>
        <p:nvPicPr>
          <p:cNvPr id="65" name="SK-5-img-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858000" y="5839123"/>
            <a:ext cx="1143000" cy="385465"/>
          </a:xfrm>
          <a:prstGeom prst="rect">
            <a:avLst/>
          </a:prstGeom>
        </p:spPr>
      </p:pic>
      <p:pic>
        <p:nvPicPr>
          <p:cNvPr id="66" name="SK-5-img-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8382000" y="1337221"/>
            <a:ext cx="3238500" cy="5273129"/>
          </a:xfrm>
          <a:prstGeom prst="rect">
            <a:avLst/>
          </a:prstGeom>
        </p:spPr>
      </p:pic>
      <p:pic>
        <p:nvPicPr>
          <p:cNvPr id="67" name="SK-5-img-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9715500" y="4621560"/>
            <a:ext cx="571500" cy="38100"/>
          </a:xfrm>
          <a:prstGeom prst="rect">
            <a:avLst/>
          </a:prstGeom>
        </p:spPr>
      </p:pic>
      <p:sp>
        <p:nvSpPr>
          <p:cNvPr id="68" name="SK-5-text-67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69" name="SK-5-text-68"/>
          <p:cNvSpPr/>
          <p:nvPr/>
        </p:nvSpPr>
        <p:spPr>
          <a:xfrm>
            <a:off x="762000" y="52387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10대 리스크 우선순위 Matrix</a:t>
            </a:r>
            <a:endParaRPr lang="en-US" sz="2400" dirty="0"/>
          </a:p>
        </p:txBody>
      </p:sp>
      <p:sp>
        <p:nvSpPr>
          <p:cNvPr id="70" name="SK-5-text-69"/>
          <p:cNvSpPr/>
          <p:nvPr/>
        </p:nvSpPr>
        <p:spPr>
          <a:xfrm>
            <a:off x="762000" y="96574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영향도와 긴급도를 기준으로 10개 리스크를 평가하여 프로젝트 사멸을 유발할 수 있는 Top 5 근본원인을 식별합니다.</a:t>
            </a:r>
            <a:endParaRPr lang="en-US" sz="1200" dirty="0"/>
          </a:p>
        </p:txBody>
      </p:sp>
      <p:sp>
        <p:nvSpPr>
          <p:cNvPr id="71" name="SK-5-text-70"/>
          <p:cNvSpPr/>
          <p:nvPr/>
        </p:nvSpPr>
        <p:spPr>
          <a:xfrm>
            <a:off x="685800" y="1337221"/>
            <a:ext cx="3238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NO</a:t>
            </a:r>
            <a:endParaRPr lang="en-US" sz="1050" dirty="0"/>
          </a:p>
        </p:txBody>
      </p:sp>
      <p:sp>
        <p:nvSpPr>
          <p:cNvPr id="72" name="SK-5-text-71"/>
          <p:cNvSpPr/>
          <p:nvPr/>
        </p:nvSpPr>
        <p:spPr>
          <a:xfrm>
            <a:off x="1162050" y="1337221"/>
            <a:ext cx="34099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리스크 / 근본원인 명칭</a:t>
            </a:r>
            <a:endParaRPr lang="en-US" sz="1050" dirty="0"/>
          </a:p>
        </p:txBody>
      </p:sp>
      <p:sp>
        <p:nvSpPr>
          <p:cNvPr id="73" name="SK-5-text-72"/>
          <p:cNvSpPr/>
          <p:nvPr/>
        </p:nvSpPr>
        <p:spPr>
          <a:xfrm>
            <a:off x="4572000" y="1337221"/>
            <a:ext cx="5619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IMPACT</a:t>
            </a:r>
            <a:endParaRPr lang="en-US" sz="1050" dirty="0"/>
          </a:p>
        </p:txBody>
      </p:sp>
      <p:sp>
        <p:nvSpPr>
          <p:cNvPr id="74" name="SK-5-text-73"/>
          <p:cNvSpPr/>
          <p:nvPr/>
        </p:nvSpPr>
        <p:spPr>
          <a:xfrm>
            <a:off x="5286375" y="1337221"/>
            <a:ext cx="71437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URGENCY</a:t>
            </a:r>
            <a:endParaRPr lang="en-US" sz="1050" dirty="0"/>
          </a:p>
        </p:txBody>
      </p:sp>
      <p:sp>
        <p:nvSpPr>
          <p:cNvPr id="75" name="SK-5-text-74"/>
          <p:cNvSpPr/>
          <p:nvPr/>
        </p:nvSpPr>
        <p:spPr>
          <a:xfrm>
            <a:off x="6153150" y="1337221"/>
            <a:ext cx="5143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SCORE</a:t>
            </a:r>
            <a:endParaRPr lang="en-US" sz="1050" dirty="0"/>
          </a:p>
        </p:txBody>
      </p:sp>
      <p:sp>
        <p:nvSpPr>
          <p:cNvPr id="76" name="SK-5-text-75"/>
          <p:cNvSpPr/>
          <p:nvPr/>
        </p:nvSpPr>
        <p:spPr>
          <a:xfrm>
            <a:off x="6972300" y="1337221"/>
            <a:ext cx="9906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</a:rPr>
              <a:t>구분</a:t>
            </a:r>
            <a:endParaRPr lang="en-US" sz="1050" dirty="0"/>
          </a:p>
        </p:txBody>
      </p:sp>
      <p:sp>
        <p:nvSpPr>
          <p:cNvPr id="77" name="SK-5-text-76"/>
          <p:cNvSpPr/>
          <p:nvPr/>
        </p:nvSpPr>
        <p:spPr>
          <a:xfrm>
            <a:off x="685800" y="1727746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</a:t>
            </a:r>
            <a:endParaRPr lang="en-US" sz="1050" dirty="0"/>
          </a:p>
        </p:txBody>
      </p:sp>
      <p:sp>
        <p:nvSpPr>
          <p:cNvPr id="78" name="SK-5-text-77"/>
          <p:cNvSpPr/>
          <p:nvPr/>
        </p:nvSpPr>
        <p:spPr>
          <a:xfrm>
            <a:off x="1162050" y="1727746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통제 실패 및 스폰서 에스컬레이션 부재 (NovaChip SDK 지연)</a:t>
            </a:r>
            <a:endParaRPr lang="en-US" sz="1050" dirty="0"/>
          </a:p>
        </p:txBody>
      </p:sp>
      <p:sp>
        <p:nvSpPr>
          <p:cNvPr id="79" name="SK-5-text-78"/>
          <p:cNvSpPr/>
          <p:nvPr/>
        </p:nvSpPr>
        <p:spPr>
          <a:xfrm>
            <a:off x="4572000" y="1727746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0" name="SK-5-text-79"/>
          <p:cNvSpPr/>
          <p:nvPr/>
        </p:nvSpPr>
        <p:spPr>
          <a:xfrm>
            <a:off x="5286375" y="1727746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1" name="SK-5-text-80"/>
          <p:cNvSpPr/>
          <p:nvPr/>
        </p:nvSpPr>
        <p:spPr>
          <a:xfrm>
            <a:off x="6153150" y="1727746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50" dirty="0"/>
          </a:p>
        </p:txBody>
      </p:sp>
      <p:sp>
        <p:nvSpPr>
          <p:cNvPr id="82" name="SK-5-textBg-81"/>
          <p:cNvSpPr/>
          <p:nvPr/>
        </p:nvSpPr>
        <p:spPr>
          <a:xfrm>
            <a:off x="6972300" y="1940421"/>
            <a:ext cx="75247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5-text-82"/>
          <p:cNvSpPr/>
          <p:nvPr/>
        </p:nvSpPr>
        <p:spPr>
          <a:xfrm>
            <a:off x="7048500" y="1940421"/>
            <a:ext cx="1069501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1 ROOT</a:t>
            </a:r>
            <a:endParaRPr lang="en-US" sz="825" dirty="0"/>
          </a:p>
        </p:txBody>
      </p:sp>
      <p:sp>
        <p:nvSpPr>
          <p:cNvPr id="84" name="SK-5-text-83"/>
          <p:cNvSpPr/>
          <p:nvPr/>
        </p:nvSpPr>
        <p:spPr>
          <a:xfrm>
            <a:off x="685800" y="2318742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P2</a:t>
            </a:r>
            <a:endParaRPr lang="en-US" sz="1050" dirty="0"/>
          </a:p>
        </p:txBody>
      </p:sp>
      <p:sp>
        <p:nvSpPr>
          <p:cNvPr id="85" name="SK-5-text-84"/>
          <p:cNvSpPr/>
          <p:nvPr/>
        </p:nvSpPr>
        <p:spPr>
          <a:xfrm>
            <a:off x="1162050" y="2318742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무검토 Scope Creep (REQ-045 AI음성) 및 변경 거버넌스 붕괴</a:t>
            </a:r>
            <a:endParaRPr lang="en-US" sz="1050" dirty="0"/>
          </a:p>
        </p:txBody>
      </p:sp>
      <p:sp>
        <p:nvSpPr>
          <p:cNvPr id="86" name="SK-5-text-85"/>
          <p:cNvSpPr/>
          <p:nvPr/>
        </p:nvSpPr>
        <p:spPr>
          <a:xfrm>
            <a:off x="4572000" y="2318742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7" name="SK-5-text-86"/>
          <p:cNvSpPr/>
          <p:nvPr/>
        </p:nvSpPr>
        <p:spPr>
          <a:xfrm>
            <a:off x="5286375" y="2318742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88" name="SK-5-text-87"/>
          <p:cNvSpPr/>
          <p:nvPr/>
        </p:nvSpPr>
        <p:spPr>
          <a:xfrm>
            <a:off x="6153150" y="2318742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</a:t>
            </a:r>
            <a:endParaRPr lang="en-US" sz="1050" dirty="0"/>
          </a:p>
        </p:txBody>
      </p:sp>
      <p:sp>
        <p:nvSpPr>
          <p:cNvPr id="89" name="SK-5-textBg-88"/>
          <p:cNvSpPr/>
          <p:nvPr/>
        </p:nvSpPr>
        <p:spPr>
          <a:xfrm>
            <a:off x="6972300" y="2531418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0" name="SK-5-text-89"/>
          <p:cNvSpPr/>
          <p:nvPr/>
        </p:nvSpPr>
        <p:spPr>
          <a:xfrm>
            <a:off x="7048500" y="2531418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2 ROOT</a:t>
            </a:r>
            <a:endParaRPr lang="en-US" sz="825" dirty="0"/>
          </a:p>
        </p:txBody>
      </p:sp>
      <p:sp>
        <p:nvSpPr>
          <p:cNvPr id="91" name="SK-5-text-90"/>
          <p:cNvSpPr/>
          <p:nvPr/>
        </p:nvSpPr>
        <p:spPr>
          <a:xfrm>
            <a:off x="685800" y="2909739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P3</a:t>
            </a:r>
            <a:endParaRPr lang="en-US" sz="1050" dirty="0"/>
          </a:p>
        </p:txBody>
      </p:sp>
      <p:sp>
        <p:nvSpPr>
          <p:cNvPr id="92" name="SK-5-text-91"/>
          <p:cNvSpPr/>
          <p:nvPr/>
        </p:nvSpPr>
        <p:spPr>
          <a:xfrm>
            <a:off x="1162050" y="2909739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SW 안전/품질 아키텍처 붕괴 (Boot 3.5s / ASIL-B 위기)</a:t>
            </a:r>
            <a:endParaRPr lang="en-US" sz="1050" dirty="0"/>
          </a:p>
        </p:txBody>
      </p:sp>
      <p:sp>
        <p:nvSpPr>
          <p:cNvPr id="93" name="SK-5-text-92"/>
          <p:cNvSpPr/>
          <p:nvPr/>
        </p:nvSpPr>
        <p:spPr>
          <a:xfrm>
            <a:off x="4572000" y="2909739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94" name="SK-5-text-93"/>
          <p:cNvSpPr/>
          <p:nvPr/>
        </p:nvSpPr>
        <p:spPr>
          <a:xfrm>
            <a:off x="5286375" y="2909739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95" name="SK-5-text-94"/>
          <p:cNvSpPr/>
          <p:nvPr/>
        </p:nvSpPr>
        <p:spPr>
          <a:xfrm>
            <a:off x="6153150" y="2909739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50" dirty="0"/>
          </a:p>
        </p:txBody>
      </p:sp>
      <p:sp>
        <p:nvSpPr>
          <p:cNvPr id="96" name="SK-5-textBg-95"/>
          <p:cNvSpPr/>
          <p:nvPr/>
        </p:nvSpPr>
        <p:spPr>
          <a:xfrm>
            <a:off x="6972300" y="3122414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7" name="SK-5-text-96"/>
          <p:cNvSpPr/>
          <p:nvPr/>
        </p:nvSpPr>
        <p:spPr>
          <a:xfrm>
            <a:off x="7048500" y="3122414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3 ROOT</a:t>
            </a:r>
            <a:endParaRPr lang="en-US" sz="825" dirty="0"/>
          </a:p>
        </p:txBody>
      </p:sp>
      <p:sp>
        <p:nvSpPr>
          <p:cNvPr id="98" name="SK-5-text-97"/>
          <p:cNvSpPr/>
          <p:nvPr/>
        </p:nvSpPr>
        <p:spPr>
          <a:xfrm>
            <a:off x="685800" y="3500735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P4</a:t>
            </a:r>
            <a:endParaRPr lang="en-US" sz="1050" dirty="0"/>
          </a:p>
        </p:txBody>
      </p:sp>
      <p:sp>
        <p:nvSpPr>
          <p:cNvPr id="99" name="SK-5-text-98"/>
          <p:cNvSpPr/>
          <p:nvPr/>
        </p:nvSpPr>
        <p:spPr>
          <a:xfrm>
            <a:off x="1162050" y="3500735"/>
            <a:ext cx="456874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커뮤니케이션 Silo화 및 JIRA 형상 관리 파손</a:t>
            </a:r>
            <a:endParaRPr lang="en-US" sz="1050" dirty="0"/>
          </a:p>
        </p:txBody>
      </p:sp>
      <p:sp>
        <p:nvSpPr>
          <p:cNvPr id="100" name="SK-5-text-99"/>
          <p:cNvSpPr/>
          <p:nvPr/>
        </p:nvSpPr>
        <p:spPr>
          <a:xfrm>
            <a:off x="4572000" y="3500735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01" name="SK-5-text-100"/>
          <p:cNvSpPr/>
          <p:nvPr/>
        </p:nvSpPr>
        <p:spPr>
          <a:xfrm>
            <a:off x="5286375" y="3500735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102" name="SK-5-text-101"/>
          <p:cNvSpPr/>
          <p:nvPr/>
        </p:nvSpPr>
        <p:spPr>
          <a:xfrm>
            <a:off x="6153150" y="3500735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50" dirty="0"/>
          </a:p>
        </p:txBody>
      </p:sp>
      <p:sp>
        <p:nvSpPr>
          <p:cNvPr id="103" name="SK-5-textBg-102"/>
          <p:cNvSpPr/>
          <p:nvPr/>
        </p:nvSpPr>
        <p:spPr>
          <a:xfrm>
            <a:off x="6972300" y="3610570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4" name="SK-5-text-103"/>
          <p:cNvSpPr/>
          <p:nvPr/>
        </p:nvSpPr>
        <p:spPr>
          <a:xfrm>
            <a:off x="7048500" y="3610570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4 ROOT</a:t>
            </a:r>
            <a:endParaRPr lang="en-US" sz="825" dirty="0"/>
          </a:p>
        </p:txBody>
      </p:sp>
      <p:sp>
        <p:nvSpPr>
          <p:cNvPr id="105" name="SK-5-text-104"/>
          <p:cNvSpPr/>
          <p:nvPr/>
        </p:nvSpPr>
        <p:spPr>
          <a:xfrm>
            <a:off x="685800" y="3886200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P5</a:t>
            </a:r>
            <a:endParaRPr lang="en-US" sz="1050" dirty="0"/>
          </a:p>
        </p:txBody>
      </p:sp>
      <p:sp>
        <p:nvSpPr>
          <p:cNvPr id="106" name="SK-5-text-105"/>
          <p:cNvSpPr/>
          <p:nvPr/>
        </p:nvSpPr>
        <p:spPr>
          <a:xfrm>
            <a:off x="1162050" y="3886200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보안/규제 컴플라이언스 이월 및 Reactive 위기대응 (GDPR 위험)</a:t>
            </a:r>
            <a:endParaRPr lang="en-US" sz="1050" dirty="0"/>
          </a:p>
        </p:txBody>
      </p:sp>
      <p:sp>
        <p:nvSpPr>
          <p:cNvPr id="107" name="SK-5-text-106"/>
          <p:cNvSpPr/>
          <p:nvPr/>
        </p:nvSpPr>
        <p:spPr>
          <a:xfrm>
            <a:off x="4572000" y="3886200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50" dirty="0"/>
          </a:p>
        </p:txBody>
      </p:sp>
      <p:sp>
        <p:nvSpPr>
          <p:cNvPr id="108" name="SK-5-text-107"/>
          <p:cNvSpPr/>
          <p:nvPr/>
        </p:nvSpPr>
        <p:spPr>
          <a:xfrm>
            <a:off x="5286375" y="3886200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09" name="SK-5-text-108"/>
          <p:cNvSpPr/>
          <p:nvPr/>
        </p:nvSpPr>
        <p:spPr>
          <a:xfrm>
            <a:off x="6153150" y="3886200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</a:t>
            </a:r>
            <a:endParaRPr lang="en-US" sz="1050" dirty="0"/>
          </a:p>
        </p:txBody>
      </p:sp>
      <p:sp>
        <p:nvSpPr>
          <p:cNvPr id="110" name="SK-5-textBg-109"/>
          <p:cNvSpPr/>
          <p:nvPr/>
        </p:nvSpPr>
        <p:spPr>
          <a:xfrm>
            <a:off x="6972300" y="4098875"/>
            <a:ext cx="771525" cy="184696"/>
          </a:xfrm>
          <a:prstGeom prst="roundRect">
            <a:avLst>
              <a:gd name="adj" fmla="val 20628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1" name="SK-5-text-110"/>
          <p:cNvSpPr/>
          <p:nvPr/>
        </p:nvSpPr>
        <p:spPr>
          <a:xfrm>
            <a:off x="7048500" y="4098875"/>
            <a:ext cx="1076207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 5 ROOT</a:t>
            </a:r>
            <a:endParaRPr lang="en-US" sz="825" dirty="0"/>
          </a:p>
        </p:txBody>
      </p:sp>
      <p:sp>
        <p:nvSpPr>
          <p:cNvPr id="112" name="SK-5-text-111"/>
          <p:cNvSpPr/>
          <p:nvPr/>
        </p:nvSpPr>
        <p:spPr>
          <a:xfrm>
            <a:off x="685800" y="4477196"/>
            <a:ext cx="3238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P6</a:t>
            </a:r>
            <a:endParaRPr lang="en-US" sz="1050" dirty="0"/>
          </a:p>
        </p:txBody>
      </p:sp>
      <p:sp>
        <p:nvSpPr>
          <p:cNvPr id="113" name="SK-5-text-112"/>
          <p:cNvSpPr/>
          <p:nvPr/>
        </p:nvSpPr>
        <p:spPr>
          <a:xfrm>
            <a:off x="1162050" y="4477196"/>
            <a:ext cx="33337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테스트 인프라 부족에 따른 무중단 OTA(REQ-052) 병목</a:t>
            </a:r>
            <a:endParaRPr lang="en-US" sz="1050" dirty="0"/>
          </a:p>
        </p:txBody>
      </p:sp>
      <p:sp>
        <p:nvSpPr>
          <p:cNvPr id="114" name="SK-5-text-113"/>
          <p:cNvSpPr/>
          <p:nvPr/>
        </p:nvSpPr>
        <p:spPr>
          <a:xfrm>
            <a:off x="4572000" y="4477196"/>
            <a:ext cx="5619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15" name="SK-5-text-114"/>
          <p:cNvSpPr/>
          <p:nvPr/>
        </p:nvSpPr>
        <p:spPr>
          <a:xfrm>
            <a:off x="5286375" y="4477196"/>
            <a:ext cx="714375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16" name="SK-5-text-115"/>
          <p:cNvSpPr/>
          <p:nvPr/>
        </p:nvSpPr>
        <p:spPr>
          <a:xfrm>
            <a:off x="6153150" y="4477196"/>
            <a:ext cx="514350" cy="5909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50" dirty="0"/>
          </a:p>
        </p:txBody>
      </p:sp>
      <p:sp>
        <p:nvSpPr>
          <p:cNvPr id="117" name="SK-5-textBg-116"/>
          <p:cNvSpPr/>
          <p:nvPr/>
        </p:nvSpPr>
        <p:spPr>
          <a:xfrm>
            <a:off x="6972300" y="4689872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8" name="SK-5-text-117"/>
          <p:cNvSpPr/>
          <p:nvPr/>
        </p:nvSpPr>
        <p:spPr>
          <a:xfrm>
            <a:off x="7048500" y="4689872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19" name="SK-5-text-118"/>
          <p:cNvSpPr/>
          <p:nvPr/>
        </p:nvSpPr>
        <p:spPr>
          <a:xfrm>
            <a:off x="685800" y="5068193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P7</a:t>
            </a:r>
            <a:endParaRPr lang="en-US" sz="1050" dirty="0"/>
          </a:p>
        </p:txBody>
      </p:sp>
      <p:sp>
        <p:nvSpPr>
          <p:cNvPr id="120" name="SK-5-text-119"/>
          <p:cNvSpPr/>
          <p:nvPr/>
        </p:nvSpPr>
        <p:spPr>
          <a:xfrm>
            <a:off x="1162050" y="5068193"/>
            <a:ext cx="6315839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3rd Party AI-Voice 음성 엔진 SLA 부재 및 네트워크 지연</a:t>
            </a:r>
            <a:endParaRPr lang="en-US" sz="1050" dirty="0"/>
          </a:p>
        </p:txBody>
      </p:sp>
      <p:sp>
        <p:nvSpPr>
          <p:cNvPr id="121" name="SK-5-text-120"/>
          <p:cNvSpPr/>
          <p:nvPr/>
        </p:nvSpPr>
        <p:spPr>
          <a:xfrm>
            <a:off x="4572000" y="5068193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22" name="SK-5-text-121"/>
          <p:cNvSpPr/>
          <p:nvPr/>
        </p:nvSpPr>
        <p:spPr>
          <a:xfrm>
            <a:off x="5286375" y="5068193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23" name="SK-5-text-122"/>
          <p:cNvSpPr/>
          <p:nvPr/>
        </p:nvSpPr>
        <p:spPr>
          <a:xfrm>
            <a:off x="6153150" y="5068193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050" dirty="0"/>
          </a:p>
        </p:txBody>
      </p:sp>
      <p:sp>
        <p:nvSpPr>
          <p:cNvPr id="124" name="SK-5-textBg-123"/>
          <p:cNvSpPr/>
          <p:nvPr/>
        </p:nvSpPr>
        <p:spPr>
          <a:xfrm>
            <a:off x="6972300" y="5178028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5" name="SK-5-text-124"/>
          <p:cNvSpPr/>
          <p:nvPr/>
        </p:nvSpPr>
        <p:spPr>
          <a:xfrm>
            <a:off x="7048500" y="5178028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26" name="SK-5-text-125"/>
          <p:cNvSpPr/>
          <p:nvPr/>
        </p:nvSpPr>
        <p:spPr>
          <a:xfrm>
            <a:off x="685800" y="5453658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P8</a:t>
            </a:r>
            <a:endParaRPr lang="en-US" sz="1050" dirty="0"/>
          </a:p>
        </p:txBody>
      </p:sp>
      <p:sp>
        <p:nvSpPr>
          <p:cNvPr id="127" name="SK-5-text-126"/>
          <p:cNvSpPr/>
          <p:nvPr/>
        </p:nvSpPr>
        <p:spPr>
          <a:xfrm>
            <a:off x="1162050" y="5453658"/>
            <a:ext cx="3520481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이탈 및 블라인드 게시판 불신 확산</a:t>
            </a:r>
            <a:endParaRPr lang="en-US" sz="1050" dirty="0"/>
          </a:p>
        </p:txBody>
      </p:sp>
      <p:sp>
        <p:nvSpPr>
          <p:cNvPr id="128" name="SK-5-text-127"/>
          <p:cNvSpPr/>
          <p:nvPr/>
        </p:nvSpPr>
        <p:spPr>
          <a:xfrm>
            <a:off x="4572000" y="5453658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29" name="SK-5-text-128"/>
          <p:cNvSpPr/>
          <p:nvPr/>
        </p:nvSpPr>
        <p:spPr>
          <a:xfrm>
            <a:off x="5286375" y="5453658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30" name="SK-5-text-129"/>
          <p:cNvSpPr/>
          <p:nvPr/>
        </p:nvSpPr>
        <p:spPr>
          <a:xfrm>
            <a:off x="6153150" y="5453658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50" dirty="0"/>
          </a:p>
        </p:txBody>
      </p:sp>
      <p:sp>
        <p:nvSpPr>
          <p:cNvPr id="131" name="SK-5-textBg-130"/>
          <p:cNvSpPr/>
          <p:nvPr/>
        </p:nvSpPr>
        <p:spPr>
          <a:xfrm>
            <a:off x="6972300" y="5563493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2" name="SK-5-text-131"/>
          <p:cNvSpPr/>
          <p:nvPr/>
        </p:nvSpPr>
        <p:spPr>
          <a:xfrm>
            <a:off x="7048500" y="5563493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33" name="SK-5-text-132"/>
          <p:cNvSpPr/>
          <p:nvPr/>
        </p:nvSpPr>
        <p:spPr>
          <a:xfrm>
            <a:off x="685800" y="5839123"/>
            <a:ext cx="3238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P9</a:t>
            </a:r>
            <a:endParaRPr lang="en-US" sz="1050" dirty="0"/>
          </a:p>
        </p:txBody>
      </p:sp>
      <p:sp>
        <p:nvSpPr>
          <p:cNvPr id="134" name="SK-5-text-133"/>
          <p:cNvSpPr/>
          <p:nvPr/>
        </p:nvSpPr>
        <p:spPr>
          <a:xfrm>
            <a:off x="1162050" y="5839123"/>
            <a:ext cx="4718491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오토모터스 마케팅 데모 요구로 인한 주말 철야 피로 누적</a:t>
            </a:r>
            <a:endParaRPr lang="en-US" sz="1050" dirty="0"/>
          </a:p>
        </p:txBody>
      </p:sp>
      <p:sp>
        <p:nvSpPr>
          <p:cNvPr id="135" name="SK-5-text-134"/>
          <p:cNvSpPr/>
          <p:nvPr/>
        </p:nvSpPr>
        <p:spPr>
          <a:xfrm>
            <a:off x="4572000" y="5839123"/>
            <a:ext cx="5619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50" dirty="0"/>
          </a:p>
        </p:txBody>
      </p:sp>
      <p:sp>
        <p:nvSpPr>
          <p:cNvPr id="136" name="SK-5-text-135"/>
          <p:cNvSpPr/>
          <p:nvPr/>
        </p:nvSpPr>
        <p:spPr>
          <a:xfrm>
            <a:off x="5286375" y="5839123"/>
            <a:ext cx="714375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37" name="SK-5-text-136"/>
          <p:cNvSpPr/>
          <p:nvPr/>
        </p:nvSpPr>
        <p:spPr>
          <a:xfrm>
            <a:off x="6153150" y="5839123"/>
            <a:ext cx="514350" cy="38546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050" dirty="0"/>
          </a:p>
        </p:txBody>
      </p:sp>
      <p:sp>
        <p:nvSpPr>
          <p:cNvPr id="138" name="SK-5-textBg-137"/>
          <p:cNvSpPr/>
          <p:nvPr/>
        </p:nvSpPr>
        <p:spPr>
          <a:xfrm>
            <a:off x="6972300" y="5948958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9" name="SK-5-text-138"/>
          <p:cNvSpPr/>
          <p:nvPr/>
        </p:nvSpPr>
        <p:spPr>
          <a:xfrm>
            <a:off x="7048500" y="5948958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40" name="SK-5-text-139"/>
          <p:cNvSpPr/>
          <p:nvPr/>
        </p:nvSpPr>
        <p:spPr>
          <a:xfrm>
            <a:off x="685800" y="6224588"/>
            <a:ext cx="43677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P10</a:t>
            </a:r>
            <a:endParaRPr lang="en-US" sz="1050" dirty="0"/>
          </a:p>
        </p:txBody>
      </p:sp>
      <p:sp>
        <p:nvSpPr>
          <p:cNvPr id="141" name="SK-5-text-140"/>
          <p:cNvSpPr/>
          <p:nvPr/>
        </p:nvSpPr>
        <p:spPr>
          <a:xfrm>
            <a:off x="1162050" y="6224588"/>
            <a:ext cx="5766751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Multi-Display 동시 렌더링 시 SoC 발열 및 프레임 드랍</a:t>
            </a:r>
            <a:endParaRPr lang="en-US" sz="1050" dirty="0"/>
          </a:p>
        </p:txBody>
      </p:sp>
      <p:sp>
        <p:nvSpPr>
          <p:cNvPr id="142" name="SK-5-text-141"/>
          <p:cNvSpPr/>
          <p:nvPr/>
        </p:nvSpPr>
        <p:spPr>
          <a:xfrm>
            <a:off x="4572000" y="6224588"/>
            <a:ext cx="5619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50" dirty="0"/>
          </a:p>
        </p:txBody>
      </p:sp>
      <p:sp>
        <p:nvSpPr>
          <p:cNvPr id="143" name="SK-5-text-142"/>
          <p:cNvSpPr/>
          <p:nvPr/>
        </p:nvSpPr>
        <p:spPr>
          <a:xfrm>
            <a:off x="5286375" y="6224588"/>
            <a:ext cx="7143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50" dirty="0"/>
          </a:p>
        </p:txBody>
      </p:sp>
      <p:sp>
        <p:nvSpPr>
          <p:cNvPr id="144" name="SK-5-text-143"/>
          <p:cNvSpPr/>
          <p:nvPr/>
        </p:nvSpPr>
        <p:spPr>
          <a:xfrm>
            <a:off x="6153150" y="6224588"/>
            <a:ext cx="514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050" dirty="0"/>
          </a:p>
        </p:txBody>
      </p:sp>
      <p:sp>
        <p:nvSpPr>
          <p:cNvPr id="145" name="SK-5-textBg-144"/>
          <p:cNvSpPr/>
          <p:nvPr/>
        </p:nvSpPr>
        <p:spPr>
          <a:xfrm>
            <a:off x="6972300" y="6334571"/>
            <a:ext cx="685800" cy="184696"/>
          </a:xfrm>
          <a:prstGeom prst="roundRect">
            <a:avLst>
              <a:gd name="adj" fmla="val 20628"/>
            </a:avLst>
          </a:prstGeom>
          <a:solidFill>
            <a:srgbClr val="33415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6" name="SK-5-text-145"/>
          <p:cNvSpPr/>
          <p:nvPr/>
        </p:nvSpPr>
        <p:spPr>
          <a:xfrm>
            <a:off x="7048500" y="6334571"/>
            <a:ext cx="977900" cy="184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Minor Risk</a:t>
            </a:r>
            <a:endParaRPr lang="en-US" sz="825" dirty="0"/>
          </a:p>
        </p:txBody>
      </p:sp>
      <p:sp>
        <p:nvSpPr>
          <p:cNvPr id="147" name="SK-5-text-146"/>
          <p:cNvSpPr/>
          <p:nvPr/>
        </p:nvSpPr>
        <p:spPr>
          <a:xfrm>
            <a:off x="9046815" y="1764060"/>
            <a:ext cx="190887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spc="216" kern="0" dirty="0">
                <a:solidFill>
                  <a:srgbClr val="38BDF8"/>
                </a:solidFill>
              </a:rPr>
              <a:t>CRITICAL FOCUS</a:t>
            </a:r>
            <a:endParaRPr lang="en-US" sz="1350" dirty="0"/>
          </a:p>
        </p:txBody>
      </p:sp>
      <p:sp>
        <p:nvSpPr>
          <p:cNvPr id="148" name="SK-5-text-147"/>
          <p:cNvSpPr/>
          <p:nvPr/>
        </p:nvSpPr>
        <p:spPr>
          <a:xfrm>
            <a:off x="8763000" y="2078385"/>
            <a:ext cx="2476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7500"/>
              </a:lnSpc>
              <a:buNone/>
            </a:pPr>
            <a:r>
              <a:rPr lang="en-US" sz="7500" b="1" dirty="0">
                <a:solidFill>
                  <a:srgbClr val="F8FAFC"/>
                </a:solidFill>
              </a:rPr>
              <a:t>TOP 5</a:t>
            </a:r>
            <a:endParaRPr lang="en-US" sz="7500" dirty="0"/>
          </a:p>
        </p:txBody>
      </p:sp>
      <p:sp>
        <p:nvSpPr>
          <p:cNvPr id="149" name="SK-5-text-148"/>
          <p:cNvSpPr/>
          <p:nvPr/>
        </p:nvSpPr>
        <p:spPr>
          <a:xfrm>
            <a:off x="9205913" y="4040535"/>
            <a:ext cx="159067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FAFC"/>
                </a:solidFill>
              </a:rPr>
              <a:t>Root Causes</a:t>
            </a:r>
            <a:endParaRPr lang="en-US" sz="2100" dirty="0"/>
          </a:p>
        </p:txBody>
      </p:sp>
      <p:sp>
        <p:nvSpPr>
          <p:cNvPr id="150" name="SK-5-text-149"/>
          <p:cNvSpPr/>
          <p:nvPr/>
        </p:nvSpPr>
        <p:spPr>
          <a:xfrm>
            <a:off x="8763000" y="4964460"/>
            <a:ext cx="2476500" cy="1218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상기 5대 근본원인은 단순한 지표 미달을 넘어 프로젝트의 </a:t>
            </a:r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붕괴</a:t>
            </a:r>
            <a:pPr algn="ctr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초래하며, 즉각적인 AI 에이전틱 개입이 필요한 핵심 통제 대상입니다.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5410200" cy="2401639"/>
          </a:xfrm>
          <a:prstGeom prst="rect">
            <a:avLst/>
          </a:prstGeom>
        </p:spPr>
      </p:pic>
      <p:pic>
        <p:nvPicPr>
          <p:cNvPr id="6" name="SK-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46796"/>
            <a:ext cx="5181600" cy="361950"/>
          </a:xfrm>
          <a:prstGeom prst="rect">
            <a:avLst/>
          </a:prstGeom>
        </p:spPr>
      </p:pic>
      <p:pic>
        <p:nvPicPr>
          <p:cNvPr id="7" name="SK-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94421"/>
            <a:ext cx="238125" cy="190500"/>
          </a:xfrm>
          <a:prstGeom prst="rect">
            <a:avLst/>
          </a:prstGeom>
        </p:spPr>
      </p:pic>
      <p:pic>
        <p:nvPicPr>
          <p:cNvPr id="8" name="SK-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261146"/>
            <a:ext cx="142875" cy="476250"/>
          </a:xfrm>
          <a:prstGeom prst="rect">
            <a:avLst/>
          </a:prstGeom>
        </p:spPr>
      </p:pic>
      <p:pic>
        <p:nvPicPr>
          <p:cNvPr id="9" name="SK-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870746"/>
            <a:ext cx="142875" cy="476250"/>
          </a:xfrm>
          <a:prstGeom prst="rect">
            <a:avLst/>
          </a:prstGeom>
        </p:spPr>
      </p:pic>
      <p:pic>
        <p:nvPicPr>
          <p:cNvPr id="10" name="SK-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480346"/>
            <a:ext cx="142875" cy="439489"/>
          </a:xfrm>
          <a:prstGeom prst="rect">
            <a:avLst/>
          </a:prstGeom>
        </p:spPr>
      </p:pic>
      <p:pic>
        <p:nvPicPr>
          <p:cNvPr id="11" name="SK-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4224635"/>
            <a:ext cx="5410200" cy="2252365"/>
          </a:xfrm>
          <a:prstGeom prst="rect">
            <a:avLst/>
          </a:prstGeom>
        </p:spPr>
      </p:pic>
      <p:pic>
        <p:nvPicPr>
          <p:cNvPr id="12" name="SK-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4338935"/>
            <a:ext cx="5181600" cy="361950"/>
          </a:xfrm>
          <a:prstGeom prst="rect">
            <a:avLst/>
          </a:prstGeom>
        </p:spPr>
      </p:pic>
      <p:pic>
        <p:nvPicPr>
          <p:cNvPr id="13" name="SK-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386560"/>
            <a:ext cx="238125" cy="190500"/>
          </a:xfrm>
          <a:prstGeom prst="rect">
            <a:avLst/>
          </a:prstGeom>
        </p:spPr>
      </p:pic>
      <p:pic>
        <p:nvPicPr>
          <p:cNvPr id="14" name="SK-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853285"/>
            <a:ext cx="142875" cy="175171"/>
          </a:xfrm>
          <a:prstGeom prst="rect">
            <a:avLst/>
          </a:prstGeom>
        </p:spPr>
      </p:pic>
      <p:pic>
        <p:nvPicPr>
          <p:cNvPr id="15" name="SK-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5161806"/>
            <a:ext cx="142875" cy="476250"/>
          </a:xfrm>
          <a:prstGeom prst="rect">
            <a:avLst/>
          </a:prstGeom>
        </p:spPr>
      </p:pic>
      <p:pic>
        <p:nvPicPr>
          <p:cNvPr id="16" name="SK-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5800" y="5771406"/>
            <a:ext cx="142875" cy="439489"/>
          </a:xfrm>
          <a:prstGeom prst="rect">
            <a:avLst/>
          </a:prstGeom>
        </p:spPr>
      </p:pic>
      <p:pic>
        <p:nvPicPr>
          <p:cNvPr id="17" name="SK-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10300" y="1632496"/>
            <a:ext cx="5410200" cy="3330029"/>
          </a:xfrm>
          <a:prstGeom prst="rect">
            <a:avLst/>
          </a:prstGeom>
        </p:spPr>
      </p:pic>
      <p:pic>
        <p:nvPicPr>
          <p:cNvPr id="18" name="SK-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1746796"/>
            <a:ext cx="5181600" cy="361950"/>
          </a:xfrm>
          <a:prstGeom prst="rect">
            <a:avLst/>
          </a:prstGeom>
        </p:spPr>
      </p:pic>
      <p:pic>
        <p:nvPicPr>
          <p:cNvPr id="19" name="SK-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600" y="1794421"/>
            <a:ext cx="238125" cy="190500"/>
          </a:xfrm>
          <a:prstGeom prst="rect">
            <a:avLst/>
          </a:prstGeom>
        </p:spPr>
      </p:pic>
      <p:pic>
        <p:nvPicPr>
          <p:cNvPr id="20" name="SK-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24600" y="2223046"/>
            <a:ext cx="2533650" cy="695325"/>
          </a:xfrm>
          <a:prstGeom prst="rect">
            <a:avLst/>
          </a:prstGeom>
        </p:spPr>
      </p:pic>
      <p:pic>
        <p:nvPicPr>
          <p:cNvPr id="21" name="SK-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972550" y="2223046"/>
            <a:ext cx="2533650" cy="695325"/>
          </a:xfrm>
          <a:prstGeom prst="rect">
            <a:avLst/>
          </a:prstGeom>
        </p:spPr>
      </p:pic>
      <p:pic>
        <p:nvPicPr>
          <p:cNvPr id="22" name="SK-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24600" y="3032671"/>
            <a:ext cx="2533650" cy="695325"/>
          </a:xfrm>
          <a:prstGeom prst="rect">
            <a:avLst/>
          </a:prstGeom>
        </p:spPr>
      </p:pic>
      <p:pic>
        <p:nvPicPr>
          <p:cNvPr id="23" name="SK-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72550" y="3032671"/>
            <a:ext cx="2533650" cy="695325"/>
          </a:xfrm>
          <a:prstGeom prst="rect">
            <a:avLst/>
          </a:prstGeom>
        </p:spPr>
      </p:pic>
      <p:pic>
        <p:nvPicPr>
          <p:cNvPr id="24" name="SK-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324600" y="3956596"/>
            <a:ext cx="142875" cy="476250"/>
          </a:xfrm>
          <a:prstGeom prst="rect">
            <a:avLst/>
          </a:prstGeom>
        </p:spPr>
      </p:pic>
      <p:pic>
        <p:nvPicPr>
          <p:cNvPr id="25" name="SK-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10300" y="5153025"/>
            <a:ext cx="5410200" cy="1323975"/>
          </a:xfrm>
          <a:prstGeom prst="rect">
            <a:avLst/>
          </a:prstGeom>
        </p:spPr>
      </p:pic>
      <p:pic>
        <p:nvPicPr>
          <p:cNvPr id="26" name="SK-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362700" y="5346353"/>
            <a:ext cx="214313" cy="175320"/>
          </a:xfrm>
          <a:prstGeom prst="rect">
            <a:avLst/>
          </a:prstGeom>
        </p:spPr>
      </p:pic>
      <p:sp>
        <p:nvSpPr>
          <p:cNvPr id="27" name="SK-6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6-text-27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1 — 벤더 통제 실패 및 스폰서 에스컬레이션 부재</a:t>
            </a:r>
            <a:endParaRPr lang="en-US" sz="2400" dirty="0"/>
          </a:p>
        </p:txBody>
      </p:sp>
      <p:sp>
        <p:nvSpPr>
          <p:cNvPr id="29" name="SK-6-text-28"/>
          <p:cNvSpPr/>
          <p:nvPr/>
        </p:nvSpPr>
        <p:spPr>
          <a:xfrm>
            <a:off x="762000" y="1099096"/>
            <a:ext cx="1141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지연 및 HSM 비용 이슈를 은폐하고 스폰서 보고를 누락하여 위기를 키운 관리 실패 진단</a:t>
            </a:r>
            <a:endParaRPr lang="en-US" sz="1200" dirty="0"/>
          </a:p>
        </p:txBody>
      </p:sp>
      <p:sp>
        <p:nvSpPr>
          <p:cNvPr id="30" name="SK-6-text-29"/>
          <p:cNvSpPr/>
          <p:nvPr/>
        </p:nvSpPr>
        <p:spPr>
          <a:xfrm>
            <a:off x="1019175" y="1746796"/>
            <a:ext cx="3981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주요 현상 (Phenomena)</a:t>
            </a:r>
            <a:endParaRPr lang="en-US" sz="1500" dirty="0"/>
          </a:p>
        </p:txBody>
      </p:sp>
      <p:sp>
        <p:nvSpPr>
          <p:cNvPr id="31" name="SK-6-text-30"/>
          <p:cNvSpPr/>
          <p:nvPr/>
        </p:nvSpPr>
        <p:spPr>
          <a:xfrm>
            <a:off x="942975" y="222304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v3.0 릴리즈 지연: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정식 버전 출시가 9월 30일에서 10월 말로 3주 연기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2" name="SK-6-text-31"/>
          <p:cNvSpPr/>
          <p:nvPr/>
        </p:nvSpPr>
        <p:spPr>
          <a:xfrm>
            <a:off x="942975" y="283264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누수 미해결: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베타 버전의 심각한 메모리 누수로 인해 Cold Boot 목표 달성 불가능</a:t>
            </a:r>
            <a:endParaRPr lang="en-US" sz="1200" dirty="0"/>
          </a:p>
        </p:txBody>
      </p:sp>
      <p:sp>
        <p:nvSpPr>
          <p:cNvPr id="33" name="SK-6-text-32"/>
          <p:cNvSpPr/>
          <p:nvPr/>
        </p:nvSpPr>
        <p:spPr>
          <a:xfrm>
            <a:off x="942975" y="3442246"/>
            <a:ext cx="4924425" cy="47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라이선스 정책 변경: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키 발급에 대한 추가 비용 요구가 돌발적으로 발생</a:t>
            </a:r>
            <a:endParaRPr lang="en-US" sz="1200" dirty="0"/>
          </a:p>
        </p:txBody>
      </p:sp>
      <p:sp>
        <p:nvSpPr>
          <p:cNvPr id="34" name="SK-6-text-33"/>
          <p:cNvSpPr/>
          <p:nvPr/>
        </p:nvSpPr>
        <p:spPr>
          <a:xfrm>
            <a:off x="1019175" y="4338935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근본 원인 (Root Causes)</a:t>
            </a:r>
            <a:endParaRPr lang="en-US" sz="1500" dirty="0"/>
          </a:p>
        </p:txBody>
      </p:sp>
      <p:sp>
        <p:nvSpPr>
          <p:cNvPr id="35" name="SK-6-text-34"/>
          <p:cNvSpPr/>
          <p:nvPr/>
        </p:nvSpPr>
        <p:spPr>
          <a:xfrm>
            <a:off x="942975" y="4815185"/>
            <a:ext cx="78638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거버넌스 부재: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납기 지연에 대한 SLA 페널티 및 비용 정책 명시 누락</a:t>
            </a:r>
            <a:endParaRPr lang="en-US" sz="1200" dirty="0"/>
          </a:p>
        </p:txBody>
      </p:sp>
      <p:sp>
        <p:nvSpPr>
          <p:cNvPr id="36" name="SK-6-text-35"/>
          <p:cNvSpPr/>
          <p:nvPr/>
        </p:nvSpPr>
        <p:spPr>
          <a:xfrm>
            <a:off x="942975" y="512370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은폐형 리더십: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임시 워크어라운드로 해결 가능하다고 판단하여 실질적 위기 은폐</a:t>
            </a:r>
            <a:endParaRPr lang="en-US" sz="1200" dirty="0"/>
          </a:p>
        </p:txBody>
      </p:sp>
      <p:sp>
        <p:nvSpPr>
          <p:cNvPr id="37" name="SK-6-text-36"/>
          <p:cNvSpPr/>
          <p:nvPr/>
        </p:nvSpPr>
        <p:spPr>
          <a:xfrm>
            <a:off x="942975" y="5733306"/>
            <a:ext cx="4924425" cy="4775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 체계 붕괴: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스폰서 에스컬레이션 트리거 미작동으로 인한 대응 골든타임 상실</a:t>
            </a:r>
            <a:endParaRPr lang="en-US" sz="1200" dirty="0"/>
          </a:p>
        </p:txBody>
      </p:sp>
      <p:sp>
        <p:nvSpPr>
          <p:cNvPr id="38" name="SK-6-text-37"/>
          <p:cNvSpPr/>
          <p:nvPr/>
        </p:nvSpPr>
        <p:spPr>
          <a:xfrm>
            <a:off x="6657975" y="1746796"/>
            <a:ext cx="5534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비즈니스 파급력 (Business Impact)</a:t>
            </a:r>
            <a:endParaRPr lang="en-US" sz="1500" dirty="0"/>
          </a:p>
        </p:txBody>
      </p:sp>
      <p:sp>
        <p:nvSpPr>
          <p:cNvPr id="39" name="SK-6-text-38"/>
          <p:cNvSpPr/>
          <p:nvPr/>
        </p:nvSpPr>
        <p:spPr>
          <a:xfrm>
            <a:off x="6438900" y="2337346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인프라</a:t>
            </a:r>
            <a:endParaRPr lang="en-US" sz="975" dirty="0"/>
          </a:p>
        </p:txBody>
      </p:sp>
      <p:sp>
        <p:nvSpPr>
          <p:cNvPr id="40" name="SK-6-text-39"/>
          <p:cNvSpPr/>
          <p:nvPr/>
        </p:nvSpPr>
        <p:spPr>
          <a:xfrm>
            <a:off x="6438900" y="2561183"/>
            <a:ext cx="25422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G3 실차 테스트 붕괴</a:t>
            </a:r>
            <a:endParaRPr lang="en-US" sz="1275" dirty="0"/>
          </a:p>
        </p:txBody>
      </p:sp>
      <p:sp>
        <p:nvSpPr>
          <p:cNvPr id="41" name="SK-6-text-40"/>
          <p:cNvSpPr/>
          <p:nvPr/>
        </p:nvSpPr>
        <p:spPr>
          <a:xfrm>
            <a:off x="9086850" y="2337346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대외 관계</a:t>
            </a:r>
            <a:endParaRPr lang="en-US" sz="975" dirty="0"/>
          </a:p>
        </p:txBody>
      </p:sp>
      <p:sp>
        <p:nvSpPr>
          <p:cNvPr id="42" name="SK-6-text-41"/>
          <p:cNvSpPr/>
          <p:nvPr/>
        </p:nvSpPr>
        <p:spPr>
          <a:xfrm>
            <a:off x="9086850" y="2561183"/>
            <a:ext cx="260699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고객사 항의 폭발</a:t>
            </a:r>
            <a:endParaRPr lang="en-US" sz="1275" dirty="0"/>
          </a:p>
        </p:txBody>
      </p:sp>
      <p:sp>
        <p:nvSpPr>
          <p:cNvPr id="43" name="SK-6-text-42"/>
          <p:cNvSpPr/>
          <p:nvPr/>
        </p:nvSpPr>
        <p:spPr>
          <a:xfrm>
            <a:off x="6438900" y="3146971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내부</a:t>
            </a:r>
            <a:endParaRPr lang="en-US" sz="975" dirty="0"/>
          </a:p>
        </p:txBody>
      </p:sp>
      <p:sp>
        <p:nvSpPr>
          <p:cNvPr id="44" name="SK-6-text-43"/>
          <p:cNvSpPr/>
          <p:nvPr/>
        </p:nvSpPr>
        <p:spPr>
          <a:xfrm>
            <a:off x="6438900" y="3370808"/>
            <a:ext cx="23860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신뢰도 상실</a:t>
            </a:r>
            <a:endParaRPr lang="en-US" sz="1275" dirty="0"/>
          </a:p>
        </p:txBody>
      </p:sp>
      <p:sp>
        <p:nvSpPr>
          <p:cNvPr id="45" name="SK-6-text-44"/>
          <p:cNvSpPr/>
          <p:nvPr/>
        </p:nvSpPr>
        <p:spPr>
          <a:xfrm>
            <a:off x="9086850" y="3146971"/>
            <a:ext cx="23812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일정</a:t>
            </a:r>
            <a:endParaRPr lang="en-US" sz="975" dirty="0"/>
          </a:p>
        </p:txBody>
      </p:sp>
      <p:sp>
        <p:nvSpPr>
          <p:cNvPr id="46" name="SK-6-text-45"/>
          <p:cNvSpPr/>
          <p:nvPr/>
        </p:nvSpPr>
        <p:spPr>
          <a:xfrm>
            <a:off x="9086850" y="3370808"/>
            <a:ext cx="27365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게이트 통과 불확실</a:t>
            </a:r>
            <a:endParaRPr lang="en-US" sz="1275" dirty="0"/>
          </a:p>
        </p:txBody>
      </p:sp>
      <p:sp>
        <p:nvSpPr>
          <p:cNvPr id="47" name="SK-6-text-46"/>
          <p:cNvSpPr/>
          <p:nvPr/>
        </p:nvSpPr>
        <p:spPr>
          <a:xfrm>
            <a:off x="6581775" y="3918496"/>
            <a:ext cx="49244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기술인 SDK의 불안정성은 상위 애플리케이션 개발 전체의 병목 현상과 기술 부채를 유발함</a:t>
            </a:r>
            <a:endParaRPr lang="en-US" sz="1200" dirty="0"/>
          </a:p>
        </p:txBody>
      </p:sp>
      <p:sp>
        <p:nvSpPr>
          <p:cNvPr id="48" name="SK-6-text-47"/>
          <p:cNvSpPr/>
          <p:nvPr/>
        </p:nvSpPr>
        <p:spPr>
          <a:xfrm>
            <a:off x="6653213" y="5305425"/>
            <a:ext cx="5105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BBF24"/>
                </a:solidFill>
              </a:rPr>
              <a:t>핵심 시사점 (Key Insight)</a:t>
            </a:r>
            <a:endParaRPr lang="en-US" sz="1350" dirty="0"/>
          </a:p>
        </p:txBody>
      </p:sp>
      <p:sp>
        <p:nvSpPr>
          <p:cNvPr id="49" name="SK-6-text-48"/>
          <p:cNvSpPr/>
          <p:nvPr/>
        </p:nvSpPr>
        <p:spPr>
          <a:xfrm>
            <a:off x="6362700" y="5638800"/>
            <a:ext cx="5105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"칩셋 벤더 SDK는 프로젝트 전체를 지탱하는 </a:t>
            </a:r>
            <a:pPr indent="0" marL="0">
              <a:lnSpc>
                <a:spcPts val="1800"/>
              </a:lnSpc>
              <a:buNone/>
            </a:pPr>
            <a:r>
              <a:rPr lang="en-US" sz="1200" b="1" i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이다. 기반이 무너지고 있음에도 불구하고 임시 워크어라운드로 덮으려 한 PM의 안일한 태도가 스폰서의 격노를 유발한 결정적 원인이다."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11049000" cy="3472904"/>
          </a:xfrm>
          <a:prstGeom prst="rect">
            <a:avLst/>
          </a:prstGeom>
        </p:spPr>
      </p:pic>
      <p:pic>
        <p:nvPicPr>
          <p:cNvPr id="6" name="SK-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11049000" cy="519113"/>
          </a:xfrm>
          <a:prstGeom prst="rect">
            <a:avLst/>
          </a:prstGeom>
        </p:spPr>
      </p:pic>
      <p:pic>
        <p:nvPicPr>
          <p:cNvPr id="7" name="SK-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32496"/>
            <a:ext cx="1325761" cy="519113"/>
          </a:xfrm>
          <a:prstGeom prst="rect">
            <a:avLst/>
          </a:prstGeom>
        </p:spPr>
      </p:pic>
      <p:pic>
        <p:nvPicPr>
          <p:cNvPr id="8" name="SK-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97261" y="1632496"/>
            <a:ext cx="1988790" cy="519113"/>
          </a:xfrm>
          <a:prstGeom prst="rect">
            <a:avLst/>
          </a:prstGeom>
        </p:spPr>
      </p:pic>
      <p:pic>
        <p:nvPicPr>
          <p:cNvPr id="9" name="SK-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6051" y="1632496"/>
            <a:ext cx="1325761" cy="519113"/>
          </a:xfrm>
          <a:prstGeom prst="rect">
            <a:avLst/>
          </a:prstGeom>
        </p:spPr>
      </p:pic>
      <p:pic>
        <p:nvPicPr>
          <p:cNvPr id="10" name="SK-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11812" y="1632496"/>
            <a:ext cx="1988790" cy="519113"/>
          </a:xfrm>
          <a:prstGeom prst="rect">
            <a:avLst/>
          </a:prstGeom>
        </p:spPr>
      </p:pic>
      <p:pic>
        <p:nvPicPr>
          <p:cNvPr id="11" name="SK-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0602" y="1632496"/>
            <a:ext cx="1325761" cy="519113"/>
          </a:xfrm>
          <a:prstGeom prst="rect">
            <a:avLst/>
          </a:prstGeom>
        </p:spPr>
      </p:pic>
      <p:pic>
        <p:nvPicPr>
          <p:cNvPr id="12" name="SK-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26363" y="1632496"/>
            <a:ext cx="1767780" cy="519113"/>
          </a:xfrm>
          <a:prstGeom prst="rect">
            <a:avLst/>
          </a:prstGeom>
        </p:spPr>
      </p:pic>
      <p:pic>
        <p:nvPicPr>
          <p:cNvPr id="13" name="SK-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4144" y="1632496"/>
            <a:ext cx="1326356" cy="519113"/>
          </a:xfrm>
          <a:prstGeom prst="rect">
            <a:avLst/>
          </a:prstGeom>
        </p:spPr>
      </p:pic>
      <p:pic>
        <p:nvPicPr>
          <p:cNvPr id="14" name="SK-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151608"/>
            <a:ext cx="11049000" cy="1072902"/>
          </a:xfrm>
          <a:prstGeom prst="rect">
            <a:avLst/>
          </a:prstGeom>
        </p:spPr>
      </p:pic>
      <p:pic>
        <p:nvPicPr>
          <p:cNvPr id="15" name="SK-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08444" y="2574727"/>
            <a:ext cx="895350" cy="236190"/>
          </a:xfrm>
          <a:prstGeom prst="rect">
            <a:avLst/>
          </a:prstGeom>
        </p:spPr>
      </p:pic>
      <p:pic>
        <p:nvPicPr>
          <p:cNvPr id="16" name="SK-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03694" y="2639169"/>
            <a:ext cx="142875" cy="114300"/>
          </a:xfrm>
          <a:prstGeom prst="rect">
            <a:avLst/>
          </a:prstGeom>
        </p:spPr>
      </p:pic>
      <p:pic>
        <p:nvPicPr>
          <p:cNvPr id="17" name="SK-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3224510"/>
            <a:ext cx="11049000" cy="1072902"/>
          </a:xfrm>
          <a:prstGeom prst="rect">
            <a:avLst/>
          </a:prstGeom>
        </p:spPr>
      </p:pic>
      <p:pic>
        <p:nvPicPr>
          <p:cNvPr id="18" name="SK-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08444" y="3647629"/>
            <a:ext cx="866775" cy="236190"/>
          </a:xfrm>
          <a:prstGeom prst="rect">
            <a:avLst/>
          </a:prstGeom>
        </p:spPr>
      </p:pic>
      <p:pic>
        <p:nvPicPr>
          <p:cNvPr id="19" name="SK-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03694" y="3712071"/>
            <a:ext cx="142875" cy="114300"/>
          </a:xfrm>
          <a:prstGeom prst="rect">
            <a:avLst/>
          </a:prstGeom>
        </p:spPr>
      </p:pic>
      <p:pic>
        <p:nvPicPr>
          <p:cNvPr id="20" name="SK-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408444" y="4588073"/>
            <a:ext cx="866775" cy="236190"/>
          </a:xfrm>
          <a:prstGeom prst="rect">
            <a:avLst/>
          </a:prstGeom>
        </p:spPr>
      </p:pic>
      <p:pic>
        <p:nvPicPr>
          <p:cNvPr id="21" name="SK-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03694" y="4652516"/>
            <a:ext cx="142875" cy="114300"/>
          </a:xfrm>
          <a:prstGeom prst="rect">
            <a:avLst/>
          </a:prstGeom>
        </p:spPr>
      </p:pic>
      <p:pic>
        <p:nvPicPr>
          <p:cNvPr id="22" name="SK-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334000"/>
            <a:ext cx="11049000" cy="1143000"/>
          </a:xfrm>
          <a:prstGeom prst="rect">
            <a:avLst/>
          </a:prstGeom>
        </p:spPr>
      </p:pic>
      <p:pic>
        <p:nvPicPr>
          <p:cNvPr id="23" name="SK-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5565428"/>
            <a:ext cx="214313" cy="175320"/>
          </a:xfrm>
          <a:prstGeom prst="rect">
            <a:avLst/>
          </a:prstGeom>
        </p:spPr>
      </p:pic>
      <p:sp>
        <p:nvSpPr>
          <p:cNvPr id="24" name="SK-7-text-23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5" name="SK-7-text-24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Vendor SLA 및 Dependency Matrix</a:t>
            </a:r>
            <a:endParaRPr lang="en-US" sz="2400" dirty="0"/>
          </a:p>
        </p:txBody>
      </p:sp>
      <p:sp>
        <p:nvSpPr>
          <p:cNvPr id="26" name="SK-7-text-25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벤더별 제공 모듈, 지연 상태, 페널티 유무 및 라이선스 비용 이슈를 관리하기 위한 의존성 매트릭스입니다.</a:t>
            </a:r>
            <a:endParaRPr lang="en-US" sz="1200" dirty="0"/>
          </a:p>
        </p:txBody>
      </p:sp>
      <p:sp>
        <p:nvSpPr>
          <p:cNvPr id="27" name="SK-7-text-26"/>
          <p:cNvSpPr/>
          <p:nvPr/>
        </p:nvSpPr>
        <p:spPr>
          <a:xfrm>
            <a:off x="685800" y="1632496"/>
            <a:ext cx="11733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</a:t>
            </a:r>
            <a:endParaRPr lang="en-US" sz="1125" dirty="0"/>
          </a:p>
        </p:txBody>
      </p:sp>
      <p:sp>
        <p:nvSpPr>
          <p:cNvPr id="28" name="SK-7-text-27"/>
          <p:cNvSpPr/>
          <p:nvPr/>
        </p:nvSpPr>
        <p:spPr>
          <a:xfrm>
            <a:off x="2011561" y="1632496"/>
            <a:ext cx="1836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모듈/SDK</a:t>
            </a:r>
            <a:endParaRPr lang="en-US" sz="1125" dirty="0"/>
          </a:p>
        </p:txBody>
      </p:sp>
      <p:sp>
        <p:nvSpPr>
          <p:cNvPr id="29" name="SK-7-text-28"/>
          <p:cNvSpPr/>
          <p:nvPr/>
        </p:nvSpPr>
        <p:spPr>
          <a:xfrm>
            <a:off x="4000351" y="1632496"/>
            <a:ext cx="11733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계약상 일정</a:t>
            </a:r>
            <a:endParaRPr lang="en-US" sz="1125" dirty="0"/>
          </a:p>
        </p:txBody>
      </p:sp>
      <p:sp>
        <p:nvSpPr>
          <p:cNvPr id="30" name="SK-7-text-29"/>
          <p:cNvSpPr/>
          <p:nvPr/>
        </p:nvSpPr>
        <p:spPr>
          <a:xfrm>
            <a:off x="5326112" y="1632496"/>
            <a:ext cx="183639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지연/상태</a:t>
            </a:r>
            <a:endParaRPr lang="en-US" sz="1125" dirty="0"/>
          </a:p>
        </p:txBody>
      </p:sp>
      <p:sp>
        <p:nvSpPr>
          <p:cNvPr id="31" name="SK-7-text-30"/>
          <p:cNvSpPr/>
          <p:nvPr/>
        </p:nvSpPr>
        <p:spPr>
          <a:xfrm>
            <a:off x="7314902" y="1632496"/>
            <a:ext cx="117336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페널티</a:t>
            </a:r>
            <a:endParaRPr lang="en-US" sz="1125" dirty="0"/>
          </a:p>
        </p:txBody>
      </p:sp>
      <p:sp>
        <p:nvSpPr>
          <p:cNvPr id="32" name="SK-7-text-31"/>
          <p:cNvSpPr/>
          <p:nvPr/>
        </p:nvSpPr>
        <p:spPr>
          <a:xfrm>
            <a:off x="8640663" y="1632496"/>
            <a:ext cx="1615380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비용/라이선스 이슈</a:t>
            </a:r>
            <a:endParaRPr lang="en-US" sz="1125" dirty="0"/>
          </a:p>
        </p:txBody>
      </p:sp>
      <p:sp>
        <p:nvSpPr>
          <p:cNvPr id="33" name="SK-7-text-32"/>
          <p:cNvSpPr/>
          <p:nvPr/>
        </p:nvSpPr>
        <p:spPr>
          <a:xfrm>
            <a:off x="10408444" y="1632496"/>
            <a:ext cx="1173956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위험도</a:t>
            </a:r>
            <a:endParaRPr lang="en-US" sz="1125" dirty="0"/>
          </a:p>
        </p:txBody>
      </p:sp>
      <p:sp>
        <p:nvSpPr>
          <p:cNvPr id="34" name="SK-7-text-33"/>
          <p:cNvSpPr/>
          <p:nvPr/>
        </p:nvSpPr>
        <p:spPr>
          <a:xfrm>
            <a:off x="685800" y="2590949"/>
            <a:ext cx="1539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</a:t>
            </a:r>
            <a:endParaRPr lang="en-US" sz="1200" dirty="0"/>
          </a:p>
        </p:txBody>
      </p:sp>
      <p:sp>
        <p:nvSpPr>
          <p:cNvPr id="35" name="SK-7-text-34"/>
          <p:cNvSpPr/>
          <p:nvPr/>
        </p:nvSpPr>
        <p:spPr>
          <a:xfrm>
            <a:off x="2011561" y="2151608"/>
            <a:ext cx="3691051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v3.0 &amp; SoC Driver</a:t>
            </a:r>
            <a:endParaRPr lang="en-US" sz="1200" dirty="0"/>
          </a:p>
        </p:txBody>
      </p:sp>
      <p:sp>
        <p:nvSpPr>
          <p:cNvPr id="36" name="SK-7-text-35"/>
          <p:cNvSpPr/>
          <p:nvPr/>
        </p:nvSpPr>
        <p:spPr>
          <a:xfrm>
            <a:off x="4000351" y="2151608"/>
            <a:ext cx="123652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09/30</a:t>
            </a:r>
            <a:endParaRPr lang="en-US" sz="1200" dirty="0"/>
          </a:p>
        </p:txBody>
      </p:sp>
      <p:sp>
        <p:nvSpPr>
          <p:cNvPr id="37" name="SK-7-text-36"/>
          <p:cNvSpPr/>
          <p:nvPr/>
        </p:nvSpPr>
        <p:spPr>
          <a:xfrm>
            <a:off x="5326112" y="2590949"/>
            <a:ext cx="2819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말 (3주 연기)</a:t>
            </a:r>
            <a:endParaRPr lang="en-US" sz="1200" dirty="0"/>
          </a:p>
        </p:txBody>
      </p:sp>
      <p:sp>
        <p:nvSpPr>
          <p:cNvPr id="38" name="SK-7-text-37"/>
          <p:cNvSpPr/>
          <p:nvPr/>
        </p:nvSpPr>
        <p:spPr>
          <a:xfrm>
            <a:off x="7314902" y="2151608"/>
            <a:ext cx="1387866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미설정 (0원)</a:t>
            </a:r>
            <a:endParaRPr lang="en-US" sz="1200" dirty="0"/>
          </a:p>
        </p:txBody>
      </p:sp>
      <p:sp>
        <p:nvSpPr>
          <p:cNvPr id="39" name="SK-7-text-38"/>
          <p:cNvSpPr/>
          <p:nvPr/>
        </p:nvSpPr>
        <p:spPr>
          <a:xfrm>
            <a:off x="8640663" y="2151608"/>
            <a:ext cx="153918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키 연동 추가 라이선스 요구</a:t>
            </a:r>
            <a:endParaRPr lang="en-US" sz="1200" dirty="0"/>
          </a:p>
        </p:txBody>
      </p:sp>
      <p:sp>
        <p:nvSpPr>
          <p:cNvPr id="40" name="SK-7-text-39"/>
          <p:cNvSpPr/>
          <p:nvPr/>
        </p:nvSpPr>
        <p:spPr>
          <a:xfrm>
            <a:off x="10646569" y="2574727"/>
            <a:ext cx="971793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CRITICAL</a:t>
            </a:r>
            <a:endParaRPr lang="en-US" sz="900" dirty="0"/>
          </a:p>
        </p:txBody>
      </p:sp>
      <p:sp>
        <p:nvSpPr>
          <p:cNvPr id="41" name="SK-7-text-40"/>
          <p:cNvSpPr/>
          <p:nvPr/>
        </p:nvSpPr>
        <p:spPr>
          <a:xfrm>
            <a:off x="685800" y="3663851"/>
            <a:ext cx="15392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AI-Voice</a:t>
            </a:r>
            <a:endParaRPr lang="en-US" sz="1200" dirty="0"/>
          </a:p>
        </p:txBody>
      </p:sp>
      <p:sp>
        <p:nvSpPr>
          <p:cNvPr id="42" name="SK-7-text-41"/>
          <p:cNvSpPr/>
          <p:nvPr/>
        </p:nvSpPr>
        <p:spPr>
          <a:xfrm>
            <a:off x="2011561" y="3224510"/>
            <a:ext cx="2018508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음성 엔진</a:t>
            </a:r>
            <a:endParaRPr lang="en-US" sz="1200" dirty="0"/>
          </a:p>
        </p:txBody>
      </p:sp>
      <p:sp>
        <p:nvSpPr>
          <p:cNvPr id="43" name="SK-7-text-42"/>
          <p:cNvSpPr/>
          <p:nvPr/>
        </p:nvSpPr>
        <p:spPr>
          <a:xfrm>
            <a:off x="4000351" y="3224510"/>
            <a:ext cx="123652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10/15</a:t>
            </a:r>
            <a:endParaRPr lang="en-US" sz="1200" dirty="0"/>
          </a:p>
        </p:txBody>
      </p:sp>
      <p:sp>
        <p:nvSpPr>
          <p:cNvPr id="44" name="SK-7-text-43"/>
          <p:cNvSpPr/>
          <p:nvPr/>
        </p:nvSpPr>
        <p:spPr>
          <a:xfrm>
            <a:off x="5326112" y="3224510"/>
            <a:ext cx="183639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 진행 중</a:t>
            </a:r>
            <a:endParaRPr lang="en-US" sz="1200" dirty="0"/>
          </a:p>
        </p:txBody>
      </p:sp>
      <p:sp>
        <p:nvSpPr>
          <p:cNvPr id="45" name="SK-7-text-44"/>
          <p:cNvSpPr/>
          <p:nvPr/>
        </p:nvSpPr>
        <p:spPr>
          <a:xfrm>
            <a:off x="7314902" y="3224510"/>
            <a:ext cx="123652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 2% 감액</a:t>
            </a:r>
            <a:endParaRPr lang="en-US" sz="1200" dirty="0"/>
          </a:p>
        </p:txBody>
      </p:sp>
      <p:sp>
        <p:nvSpPr>
          <p:cNvPr id="46" name="SK-7-text-45"/>
          <p:cNvSpPr/>
          <p:nvPr/>
        </p:nvSpPr>
        <p:spPr>
          <a:xfrm>
            <a:off x="8640663" y="3224510"/>
            <a:ext cx="1539180" cy="107290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API 사용량 과금 (협상 완료)</a:t>
            </a:r>
            <a:endParaRPr lang="en-US" sz="1200" dirty="0"/>
          </a:p>
        </p:txBody>
      </p:sp>
      <p:sp>
        <p:nvSpPr>
          <p:cNvPr id="47" name="SK-7-text-46"/>
          <p:cNvSpPr/>
          <p:nvPr/>
        </p:nvSpPr>
        <p:spPr>
          <a:xfrm>
            <a:off x="10646569" y="3647629"/>
            <a:ext cx="749105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NORMAL</a:t>
            </a:r>
            <a:endParaRPr lang="en-US" sz="900" dirty="0"/>
          </a:p>
        </p:txBody>
      </p:sp>
      <p:sp>
        <p:nvSpPr>
          <p:cNvPr id="48" name="SK-7-text-47"/>
          <p:cNvSpPr/>
          <p:nvPr/>
        </p:nvSpPr>
        <p:spPr>
          <a:xfrm>
            <a:off x="685800" y="4604296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AutoMotors</a:t>
            </a:r>
            <a:endParaRPr lang="en-US" sz="1200" dirty="0"/>
          </a:p>
        </p:txBody>
      </p:sp>
      <p:sp>
        <p:nvSpPr>
          <p:cNvPr id="49" name="SK-7-text-48"/>
          <p:cNvSpPr/>
          <p:nvPr/>
        </p:nvSpPr>
        <p:spPr>
          <a:xfrm>
            <a:off x="2011561" y="4297412"/>
            <a:ext cx="183639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시뮬레이터</a:t>
            </a:r>
            <a:endParaRPr lang="en-US" sz="1200" dirty="0"/>
          </a:p>
        </p:txBody>
      </p:sp>
      <p:sp>
        <p:nvSpPr>
          <p:cNvPr id="50" name="SK-7-text-49"/>
          <p:cNvSpPr/>
          <p:nvPr/>
        </p:nvSpPr>
        <p:spPr>
          <a:xfrm>
            <a:off x="4000351" y="4297412"/>
            <a:ext cx="123652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08/15</a:t>
            </a:r>
            <a:endParaRPr lang="en-US" sz="1200" dirty="0"/>
          </a:p>
        </p:txBody>
      </p:sp>
      <p:sp>
        <p:nvSpPr>
          <p:cNvPr id="51" name="SK-7-text-50"/>
          <p:cNvSpPr/>
          <p:nvPr/>
        </p:nvSpPr>
        <p:spPr>
          <a:xfrm>
            <a:off x="5326112" y="4297412"/>
            <a:ext cx="183639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200" dirty="0"/>
          </a:p>
        </p:txBody>
      </p:sp>
      <p:sp>
        <p:nvSpPr>
          <p:cNvPr id="52" name="SK-7-text-51"/>
          <p:cNvSpPr/>
          <p:nvPr/>
        </p:nvSpPr>
        <p:spPr>
          <a:xfrm>
            <a:off x="7314902" y="4297412"/>
            <a:ext cx="1173361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N/A</a:t>
            </a:r>
            <a:endParaRPr lang="en-US" sz="1200" dirty="0"/>
          </a:p>
        </p:txBody>
      </p:sp>
      <p:sp>
        <p:nvSpPr>
          <p:cNvPr id="53" name="SK-7-text-52"/>
          <p:cNvSpPr/>
          <p:nvPr/>
        </p:nvSpPr>
        <p:spPr>
          <a:xfrm>
            <a:off x="8640663" y="4297412"/>
            <a:ext cx="1615380" cy="80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N/A</a:t>
            </a:r>
            <a:endParaRPr lang="en-US" sz="1200" dirty="0"/>
          </a:p>
        </p:txBody>
      </p:sp>
      <p:sp>
        <p:nvSpPr>
          <p:cNvPr id="54" name="SK-7-text-53"/>
          <p:cNvSpPr/>
          <p:nvPr/>
        </p:nvSpPr>
        <p:spPr>
          <a:xfrm>
            <a:off x="10646569" y="4588073"/>
            <a:ext cx="749105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NORMAL</a:t>
            </a:r>
            <a:endParaRPr lang="en-US" sz="900" dirty="0"/>
          </a:p>
        </p:txBody>
      </p:sp>
      <p:sp>
        <p:nvSpPr>
          <p:cNvPr id="55" name="SK-7-text-54"/>
          <p:cNvSpPr/>
          <p:nvPr/>
        </p:nvSpPr>
        <p:spPr>
          <a:xfrm>
            <a:off x="1071563" y="5524500"/>
            <a:ext cx="106680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핵심 진단 결과: NovaChip 의존성 통제 불능</a:t>
            </a:r>
            <a:endParaRPr lang="en-US" sz="1350" dirty="0"/>
          </a:p>
        </p:txBody>
      </p:sp>
      <p:sp>
        <p:nvSpPr>
          <p:cNvPr id="56" name="SK-7-text-55"/>
          <p:cNvSpPr/>
          <p:nvPr/>
        </p:nvSpPr>
        <p:spPr>
          <a:xfrm>
            <a:off x="762000" y="5857875"/>
            <a:ext cx="10668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프로젝트의 기초가 되는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SDK의 3주 지연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SLA 페널티 부재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단순 일정을 넘어 전체 거버넌스의 붕괴를 초래했습니다. 특히 HSM 보안 키 라이선스에 대한 돌발 비용 요구는 계약 단계에서의 벤더 통제 프레임워크가 심각하게 결여되었음을 시사합니다.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4" name="SK-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56296"/>
            <a:ext cx="11049000" cy="3996779"/>
          </a:xfrm>
          <a:prstGeom prst="rect">
            <a:avLst/>
          </a:prstGeom>
        </p:spPr>
      </p:pic>
      <p:pic>
        <p:nvPicPr>
          <p:cNvPr id="5" name="SK-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56296"/>
            <a:ext cx="1988790" cy="533400"/>
          </a:xfrm>
          <a:prstGeom prst="rect">
            <a:avLst/>
          </a:prstGeom>
        </p:spPr>
      </p:pic>
      <p:pic>
        <p:nvPicPr>
          <p:cNvPr id="6" name="SK-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290" y="1556296"/>
            <a:ext cx="2430661" cy="533400"/>
          </a:xfrm>
          <a:prstGeom prst="rect">
            <a:avLst/>
          </a:prstGeom>
        </p:spPr>
      </p:pic>
      <p:pic>
        <p:nvPicPr>
          <p:cNvPr id="7" name="SK-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0951" y="1556296"/>
            <a:ext cx="2430661" cy="533400"/>
          </a:xfrm>
          <a:prstGeom prst="rect">
            <a:avLst/>
          </a:prstGeom>
        </p:spPr>
      </p:pic>
      <p:pic>
        <p:nvPicPr>
          <p:cNvPr id="8" name="SK-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612" y="1556296"/>
            <a:ext cx="2430661" cy="533400"/>
          </a:xfrm>
          <a:prstGeom prst="rect">
            <a:avLst/>
          </a:prstGeom>
        </p:spPr>
      </p:pic>
      <p:pic>
        <p:nvPicPr>
          <p:cNvPr id="9" name="SK-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2273" y="1556296"/>
            <a:ext cx="1768227" cy="533400"/>
          </a:xfrm>
          <a:prstGeom prst="rect">
            <a:avLst/>
          </a:prstGeom>
        </p:spPr>
      </p:pic>
      <p:pic>
        <p:nvPicPr>
          <p:cNvPr id="10" name="SK-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089696"/>
            <a:ext cx="1988790" cy="1152823"/>
          </a:xfrm>
          <a:prstGeom prst="rect">
            <a:avLst/>
          </a:prstGeom>
        </p:spPr>
      </p:pic>
      <p:pic>
        <p:nvPicPr>
          <p:cNvPr id="11" name="SK-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589907"/>
            <a:ext cx="190500" cy="152400"/>
          </a:xfrm>
          <a:prstGeom prst="rect">
            <a:avLst/>
          </a:prstGeom>
        </p:spPr>
      </p:pic>
      <p:pic>
        <p:nvPicPr>
          <p:cNvPr id="12" name="SK-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290" y="2089696"/>
            <a:ext cx="2430661" cy="1152823"/>
          </a:xfrm>
          <a:prstGeom prst="rect">
            <a:avLst/>
          </a:prstGeom>
        </p:spPr>
      </p:pic>
      <p:pic>
        <p:nvPicPr>
          <p:cNvPr id="13" name="SK-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90951" y="2089696"/>
            <a:ext cx="2430661" cy="1152823"/>
          </a:xfrm>
          <a:prstGeom prst="rect">
            <a:avLst/>
          </a:prstGeom>
        </p:spPr>
      </p:pic>
      <p:pic>
        <p:nvPicPr>
          <p:cNvPr id="14" name="SK-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1612" y="2089696"/>
            <a:ext cx="2430661" cy="1152823"/>
          </a:xfrm>
          <a:prstGeom prst="rect">
            <a:avLst/>
          </a:prstGeom>
        </p:spPr>
      </p:pic>
      <p:pic>
        <p:nvPicPr>
          <p:cNvPr id="15" name="SK-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52273" y="2089696"/>
            <a:ext cx="1768227" cy="1152823"/>
          </a:xfrm>
          <a:prstGeom prst="rect">
            <a:avLst/>
          </a:prstGeom>
        </p:spPr>
      </p:pic>
      <p:pic>
        <p:nvPicPr>
          <p:cNvPr id="16" name="SK-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66573" y="2527995"/>
            <a:ext cx="1176338" cy="276225"/>
          </a:xfrm>
          <a:prstGeom prst="rect">
            <a:avLst/>
          </a:prstGeom>
        </p:spPr>
      </p:pic>
      <p:pic>
        <p:nvPicPr>
          <p:cNvPr id="17" name="SK-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61823" y="2597497"/>
            <a:ext cx="166688" cy="137220"/>
          </a:xfrm>
          <a:prstGeom prst="rect">
            <a:avLst/>
          </a:prstGeom>
        </p:spPr>
      </p:pic>
      <p:pic>
        <p:nvPicPr>
          <p:cNvPr id="18" name="SK-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3242518"/>
            <a:ext cx="1988790" cy="1152823"/>
          </a:xfrm>
          <a:prstGeom prst="rect">
            <a:avLst/>
          </a:prstGeom>
        </p:spPr>
      </p:pic>
      <p:pic>
        <p:nvPicPr>
          <p:cNvPr id="19" name="SK-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3742730"/>
            <a:ext cx="190500" cy="152400"/>
          </a:xfrm>
          <a:prstGeom prst="rect">
            <a:avLst/>
          </a:prstGeom>
        </p:spPr>
      </p:pic>
      <p:pic>
        <p:nvPicPr>
          <p:cNvPr id="20" name="SK-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560290" y="3242518"/>
            <a:ext cx="2430661" cy="1152823"/>
          </a:xfrm>
          <a:prstGeom prst="rect">
            <a:avLst/>
          </a:prstGeom>
        </p:spPr>
      </p:pic>
      <p:pic>
        <p:nvPicPr>
          <p:cNvPr id="21" name="SK-8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990951" y="3242518"/>
            <a:ext cx="2430661" cy="1152823"/>
          </a:xfrm>
          <a:prstGeom prst="rect">
            <a:avLst/>
          </a:prstGeom>
        </p:spPr>
      </p:pic>
      <p:pic>
        <p:nvPicPr>
          <p:cNvPr id="22" name="SK-8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421612" y="3242518"/>
            <a:ext cx="2430661" cy="1152823"/>
          </a:xfrm>
          <a:prstGeom prst="rect">
            <a:avLst/>
          </a:prstGeom>
        </p:spPr>
      </p:pic>
      <p:pic>
        <p:nvPicPr>
          <p:cNvPr id="23" name="SK-8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52273" y="3242518"/>
            <a:ext cx="1768227" cy="1152823"/>
          </a:xfrm>
          <a:prstGeom prst="rect">
            <a:avLst/>
          </a:prstGeom>
        </p:spPr>
      </p:pic>
      <p:pic>
        <p:nvPicPr>
          <p:cNvPr id="24" name="SK-8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966573" y="3680817"/>
            <a:ext cx="1176338" cy="276225"/>
          </a:xfrm>
          <a:prstGeom prst="rect">
            <a:avLst/>
          </a:prstGeom>
        </p:spPr>
      </p:pic>
      <p:pic>
        <p:nvPicPr>
          <p:cNvPr id="25" name="SK-8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61823" y="3750320"/>
            <a:ext cx="166688" cy="137220"/>
          </a:xfrm>
          <a:prstGeom prst="rect">
            <a:avLst/>
          </a:prstGeom>
        </p:spPr>
      </p:pic>
      <p:pic>
        <p:nvPicPr>
          <p:cNvPr id="26" name="SK-8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5800" y="4893171"/>
            <a:ext cx="190500" cy="152400"/>
          </a:xfrm>
          <a:prstGeom prst="rect">
            <a:avLst/>
          </a:prstGeom>
        </p:spPr>
      </p:pic>
      <p:pic>
        <p:nvPicPr>
          <p:cNvPr id="27" name="SK-8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966573" y="4831259"/>
            <a:ext cx="1176338" cy="276225"/>
          </a:xfrm>
          <a:prstGeom prst="rect">
            <a:avLst/>
          </a:prstGeom>
        </p:spPr>
      </p:pic>
      <p:pic>
        <p:nvPicPr>
          <p:cNvPr id="28" name="SK-8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061823" y="4900761"/>
            <a:ext cx="166688" cy="137220"/>
          </a:xfrm>
          <a:prstGeom prst="rect">
            <a:avLst/>
          </a:prstGeom>
        </p:spPr>
      </p:pic>
      <p:pic>
        <p:nvPicPr>
          <p:cNvPr id="29" name="SK-8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743575"/>
            <a:ext cx="11049000" cy="733425"/>
          </a:xfrm>
          <a:prstGeom prst="rect">
            <a:avLst/>
          </a:prstGeom>
        </p:spPr>
      </p:pic>
      <p:pic>
        <p:nvPicPr>
          <p:cNvPr id="30" name="SK-8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23900" y="5915025"/>
            <a:ext cx="238125" cy="238125"/>
          </a:xfrm>
          <a:prstGeom prst="rect">
            <a:avLst/>
          </a:prstGeom>
        </p:spPr>
      </p:pic>
      <p:sp>
        <p:nvSpPr>
          <p:cNvPr id="31" name="SK-8-text-3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2" name="SK-8-text-31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Risk Escalation Trigger Protocol</a:t>
            </a:r>
            <a:endParaRPr lang="en-US" sz="2400" dirty="0"/>
          </a:p>
        </p:txBody>
      </p:sp>
      <p:sp>
        <p:nvSpPr>
          <p:cNvPr id="33" name="SK-8-text-32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항목별 에스컬레이션 트리거 기준과 실제 발생 상황에서의 PM 대응 및 보고 은폐 여부를 대조합니다.</a:t>
            </a:r>
            <a:endParaRPr lang="en-US" sz="1200" dirty="0"/>
          </a:p>
        </p:txBody>
      </p:sp>
      <p:sp>
        <p:nvSpPr>
          <p:cNvPr id="34" name="SK-8-text-33"/>
          <p:cNvSpPr/>
          <p:nvPr/>
        </p:nvSpPr>
        <p:spPr>
          <a:xfrm>
            <a:off x="685800" y="1556296"/>
            <a:ext cx="18363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리스크 항목</a:t>
            </a:r>
            <a:endParaRPr lang="en-US" sz="1200" dirty="0"/>
          </a:p>
        </p:txBody>
      </p:sp>
      <p:sp>
        <p:nvSpPr>
          <p:cNvPr id="35" name="SK-8-text-34"/>
          <p:cNvSpPr/>
          <p:nvPr/>
        </p:nvSpPr>
        <p:spPr>
          <a:xfrm>
            <a:off x="2674590" y="1556296"/>
            <a:ext cx="22782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에스컬레이션 트리거</a:t>
            </a:r>
            <a:endParaRPr lang="en-US" sz="1200" dirty="0"/>
          </a:p>
        </p:txBody>
      </p:sp>
      <p:sp>
        <p:nvSpPr>
          <p:cNvPr id="36" name="SK-8-text-35"/>
          <p:cNvSpPr/>
          <p:nvPr/>
        </p:nvSpPr>
        <p:spPr>
          <a:xfrm>
            <a:off x="5105251" y="1556296"/>
            <a:ext cx="22782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실제 발생 상황</a:t>
            </a:r>
            <a:endParaRPr lang="en-US" sz="1200" dirty="0"/>
          </a:p>
        </p:txBody>
      </p:sp>
      <p:sp>
        <p:nvSpPr>
          <p:cNvPr id="37" name="SK-8-text-36"/>
          <p:cNvSpPr/>
          <p:nvPr/>
        </p:nvSpPr>
        <p:spPr>
          <a:xfrm>
            <a:off x="7535912" y="1556296"/>
            <a:ext cx="227826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PM 처리 방식</a:t>
            </a:r>
            <a:endParaRPr lang="en-US" sz="1200" dirty="0"/>
          </a:p>
        </p:txBody>
      </p:sp>
      <p:sp>
        <p:nvSpPr>
          <p:cNvPr id="38" name="SK-8-text-37"/>
          <p:cNvSpPr/>
          <p:nvPr/>
        </p:nvSpPr>
        <p:spPr>
          <a:xfrm>
            <a:off x="9966573" y="1556296"/>
            <a:ext cx="161582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</a:rPr>
              <a:t>스폰서 보고 여부</a:t>
            </a:r>
            <a:endParaRPr lang="en-US" sz="1200" dirty="0"/>
          </a:p>
        </p:txBody>
      </p:sp>
      <p:sp>
        <p:nvSpPr>
          <p:cNvPr id="39" name="SK-8-text-38"/>
          <p:cNvSpPr/>
          <p:nvPr/>
        </p:nvSpPr>
        <p:spPr>
          <a:xfrm>
            <a:off x="971550" y="255180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릴리즈 지연</a:t>
            </a:r>
            <a:endParaRPr lang="en-US" sz="1200" dirty="0"/>
          </a:p>
        </p:txBody>
      </p:sp>
      <p:sp>
        <p:nvSpPr>
          <p:cNvPr id="40" name="SK-8-text-39"/>
          <p:cNvSpPr/>
          <p:nvPr/>
        </p:nvSpPr>
        <p:spPr>
          <a:xfrm>
            <a:off x="2674590" y="2089696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벤더 일정이 1주 초과 지연 시 즉시 보고</a:t>
            </a:r>
            <a:endParaRPr lang="en-US" sz="1200" dirty="0"/>
          </a:p>
        </p:txBody>
      </p:sp>
      <p:sp>
        <p:nvSpPr>
          <p:cNvPr id="41" name="SK-8-text-40"/>
          <p:cNvSpPr/>
          <p:nvPr/>
        </p:nvSpPr>
        <p:spPr>
          <a:xfrm>
            <a:off x="5105251" y="2089696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3주 연기 통보 (10월 말 예정)</a:t>
            </a:r>
            <a:endParaRPr lang="en-US" sz="1200" dirty="0"/>
          </a:p>
        </p:txBody>
      </p:sp>
      <p:sp>
        <p:nvSpPr>
          <p:cNvPr id="42" name="SK-8-text-41"/>
          <p:cNvSpPr/>
          <p:nvPr/>
        </p:nvSpPr>
        <p:spPr>
          <a:xfrm>
            <a:off x="7535912" y="2089696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워크어라운드 코드 임시 조치로 성능 저하 유발</a:t>
            </a:r>
            <a:endParaRPr lang="en-US" sz="1200" dirty="0"/>
          </a:p>
        </p:txBody>
      </p:sp>
      <p:sp>
        <p:nvSpPr>
          <p:cNvPr id="43" name="SK-8-text-42"/>
          <p:cNvSpPr/>
          <p:nvPr/>
        </p:nvSpPr>
        <p:spPr>
          <a:xfrm>
            <a:off x="10285661" y="2527995"/>
            <a:ext cx="985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미보고(은폐)</a:t>
            </a:r>
            <a:endParaRPr lang="en-US" sz="1050" dirty="0"/>
          </a:p>
        </p:txBody>
      </p:sp>
      <p:sp>
        <p:nvSpPr>
          <p:cNvPr id="44" name="SK-8-text-43"/>
          <p:cNvSpPr/>
          <p:nvPr/>
        </p:nvSpPr>
        <p:spPr>
          <a:xfrm>
            <a:off x="971550" y="370463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라이선스 추가 비용</a:t>
            </a:r>
            <a:endParaRPr lang="en-US" sz="1200" dirty="0"/>
          </a:p>
        </p:txBody>
      </p:sp>
      <p:sp>
        <p:nvSpPr>
          <p:cNvPr id="45" name="SK-8-text-44"/>
          <p:cNvSpPr/>
          <p:nvPr/>
        </p:nvSpPr>
        <p:spPr>
          <a:xfrm>
            <a:off x="2674590" y="3242518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외 추가 예산 요구 발생 시 즉시 보고</a:t>
            </a:r>
            <a:endParaRPr lang="en-US" sz="1200" dirty="0"/>
          </a:p>
        </p:txBody>
      </p:sp>
      <p:sp>
        <p:nvSpPr>
          <p:cNvPr id="46" name="SK-8-text-45"/>
          <p:cNvSpPr/>
          <p:nvPr/>
        </p:nvSpPr>
        <p:spPr>
          <a:xfrm>
            <a:off x="5105251" y="3242518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키 발급 유료화 정책 변경 요구</a:t>
            </a:r>
            <a:endParaRPr lang="en-US" sz="1200" dirty="0"/>
          </a:p>
        </p:txBody>
      </p:sp>
      <p:sp>
        <p:nvSpPr>
          <p:cNvPr id="47" name="SK-8-text-46"/>
          <p:cNvSpPr/>
          <p:nvPr/>
        </p:nvSpPr>
        <p:spPr>
          <a:xfrm>
            <a:off x="7535912" y="3242518"/>
            <a:ext cx="2202061" cy="115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벤더와의 협상 시도 없이 내부 방치</a:t>
            </a:r>
            <a:endParaRPr lang="en-US" sz="1200" dirty="0"/>
          </a:p>
        </p:txBody>
      </p:sp>
      <p:sp>
        <p:nvSpPr>
          <p:cNvPr id="48" name="SK-8-text-47"/>
          <p:cNvSpPr/>
          <p:nvPr/>
        </p:nvSpPr>
        <p:spPr>
          <a:xfrm>
            <a:off x="10285661" y="3680817"/>
            <a:ext cx="985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미보고(은폐)</a:t>
            </a:r>
            <a:endParaRPr lang="en-US" sz="1050" dirty="0"/>
          </a:p>
        </p:txBody>
      </p:sp>
      <p:sp>
        <p:nvSpPr>
          <p:cNvPr id="49" name="SK-8-text-48"/>
          <p:cNvSpPr/>
          <p:nvPr/>
        </p:nvSpPr>
        <p:spPr>
          <a:xfrm>
            <a:off x="971550" y="4855071"/>
            <a:ext cx="17601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규제 위반</a:t>
            </a:r>
            <a:endParaRPr lang="en-US" sz="1200" dirty="0"/>
          </a:p>
        </p:txBody>
      </p:sp>
      <p:sp>
        <p:nvSpPr>
          <p:cNvPr id="50" name="SK-8-text-49"/>
          <p:cNvSpPr/>
          <p:nvPr/>
        </p:nvSpPr>
        <p:spPr>
          <a:xfrm>
            <a:off x="2674590" y="4395341"/>
            <a:ext cx="2202061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GDPR/UN R155 위반 위험 노출 시 보고</a:t>
            </a:r>
            <a:endParaRPr lang="en-US" sz="1200" dirty="0"/>
          </a:p>
        </p:txBody>
      </p:sp>
      <p:sp>
        <p:nvSpPr>
          <p:cNvPr id="51" name="SK-8-text-50"/>
          <p:cNvSpPr/>
          <p:nvPr/>
        </p:nvSpPr>
        <p:spPr>
          <a:xfrm>
            <a:off x="5105251" y="4395341"/>
            <a:ext cx="2202061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REQ-077 HSM Blocked로 규제 미달 위험</a:t>
            </a:r>
            <a:endParaRPr lang="en-US" sz="1200" dirty="0"/>
          </a:p>
        </p:txBody>
      </p:sp>
      <p:sp>
        <p:nvSpPr>
          <p:cNvPr id="52" name="SK-8-text-51"/>
          <p:cNvSpPr/>
          <p:nvPr/>
        </p:nvSpPr>
        <p:spPr>
          <a:xfrm>
            <a:off x="7535912" y="4395341"/>
            <a:ext cx="2202061" cy="11529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약관 우회 시도로 법적 리스크 감수</a:t>
            </a:r>
            <a:endParaRPr lang="en-US" sz="1200" dirty="0"/>
          </a:p>
        </p:txBody>
      </p:sp>
      <p:sp>
        <p:nvSpPr>
          <p:cNvPr id="53" name="SK-8-text-52"/>
          <p:cNvSpPr/>
          <p:nvPr/>
        </p:nvSpPr>
        <p:spPr>
          <a:xfrm>
            <a:off x="10285661" y="4831259"/>
            <a:ext cx="9858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미보고(은폐)</a:t>
            </a:r>
            <a:endParaRPr lang="en-US" sz="1050" dirty="0"/>
          </a:p>
        </p:txBody>
      </p:sp>
      <p:sp>
        <p:nvSpPr>
          <p:cNvPr id="54" name="SK-8-text-53"/>
          <p:cNvSpPr/>
          <p:nvPr/>
        </p:nvSpPr>
        <p:spPr>
          <a:xfrm>
            <a:off x="1076325" y="5895975"/>
            <a:ext cx="103917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 결과: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핵심 리스크가 공식 에스컬레이션 트리거를 충족했음에도 불구하고, PM의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자의적 판단(Reactive Governance)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의해 보고가 체계적으로 누락되었습니다. 이는 스폰서의 적기 의사결정 기회를 박탈하고 프로젝트의 법적/기술적 부채를 심화시키는 결정적인 원인이 되었습니다.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4800"/>
            <a:ext cx="11049000" cy="908596"/>
          </a:xfrm>
          <a:prstGeom prst="rect">
            <a:avLst/>
          </a:prstGeom>
        </p:spPr>
      </p:pic>
      <p:pic>
        <p:nvPicPr>
          <p:cNvPr id="4" name="SK-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61046"/>
            <a:ext cx="11049000" cy="561975"/>
          </a:xfrm>
          <a:prstGeom prst="rect">
            <a:avLst/>
          </a:prstGeom>
        </p:spPr>
      </p:pic>
      <p:pic>
        <p:nvPicPr>
          <p:cNvPr id="5" name="SK-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56296"/>
            <a:ext cx="952500" cy="371475"/>
          </a:xfrm>
          <a:prstGeom prst="rect">
            <a:avLst/>
          </a:prstGeom>
        </p:spPr>
      </p:pic>
      <p:pic>
        <p:nvPicPr>
          <p:cNvPr id="6" name="SK-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6938" y="2080171"/>
            <a:ext cx="238125" cy="190500"/>
          </a:xfrm>
          <a:prstGeom prst="rect">
            <a:avLst/>
          </a:prstGeom>
        </p:spPr>
      </p:pic>
      <p:pic>
        <p:nvPicPr>
          <p:cNvPr id="7" name="SK-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327821"/>
            <a:ext cx="11049000" cy="561975"/>
          </a:xfrm>
          <a:prstGeom prst="rect">
            <a:avLst/>
          </a:prstGeom>
        </p:spPr>
      </p:pic>
      <p:pic>
        <p:nvPicPr>
          <p:cNvPr id="8" name="SK-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423071"/>
            <a:ext cx="952500" cy="371475"/>
          </a:xfrm>
          <a:prstGeom prst="rect">
            <a:avLst/>
          </a:prstGeom>
        </p:spPr>
      </p:pic>
      <p:pic>
        <p:nvPicPr>
          <p:cNvPr id="9" name="SK-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6938" y="2946946"/>
            <a:ext cx="238125" cy="190500"/>
          </a:xfrm>
          <a:prstGeom prst="rect">
            <a:avLst/>
          </a:prstGeom>
        </p:spPr>
      </p:pic>
      <p:pic>
        <p:nvPicPr>
          <p:cNvPr id="10" name="SK-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94596"/>
            <a:ext cx="11049000" cy="676275"/>
          </a:xfrm>
          <a:prstGeom prst="rect">
            <a:avLst/>
          </a:prstGeom>
        </p:spPr>
      </p:pic>
      <p:pic>
        <p:nvPicPr>
          <p:cNvPr id="11" name="SK-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3346996"/>
            <a:ext cx="952500" cy="371475"/>
          </a:xfrm>
          <a:prstGeom prst="rect">
            <a:avLst/>
          </a:prstGeom>
        </p:spPr>
      </p:pic>
      <p:pic>
        <p:nvPicPr>
          <p:cNvPr id="12" name="SK-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6938" y="3928021"/>
            <a:ext cx="238125" cy="190500"/>
          </a:xfrm>
          <a:prstGeom prst="rect">
            <a:avLst/>
          </a:prstGeom>
        </p:spPr>
      </p:pic>
      <p:pic>
        <p:nvPicPr>
          <p:cNvPr id="13" name="SK-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175671"/>
            <a:ext cx="11049000" cy="561975"/>
          </a:xfrm>
          <a:prstGeom prst="rect">
            <a:avLst/>
          </a:prstGeom>
        </p:spPr>
      </p:pic>
      <p:pic>
        <p:nvPicPr>
          <p:cNvPr id="14" name="SK-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270921"/>
            <a:ext cx="952500" cy="371475"/>
          </a:xfrm>
          <a:prstGeom prst="rect">
            <a:avLst/>
          </a:prstGeom>
        </p:spPr>
      </p:pic>
      <p:pic>
        <p:nvPicPr>
          <p:cNvPr id="15" name="SK-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76938" y="4794796"/>
            <a:ext cx="238125" cy="190500"/>
          </a:xfrm>
          <a:prstGeom prst="rect">
            <a:avLst/>
          </a:prstGeom>
        </p:spPr>
      </p:pic>
      <p:pic>
        <p:nvPicPr>
          <p:cNvPr id="16" name="SK-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5099596"/>
            <a:ext cx="11049000" cy="876300"/>
          </a:xfrm>
          <a:prstGeom prst="rect">
            <a:avLst/>
          </a:prstGeom>
        </p:spPr>
      </p:pic>
      <p:pic>
        <p:nvPicPr>
          <p:cNvPr id="17" name="SK-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2000" y="5377904"/>
            <a:ext cx="476250" cy="381000"/>
          </a:xfrm>
          <a:prstGeom prst="rect">
            <a:avLst/>
          </a:prstGeom>
        </p:spPr>
      </p:pic>
      <p:pic>
        <p:nvPicPr>
          <p:cNvPr id="18" name="SK-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6194971"/>
            <a:ext cx="11049000" cy="404813"/>
          </a:xfrm>
          <a:prstGeom prst="rect">
            <a:avLst/>
          </a:prstGeom>
        </p:spPr>
      </p:pic>
      <p:pic>
        <p:nvPicPr>
          <p:cNvPr id="19" name="SK-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6322963"/>
            <a:ext cx="178594" cy="148828"/>
          </a:xfrm>
          <a:prstGeom prst="rect">
            <a:avLst/>
          </a:prstGeom>
        </p:spPr>
      </p:pic>
      <p:sp>
        <p:nvSpPr>
          <p:cNvPr id="20" name="SK-9-text-19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1" name="SK-9-text-20"/>
          <p:cNvSpPr/>
          <p:nvPr/>
        </p:nvSpPr>
        <p:spPr>
          <a:xfrm>
            <a:off x="762000" y="56197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5 Whys 근본 원인 분석</a:t>
            </a:r>
            <a:endParaRPr lang="en-US" sz="2400" dirty="0"/>
          </a:p>
        </p:txBody>
      </p:sp>
      <p:sp>
        <p:nvSpPr>
          <p:cNvPr id="22" name="SK-9-text-21"/>
          <p:cNvSpPr/>
          <p:nvPr/>
        </p:nvSpPr>
        <p:spPr>
          <a:xfrm>
            <a:off x="762000" y="984796"/>
            <a:ext cx="1104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긴급 호출의 원인을 심층 분석하여 PMO의 벤더 거버넌스 프레임워크 부재라는 최종 원인을 도출합니다.</a:t>
            </a:r>
            <a:endParaRPr lang="en-US" sz="1200" dirty="0"/>
          </a:p>
        </p:txBody>
      </p:sp>
      <p:sp>
        <p:nvSpPr>
          <p:cNvPr id="23" name="SK-9-text-22"/>
          <p:cNvSpPr/>
          <p:nvPr/>
        </p:nvSpPr>
        <p:spPr>
          <a:xfrm>
            <a:off x="642938" y="1556296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1</a:t>
            </a:r>
            <a:endParaRPr lang="en-US" sz="1350" dirty="0"/>
          </a:p>
        </p:txBody>
      </p:sp>
      <p:sp>
        <p:nvSpPr>
          <p:cNvPr id="24" name="SK-9-text-23"/>
          <p:cNvSpPr/>
          <p:nvPr/>
        </p:nvSpPr>
        <p:spPr>
          <a:xfrm>
            <a:off x="1828800" y="1620589"/>
            <a:ext cx="10363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스폰서가 20:00에 PM을 긴급 호출한 이유는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지연과 HSM 추가 비용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PM이 사전 에스컬레이션하지 않았기 때문이다.</a:t>
            </a:r>
            <a:endParaRPr lang="en-US" sz="1275" dirty="0"/>
          </a:p>
        </p:txBody>
      </p:sp>
      <p:sp>
        <p:nvSpPr>
          <p:cNvPr id="25" name="SK-9-text-24"/>
          <p:cNvSpPr/>
          <p:nvPr/>
        </p:nvSpPr>
        <p:spPr>
          <a:xfrm>
            <a:off x="642938" y="2423071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2</a:t>
            </a:r>
            <a:endParaRPr lang="en-US" sz="1350" dirty="0"/>
          </a:p>
        </p:txBody>
      </p:sp>
      <p:sp>
        <p:nvSpPr>
          <p:cNvPr id="26" name="SK-9-text-25"/>
          <p:cNvSpPr/>
          <p:nvPr/>
        </p:nvSpPr>
        <p:spPr>
          <a:xfrm>
            <a:off x="1828800" y="2487364"/>
            <a:ext cx="10363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PM이 보고하지 않은 이유는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워크어라운드 코드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G3 실차 테스트를 모면할 수 있다고 안일하게 판단했기 때문이다.</a:t>
            </a:r>
            <a:endParaRPr lang="en-US" sz="1275" dirty="0"/>
          </a:p>
        </p:txBody>
      </p:sp>
      <p:sp>
        <p:nvSpPr>
          <p:cNvPr id="27" name="SK-9-text-26"/>
          <p:cNvSpPr/>
          <p:nvPr/>
        </p:nvSpPr>
        <p:spPr>
          <a:xfrm>
            <a:off x="642938" y="3346996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3</a:t>
            </a:r>
            <a:endParaRPr lang="en-US" sz="1350" dirty="0"/>
          </a:p>
        </p:txBody>
      </p:sp>
      <p:sp>
        <p:nvSpPr>
          <p:cNvPr id="28" name="SK-9-text-27"/>
          <p:cNvSpPr/>
          <p:nvPr/>
        </p:nvSpPr>
        <p:spPr>
          <a:xfrm>
            <a:off x="1828800" y="3289846"/>
            <a:ext cx="9677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벤더가 일방적으로 일정을 연기하고 비용을 요구한 이유는 계약에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납기 지연 SLA 페널티와 HSM 활성화 비용 명시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누락되었기 때문이다.</a:t>
            </a:r>
            <a:endParaRPr lang="en-US" sz="1275" dirty="0"/>
          </a:p>
        </p:txBody>
      </p:sp>
      <p:sp>
        <p:nvSpPr>
          <p:cNvPr id="29" name="SK-9-text-28"/>
          <p:cNvSpPr/>
          <p:nvPr/>
        </p:nvSpPr>
        <p:spPr>
          <a:xfrm>
            <a:off x="642938" y="4270921"/>
            <a:ext cx="7334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Why 4</a:t>
            </a:r>
            <a:endParaRPr lang="en-US" sz="1350" dirty="0"/>
          </a:p>
        </p:txBody>
      </p:sp>
      <p:sp>
        <p:nvSpPr>
          <p:cNvPr id="30" name="SK-9-text-29"/>
          <p:cNvSpPr/>
          <p:nvPr/>
        </p:nvSpPr>
        <p:spPr>
          <a:xfrm>
            <a:off x="1828800" y="4335214"/>
            <a:ext cx="103632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통제와 리스크 관리가 허술했던 이유는 벤더 매니저와 PM 간 </a:t>
            </a:r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거버넌스 가이드라인 및 공조 체계</a:t>
            </a:r>
            <a:pPr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부재했기 때문이다.</a:t>
            </a:r>
            <a:endParaRPr lang="en-US" sz="1275" dirty="0"/>
          </a:p>
        </p:txBody>
      </p:sp>
      <p:sp>
        <p:nvSpPr>
          <p:cNvPr id="31" name="SK-9-text-30"/>
          <p:cNvSpPr/>
          <p:nvPr/>
        </p:nvSpPr>
        <p:spPr>
          <a:xfrm>
            <a:off x="1466850" y="5266283"/>
            <a:ext cx="81057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FINAL ROOT CAUSE (최종 근본 원인)</a:t>
            </a:r>
            <a:endParaRPr lang="en-US" sz="1050" dirty="0"/>
          </a:p>
        </p:txBody>
      </p:sp>
      <p:sp>
        <p:nvSpPr>
          <p:cNvPr id="32" name="SK-9-text-31"/>
          <p:cNvSpPr/>
          <p:nvPr/>
        </p:nvSpPr>
        <p:spPr>
          <a:xfrm>
            <a:off x="1466850" y="5494883"/>
            <a:ext cx="107251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PMO의 벤더 거버넌스 프레임워크 부재 및 위기 은폐형 리더십 (Reactive Governance)</a:t>
            </a:r>
            <a:endParaRPr lang="en-US" sz="1650" dirty="0"/>
          </a:p>
        </p:txBody>
      </p:sp>
      <p:sp>
        <p:nvSpPr>
          <p:cNvPr id="33" name="SK-9-text-32"/>
          <p:cNvSpPr/>
          <p:nvPr/>
        </p:nvSpPr>
        <p:spPr>
          <a:xfrm>
            <a:off x="940594" y="6290221"/>
            <a:ext cx="10801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커뮤니케이션 실수가 아닌,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시스템적 거버넌스 결핍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프로젝트 전체의 리스크 통제력을 상실시킨 근본 동인임.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9146"/>
            <a:ext cx="11049000" cy="490538"/>
          </a:xfrm>
          <a:prstGeom prst="rect">
            <a:avLst/>
          </a:prstGeom>
        </p:spPr>
      </p:pic>
      <p:pic>
        <p:nvPicPr>
          <p:cNvPr id="6" name="SK-1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1630114"/>
            <a:ext cx="285750" cy="228600"/>
          </a:xfrm>
          <a:prstGeom prst="rect">
            <a:avLst/>
          </a:prstGeom>
        </p:spPr>
      </p:pic>
      <p:pic>
        <p:nvPicPr>
          <p:cNvPr id="7" name="SK-1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170658"/>
            <a:ext cx="5410200" cy="4382542"/>
          </a:xfrm>
          <a:prstGeom prst="rect">
            <a:avLst/>
          </a:prstGeom>
        </p:spPr>
      </p:pic>
      <p:pic>
        <p:nvPicPr>
          <p:cNvPr id="8" name="SK-1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361158"/>
            <a:ext cx="5029200" cy="400050"/>
          </a:xfrm>
          <a:prstGeom prst="rect">
            <a:avLst/>
          </a:prstGeom>
        </p:spPr>
      </p:pic>
      <p:pic>
        <p:nvPicPr>
          <p:cNvPr id="9" name="SK-1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408783"/>
            <a:ext cx="238125" cy="190500"/>
          </a:xfrm>
          <a:prstGeom prst="rect">
            <a:avLst/>
          </a:prstGeom>
        </p:spPr>
      </p:pic>
      <p:pic>
        <p:nvPicPr>
          <p:cNvPr id="10" name="SK-1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6062663"/>
            <a:ext cx="1183481" cy="300038"/>
          </a:xfrm>
          <a:prstGeom prst="rect">
            <a:avLst/>
          </a:prstGeom>
        </p:spPr>
      </p:pic>
      <p:pic>
        <p:nvPicPr>
          <p:cNvPr id="11" name="SK-1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300" y="6149727"/>
            <a:ext cx="154781" cy="125760"/>
          </a:xfrm>
          <a:prstGeom prst="rect">
            <a:avLst/>
          </a:prstGeom>
        </p:spPr>
      </p:pic>
      <p:pic>
        <p:nvPicPr>
          <p:cNvPr id="12" name="SK-1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9781" y="6062663"/>
            <a:ext cx="1497806" cy="300038"/>
          </a:xfrm>
          <a:prstGeom prst="rect">
            <a:avLst/>
          </a:prstGeom>
        </p:spPr>
      </p:pic>
      <p:pic>
        <p:nvPicPr>
          <p:cNvPr id="13" name="SK-1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4081" y="6149727"/>
            <a:ext cx="154781" cy="125760"/>
          </a:xfrm>
          <a:prstGeom prst="rect">
            <a:avLst/>
          </a:prstGeom>
        </p:spPr>
      </p:pic>
      <p:pic>
        <p:nvPicPr>
          <p:cNvPr id="14" name="SK-1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0300" y="2170658"/>
            <a:ext cx="5410200" cy="4382542"/>
          </a:xfrm>
          <a:prstGeom prst="rect">
            <a:avLst/>
          </a:prstGeom>
        </p:spPr>
      </p:pic>
      <p:pic>
        <p:nvPicPr>
          <p:cNvPr id="15" name="SK-1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361158"/>
            <a:ext cx="5029200" cy="400050"/>
          </a:xfrm>
          <a:prstGeom prst="rect">
            <a:avLst/>
          </a:prstGeom>
        </p:spPr>
      </p:pic>
      <p:pic>
        <p:nvPicPr>
          <p:cNvPr id="16" name="SK-1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00800" y="2408783"/>
            <a:ext cx="238125" cy="190500"/>
          </a:xfrm>
          <a:prstGeom prst="rect">
            <a:avLst/>
          </a:prstGeom>
        </p:spPr>
      </p:pic>
      <p:pic>
        <p:nvPicPr>
          <p:cNvPr id="17" name="SK-1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487019"/>
            <a:ext cx="5029200" cy="1262063"/>
          </a:xfrm>
          <a:prstGeom prst="rect">
            <a:avLst/>
          </a:prstGeom>
        </p:spPr>
      </p:pic>
      <p:pic>
        <p:nvPicPr>
          <p:cNvPr id="18" name="SK-1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4672161"/>
            <a:ext cx="178594" cy="148828"/>
          </a:xfrm>
          <a:prstGeom prst="rect">
            <a:avLst/>
          </a:prstGeom>
        </p:spPr>
      </p:pic>
      <p:pic>
        <p:nvPicPr>
          <p:cNvPr id="19" name="SK-1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6062663"/>
            <a:ext cx="1440656" cy="300038"/>
          </a:xfrm>
          <a:prstGeom prst="rect">
            <a:avLst/>
          </a:prstGeom>
        </p:spPr>
      </p:pic>
      <p:pic>
        <p:nvPicPr>
          <p:cNvPr id="20" name="SK-1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15100" y="6149727"/>
            <a:ext cx="154781" cy="125760"/>
          </a:xfrm>
          <a:prstGeom prst="rect">
            <a:avLst/>
          </a:prstGeom>
        </p:spPr>
      </p:pic>
      <p:pic>
        <p:nvPicPr>
          <p:cNvPr id="21" name="SK-1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55756" y="6062663"/>
            <a:ext cx="1488281" cy="300038"/>
          </a:xfrm>
          <a:prstGeom prst="rect">
            <a:avLst/>
          </a:prstGeom>
        </p:spPr>
      </p:pic>
      <p:pic>
        <p:nvPicPr>
          <p:cNvPr id="22" name="SK-1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70056" y="6149727"/>
            <a:ext cx="154781" cy="125760"/>
          </a:xfrm>
          <a:prstGeom prst="rect">
            <a:avLst/>
          </a:prstGeom>
        </p:spPr>
      </p:pic>
      <p:sp>
        <p:nvSpPr>
          <p:cNvPr id="23" name="SK-10-text-22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4" name="SK-10-text-23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2 — 무검토 Scope Creep 및 변경 거버넌스 붕괴</a:t>
            </a:r>
            <a:endParaRPr lang="en-US" sz="2400" dirty="0"/>
          </a:p>
        </p:txBody>
      </p:sp>
      <p:sp>
        <p:nvSpPr>
          <p:cNvPr id="25" name="SK-10-text-24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심의 없이 승인된 AI 음성비서 요구사항이 OTA 인력 차출과 전체 베이스라인 붕괴에 미친 영향을 분석합니다.</a:t>
            </a:r>
            <a:endParaRPr lang="en-US" sz="1200" dirty="0"/>
          </a:p>
        </p:txBody>
      </p:sp>
      <p:sp>
        <p:nvSpPr>
          <p:cNvPr id="26" name="SK-10-text-25"/>
          <p:cNvSpPr/>
          <p:nvPr/>
        </p:nvSpPr>
        <p:spPr>
          <a:xfrm>
            <a:off x="1162050" y="1622971"/>
            <a:ext cx="110299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G1 Scope Freeze 이후 OEM 부사장의 Top-down 요구(REQ-045)가 정식 변경 통제 절차(CCB) 없이 기습 반영됨</a:t>
            </a:r>
            <a:endParaRPr lang="en-US" sz="1275" dirty="0"/>
          </a:p>
        </p:txBody>
      </p:sp>
      <p:sp>
        <p:nvSpPr>
          <p:cNvPr id="27" name="SK-10-text-26"/>
          <p:cNvSpPr/>
          <p:nvPr/>
        </p:nvSpPr>
        <p:spPr>
          <a:xfrm>
            <a:off x="1114425" y="2361158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현상 및 근본 원인</a:t>
            </a:r>
            <a:endParaRPr lang="en-US" sz="1500" dirty="0"/>
          </a:p>
        </p:txBody>
      </p:sp>
      <p:sp>
        <p:nvSpPr>
          <p:cNvPr id="28" name="SK-10-text-27"/>
          <p:cNvSpPr/>
          <p:nvPr/>
        </p:nvSpPr>
        <p:spPr>
          <a:xfrm>
            <a:off x="762000" y="2875508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현상</a:t>
            </a:r>
            <a:endParaRPr lang="en-US" sz="1050" dirty="0"/>
          </a:p>
        </p:txBody>
      </p:sp>
      <p:sp>
        <p:nvSpPr>
          <p:cNvPr id="29" name="SK-10-text-28"/>
          <p:cNvSpPr/>
          <p:nvPr/>
        </p:nvSpPr>
        <p:spPr>
          <a:xfrm>
            <a:off x="762000" y="3113633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음성비서(REQ-045) 수용으로 인한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핵심 인력 차출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OTA(REQ-052) 개발 병목 발생</a:t>
            </a:r>
            <a:endParaRPr lang="en-US" sz="1275" dirty="0"/>
          </a:p>
        </p:txBody>
      </p:sp>
      <p:sp>
        <p:nvSpPr>
          <p:cNvPr id="30" name="SK-10-text-29"/>
          <p:cNvSpPr/>
          <p:nvPr/>
        </p:nvSpPr>
        <p:spPr>
          <a:xfrm>
            <a:off x="762000" y="3681264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실패</a:t>
            </a:r>
            <a:endParaRPr lang="en-US" sz="1050" dirty="0"/>
          </a:p>
        </p:txBody>
      </p:sp>
      <p:sp>
        <p:nvSpPr>
          <p:cNvPr id="31" name="SK-10-text-30"/>
          <p:cNvSpPr/>
          <p:nvPr/>
        </p:nvSpPr>
        <p:spPr>
          <a:xfrm>
            <a:off x="762000" y="3919389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영향도 평가 및 기술부채 산정 프로세스 무시. 베이스라인 변경에 대한 공식적 합의 부재</a:t>
            </a:r>
            <a:endParaRPr lang="en-US" sz="1275" dirty="0"/>
          </a:p>
        </p:txBody>
      </p:sp>
      <p:sp>
        <p:nvSpPr>
          <p:cNvPr id="32" name="SK-10-text-31"/>
          <p:cNvSpPr/>
          <p:nvPr/>
        </p:nvSpPr>
        <p:spPr>
          <a:xfrm>
            <a:off x="762000" y="4487019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 전용</a:t>
            </a:r>
            <a:endParaRPr lang="en-US" sz="1050" dirty="0"/>
          </a:p>
        </p:txBody>
      </p:sp>
      <p:sp>
        <p:nvSpPr>
          <p:cNvPr id="33" name="SK-10-text-32"/>
          <p:cNvSpPr/>
          <p:nvPr/>
        </p:nvSpPr>
        <p:spPr>
          <a:xfrm>
            <a:off x="762000" y="4725144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OTA 개발 인력 2명 차출 → 기존 핵심 기능의 일정 지연 및 품질 저하 직결</a:t>
            </a:r>
            <a:endParaRPr lang="en-US" sz="1275" dirty="0"/>
          </a:p>
        </p:txBody>
      </p:sp>
      <p:sp>
        <p:nvSpPr>
          <p:cNvPr id="34" name="SK-10-text-33"/>
          <p:cNvSpPr/>
          <p:nvPr/>
        </p:nvSpPr>
        <p:spPr>
          <a:xfrm>
            <a:off x="1088231" y="6062663"/>
            <a:ext cx="119888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Bypass</a:t>
            </a:r>
            <a:endParaRPr lang="en-US" sz="975" dirty="0"/>
          </a:p>
        </p:txBody>
      </p:sp>
      <p:sp>
        <p:nvSpPr>
          <p:cNvPr id="35" name="SK-10-text-34"/>
          <p:cNvSpPr/>
          <p:nvPr/>
        </p:nvSpPr>
        <p:spPr>
          <a:xfrm>
            <a:off x="2386013" y="6062663"/>
            <a:ext cx="214049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Resource Conflict</a:t>
            </a:r>
            <a:endParaRPr lang="en-US" sz="975" dirty="0"/>
          </a:p>
        </p:txBody>
      </p:sp>
      <p:sp>
        <p:nvSpPr>
          <p:cNvPr id="36" name="SK-10-text-35"/>
          <p:cNvSpPr/>
          <p:nvPr/>
        </p:nvSpPr>
        <p:spPr>
          <a:xfrm>
            <a:off x="6753225" y="2361158"/>
            <a:ext cx="1924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비즈니스 파급력</a:t>
            </a:r>
            <a:endParaRPr lang="en-US" sz="1500" dirty="0"/>
          </a:p>
        </p:txBody>
      </p:sp>
      <p:sp>
        <p:nvSpPr>
          <p:cNvPr id="37" name="SK-10-text-36"/>
          <p:cNvSpPr/>
          <p:nvPr/>
        </p:nvSpPr>
        <p:spPr>
          <a:xfrm>
            <a:off x="6400800" y="2875508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영향</a:t>
            </a:r>
            <a:endParaRPr lang="en-US" sz="1050" dirty="0"/>
          </a:p>
        </p:txBody>
      </p:sp>
      <p:sp>
        <p:nvSpPr>
          <p:cNvPr id="38" name="SK-10-text-37"/>
          <p:cNvSpPr/>
          <p:nvPr/>
        </p:nvSpPr>
        <p:spPr>
          <a:xfrm>
            <a:off x="6400800" y="3113633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개발진 피로 누적 및 주말 철야 강행. 실질적 기능 구현보다 </a:t>
            </a:r>
            <a:pPr indent="0" marL="0">
              <a:lnSpc>
                <a:spcPts val="1785"/>
              </a:lnSpc>
              <a:buNone/>
            </a:pPr>
            <a:r>
              <a:rPr lang="en-US" sz="127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‘껍데기 데모’</a:t>
            </a:r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중심의 업무 왜곡</a:t>
            </a:r>
            <a:endParaRPr lang="en-US" sz="1275" dirty="0"/>
          </a:p>
        </p:txBody>
      </p:sp>
      <p:sp>
        <p:nvSpPr>
          <p:cNvPr id="39" name="SK-10-text-38"/>
          <p:cNvSpPr/>
          <p:nvPr/>
        </p:nvSpPr>
        <p:spPr>
          <a:xfrm>
            <a:off x="6400800" y="3681264"/>
            <a:ext cx="5105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부채</a:t>
            </a:r>
            <a:endParaRPr lang="en-US" sz="1050" dirty="0"/>
          </a:p>
        </p:txBody>
      </p:sp>
      <p:sp>
        <p:nvSpPr>
          <p:cNvPr id="40" name="SK-10-text-39"/>
          <p:cNvSpPr/>
          <p:nvPr/>
        </p:nvSpPr>
        <p:spPr>
          <a:xfrm>
            <a:off x="6400800" y="3919389"/>
            <a:ext cx="5029200" cy="4533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정식 아키텍처 연동 없는 임시 UI 구현으로 향후 150시간 이상의 재작업 부채 발생</a:t>
            </a:r>
            <a:endParaRPr lang="en-US" sz="1275" dirty="0"/>
          </a:p>
        </p:txBody>
      </p:sp>
      <p:sp>
        <p:nvSpPr>
          <p:cNvPr id="41" name="SK-10-text-40"/>
          <p:cNvSpPr/>
          <p:nvPr/>
        </p:nvSpPr>
        <p:spPr>
          <a:xfrm>
            <a:off x="6846094" y="4639419"/>
            <a:ext cx="47434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818CF8"/>
                </a:solidFill>
              </a:rPr>
              <a:t>PMBOK 8th Strategic Insight</a:t>
            </a:r>
            <a:endParaRPr lang="en-US" sz="1125" dirty="0"/>
          </a:p>
        </p:txBody>
      </p:sp>
      <p:sp>
        <p:nvSpPr>
          <p:cNvPr id="42" name="SK-10-text-41"/>
          <p:cNvSpPr/>
          <p:nvPr/>
        </p:nvSpPr>
        <p:spPr>
          <a:xfrm>
            <a:off x="6591300" y="4910882"/>
            <a:ext cx="4648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"Top-down 요구사항이라 할지라도 비즈니스 가치(Value)와 안전 베이스라인(Safety Baseline)에 미치는 영향을 정량화하여 협상해야 합니다. 무조건적 수용은 프로젝트 전체의 침몰을 야기합니다."</a:t>
            </a:r>
            <a:endParaRPr lang="en-US" sz="1200" dirty="0"/>
          </a:p>
        </p:txBody>
      </p:sp>
      <p:sp>
        <p:nvSpPr>
          <p:cNvPr id="43" name="SK-10-text-42"/>
          <p:cNvSpPr/>
          <p:nvPr/>
        </p:nvSpPr>
        <p:spPr>
          <a:xfrm>
            <a:off x="6727031" y="6062663"/>
            <a:ext cx="212520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150h+ Tech Debt</a:t>
            </a:r>
            <a:endParaRPr lang="en-US" sz="975" dirty="0"/>
          </a:p>
        </p:txBody>
      </p:sp>
      <p:sp>
        <p:nvSpPr>
          <p:cNvPr id="44" name="SK-10-text-43"/>
          <p:cNvSpPr/>
          <p:nvPr/>
        </p:nvSpPr>
        <p:spPr>
          <a:xfrm>
            <a:off x="8281987" y="6062663"/>
            <a:ext cx="2138032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 Collapse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1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11049000" cy="3882479"/>
          </a:xfrm>
          <a:prstGeom prst="rect">
            <a:avLst/>
          </a:prstGeom>
        </p:spPr>
      </p:pic>
      <p:pic>
        <p:nvPicPr>
          <p:cNvPr id="6" name="SK-1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11049000" cy="504825"/>
          </a:xfrm>
          <a:prstGeom prst="rect">
            <a:avLst/>
          </a:prstGeom>
        </p:spPr>
      </p:pic>
      <p:pic>
        <p:nvPicPr>
          <p:cNvPr id="7" name="SK-1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1632496"/>
            <a:ext cx="857250" cy="504825"/>
          </a:xfrm>
          <a:prstGeom prst="rect">
            <a:avLst/>
          </a:prstGeom>
        </p:spPr>
      </p:pic>
      <p:pic>
        <p:nvPicPr>
          <p:cNvPr id="8" name="SK-1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1632496"/>
            <a:ext cx="2095500" cy="504825"/>
          </a:xfrm>
          <a:prstGeom prst="rect">
            <a:avLst/>
          </a:prstGeom>
        </p:spPr>
      </p:pic>
      <p:pic>
        <p:nvPicPr>
          <p:cNvPr id="9" name="SK-1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24250" y="1632496"/>
            <a:ext cx="1143000" cy="504825"/>
          </a:xfrm>
          <a:prstGeom prst="rect">
            <a:avLst/>
          </a:prstGeom>
        </p:spPr>
      </p:pic>
      <p:pic>
        <p:nvPicPr>
          <p:cNvPr id="10" name="SK-1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7250" y="1632496"/>
            <a:ext cx="1047750" cy="504825"/>
          </a:xfrm>
          <a:prstGeom prst="rect">
            <a:avLst/>
          </a:prstGeom>
        </p:spPr>
      </p:pic>
      <p:pic>
        <p:nvPicPr>
          <p:cNvPr id="11" name="SK-1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0" y="1632496"/>
            <a:ext cx="1428750" cy="504825"/>
          </a:xfrm>
          <a:prstGeom prst="rect">
            <a:avLst/>
          </a:prstGeom>
        </p:spPr>
      </p:pic>
      <p:pic>
        <p:nvPicPr>
          <p:cNvPr id="12" name="SK-1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3750" y="1632496"/>
            <a:ext cx="4476750" cy="504825"/>
          </a:xfrm>
          <a:prstGeom prst="rect">
            <a:avLst/>
          </a:prstGeom>
        </p:spPr>
      </p:pic>
      <p:pic>
        <p:nvPicPr>
          <p:cNvPr id="13" name="SK-1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2137321"/>
            <a:ext cx="857250" cy="565696"/>
          </a:xfrm>
          <a:prstGeom prst="rect">
            <a:avLst/>
          </a:prstGeom>
        </p:spPr>
      </p:pic>
      <p:pic>
        <p:nvPicPr>
          <p:cNvPr id="14" name="SK-1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28750" y="2137321"/>
            <a:ext cx="2095500" cy="565696"/>
          </a:xfrm>
          <a:prstGeom prst="rect">
            <a:avLst/>
          </a:prstGeom>
        </p:spPr>
      </p:pic>
      <p:pic>
        <p:nvPicPr>
          <p:cNvPr id="15" name="SK-1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4250" y="2137321"/>
            <a:ext cx="1143000" cy="565696"/>
          </a:xfrm>
          <a:prstGeom prst="rect">
            <a:avLst/>
          </a:prstGeom>
        </p:spPr>
      </p:pic>
      <p:pic>
        <p:nvPicPr>
          <p:cNvPr id="16" name="SK-1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38550" y="2270671"/>
            <a:ext cx="704850" cy="236190"/>
          </a:xfrm>
          <a:prstGeom prst="rect">
            <a:avLst/>
          </a:prstGeom>
        </p:spPr>
      </p:pic>
      <p:pic>
        <p:nvPicPr>
          <p:cNvPr id="17" name="SK-1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714750" y="2335113"/>
            <a:ext cx="142875" cy="114300"/>
          </a:xfrm>
          <a:prstGeom prst="rect">
            <a:avLst/>
          </a:prstGeom>
        </p:spPr>
      </p:pic>
      <p:pic>
        <p:nvPicPr>
          <p:cNvPr id="18" name="SK-1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7250" y="2137321"/>
            <a:ext cx="1047750" cy="565696"/>
          </a:xfrm>
          <a:prstGeom prst="rect">
            <a:avLst/>
          </a:prstGeom>
        </p:spPr>
      </p:pic>
      <p:pic>
        <p:nvPicPr>
          <p:cNvPr id="19" name="SK-1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0" y="2137321"/>
            <a:ext cx="1428750" cy="565696"/>
          </a:xfrm>
          <a:prstGeom prst="rect">
            <a:avLst/>
          </a:prstGeom>
        </p:spPr>
      </p:pic>
      <p:pic>
        <p:nvPicPr>
          <p:cNvPr id="20" name="SK-1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43750" y="2137321"/>
            <a:ext cx="4476750" cy="565696"/>
          </a:xfrm>
          <a:prstGeom prst="rect">
            <a:avLst/>
          </a:prstGeom>
        </p:spPr>
      </p:pic>
      <p:pic>
        <p:nvPicPr>
          <p:cNvPr id="21" name="SK-1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703016"/>
            <a:ext cx="857250" cy="750094"/>
          </a:xfrm>
          <a:prstGeom prst="rect">
            <a:avLst/>
          </a:prstGeom>
        </p:spPr>
      </p:pic>
      <p:pic>
        <p:nvPicPr>
          <p:cNvPr id="22" name="SK-1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28750" y="2703016"/>
            <a:ext cx="2095500" cy="750094"/>
          </a:xfrm>
          <a:prstGeom prst="rect">
            <a:avLst/>
          </a:prstGeom>
        </p:spPr>
      </p:pic>
      <p:pic>
        <p:nvPicPr>
          <p:cNvPr id="23" name="SK-1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24250" y="2703016"/>
            <a:ext cx="1143000" cy="750094"/>
          </a:xfrm>
          <a:prstGeom prst="rect">
            <a:avLst/>
          </a:prstGeom>
        </p:spPr>
      </p:pic>
      <p:pic>
        <p:nvPicPr>
          <p:cNvPr id="24" name="SK-1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638550" y="2836366"/>
            <a:ext cx="866775" cy="236190"/>
          </a:xfrm>
          <a:prstGeom prst="rect">
            <a:avLst/>
          </a:prstGeom>
        </p:spPr>
      </p:pic>
      <p:pic>
        <p:nvPicPr>
          <p:cNvPr id="25" name="SK-1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14750" y="2900809"/>
            <a:ext cx="142875" cy="114300"/>
          </a:xfrm>
          <a:prstGeom prst="rect">
            <a:avLst/>
          </a:prstGeom>
        </p:spPr>
      </p:pic>
      <p:pic>
        <p:nvPicPr>
          <p:cNvPr id="26" name="SK-1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67250" y="2703016"/>
            <a:ext cx="1047750" cy="750094"/>
          </a:xfrm>
          <a:prstGeom prst="rect">
            <a:avLst/>
          </a:prstGeom>
        </p:spPr>
      </p:pic>
      <p:pic>
        <p:nvPicPr>
          <p:cNvPr id="27" name="SK-1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715000" y="2703016"/>
            <a:ext cx="1428750" cy="750094"/>
          </a:xfrm>
          <a:prstGeom prst="rect">
            <a:avLst/>
          </a:prstGeom>
        </p:spPr>
      </p:pic>
      <p:pic>
        <p:nvPicPr>
          <p:cNvPr id="28" name="SK-1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43750" y="2703016"/>
            <a:ext cx="4476750" cy="750094"/>
          </a:xfrm>
          <a:prstGeom prst="rect">
            <a:avLst/>
          </a:prstGeom>
        </p:spPr>
      </p:pic>
      <p:pic>
        <p:nvPicPr>
          <p:cNvPr id="29" name="SK-1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3453110"/>
            <a:ext cx="857250" cy="745778"/>
          </a:xfrm>
          <a:prstGeom prst="rect">
            <a:avLst/>
          </a:prstGeom>
        </p:spPr>
      </p:pic>
      <p:pic>
        <p:nvPicPr>
          <p:cNvPr id="30" name="SK-1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28750" y="3453110"/>
            <a:ext cx="2095500" cy="745778"/>
          </a:xfrm>
          <a:prstGeom prst="rect">
            <a:avLst/>
          </a:prstGeom>
        </p:spPr>
      </p:pic>
      <p:pic>
        <p:nvPicPr>
          <p:cNvPr id="31" name="SK-1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524250" y="3453110"/>
            <a:ext cx="1143000" cy="745778"/>
          </a:xfrm>
          <a:prstGeom prst="rect">
            <a:avLst/>
          </a:prstGeom>
        </p:spPr>
      </p:pic>
      <p:pic>
        <p:nvPicPr>
          <p:cNvPr id="32" name="SK-1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638550" y="3586460"/>
            <a:ext cx="914400" cy="396180"/>
          </a:xfrm>
          <a:prstGeom prst="rect">
            <a:avLst/>
          </a:prstGeom>
        </p:spPr>
      </p:pic>
      <p:pic>
        <p:nvPicPr>
          <p:cNvPr id="33" name="SK-11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14750" y="3650903"/>
            <a:ext cx="142875" cy="114300"/>
          </a:xfrm>
          <a:prstGeom prst="rect">
            <a:avLst/>
          </a:prstGeom>
        </p:spPr>
      </p:pic>
      <p:pic>
        <p:nvPicPr>
          <p:cNvPr id="34" name="SK-11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667250" y="3453110"/>
            <a:ext cx="1047750" cy="745778"/>
          </a:xfrm>
          <a:prstGeom prst="rect">
            <a:avLst/>
          </a:prstGeom>
        </p:spPr>
      </p:pic>
      <p:pic>
        <p:nvPicPr>
          <p:cNvPr id="35" name="SK-11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0" y="3453110"/>
            <a:ext cx="1428750" cy="745778"/>
          </a:xfrm>
          <a:prstGeom prst="rect">
            <a:avLst/>
          </a:prstGeom>
        </p:spPr>
      </p:pic>
      <p:pic>
        <p:nvPicPr>
          <p:cNvPr id="36" name="SK-11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143750" y="3453110"/>
            <a:ext cx="4476750" cy="745778"/>
          </a:xfrm>
          <a:prstGeom prst="rect">
            <a:avLst/>
          </a:prstGeom>
        </p:spPr>
      </p:pic>
      <p:pic>
        <p:nvPicPr>
          <p:cNvPr id="37" name="SK-11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71500" y="4198888"/>
            <a:ext cx="857250" cy="750094"/>
          </a:xfrm>
          <a:prstGeom prst="rect">
            <a:avLst/>
          </a:prstGeom>
        </p:spPr>
      </p:pic>
      <p:pic>
        <p:nvPicPr>
          <p:cNvPr id="38" name="SK-11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428750" y="4198888"/>
            <a:ext cx="2095500" cy="750094"/>
          </a:xfrm>
          <a:prstGeom prst="rect">
            <a:avLst/>
          </a:prstGeom>
        </p:spPr>
      </p:pic>
      <p:pic>
        <p:nvPicPr>
          <p:cNvPr id="39" name="SK-11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524250" y="4198888"/>
            <a:ext cx="1143000" cy="750094"/>
          </a:xfrm>
          <a:prstGeom prst="rect">
            <a:avLst/>
          </a:prstGeom>
        </p:spPr>
      </p:pic>
      <p:pic>
        <p:nvPicPr>
          <p:cNvPr id="40" name="SK-11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638550" y="4332238"/>
            <a:ext cx="704850" cy="236190"/>
          </a:xfrm>
          <a:prstGeom prst="rect">
            <a:avLst/>
          </a:prstGeom>
        </p:spPr>
      </p:pic>
      <p:pic>
        <p:nvPicPr>
          <p:cNvPr id="41" name="SK-11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714750" y="4396680"/>
            <a:ext cx="142875" cy="114300"/>
          </a:xfrm>
          <a:prstGeom prst="rect">
            <a:avLst/>
          </a:prstGeom>
        </p:spPr>
      </p:pic>
      <p:pic>
        <p:nvPicPr>
          <p:cNvPr id="42" name="SK-11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667250" y="4198888"/>
            <a:ext cx="1047750" cy="750094"/>
          </a:xfrm>
          <a:prstGeom prst="rect">
            <a:avLst/>
          </a:prstGeom>
        </p:spPr>
      </p:pic>
      <p:pic>
        <p:nvPicPr>
          <p:cNvPr id="43" name="SK-11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715000" y="4198888"/>
            <a:ext cx="1428750" cy="750094"/>
          </a:xfrm>
          <a:prstGeom prst="rect">
            <a:avLst/>
          </a:prstGeom>
        </p:spPr>
      </p:pic>
      <p:pic>
        <p:nvPicPr>
          <p:cNvPr id="44" name="SK-11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143750" y="4198888"/>
            <a:ext cx="4476750" cy="750094"/>
          </a:xfrm>
          <a:prstGeom prst="rect">
            <a:avLst/>
          </a:prstGeom>
        </p:spPr>
      </p:pic>
      <p:pic>
        <p:nvPicPr>
          <p:cNvPr id="45" name="SK-11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71500" y="4948982"/>
            <a:ext cx="857250" cy="565993"/>
          </a:xfrm>
          <a:prstGeom prst="rect">
            <a:avLst/>
          </a:prstGeom>
        </p:spPr>
      </p:pic>
      <p:pic>
        <p:nvPicPr>
          <p:cNvPr id="46" name="SK-11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428750" y="4948982"/>
            <a:ext cx="2095500" cy="565993"/>
          </a:xfrm>
          <a:prstGeom prst="rect">
            <a:avLst/>
          </a:prstGeom>
        </p:spPr>
      </p:pic>
      <p:pic>
        <p:nvPicPr>
          <p:cNvPr id="47" name="SK-11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524250" y="4948982"/>
            <a:ext cx="1143000" cy="565993"/>
          </a:xfrm>
          <a:prstGeom prst="rect">
            <a:avLst/>
          </a:prstGeom>
        </p:spPr>
      </p:pic>
      <p:pic>
        <p:nvPicPr>
          <p:cNvPr id="48" name="SK-11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638550" y="5082332"/>
            <a:ext cx="914400" cy="236190"/>
          </a:xfrm>
          <a:prstGeom prst="rect">
            <a:avLst/>
          </a:prstGeom>
        </p:spPr>
      </p:pic>
      <p:pic>
        <p:nvPicPr>
          <p:cNvPr id="49" name="SK-11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3714750" y="5146774"/>
            <a:ext cx="142875" cy="114300"/>
          </a:xfrm>
          <a:prstGeom prst="rect">
            <a:avLst/>
          </a:prstGeom>
        </p:spPr>
      </p:pic>
      <p:pic>
        <p:nvPicPr>
          <p:cNvPr id="50" name="SK-11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667250" y="4948982"/>
            <a:ext cx="1047750" cy="565993"/>
          </a:xfrm>
          <a:prstGeom prst="rect">
            <a:avLst/>
          </a:prstGeom>
        </p:spPr>
      </p:pic>
      <p:pic>
        <p:nvPicPr>
          <p:cNvPr id="51" name="SK-11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5715000" y="4948982"/>
            <a:ext cx="1428750" cy="565993"/>
          </a:xfrm>
          <a:prstGeom prst="rect">
            <a:avLst/>
          </a:prstGeom>
        </p:spPr>
      </p:pic>
      <p:pic>
        <p:nvPicPr>
          <p:cNvPr id="52" name="SK-11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43750" y="4948982"/>
            <a:ext cx="4476750" cy="565993"/>
          </a:xfrm>
          <a:prstGeom prst="rect">
            <a:avLst/>
          </a:prstGeom>
        </p:spPr>
      </p:pic>
      <p:pic>
        <p:nvPicPr>
          <p:cNvPr id="53" name="SK-11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571500" y="5743575"/>
            <a:ext cx="11049000" cy="733425"/>
          </a:xfrm>
          <a:prstGeom prst="rect">
            <a:avLst/>
          </a:prstGeom>
        </p:spPr>
      </p:pic>
      <p:pic>
        <p:nvPicPr>
          <p:cNvPr id="54" name="SK-11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723900" y="6059537"/>
            <a:ext cx="163413" cy="130671"/>
          </a:xfrm>
          <a:prstGeom prst="rect">
            <a:avLst/>
          </a:prstGeom>
        </p:spPr>
      </p:pic>
      <p:sp>
        <p:nvSpPr>
          <p:cNvPr id="55" name="SK-11-text-54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56" name="SK-11-text-55"/>
          <p:cNvSpPr/>
          <p:nvPr/>
        </p:nvSpPr>
        <p:spPr>
          <a:xfrm>
            <a:off x="762000" y="6572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요구사항 의존성 그래프(RTM)</a:t>
            </a:r>
            <a:endParaRPr lang="en-US" sz="2400" dirty="0"/>
          </a:p>
        </p:txBody>
      </p:sp>
      <p:sp>
        <p:nvSpPr>
          <p:cNvPr id="57" name="SK-11-text-56"/>
          <p:cNvSpPr/>
          <p:nvPr/>
        </p:nvSpPr>
        <p:spPr>
          <a:xfrm>
            <a:off x="762000" y="10990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신규 요구사항 추가가 기존 UI 최적화, SDK 연동, OTA 개발 등에 미치는 부정적 영향과 병목 현상을 시각화합니다.</a:t>
            </a:r>
            <a:endParaRPr lang="en-US" sz="1200" dirty="0"/>
          </a:p>
        </p:txBody>
      </p:sp>
      <p:sp>
        <p:nvSpPr>
          <p:cNvPr id="58" name="SK-11-text-57"/>
          <p:cNvSpPr/>
          <p:nvPr/>
        </p:nvSpPr>
        <p:spPr>
          <a:xfrm>
            <a:off x="685800" y="1632496"/>
            <a:ext cx="78028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Req ID</a:t>
            </a:r>
            <a:endParaRPr lang="en-US" sz="1050" dirty="0"/>
          </a:p>
        </p:txBody>
      </p:sp>
      <p:sp>
        <p:nvSpPr>
          <p:cNvPr id="59" name="SK-11-text-58"/>
          <p:cNvSpPr/>
          <p:nvPr/>
        </p:nvSpPr>
        <p:spPr>
          <a:xfrm>
            <a:off x="1543050" y="1632496"/>
            <a:ext cx="19431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FAFC"/>
                </a:solidFill>
              </a:rPr>
              <a:t>요구사항</a:t>
            </a:r>
            <a:endParaRPr lang="en-US" sz="1050" dirty="0"/>
          </a:p>
        </p:txBody>
      </p:sp>
      <p:sp>
        <p:nvSpPr>
          <p:cNvPr id="60" name="SK-11-text-59"/>
          <p:cNvSpPr/>
          <p:nvPr/>
        </p:nvSpPr>
        <p:spPr>
          <a:xfrm>
            <a:off x="3638550" y="1632496"/>
            <a:ext cx="9906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Status</a:t>
            </a:r>
            <a:endParaRPr lang="en-US" sz="1050" dirty="0"/>
          </a:p>
        </p:txBody>
      </p:sp>
      <p:sp>
        <p:nvSpPr>
          <p:cNvPr id="61" name="SK-11-text-60"/>
          <p:cNvSpPr/>
          <p:nvPr/>
        </p:nvSpPr>
        <p:spPr>
          <a:xfrm>
            <a:off x="4781550" y="1632496"/>
            <a:ext cx="895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Owner</a:t>
            </a:r>
            <a:endParaRPr lang="en-US" sz="1050" dirty="0"/>
          </a:p>
        </p:txBody>
      </p:sp>
      <p:sp>
        <p:nvSpPr>
          <p:cNvPr id="62" name="SK-11-text-61"/>
          <p:cNvSpPr/>
          <p:nvPr/>
        </p:nvSpPr>
        <p:spPr>
          <a:xfrm>
            <a:off x="5829300" y="1632496"/>
            <a:ext cx="142036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Dependency</a:t>
            </a:r>
            <a:endParaRPr lang="en-US" sz="1050" dirty="0"/>
          </a:p>
        </p:txBody>
      </p:sp>
      <p:sp>
        <p:nvSpPr>
          <p:cNvPr id="63" name="SK-11-text-62"/>
          <p:cNvSpPr/>
          <p:nvPr/>
        </p:nvSpPr>
        <p:spPr>
          <a:xfrm>
            <a:off x="7258050" y="1632496"/>
            <a:ext cx="43243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REQ-045 추가 영향</a:t>
            </a:r>
            <a:endParaRPr lang="en-US" sz="1050" dirty="0"/>
          </a:p>
        </p:txBody>
      </p:sp>
      <p:sp>
        <p:nvSpPr>
          <p:cNvPr id="64" name="SK-11-text-63"/>
          <p:cNvSpPr/>
          <p:nvPr/>
        </p:nvSpPr>
        <p:spPr>
          <a:xfrm>
            <a:off x="685800" y="2137321"/>
            <a:ext cx="120777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REQ-012</a:t>
            </a:r>
            <a:endParaRPr lang="en-US" sz="1125" dirty="0"/>
          </a:p>
        </p:txBody>
      </p:sp>
      <p:sp>
        <p:nvSpPr>
          <p:cNvPr id="65" name="SK-11-text-64"/>
          <p:cNvSpPr/>
          <p:nvPr/>
        </p:nvSpPr>
        <p:spPr>
          <a:xfrm>
            <a:off x="1543050" y="2137321"/>
            <a:ext cx="2061903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UI 렌더링 최적화</a:t>
            </a:r>
            <a:endParaRPr lang="en-US" sz="1125" dirty="0"/>
          </a:p>
        </p:txBody>
      </p:sp>
      <p:sp>
        <p:nvSpPr>
          <p:cNvPr id="66" name="SK-11-text-65"/>
          <p:cNvSpPr/>
          <p:nvPr/>
        </p:nvSpPr>
        <p:spPr>
          <a:xfrm>
            <a:off x="3857625" y="2270671"/>
            <a:ext cx="75252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 DEV</a:t>
            </a:r>
            <a:endParaRPr lang="en-US" sz="900" dirty="0"/>
          </a:p>
        </p:txBody>
      </p:sp>
      <p:sp>
        <p:nvSpPr>
          <p:cNvPr id="67" name="SK-11-text-66"/>
          <p:cNvSpPr/>
          <p:nvPr/>
        </p:nvSpPr>
        <p:spPr>
          <a:xfrm>
            <a:off x="4781550" y="2137321"/>
            <a:ext cx="895350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강민재</a:t>
            </a:r>
            <a:endParaRPr lang="en-US" sz="1125" dirty="0"/>
          </a:p>
        </p:txBody>
      </p:sp>
      <p:sp>
        <p:nvSpPr>
          <p:cNvPr id="68" name="SK-11-text-67"/>
          <p:cNvSpPr/>
          <p:nvPr/>
        </p:nvSpPr>
        <p:spPr>
          <a:xfrm>
            <a:off x="5829300" y="2137321"/>
            <a:ext cx="1372362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REQ-028</a:t>
            </a:r>
            <a:endParaRPr lang="en-US" sz="1125" dirty="0"/>
          </a:p>
        </p:txBody>
      </p:sp>
      <p:sp>
        <p:nvSpPr>
          <p:cNvPr id="69" name="SK-11-text-68"/>
          <p:cNvSpPr/>
          <p:nvPr/>
        </p:nvSpPr>
        <p:spPr>
          <a:xfrm>
            <a:off x="7258050" y="2270671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지연으로 인한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렌더링 연동 차질</a:t>
            </a:r>
            <a:endParaRPr lang="en-US" sz="1050" dirty="0"/>
          </a:p>
        </p:txBody>
      </p:sp>
      <p:sp>
        <p:nvSpPr>
          <p:cNvPr id="70" name="SK-11-text-69"/>
          <p:cNvSpPr/>
          <p:nvPr/>
        </p:nvSpPr>
        <p:spPr>
          <a:xfrm>
            <a:off x="685800" y="2703016"/>
            <a:ext cx="120777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REQ-028</a:t>
            </a:r>
            <a:endParaRPr lang="en-US" sz="1125" dirty="0"/>
          </a:p>
        </p:txBody>
      </p:sp>
      <p:sp>
        <p:nvSpPr>
          <p:cNvPr id="71" name="SK-11-text-70"/>
          <p:cNvSpPr/>
          <p:nvPr/>
        </p:nvSpPr>
        <p:spPr>
          <a:xfrm>
            <a:off x="1543050" y="2703016"/>
            <a:ext cx="186690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멀티디스플레이</a:t>
            </a:r>
            <a:endParaRPr lang="en-US" sz="1125" dirty="0"/>
          </a:p>
        </p:txBody>
      </p:sp>
      <p:sp>
        <p:nvSpPr>
          <p:cNvPr id="72" name="SK-11-text-71"/>
          <p:cNvSpPr/>
          <p:nvPr/>
        </p:nvSpPr>
        <p:spPr>
          <a:xfrm>
            <a:off x="3857625" y="2836366"/>
            <a:ext cx="904352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BLOCKED</a:t>
            </a:r>
            <a:endParaRPr lang="en-US" sz="900" dirty="0"/>
          </a:p>
        </p:txBody>
      </p:sp>
      <p:sp>
        <p:nvSpPr>
          <p:cNvPr id="73" name="SK-11-text-72"/>
          <p:cNvSpPr/>
          <p:nvPr/>
        </p:nvSpPr>
        <p:spPr>
          <a:xfrm>
            <a:off x="4781550" y="2703016"/>
            <a:ext cx="8191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김다온</a:t>
            </a:r>
            <a:endParaRPr lang="en-US" sz="1125" dirty="0"/>
          </a:p>
        </p:txBody>
      </p:sp>
      <p:sp>
        <p:nvSpPr>
          <p:cNvPr id="74" name="SK-11-text-73"/>
          <p:cNvSpPr/>
          <p:nvPr/>
        </p:nvSpPr>
        <p:spPr>
          <a:xfrm>
            <a:off x="5829300" y="2703016"/>
            <a:ext cx="12763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125" dirty="0"/>
          </a:p>
        </p:txBody>
      </p:sp>
      <p:sp>
        <p:nvSpPr>
          <p:cNvPr id="75" name="SK-11-text-74"/>
          <p:cNvSpPr/>
          <p:nvPr/>
        </p:nvSpPr>
        <p:spPr>
          <a:xfrm>
            <a:off x="7258050" y="2836366"/>
            <a:ext cx="49339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Beta 메모리 누수로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3.5s 유발</a:t>
            </a:r>
            <a:endParaRPr lang="en-US" sz="1050" dirty="0"/>
          </a:p>
        </p:txBody>
      </p:sp>
      <p:sp>
        <p:nvSpPr>
          <p:cNvPr id="76" name="SK-11-text-75"/>
          <p:cNvSpPr/>
          <p:nvPr/>
        </p:nvSpPr>
        <p:spPr>
          <a:xfrm>
            <a:off x="685800" y="3453110"/>
            <a:ext cx="1207770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REQ-045</a:t>
            </a:r>
            <a:endParaRPr lang="en-US" sz="1125" dirty="0"/>
          </a:p>
        </p:txBody>
      </p:sp>
      <p:sp>
        <p:nvSpPr>
          <p:cNvPr id="77" name="SK-11-text-76"/>
          <p:cNvSpPr/>
          <p:nvPr/>
        </p:nvSpPr>
        <p:spPr>
          <a:xfrm>
            <a:off x="1543050" y="3453110"/>
            <a:ext cx="2520142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음성 제어(신규)</a:t>
            </a:r>
            <a:endParaRPr lang="en-US" sz="1125" dirty="0"/>
          </a:p>
        </p:txBody>
      </p:sp>
      <p:sp>
        <p:nvSpPr>
          <p:cNvPr id="78" name="SK-11-text-77"/>
          <p:cNvSpPr/>
          <p:nvPr/>
        </p:nvSpPr>
        <p:spPr>
          <a:xfrm>
            <a:off x="3714750" y="3586460"/>
            <a:ext cx="102870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APPROVED</a:t>
            </a:r>
            <a:endParaRPr lang="en-US" sz="900" dirty="0"/>
          </a:p>
        </p:txBody>
      </p:sp>
      <p:sp>
        <p:nvSpPr>
          <p:cNvPr id="79" name="SK-11-text-78"/>
          <p:cNvSpPr/>
          <p:nvPr/>
        </p:nvSpPr>
        <p:spPr>
          <a:xfrm>
            <a:off x="4781550" y="3453110"/>
            <a:ext cx="895350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PO/벤더</a:t>
            </a:r>
            <a:endParaRPr lang="en-US" sz="1125" dirty="0"/>
          </a:p>
        </p:txBody>
      </p:sp>
      <p:sp>
        <p:nvSpPr>
          <p:cNvPr id="80" name="SK-11-text-79"/>
          <p:cNvSpPr/>
          <p:nvPr/>
        </p:nvSpPr>
        <p:spPr>
          <a:xfrm>
            <a:off x="5829300" y="3453110"/>
            <a:ext cx="1276350" cy="74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부사장</a:t>
            </a:r>
            <a:endParaRPr lang="en-US" sz="1125" dirty="0"/>
          </a:p>
        </p:txBody>
      </p:sp>
      <p:sp>
        <p:nvSpPr>
          <p:cNvPr id="81" name="SK-11-text-80"/>
          <p:cNvSpPr/>
          <p:nvPr/>
        </p:nvSpPr>
        <p:spPr>
          <a:xfrm>
            <a:off x="7258050" y="3586460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 인력 2명 차출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개발 병목</a:t>
            </a:r>
            <a:endParaRPr lang="en-US" sz="1050" dirty="0"/>
          </a:p>
        </p:txBody>
      </p:sp>
      <p:sp>
        <p:nvSpPr>
          <p:cNvPr id="82" name="SK-11-text-81"/>
          <p:cNvSpPr/>
          <p:nvPr/>
        </p:nvSpPr>
        <p:spPr>
          <a:xfrm>
            <a:off x="685800" y="4198888"/>
            <a:ext cx="120777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REQ-052</a:t>
            </a:r>
            <a:endParaRPr lang="en-US" sz="1125" dirty="0"/>
          </a:p>
        </p:txBody>
      </p:sp>
      <p:sp>
        <p:nvSpPr>
          <p:cNvPr id="83" name="SK-11-text-82"/>
          <p:cNvSpPr/>
          <p:nvPr/>
        </p:nvSpPr>
        <p:spPr>
          <a:xfrm>
            <a:off x="1543050" y="4198888"/>
            <a:ext cx="186690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무중단 OTA 백그라운드 다운로드</a:t>
            </a:r>
            <a:endParaRPr lang="en-US" sz="1125" dirty="0"/>
          </a:p>
        </p:txBody>
      </p:sp>
      <p:sp>
        <p:nvSpPr>
          <p:cNvPr id="84" name="SK-11-text-83"/>
          <p:cNvSpPr/>
          <p:nvPr/>
        </p:nvSpPr>
        <p:spPr>
          <a:xfrm>
            <a:off x="3857625" y="4332238"/>
            <a:ext cx="752526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IN DEV</a:t>
            </a:r>
            <a:endParaRPr lang="en-US" sz="900" dirty="0"/>
          </a:p>
        </p:txBody>
      </p:sp>
      <p:sp>
        <p:nvSpPr>
          <p:cNvPr id="85" name="SK-11-text-84"/>
          <p:cNvSpPr/>
          <p:nvPr/>
        </p:nvSpPr>
        <p:spPr>
          <a:xfrm>
            <a:off x="4781550" y="4198888"/>
            <a:ext cx="8953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오지후</a:t>
            </a:r>
            <a:endParaRPr lang="en-US" sz="1125" dirty="0"/>
          </a:p>
        </p:txBody>
      </p:sp>
      <p:sp>
        <p:nvSpPr>
          <p:cNvPr id="86" name="SK-11-text-85"/>
          <p:cNvSpPr/>
          <p:nvPr/>
        </p:nvSpPr>
        <p:spPr>
          <a:xfrm>
            <a:off x="5829300" y="4198888"/>
            <a:ext cx="12763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인프라</a:t>
            </a:r>
            <a:endParaRPr lang="en-US" sz="1125" dirty="0"/>
          </a:p>
        </p:txBody>
      </p:sp>
      <p:sp>
        <p:nvSpPr>
          <p:cNvPr id="87" name="SK-11-text-86"/>
          <p:cNvSpPr/>
          <p:nvPr/>
        </p:nvSpPr>
        <p:spPr>
          <a:xfrm>
            <a:off x="7258050" y="4332238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인력 차출로 인한 </a:t>
            </a:r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철야 및 일정 지연</a:t>
            </a:r>
            <a:endParaRPr lang="en-US" sz="1050" dirty="0"/>
          </a:p>
        </p:txBody>
      </p:sp>
      <p:sp>
        <p:nvSpPr>
          <p:cNvPr id="88" name="SK-11-text-87"/>
          <p:cNvSpPr/>
          <p:nvPr/>
        </p:nvSpPr>
        <p:spPr>
          <a:xfrm>
            <a:off x="685800" y="4948982"/>
            <a:ext cx="1207770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REQ-077</a:t>
            </a:r>
            <a:endParaRPr lang="en-US" sz="1125" dirty="0"/>
          </a:p>
        </p:txBody>
      </p:sp>
      <p:sp>
        <p:nvSpPr>
          <p:cNvPr id="89" name="SK-11-text-88"/>
          <p:cNvSpPr/>
          <p:nvPr/>
        </p:nvSpPr>
        <p:spPr>
          <a:xfrm>
            <a:off x="1543050" y="4948982"/>
            <a:ext cx="2825635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보안 모듈(HSM) 키 연동</a:t>
            </a:r>
            <a:endParaRPr lang="en-US" sz="1125" dirty="0"/>
          </a:p>
        </p:txBody>
      </p:sp>
      <p:sp>
        <p:nvSpPr>
          <p:cNvPr id="90" name="SK-11-text-89"/>
          <p:cNvSpPr/>
          <p:nvPr/>
        </p:nvSpPr>
        <p:spPr>
          <a:xfrm>
            <a:off x="3857625" y="5082332"/>
            <a:ext cx="1028700" cy="23619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DEFERRED</a:t>
            </a:r>
            <a:endParaRPr lang="en-US" sz="900" dirty="0"/>
          </a:p>
        </p:txBody>
      </p:sp>
      <p:sp>
        <p:nvSpPr>
          <p:cNvPr id="91" name="SK-11-text-90"/>
          <p:cNvSpPr/>
          <p:nvPr/>
        </p:nvSpPr>
        <p:spPr>
          <a:xfrm>
            <a:off x="4781550" y="4948982"/>
            <a:ext cx="895350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보안/BE</a:t>
            </a:r>
            <a:endParaRPr lang="en-US" sz="1125" dirty="0"/>
          </a:p>
        </p:txBody>
      </p:sp>
      <p:sp>
        <p:nvSpPr>
          <p:cNvPr id="92" name="SK-11-text-91"/>
          <p:cNvSpPr/>
          <p:nvPr/>
        </p:nvSpPr>
        <p:spPr>
          <a:xfrm>
            <a:off x="5829300" y="4948982"/>
            <a:ext cx="1948434" cy="56599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REQ-028 SDK</a:t>
            </a:r>
            <a:endParaRPr lang="en-US" sz="1125" dirty="0"/>
          </a:p>
        </p:txBody>
      </p:sp>
      <p:sp>
        <p:nvSpPr>
          <p:cNvPr id="93" name="SK-11-text-92"/>
          <p:cNvSpPr/>
          <p:nvPr/>
        </p:nvSpPr>
        <p:spPr>
          <a:xfrm>
            <a:off x="7258050" y="5082332"/>
            <a:ext cx="424815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위반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UN R155 규제 미달</a:t>
            </a:r>
            <a:endParaRPr lang="en-US" sz="1050" dirty="0"/>
          </a:p>
        </p:txBody>
      </p:sp>
      <p:sp>
        <p:nvSpPr>
          <p:cNvPr id="94" name="SK-11-text-93"/>
          <p:cNvSpPr/>
          <p:nvPr/>
        </p:nvSpPr>
        <p:spPr>
          <a:xfrm>
            <a:off x="1039713" y="5895975"/>
            <a:ext cx="1042838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결과: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Top-down으로 기습 승인된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REQ-045(AI 음성)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기존 핵심 기능인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REQ-052(OTA)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리소스를 잠식하고 있습니다. 특히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REQ-028(SDK)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기술적 결함이 REQ-012와 REQ-077로 전이되어 프로젝트 전체의 컴플라이언스 붕괴를 가속화하는 핵심 병목 지점으로 식별되었습니다.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1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6492180" cy="4844504"/>
          </a:xfrm>
          <a:prstGeom prst="rect">
            <a:avLst/>
          </a:prstGeom>
        </p:spPr>
      </p:pic>
      <p:pic>
        <p:nvPicPr>
          <p:cNvPr id="6" name="SK-1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1298377" cy="519113"/>
          </a:xfrm>
          <a:prstGeom prst="rect">
            <a:avLst/>
          </a:prstGeom>
        </p:spPr>
      </p:pic>
      <p:pic>
        <p:nvPicPr>
          <p:cNvPr id="7" name="SK-1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9877" y="1632496"/>
            <a:ext cx="2921347" cy="519113"/>
          </a:xfrm>
          <a:prstGeom prst="rect">
            <a:avLst/>
          </a:prstGeom>
        </p:spPr>
      </p:pic>
      <p:pic>
        <p:nvPicPr>
          <p:cNvPr id="8" name="SK-1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224" y="1632496"/>
            <a:ext cx="973782" cy="519113"/>
          </a:xfrm>
          <a:prstGeom prst="rect">
            <a:avLst/>
          </a:prstGeom>
        </p:spPr>
      </p:pic>
      <p:pic>
        <p:nvPicPr>
          <p:cNvPr id="9" name="SK-1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5006" y="1632496"/>
            <a:ext cx="1298674" cy="519113"/>
          </a:xfrm>
          <a:prstGeom prst="rect">
            <a:avLst/>
          </a:prstGeom>
        </p:spPr>
      </p:pic>
      <p:pic>
        <p:nvPicPr>
          <p:cNvPr id="10" name="SK-1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2151608"/>
            <a:ext cx="1298377" cy="1019621"/>
          </a:xfrm>
          <a:prstGeom prst="rect">
            <a:avLst/>
          </a:prstGeom>
        </p:spPr>
      </p:pic>
      <p:pic>
        <p:nvPicPr>
          <p:cNvPr id="11" name="SK-1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69877" y="2151608"/>
            <a:ext cx="2921347" cy="1019621"/>
          </a:xfrm>
          <a:prstGeom prst="rect">
            <a:avLst/>
          </a:prstGeom>
        </p:spPr>
      </p:pic>
      <p:pic>
        <p:nvPicPr>
          <p:cNvPr id="12" name="SK-1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1224" y="2151608"/>
            <a:ext cx="973782" cy="1019621"/>
          </a:xfrm>
          <a:prstGeom prst="rect">
            <a:avLst/>
          </a:prstGeom>
        </p:spPr>
      </p:pic>
      <p:pic>
        <p:nvPicPr>
          <p:cNvPr id="13" name="SK-1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5006" y="2151608"/>
            <a:ext cx="1298674" cy="1019621"/>
          </a:xfrm>
          <a:prstGeom prst="rect">
            <a:avLst/>
          </a:prstGeom>
        </p:spPr>
      </p:pic>
      <p:pic>
        <p:nvPicPr>
          <p:cNvPr id="14" name="SK-1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3171230"/>
            <a:ext cx="1298377" cy="1019621"/>
          </a:xfrm>
          <a:prstGeom prst="rect">
            <a:avLst/>
          </a:prstGeom>
        </p:spPr>
      </p:pic>
      <p:pic>
        <p:nvPicPr>
          <p:cNvPr id="15" name="SK-1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69877" y="3171230"/>
            <a:ext cx="2921347" cy="1019621"/>
          </a:xfrm>
          <a:prstGeom prst="rect">
            <a:avLst/>
          </a:prstGeom>
        </p:spPr>
      </p:pic>
      <p:pic>
        <p:nvPicPr>
          <p:cNvPr id="16" name="SK-1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1224" y="3171230"/>
            <a:ext cx="973782" cy="1019621"/>
          </a:xfrm>
          <a:prstGeom prst="rect">
            <a:avLst/>
          </a:prstGeom>
        </p:spPr>
      </p:pic>
      <p:pic>
        <p:nvPicPr>
          <p:cNvPr id="17" name="SK-1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65006" y="3171230"/>
            <a:ext cx="1298674" cy="1019621"/>
          </a:xfrm>
          <a:prstGeom prst="rect">
            <a:avLst/>
          </a:prstGeom>
        </p:spPr>
      </p:pic>
      <p:pic>
        <p:nvPicPr>
          <p:cNvPr id="18" name="SK-1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4190851"/>
            <a:ext cx="1298377" cy="1266230"/>
          </a:xfrm>
          <a:prstGeom prst="rect">
            <a:avLst/>
          </a:prstGeom>
        </p:spPr>
      </p:pic>
      <p:pic>
        <p:nvPicPr>
          <p:cNvPr id="19" name="SK-1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869877" y="4190851"/>
            <a:ext cx="2921347" cy="1266230"/>
          </a:xfrm>
          <a:prstGeom prst="rect">
            <a:avLst/>
          </a:prstGeom>
        </p:spPr>
      </p:pic>
      <p:pic>
        <p:nvPicPr>
          <p:cNvPr id="20" name="SK-1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91224" y="4190851"/>
            <a:ext cx="973782" cy="1266230"/>
          </a:xfrm>
          <a:prstGeom prst="rect">
            <a:avLst/>
          </a:prstGeom>
        </p:spPr>
      </p:pic>
      <p:pic>
        <p:nvPicPr>
          <p:cNvPr id="21" name="SK-1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65006" y="4190851"/>
            <a:ext cx="1298674" cy="1266230"/>
          </a:xfrm>
          <a:prstGeom prst="rect">
            <a:avLst/>
          </a:prstGeom>
        </p:spPr>
      </p:pic>
      <p:pic>
        <p:nvPicPr>
          <p:cNvPr id="22" name="SK-1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292280" y="1632496"/>
            <a:ext cx="4328220" cy="4844504"/>
          </a:xfrm>
          <a:prstGeom prst="rect">
            <a:avLst/>
          </a:prstGeom>
        </p:spPr>
      </p:pic>
      <p:pic>
        <p:nvPicPr>
          <p:cNvPr id="23" name="SK-1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520880" y="1861096"/>
            <a:ext cx="762000" cy="762000"/>
          </a:xfrm>
          <a:prstGeom prst="rect">
            <a:avLst/>
          </a:prstGeom>
        </p:spPr>
      </p:pic>
      <p:pic>
        <p:nvPicPr>
          <p:cNvPr id="24" name="SK-1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520880" y="2851696"/>
            <a:ext cx="3871020" cy="1295400"/>
          </a:xfrm>
          <a:prstGeom prst="rect">
            <a:avLst/>
          </a:prstGeom>
        </p:spPr>
      </p:pic>
      <p:pic>
        <p:nvPicPr>
          <p:cNvPr id="25" name="SK-1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673280" y="3042196"/>
            <a:ext cx="190500" cy="152400"/>
          </a:xfrm>
          <a:prstGeom prst="rect">
            <a:avLst/>
          </a:prstGeom>
        </p:spPr>
      </p:pic>
      <p:pic>
        <p:nvPicPr>
          <p:cNvPr id="26" name="SK-1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520880" y="4299496"/>
            <a:ext cx="154781" cy="154781"/>
          </a:xfrm>
          <a:prstGeom prst="rect">
            <a:avLst/>
          </a:prstGeom>
        </p:spPr>
      </p:pic>
      <p:sp>
        <p:nvSpPr>
          <p:cNvPr id="27" name="SK-12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12-text-27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CCB Impact Rating 및 Risk Index</a:t>
            </a:r>
            <a:endParaRPr lang="en-US" sz="2400" dirty="0"/>
          </a:p>
        </p:txBody>
      </p:sp>
      <p:sp>
        <p:nvSpPr>
          <p:cNvPr id="29" name="SK-12-text-28"/>
          <p:cNvSpPr/>
          <p:nvPr/>
        </p:nvSpPr>
        <p:spPr>
          <a:xfrm>
            <a:off x="762000" y="1099096"/>
            <a:ext cx="1123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일정, 리소스, 보안, 품질 영역에서의 정량 평가를 통해 기습 반영된 요구사항의 높은 위험 점수를 산출합니다.</a:t>
            </a:r>
            <a:endParaRPr lang="en-US" sz="1200" dirty="0"/>
          </a:p>
        </p:txBody>
      </p:sp>
      <p:sp>
        <p:nvSpPr>
          <p:cNvPr id="30" name="SK-12-text-29"/>
          <p:cNvSpPr/>
          <p:nvPr/>
        </p:nvSpPr>
        <p:spPr>
          <a:xfrm>
            <a:off x="723900" y="1632496"/>
            <a:ext cx="1069777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평가 영역</a:t>
            </a:r>
            <a:endParaRPr lang="en-US" sz="1125" dirty="0"/>
          </a:p>
        </p:txBody>
      </p:sp>
      <p:sp>
        <p:nvSpPr>
          <p:cNvPr id="31" name="SK-12-text-30"/>
          <p:cNvSpPr/>
          <p:nvPr/>
        </p:nvSpPr>
        <p:spPr>
          <a:xfrm>
            <a:off x="2022277" y="1632496"/>
            <a:ext cx="2692747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영향 요소 상세</a:t>
            </a:r>
            <a:endParaRPr lang="en-US" sz="1125" dirty="0"/>
          </a:p>
        </p:txBody>
      </p:sp>
      <p:sp>
        <p:nvSpPr>
          <p:cNvPr id="32" name="SK-12-text-31"/>
          <p:cNvSpPr/>
          <p:nvPr/>
        </p:nvSpPr>
        <p:spPr>
          <a:xfrm>
            <a:off x="4943624" y="1632496"/>
            <a:ext cx="745182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점수</a:t>
            </a:r>
            <a:endParaRPr lang="en-US" sz="1125" dirty="0"/>
          </a:p>
        </p:txBody>
      </p:sp>
      <p:sp>
        <p:nvSpPr>
          <p:cNvPr id="33" name="SK-12-text-32"/>
          <p:cNvSpPr/>
          <p:nvPr/>
        </p:nvSpPr>
        <p:spPr>
          <a:xfrm>
            <a:off x="5917406" y="1632496"/>
            <a:ext cx="1070074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</a:rPr>
              <a:t>위험 판정</a:t>
            </a:r>
            <a:endParaRPr lang="en-US" sz="1125" dirty="0"/>
          </a:p>
        </p:txBody>
      </p:sp>
      <p:sp>
        <p:nvSpPr>
          <p:cNvPr id="34" name="SK-12-text-33"/>
          <p:cNvSpPr/>
          <p:nvPr/>
        </p:nvSpPr>
        <p:spPr>
          <a:xfrm>
            <a:off x="723900" y="2151608"/>
            <a:ext cx="1069777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영향</a:t>
            </a:r>
            <a:endParaRPr lang="en-US" sz="1200" dirty="0"/>
          </a:p>
        </p:txBody>
      </p:sp>
      <p:sp>
        <p:nvSpPr>
          <p:cNvPr id="35" name="SK-12-text-34"/>
          <p:cNvSpPr/>
          <p:nvPr/>
        </p:nvSpPr>
        <p:spPr>
          <a:xfrm>
            <a:off x="2022277" y="2151608"/>
            <a:ext cx="3966430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REQ-052 OTA 완료 2.5주 연기</a:t>
            </a:r>
            <a:endParaRPr lang="en-US" sz="1125" dirty="0"/>
          </a:p>
        </p:txBody>
      </p:sp>
      <p:sp>
        <p:nvSpPr>
          <p:cNvPr id="36" name="SK-12-text-35"/>
          <p:cNvSpPr/>
          <p:nvPr/>
        </p:nvSpPr>
        <p:spPr>
          <a:xfrm>
            <a:off x="4743599" y="2151608"/>
            <a:ext cx="764232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9.5</a:t>
            </a:r>
            <a:endParaRPr lang="en-US" sz="1500" dirty="0"/>
          </a:p>
        </p:txBody>
      </p:sp>
      <p:sp>
        <p:nvSpPr>
          <p:cNvPr id="37" name="SK-12-textBg-36"/>
          <p:cNvSpPr/>
          <p:nvPr/>
        </p:nvSpPr>
        <p:spPr>
          <a:xfrm>
            <a:off x="6023818" y="2532757"/>
            <a:ext cx="781050" cy="257175"/>
          </a:xfrm>
          <a:prstGeom prst="roundRect">
            <a:avLst>
              <a:gd name="adj" fmla="val 14815"/>
            </a:avLst>
          </a:prstGeom>
          <a:solidFill>
            <a:srgbClr val="F8717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12-text-37"/>
          <p:cNvSpPr/>
          <p:nvPr/>
        </p:nvSpPr>
        <p:spPr>
          <a:xfrm>
            <a:off x="6023818" y="2532757"/>
            <a:ext cx="781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050" dirty="0"/>
          </a:p>
        </p:txBody>
      </p:sp>
      <p:sp>
        <p:nvSpPr>
          <p:cNvPr id="39" name="SK-12-text-38"/>
          <p:cNvSpPr/>
          <p:nvPr/>
        </p:nvSpPr>
        <p:spPr>
          <a:xfrm>
            <a:off x="723900" y="3171230"/>
            <a:ext cx="1069777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리소스</a:t>
            </a:r>
            <a:endParaRPr lang="en-US" sz="1200" dirty="0"/>
          </a:p>
        </p:txBody>
      </p:sp>
      <p:sp>
        <p:nvSpPr>
          <p:cNvPr id="40" name="SK-12-text-39"/>
          <p:cNvSpPr/>
          <p:nvPr/>
        </p:nvSpPr>
        <p:spPr>
          <a:xfrm>
            <a:off x="2022277" y="3171230"/>
            <a:ext cx="4324740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 개발자 2명 전담 차출, 100% 가동률</a:t>
            </a:r>
            <a:endParaRPr lang="en-US" sz="1125" dirty="0"/>
          </a:p>
        </p:txBody>
      </p:sp>
      <p:sp>
        <p:nvSpPr>
          <p:cNvPr id="41" name="SK-12-text-40"/>
          <p:cNvSpPr/>
          <p:nvPr/>
        </p:nvSpPr>
        <p:spPr>
          <a:xfrm>
            <a:off x="4743599" y="3171230"/>
            <a:ext cx="764232" cy="101962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9.0</a:t>
            </a:r>
            <a:endParaRPr lang="en-US" sz="1500" dirty="0"/>
          </a:p>
        </p:txBody>
      </p:sp>
      <p:sp>
        <p:nvSpPr>
          <p:cNvPr id="42" name="SK-12-textBg-41"/>
          <p:cNvSpPr/>
          <p:nvPr/>
        </p:nvSpPr>
        <p:spPr>
          <a:xfrm>
            <a:off x="6023818" y="3552379"/>
            <a:ext cx="781050" cy="257175"/>
          </a:xfrm>
          <a:prstGeom prst="roundRect">
            <a:avLst>
              <a:gd name="adj" fmla="val 14815"/>
            </a:avLst>
          </a:prstGeom>
          <a:solidFill>
            <a:srgbClr val="F87171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12-text-42"/>
          <p:cNvSpPr/>
          <p:nvPr/>
        </p:nvSpPr>
        <p:spPr>
          <a:xfrm>
            <a:off x="6023818" y="3552379"/>
            <a:ext cx="7810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1050" dirty="0"/>
          </a:p>
        </p:txBody>
      </p:sp>
      <p:sp>
        <p:nvSpPr>
          <p:cNvPr id="44" name="SK-12-text-43"/>
          <p:cNvSpPr/>
          <p:nvPr/>
        </p:nvSpPr>
        <p:spPr>
          <a:xfrm>
            <a:off x="723900" y="4190851"/>
            <a:ext cx="1069777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규제</a:t>
            </a:r>
            <a:endParaRPr lang="en-US" sz="1200" dirty="0"/>
          </a:p>
        </p:txBody>
      </p:sp>
      <p:sp>
        <p:nvSpPr>
          <p:cNvPr id="45" name="SK-12-text-44"/>
          <p:cNvSpPr/>
          <p:nvPr/>
        </p:nvSpPr>
        <p:spPr>
          <a:xfrm>
            <a:off x="2022277" y="4190851"/>
            <a:ext cx="2616547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유럽 운전자 음성 데이터 개인정보 위반</a:t>
            </a:r>
            <a:endParaRPr lang="en-US" sz="1125" dirty="0"/>
          </a:p>
        </p:txBody>
      </p:sp>
      <p:sp>
        <p:nvSpPr>
          <p:cNvPr id="46" name="SK-12-text-45"/>
          <p:cNvSpPr/>
          <p:nvPr/>
        </p:nvSpPr>
        <p:spPr>
          <a:xfrm>
            <a:off x="4743599" y="4190851"/>
            <a:ext cx="764232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10.0</a:t>
            </a:r>
            <a:endParaRPr lang="en-US" sz="1500" dirty="0"/>
          </a:p>
        </p:txBody>
      </p:sp>
      <p:sp>
        <p:nvSpPr>
          <p:cNvPr id="47" name="SK-12-textBg-46"/>
          <p:cNvSpPr/>
          <p:nvPr/>
        </p:nvSpPr>
        <p:spPr>
          <a:xfrm>
            <a:off x="6090493" y="4704904"/>
            <a:ext cx="647700" cy="238125"/>
          </a:xfrm>
          <a:prstGeom prst="roundRect">
            <a:avLst>
              <a:gd name="adj" fmla="val 16000"/>
            </a:avLst>
          </a:prstGeom>
          <a:solidFill>
            <a:srgbClr val="F8717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12-text-47"/>
          <p:cNvSpPr/>
          <p:nvPr/>
        </p:nvSpPr>
        <p:spPr>
          <a:xfrm>
            <a:off x="6090493" y="4704904"/>
            <a:ext cx="647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REJECT</a:t>
            </a:r>
            <a:endParaRPr lang="en-US" sz="1050" dirty="0"/>
          </a:p>
        </p:txBody>
      </p:sp>
      <p:sp>
        <p:nvSpPr>
          <p:cNvPr id="49" name="SK-12-text-48"/>
          <p:cNvSpPr/>
          <p:nvPr/>
        </p:nvSpPr>
        <p:spPr>
          <a:xfrm>
            <a:off x="723900" y="5457081"/>
            <a:ext cx="1069777" cy="10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품질/기술부채</a:t>
            </a:r>
            <a:endParaRPr lang="en-US" sz="1200" dirty="0"/>
          </a:p>
        </p:txBody>
      </p:sp>
      <p:sp>
        <p:nvSpPr>
          <p:cNvPr id="50" name="SK-12-text-49"/>
          <p:cNvSpPr/>
          <p:nvPr/>
        </p:nvSpPr>
        <p:spPr>
          <a:xfrm>
            <a:off x="2022277" y="5457081"/>
            <a:ext cx="4222366" cy="10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껍데기 UI 데모 구현에 따른 부채 150시간</a:t>
            </a:r>
            <a:endParaRPr lang="en-US" sz="1125" dirty="0"/>
          </a:p>
        </p:txBody>
      </p:sp>
      <p:sp>
        <p:nvSpPr>
          <p:cNvPr id="51" name="SK-12-text-50"/>
          <p:cNvSpPr/>
          <p:nvPr/>
        </p:nvSpPr>
        <p:spPr>
          <a:xfrm>
            <a:off x="4743599" y="5457081"/>
            <a:ext cx="764232" cy="101991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818CF8"/>
                </a:solidFill>
              </a:rPr>
              <a:t>8.5</a:t>
            </a:r>
            <a:endParaRPr lang="en-US" sz="1500" dirty="0"/>
          </a:p>
        </p:txBody>
      </p:sp>
      <p:sp>
        <p:nvSpPr>
          <p:cNvPr id="52" name="SK-12-textBg-51"/>
          <p:cNvSpPr/>
          <p:nvPr/>
        </p:nvSpPr>
        <p:spPr>
          <a:xfrm>
            <a:off x="6000006" y="5838379"/>
            <a:ext cx="828675" cy="257175"/>
          </a:xfrm>
          <a:prstGeom prst="roundRect">
            <a:avLst>
              <a:gd name="adj" fmla="val 14815"/>
            </a:avLst>
          </a:prstGeom>
          <a:solidFill>
            <a:srgbClr val="FBBF24">
              <a:alpha val="1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3" name="SK-12-text-52"/>
          <p:cNvSpPr/>
          <p:nvPr/>
        </p:nvSpPr>
        <p:spPr>
          <a:xfrm>
            <a:off x="6000006" y="5838379"/>
            <a:ext cx="8286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1050" dirty="0"/>
          </a:p>
        </p:txBody>
      </p:sp>
      <p:sp>
        <p:nvSpPr>
          <p:cNvPr id="54" name="SK-12-text-53"/>
          <p:cNvSpPr/>
          <p:nvPr/>
        </p:nvSpPr>
        <p:spPr>
          <a:xfrm>
            <a:off x="7654230" y="1861096"/>
            <a:ext cx="205359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F87171"/>
                </a:solidFill>
              </a:rPr>
              <a:t>9.25</a:t>
            </a:r>
            <a:endParaRPr lang="en-US" sz="2100" dirty="0"/>
          </a:p>
        </p:txBody>
      </p:sp>
      <p:sp>
        <p:nvSpPr>
          <p:cNvPr id="55" name="SK-12-text-54"/>
          <p:cNvSpPr/>
          <p:nvPr/>
        </p:nvSpPr>
        <p:spPr>
          <a:xfrm>
            <a:off x="8397180" y="2013496"/>
            <a:ext cx="379482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위험 지수 (Risk Index)</a:t>
            </a:r>
            <a:endParaRPr lang="en-US" sz="1350" dirty="0"/>
          </a:p>
        </p:txBody>
      </p:sp>
      <p:sp>
        <p:nvSpPr>
          <p:cNvPr id="56" name="SK-12-text-55"/>
          <p:cNvSpPr/>
          <p:nvPr/>
        </p:nvSpPr>
        <p:spPr>
          <a:xfrm>
            <a:off x="8397180" y="2270671"/>
            <a:ext cx="3794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10.0 Score / Weighted Average</a:t>
            </a:r>
            <a:endParaRPr lang="en-US" sz="1050" dirty="0"/>
          </a:p>
        </p:txBody>
      </p:sp>
      <p:sp>
        <p:nvSpPr>
          <p:cNvPr id="57" name="SK-12-text-56"/>
          <p:cNvSpPr/>
          <p:nvPr/>
        </p:nvSpPr>
        <p:spPr>
          <a:xfrm>
            <a:off x="7939980" y="3004096"/>
            <a:ext cx="35662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최종 판정 결과</a:t>
            </a:r>
            <a:endParaRPr lang="en-US" sz="1200" dirty="0"/>
          </a:p>
        </p:txBody>
      </p:sp>
      <p:sp>
        <p:nvSpPr>
          <p:cNvPr id="58" name="SK-12-text-57"/>
          <p:cNvSpPr/>
          <p:nvPr/>
        </p:nvSpPr>
        <p:spPr>
          <a:xfrm>
            <a:off x="7673280" y="3308896"/>
            <a:ext cx="35662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“G3 반영 불합격 (Reject for G3)”</a:t>
            </a:r>
            <a:pPr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대상이었으나, 공식적인 영향도 평가 절차를 완전히 무시하고 기습적으로 프로젝트 베이스라인에 반영됨.</a:t>
            </a:r>
            <a:endParaRPr lang="en-US" sz="1125" dirty="0"/>
          </a:p>
        </p:txBody>
      </p:sp>
      <p:sp>
        <p:nvSpPr>
          <p:cNvPr id="59" name="SK-12-text-58"/>
          <p:cNvSpPr/>
          <p:nvPr/>
        </p:nvSpPr>
        <p:spPr>
          <a:xfrm>
            <a:off x="7751862" y="4299496"/>
            <a:ext cx="364003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컴플라이언스(GDPR) 점수가 10.0점으로, 해당 요구사항은 기술적 구현 가능성과 무관하게 즉시 반려되어야 하는 치명적 리스크를 내포하고 있음.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08596"/>
          </a:xfrm>
          <a:prstGeom prst="rect">
            <a:avLst/>
          </a:prstGeom>
        </p:spPr>
      </p:pic>
      <p:pic>
        <p:nvPicPr>
          <p:cNvPr id="5" name="SK-1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61046"/>
            <a:ext cx="11049000" cy="4292054"/>
          </a:xfrm>
          <a:prstGeom prst="rect">
            <a:avLst/>
          </a:prstGeom>
        </p:spPr>
      </p:pic>
      <p:pic>
        <p:nvPicPr>
          <p:cNvPr id="6" name="SK-1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461046"/>
            <a:ext cx="1988790" cy="504825"/>
          </a:xfrm>
          <a:prstGeom prst="rect">
            <a:avLst/>
          </a:prstGeom>
        </p:spPr>
      </p:pic>
      <p:pic>
        <p:nvPicPr>
          <p:cNvPr id="7" name="SK-1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290" y="1461046"/>
            <a:ext cx="3020020" cy="504825"/>
          </a:xfrm>
          <a:prstGeom prst="rect">
            <a:avLst/>
          </a:prstGeom>
        </p:spPr>
      </p:pic>
      <p:pic>
        <p:nvPicPr>
          <p:cNvPr id="8" name="SK-1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0311" y="1461046"/>
            <a:ext cx="3020020" cy="504825"/>
          </a:xfrm>
          <a:prstGeom prst="rect">
            <a:avLst/>
          </a:prstGeom>
        </p:spPr>
      </p:pic>
      <p:pic>
        <p:nvPicPr>
          <p:cNvPr id="9" name="SK-1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0331" y="1461046"/>
            <a:ext cx="3020169" cy="504825"/>
          </a:xfrm>
          <a:prstGeom prst="rect">
            <a:avLst/>
          </a:prstGeom>
        </p:spPr>
      </p:pic>
      <p:pic>
        <p:nvPicPr>
          <p:cNvPr id="10" name="SK-1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1965871"/>
            <a:ext cx="1988790" cy="1368475"/>
          </a:xfrm>
          <a:prstGeom prst="rect">
            <a:avLst/>
          </a:prstGeom>
        </p:spPr>
      </p:pic>
      <p:pic>
        <p:nvPicPr>
          <p:cNvPr id="11" name="SK-1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118271"/>
            <a:ext cx="285750" cy="228600"/>
          </a:xfrm>
          <a:prstGeom prst="rect">
            <a:avLst/>
          </a:prstGeom>
        </p:spPr>
      </p:pic>
      <p:pic>
        <p:nvPicPr>
          <p:cNvPr id="12" name="SK-1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0290" y="1965871"/>
            <a:ext cx="3020020" cy="1368475"/>
          </a:xfrm>
          <a:prstGeom prst="rect">
            <a:avLst/>
          </a:prstGeom>
        </p:spPr>
      </p:pic>
      <p:pic>
        <p:nvPicPr>
          <p:cNvPr id="13" name="SK-1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80311" y="1965871"/>
            <a:ext cx="3020020" cy="1368475"/>
          </a:xfrm>
          <a:prstGeom prst="rect">
            <a:avLst/>
          </a:prstGeom>
        </p:spPr>
      </p:pic>
      <p:pic>
        <p:nvPicPr>
          <p:cNvPr id="14" name="SK-1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00331" y="1965871"/>
            <a:ext cx="3020169" cy="1368475"/>
          </a:xfrm>
          <a:prstGeom prst="rect">
            <a:avLst/>
          </a:prstGeom>
        </p:spPr>
      </p:pic>
      <p:pic>
        <p:nvPicPr>
          <p:cNvPr id="15" name="SK-1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334345"/>
            <a:ext cx="1988790" cy="1049982"/>
          </a:xfrm>
          <a:prstGeom prst="rect">
            <a:avLst/>
          </a:prstGeom>
        </p:spPr>
      </p:pic>
      <p:pic>
        <p:nvPicPr>
          <p:cNvPr id="16" name="SK-1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2000" y="3486745"/>
            <a:ext cx="285750" cy="228600"/>
          </a:xfrm>
          <a:prstGeom prst="rect">
            <a:avLst/>
          </a:prstGeom>
        </p:spPr>
      </p:pic>
      <p:pic>
        <p:nvPicPr>
          <p:cNvPr id="17" name="SK-1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60290" y="3334345"/>
            <a:ext cx="3020020" cy="1049982"/>
          </a:xfrm>
          <a:prstGeom prst="rect">
            <a:avLst/>
          </a:prstGeom>
        </p:spPr>
      </p:pic>
      <p:pic>
        <p:nvPicPr>
          <p:cNvPr id="18" name="SK-1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80311" y="3334345"/>
            <a:ext cx="3020020" cy="1049982"/>
          </a:xfrm>
          <a:prstGeom prst="rect">
            <a:avLst/>
          </a:prstGeom>
        </p:spPr>
      </p:pic>
      <p:pic>
        <p:nvPicPr>
          <p:cNvPr id="19" name="SK-1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00331" y="3334345"/>
            <a:ext cx="3020169" cy="1049982"/>
          </a:xfrm>
          <a:prstGeom prst="rect">
            <a:avLst/>
          </a:prstGeom>
        </p:spPr>
      </p:pic>
      <p:pic>
        <p:nvPicPr>
          <p:cNvPr id="20" name="SK-1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384328"/>
            <a:ext cx="1988790" cy="1368772"/>
          </a:xfrm>
          <a:prstGeom prst="rect">
            <a:avLst/>
          </a:prstGeom>
        </p:spPr>
      </p:pic>
      <p:pic>
        <p:nvPicPr>
          <p:cNvPr id="21" name="SK-1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000" y="4536728"/>
            <a:ext cx="285750" cy="228600"/>
          </a:xfrm>
          <a:prstGeom prst="rect">
            <a:avLst/>
          </a:prstGeom>
        </p:spPr>
      </p:pic>
      <p:pic>
        <p:nvPicPr>
          <p:cNvPr id="22" name="SK-1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560290" y="4384328"/>
            <a:ext cx="3020020" cy="1368772"/>
          </a:xfrm>
          <a:prstGeom prst="rect">
            <a:avLst/>
          </a:prstGeom>
        </p:spPr>
      </p:pic>
      <p:pic>
        <p:nvPicPr>
          <p:cNvPr id="23" name="SK-1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80311" y="4384328"/>
            <a:ext cx="3020020" cy="1368772"/>
          </a:xfrm>
          <a:prstGeom prst="rect">
            <a:avLst/>
          </a:prstGeom>
        </p:spPr>
      </p:pic>
      <p:pic>
        <p:nvPicPr>
          <p:cNvPr id="24" name="SK-1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00331" y="4384328"/>
            <a:ext cx="3020169" cy="1368772"/>
          </a:xfrm>
          <a:prstGeom prst="rect">
            <a:avLst/>
          </a:prstGeom>
        </p:spPr>
      </p:pic>
      <p:pic>
        <p:nvPicPr>
          <p:cNvPr id="25" name="SK-1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71500" y="5934075"/>
            <a:ext cx="11049000" cy="619125"/>
          </a:xfrm>
          <a:prstGeom prst="rect">
            <a:avLst/>
          </a:prstGeom>
        </p:spPr>
      </p:pic>
      <p:pic>
        <p:nvPicPr>
          <p:cNvPr id="26" name="SK-1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2000" y="6124575"/>
            <a:ext cx="238125" cy="238125"/>
          </a:xfrm>
          <a:prstGeom prst="rect">
            <a:avLst/>
          </a:prstGeom>
        </p:spPr>
      </p:pic>
      <p:sp>
        <p:nvSpPr>
          <p:cNvPr id="27" name="SK-13-text-2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13-text-27"/>
          <p:cNvSpPr/>
          <p:nvPr/>
        </p:nvSpPr>
        <p:spPr>
          <a:xfrm>
            <a:off x="762000" y="56197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Mindset Alignment Matrix</a:t>
            </a:r>
            <a:endParaRPr lang="en-US" sz="2400" dirty="0"/>
          </a:p>
        </p:txBody>
      </p:sp>
      <p:sp>
        <p:nvSpPr>
          <p:cNvPr id="29" name="SK-13-text-28"/>
          <p:cNvSpPr/>
          <p:nvPr/>
        </p:nvSpPr>
        <p:spPr>
          <a:xfrm>
            <a:off x="762000" y="9847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PO와 PM의 주관적 관점과 PMBOK 8판이 지향하는 올바른 가치 정의 및 팀 보호 마인드셋 간의 간극을 분석합니다.</a:t>
            </a:r>
            <a:endParaRPr lang="en-US" sz="1200" dirty="0"/>
          </a:p>
        </p:txBody>
      </p:sp>
      <p:sp>
        <p:nvSpPr>
          <p:cNvPr id="30" name="SK-13-text-29"/>
          <p:cNvSpPr/>
          <p:nvPr/>
        </p:nvSpPr>
        <p:spPr>
          <a:xfrm>
            <a:off x="528638" y="1461046"/>
            <a:ext cx="176971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관점 (Perspective)</a:t>
            </a:r>
            <a:endParaRPr lang="en-US" sz="1350" dirty="0"/>
          </a:p>
        </p:txBody>
      </p:sp>
      <p:sp>
        <p:nvSpPr>
          <p:cNvPr id="31" name="SK-13-text-30"/>
          <p:cNvSpPr/>
          <p:nvPr/>
        </p:nvSpPr>
        <p:spPr>
          <a:xfrm>
            <a:off x="2517428" y="1461046"/>
            <a:ext cx="28009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PO 최서린의 주관</a:t>
            </a:r>
            <a:endParaRPr lang="en-US" sz="1350" dirty="0"/>
          </a:p>
        </p:txBody>
      </p:sp>
      <p:sp>
        <p:nvSpPr>
          <p:cNvPr id="32" name="SK-13-text-31"/>
          <p:cNvSpPr/>
          <p:nvPr/>
        </p:nvSpPr>
        <p:spPr>
          <a:xfrm>
            <a:off x="5537448" y="1461046"/>
            <a:ext cx="28009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PM 이도윤의 반응</a:t>
            </a:r>
            <a:endParaRPr lang="en-US" sz="1350" dirty="0"/>
          </a:p>
        </p:txBody>
      </p:sp>
      <p:sp>
        <p:nvSpPr>
          <p:cNvPr id="33" name="SK-13-text-32"/>
          <p:cNvSpPr/>
          <p:nvPr/>
        </p:nvSpPr>
        <p:spPr>
          <a:xfrm>
            <a:off x="8557468" y="1461046"/>
            <a:ext cx="2801094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PMBOK 8th 올바른 마인드셋</a:t>
            </a:r>
            <a:endParaRPr lang="en-US" sz="1350" dirty="0"/>
          </a:p>
        </p:txBody>
      </p:sp>
      <p:sp>
        <p:nvSpPr>
          <p:cNvPr id="34" name="SK-13-text-33"/>
          <p:cNvSpPr/>
          <p:nvPr/>
        </p:nvSpPr>
        <p:spPr>
          <a:xfrm>
            <a:off x="762000" y="2404021"/>
            <a:ext cx="16077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정의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(Value)</a:t>
            </a:r>
            <a:endParaRPr lang="en-US" sz="1350" dirty="0"/>
          </a:p>
        </p:txBody>
      </p:sp>
      <p:sp>
        <p:nvSpPr>
          <p:cNvPr id="35" name="SK-13-text-34"/>
          <p:cNvSpPr/>
          <p:nvPr/>
        </p:nvSpPr>
        <p:spPr>
          <a:xfrm>
            <a:off x="2750790" y="2118271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OEM 부사장 만족과 데모 영상 확보</a:t>
            </a:r>
            <a:endParaRPr lang="en-US" sz="1200" dirty="0"/>
          </a:p>
        </p:txBody>
      </p:sp>
      <p:sp>
        <p:nvSpPr>
          <p:cNvPr id="36" name="SK-13-text-35"/>
          <p:cNvSpPr/>
          <p:nvPr/>
        </p:nvSpPr>
        <p:spPr>
          <a:xfrm>
            <a:off x="5770811" y="2118271"/>
            <a:ext cx="318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껍데기 데모로 시각적 무마 시도</a:t>
            </a:r>
            <a:endParaRPr lang="en-US" sz="1200" dirty="0"/>
          </a:p>
        </p:txBody>
      </p:sp>
      <p:sp>
        <p:nvSpPr>
          <p:cNvPr id="37" name="SK-13-text-36"/>
          <p:cNvSpPr/>
          <p:nvPr/>
        </p:nvSpPr>
        <p:spPr>
          <a:xfrm>
            <a:off x="8790831" y="2118271"/>
            <a:ext cx="2639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SW의 최우선 가치는 안전과 법적 컴플라이언스(ISO 26262, GDPR)</a:t>
            </a:r>
            <a:endParaRPr lang="en-US" sz="1200" dirty="0"/>
          </a:p>
        </p:txBody>
      </p:sp>
      <p:sp>
        <p:nvSpPr>
          <p:cNvPr id="38" name="SK-13-text-37"/>
          <p:cNvSpPr/>
          <p:nvPr/>
        </p:nvSpPr>
        <p:spPr>
          <a:xfrm>
            <a:off x="719138" y="3772495"/>
            <a:ext cx="16935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의사결정 기준</a:t>
            </a:r>
            <a:endParaRPr lang="en-US" sz="1350" dirty="0"/>
          </a:p>
        </p:txBody>
      </p:sp>
      <p:sp>
        <p:nvSpPr>
          <p:cNvPr id="39" name="SK-13-text-38"/>
          <p:cNvSpPr/>
          <p:nvPr/>
        </p:nvSpPr>
        <p:spPr>
          <a:xfrm>
            <a:off x="2750790" y="3486745"/>
            <a:ext cx="2639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Top-down 요구사항 100% 무조건 수용</a:t>
            </a:r>
            <a:endParaRPr lang="en-US" sz="1200" dirty="0"/>
          </a:p>
        </p:txBody>
      </p:sp>
      <p:sp>
        <p:nvSpPr>
          <p:cNvPr id="40" name="SK-13-text-39"/>
          <p:cNvSpPr/>
          <p:nvPr/>
        </p:nvSpPr>
        <p:spPr>
          <a:xfrm>
            <a:off x="5770811" y="3486745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단기 위기 모면을 위한 임시방편 중심</a:t>
            </a:r>
            <a:endParaRPr lang="en-US" sz="1200" dirty="0"/>
          </a:p>
        </p:txBody>
      </p:sp>
      <p:sp>
        <p:nvSpPr>
          <p:cNvPr id="41" name="SK-13-text-40"/>
          <p:cNvSpPr/>
          <p:nvPr/>
        </p:nvSpPr>
        <p:spPr>
          <a:xfrm>
            <a:off x="8790831" y="3486745"/>
            <a:ext cx="2639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정량 영향도 기반 스폰서 에스컬레이션 및 일정/범위 재협상</a:t>
            </a:r>
            <a:endParaRPr lang="en-US" sz="1200" dirty="0"/>
          </a:p>
        </p:txBody>
      </p:sp>
      <p:sp>
        <p:nvSpPr>
          <p:cNvPr id="42" name="SK-13-text-41"/>
          <p:cNvSpPr/>
          <p:nvPr/>
        </p:nvSpPr>
        <p:spPr>
          <a:xfrm>
            <a:off x="762000" y="4822478"/>
            <a:ext cx="16077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보호</a:t>
            </a:r>
            <a:endParaRPr lang="en-US" sz="1350" dirty="0"/>
          </a:p>
          <a:p>
            <a:pPr algn="ctr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(People)</a:t>
            </a:r>
            <a:endParaRPr lang="en-US" sz="1350" dirty="0"/>
          </a:p>
        </p:txBody>
      </p:sp>
      <p:sp>
        <p:nvSpPr>
          <p:cNvPr id="43" name="SK-13-text-42"/>
          <p:cNvSpPr/>
          <p:nvPr/>
        </p:nvSpPr>
        <p:spPr>
          <a:xfrm>
            <a:off x="2750790" y="4536728"/>
            <a:ext cx="2639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개발팀 철야 강요를 불가피한 것으로 수용</a:t>
            </a:r>
            <a:endParaRPr lang="en-US" sz="1200" dirty="0"/>
          </a:p>
        </p:txBody>
      </p:sp>
      <p:sp>
        <p:nvSpPr>
          <p:cNvPr id="44" name="SK-13-text-43"/>
          <p:cNvSpPr/>
          <p:nvPr/>
        </p:nvSpPr>
        <p:spPr>
          <a:xfrm>
            <a:off x="5770811" y="4536728"/>
            <a:ext cx="2639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"이번 주말 팀원 전원 철야" 일방적 지시</a:t>
            </a:r>
            <a:endParaRPr lang="en-US" sz="1200" dirty="0"/>
          </a:p>
        </p:txBody>
      </p:sp>
      <p:sp>
        <p:nvSpPr>
          <p:cNvPr id="45" name="SK-13-text-44"/>
          <p:cNvSpPr/>
          <p:nvPr/>
        </p:nvSpPr>
        <p:spPr>
          <a:xfrm>
            <a:off x="8790831" y="4536728"/>
            <a:ext cx="26391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가능한 개발 속도(Velocity) 유지 및 기술 부채의 의도적 차단</a:t>
            </a:r>
            <a:endParaRPr lang="en-US" sz="1200" dirty="0"/>
          </a:p>
        </p:txBody>
      </p:sp>
      <p:sp>
        <p:nvSpPr>
          <p:cNvPr id="46" name="SK-13-text-45"/>
          <p:cNvSpPr/>
          <p:nvPr/>
        </p:nvSpPr>
        <p:spPr>
          <a:xfrm>
            <a:off x="1152525" y="6029325"/>
            <a:ext cx="102774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진단: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PO의 '기능 우선주의'와 PM의 '위기 모면형 리더십'이 결합되어 프로젝트의 핵심 가치(안전/품질)를 훼손하고 있습니다. PMBOK 8th 기반의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 중심 의사결정 체계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로의 즉각적인 전환이 필요합니다.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9146"/>
            <a:ext cx="3606850" cy="2431852"/>
          </a:xfrm>
          <a:prstGeom prst="rect">
            <a:avLst/>
          </a:prstGeom>
        </p:spPr>
      </p:pic>
      <p:pic>
        <p:nvPicPr>
          <p:cNvPr id="6" name="SK-1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56321"/>
            <a:ext cx="285750" cy="228600"/>
          </a:xfrm>
          <a:prstGeom prst="rect">
            <a:avLst/>
          </a:prstGeom>
        </p:spPr>
      </p:pic>
      <p:pic>
        <p:nvPicPr>
          <p:cNvPr id="7" name="SK-1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" y="2927896"/>
            <a:ext cx="1257300" cy="247650"/>
          </a:xfrm>
          <a:prstGeom prst="rect">
            <a:avLst/>
          </a:prstGeom>
        </p:spPr>
      </p:pic>
      <p:pic>
        <p:nvPicPr>
          <p:cNvPr id="8" name="SK-1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121497"/>
            <a:ext cx="3606850" cy="2431852"/>
          </a:xfrm>
          <a:prstGeom prst="rect">
            <a:avLst/>
          </a:prstGeom>
        </p:spPr>
      </p:pic>
      <p:pic>
        <p:nvPicPr>
          <p:cNvPr id="9" name="SK-1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378672"/>
            <a:ext cx="285750" cy="228600"/>
          </a:xfrm>
          <a:prstGeom prst="rect">
            <a:avLst/>
          </a:prstGeom>
        </p:spPr>
      </p:pic>
      <p:pic>
        <p:nvPicPr>
          <p:cNvPr id="10" name="SK-1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" y="5550247"/>
            <a:ext cx="1200150" cy="247650"/>
          </a:xfrm>
          <a:prstGeom prst="rect">
            <a:avLst/>
          </a:prstGeom>
        </p:spPr>
      </p:pic>
      <p:pic>
        <p:nvPicPr>
          <p:cNvPr id="11" name="SK-1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6950" y="1499146"/>
            <a:ext cx="7213550" cy="3204270"/>
          </a:xfrm>
          <a:prstGeom prst="rect">
            <a:avLst/>
          </a:prstGeom>
        </p:spPr>
      </p:pic>
      <p:pic>
        <p:nvPicPr>
          <p:cNvPr id="12" name="SK-1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73650" y="1708696"/>
            <a:ext cx="6680150" cy="409575"/>
          </a:xfrm>
          <a:prstGeom prst="rect">
            <a:avLst/>
          </a:prstGeom>
        </p:spPr>
      </p:pic>
      <p:pic>
        <p:nvPicPr>
          <p:cNvPr id="13" name="SK-1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73650" y="2327821"/>
            <a:ext cx="190500" cy="160288"/>
          </a:xfrm>
          <a:prstGeom prst="rect">
            <a:avLst/>
          </a:prstGeom>
        </p:spPr>
      </p:pic>
      <p:pic>
        <p:nvPicPr>
          <p:cNvPr id="14" name="SK-1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3650" y="3137446"/>
            <a:ext cx="190500" cy="169218"/>
          </a:xfrm>
          <a:prstGeom prst="rect">
            <a:avLst/>
          </a:prstGeom>
        </p:spPr>
      </p:pic>
      <p:pic>
        <p:nvPicPr>
          <p:cNvPr id="15" name="SK-1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3650" y="3947071"/>
            <a:ext cx="190500" cy="152400"/>
          </a:xfrm>
          <a:prstGeom prst="rect">
            <a:avLst/>
          </a:prstGeom>
        </p:spPr>
      </p:pic>
      <p:pic>
        <p:nvPicPr>
          <p:cNvPr id="16" name="SK-1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06950" y="4855815"/>
            <a:ext cx="7213550" cy="1697385"/>
          </a:xfrm>
          <a:prstGeom prst="rect">
            <a:avLst/>
          </a:prstGeom>
        </p:spPr>
      </p:pic>
      <p:pic>
        <p:nvPicPr>
          <p:cNvPr id="17" name="SK-1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97450" y="5053459"/>
            <a:ext cx="190500" cy="152400"/>
          </a:xfrm>
          <a:prstGeom prst="rect">
            <a:avLst/>
          </a:prstGeom>
        </p:spPr>
      </p:pic>
      <p:pic>
        <p:nvPicPr>
          <p:cNvPr id="18" name="SK-1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97450" y="5608290"/>
            <a:ext cx="6832550" cy="242888"/>
          </a:xfrm>
          <a:prstGeom prst="rect">
            <a:avLst/>
          </a:prstGeom>
        </p:spPr>
      </p:pic>
      <p:sp>
        <p:nvSpPr>
          <p:cNvPr id="19" name="SK-14-text-1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0" name="SK-14-text-19"/>
          <p:cNvSpPr/>
          <p:nvPr/>
        </p:nvSpPr>
        <p:spPr>
          <a:xfrm>
            <a:off x="762000" y="581025"/>
            <a:ext cx="110109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3 — 차량용 SW 안전 품질 아키텍처 붕괴</a:t>
            </a:r>
            <a:endParaRPr lang="en-US" sz="2400" dirty="0"/>
          </a:p>
        </p:txBody>
      </p:sp>
      <p:sp>
        <p:nvSpPr>
          <p:cNvPr id="21" name="SK-14-text-20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목표 미달, SDK 메모리 누수, CI 테스트 파손 등 ISO 26262 인증을 위협하는 기술적 결함을 진단합니다.</a:t>
            </a:r>
            <a:endParaRPr lang="en-US" sz="1200" dirty="0"/>
          </a:p>
        </p:txBody>
      </p:sp>
      <p:sp>
        <p:nvSpPr>
          <p:cNvPr id="22" name="SK-14-text-21"/>
          <p:cNvSpPr/>
          <p:nvPr/>
        </p:nvSpPr>
        <p:spPr>
          <a:xfrm>
            <a:off x="1200150" y="1727746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BD5E1"/>
                </a:solidFill>
              </a:rPr>
              <a:t>Cold Boot Time</a:t>
            </a:r>
            <a:endParaRPr lang="en-US" sz="1500" dirty="0"/>
          </a:p>
        </p:txBody>
      </p:sp>
      <p:sp>
        <p:nvSpPr>
          <p:cNvPr id="23" name="SK-14-text-22"/>
          <p:cNvSpPr/>
          <p:nvPr/>
        </p:nvSpPr>
        <p:spPr>
          <a:xfrm>
            <a:off x="800100" y="2127796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7171"/>
                </a:solidFill>
              </a:rPr>
              <a:t>3.5s</a:t>
            </a:r>
            <a:endParaRPr lang="en-US" sz="3600" dirty="0"/>
          </a:p>
        </p:txBody>
      </p:sp>
      <p:sp>
        <p:nvSpPr>
          <p:cNvPr id="24" name="SK-14-text-23"/>
          <p:cNvSpPr/>
          <p:nvPr/>
        </p:nvSpPr>
        <p:spPr>
          <a:xfrm>
            <a:off x="1733550" y="2451646"/>
            <a:ext cx="262318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목표 ≤ 2.0s</a:t>
            </a:r>
            <a:endParaRPr lang="en-US" sz="1350" dirty="0"/>
          </a:p>
        </p:txBody>
      </p:sp>
      <p:sp>
        <p:nvSpPr>
          <p:cNvPr id="25" name="SK-14-text-24"/>
          <p:cNvSpPr/>
          <p:nvPr/>
        </p:nvSpPr>
        <p:spPr>
          <a:xfrm>
            <a:off x="914400" y="2927896"/>
            <a:ext cx="18717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FAILURE</a:t>
            </a:r>
            <a:endParaRPr lang="en-US" sz="900" dirty="0"/>
          </a:p>
        </p:txBody>
      </p:sp>
      <p:sp>
        <p:nvSpPr>
          <p:cNvPr id="26" name="SK-14-text-25"/>
          <p:cNvSpPr/>
          <p:nvPr/>
        </p:nvSpPr>
        <p:spPr>
          <a:xfrm>
            <a:off x="800100" y="3318421"/>
            <a:ext cx="3756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전원 ON 후 후방 카메라 표시 지연</a:t>
            </a:r>
            <a:endParaRPr lang="en-US" sz="1050" dirty="0"/>
          </a:p>
        </p:txBody>
      </p:sp>
      <p:sp>
        <p:nvSpPr>
          <p:cNvPr id="27" name="SK-14-text-26"/>
          <p:cNvSpPr/>
          <p:nvPr/>
        </p:nvSpPr>
        <p:spPr>
          <a:xfrm>
            <a:off x="1200150" y="4350097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CBD5E1"/>
                </a:solidFill>
              </a:rPr>
              <a:t>CI Build &amp; Test Pass</a:t>
            </a:r>
            <a:endParaRPr lang="en-US" sz="1500" dirty="0"/>
          </a:p>
        </p:txBody>
      </p:sp>
      <p:sp>
        <p:nvSpPr>
          <p:cNvPr id="28" name="SK-14-text-27"/>
          <p:cNvSpPr/>
          <p:nvPr/>
        </p:nvSpPr>
        <p:spPr>
          <a:xfrm>
            <a:off x="800100" y="4750147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5400"/>
              </a:lnSpc>
              <a:buNone/>
            </a:pPr>
            <a:r>
              <a:rPr lang="en-US" sz="3600" b="1" dirty="0">
                <a:solidFill>
                  <a:srgbClr val="F87171"/>
                </a:solidFill>
              </a:rPr>
              <a:t>58%</a:t>
            </a:r>
            <a:endParaRPr lang="en-US" sz="3600" dirty="0"/>
          </a:p>
        </p:txBody>
      </p:sp>
      <p:sp>
        <p:nvSpPr>
          <p:cNvPr id="29" name="SK-14-text-28"/>
          <p:cNvSpPr/>
          <p:nvPr/>
        </p:nvSpPr>
        <p:spPr>
          <a:xfrm>
            <a:off x="1714500" y="5073997"/>
            <a:ext cx="24174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 목표 ≥ 95%</a:t>
            </a:r>
            <a:endParaRPr lang="en-US" sz="1350" dirty="0"/>
          </a:p>
        </p:txBody>
      </p:sp>
      <p:sp>
        <p:nvSpPr>
          <p:cNvPr id="30" name="SK-14-text-29"/>
          <p:cNvSpPr/>
          <p:nvPr/>
        </p:nvSpPr>
        <p:spPr>
          <a:xfrm>
            <a:off x="914400" y="5550247"/>
            <a:ext cx="15196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BROKEN</a:t>
            </a:r>
            <a:endParaRPr lang="en-US" sz="900" dirty="0"/>
          </a:p>
        </p:txBody>
      </p:sp>
      <p:sp>
        <p:nvSpPr>
          <p:cNvPr id="31" name="SK-14-text-30"/>
          <p:cNvSpPr/>
          <p:nvPr/>
        </p:nvSpPr>
        <p:spPr>
          <a:xfrm>
            <a:off x="800100" y="5940772"/>
            <a:ext cx="3596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테스트 300개 전체 파손 방치</a:t>
            </a:r>
            <a:endParaRPr lang="en-US" sz="1050" dirty="0"/>
          </a:p>
        </p:txBody>
      </p:sp>
      <p:sp>
        <p:nvSpPr>
          <p:cNvPr id="32" name="SK-14-text-31"/>
          <p:cNvSpPr/>
          <p:nvPr/>
        </p:nvSpPr>
        <p:spPr>
          <a:xfrm>
            <a:off x="4673650" y="1708696"/>
            <a:ext cx="678492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8BDF8"/>
                </a:solidFill>
              </a:rPr>
              <a:t>주요 기술적 결함 및 근본 원인</a:t>
            </a:r>
            <a:endParaRPr lang="en-US" sz="1650" dirty="0"/>
          </a:p>
        </p:txBody>
      </p:sp>
      <p:sp>
        <p:nvSpPr>
          <p:cNvPr id="33" name="SK-14-text-32"/>
          <p:cNvSpPr/>
          <p:nvPr/>
        </p:nvSpPr>
        <p:spPr>
          <a:xfrm>
            <a:off x="5016550" y="2299246"/>
            <a:ext cx="6422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메모리 누수 및 임시 워크어라운드 난립</a:t>
            </a:r>
            <a:endParaRPr lang="en-US" sz="1350" dirty="0"/>
          </a:p>
        </p:txBody>
      </p:sp>
      <p:sp>
        <p:nvSpPr>
          <p:cNvPr id="34" name="SK-14-text-33"/>
          <p:cNvSpPr/>
          <p:nvPr/>
        </p:nvSpPr>
        <p:spPr>
          <a:xfrm>
            <a:off x="5016550" y="2584996"/>
            <a:ext cx="633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결함을 수정하지 않고 임시 코드로 덮으면서 부팅 성능 저하 및 시스템 불안정성 초래</a:t>
            </a:r>
            <a:endParaRPr lang="en-US" sz="1125" dirty="0"/>
          </a:p>
        </p:txBody>
      </p:sp>
      <p:sp>
        <p:nvSpPr>
          <p:cNvPr id="35" name="SK-14-text-34"/>
          <p:cNvSpPr/>
          <p:nvPr/>
        </p:nvSpPr>
        <p:spPr>
          <a:xfrm>
            <a:off x="5016550" y="3108871"/>
            <a:ext cx="64229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기반의 구두 API 인터페이스 공유</a:t>
            </a:r>
            <a:endParaRPr lang="en-US" sz="1350" dirty="0"/>
          </a:p>
        </p:txBody>
      </p:sp>
      <p:sp>
        <p:nvSpPr>
          <p:cNvPr id="36" name="SK-14-text-35"/>
          <p:cNvSpPr/>
          <p:nvPr/>
        </p:nvSpPr>
        <p:spPr>
          <a:xfrm>
            <a:off x="5016550" y="3394621"/>
            <a:ext cx="633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형상관리(JIRA) 누락 및 구두 전달로 인해 FE/Platform 간 인터페이스 불일치 및 CI 스크립트 파손 발생</a:t>
            </a:r>
            <a:endParaRPr lang="en-US" sz="1125" dirty="0"/>
          </a:p>
        </p:txBody>
      </p:sp>
      <p:sp>
        <p:nvSpPr>
          <p:cNvPr id="37" name="SK-14-text-36"/>
          <p:cNvSpPr/>
          <p:nvPr/>
        </p:nvSpPr>
        <p:spPr>
          <a:xfrm>
            <a:off x="5016550" y="3918496"/>
            <a:ext cx="63722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안전 아키텍처(ISO 26262) 미준수</a:t>
            </a:r>
            <a:endParaRPr lang="en-US" sz="1350" dirty="0"/>
          </a:p>
        </p:txBody>
      </p:sp>
      <p:sp>
        <p:nvSpPr>
          <p:cNvPr id="38" name="SK-14-text-37"/>
          <p:cNvSpPr/>
          <p:nvPr/>
        </p:nvSpPr>
        <p:spPr>
          <a:xfrm>
            <a:off x="5016550" y="4204246"/>
            <a:ext cx="7175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우선주의로 인해 ASIL-B 인증을 위한 프로세스 및 CI 검증 체계가 완전히 붕괴된 상태로 방치됨</a:t>
            </a:r>
            <a:endParaRPr lang="en-US" sz="1125" dirty="0"/>
          </a:p>
        </p:txBody>
      </p:sp>
      <p:sp>
        <p:nvSpPr>
          <p:cNvPr id="39" name="SK-14-text-38"/>
          <p:cNvSpPr/>
          <p:nvPr/>
        </p:nvSpPr>
        <p:spPr>
          <a:xfrm>
            <a:off x="4883200" y="5008215"/>
            <a:ext cx="338423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비즈니스 파급력 및 법적 리스크</a:t>
            </a:r>
            <a:endParaRPr lang="en-US" sz="1275" dirty="0"/>
          </a:p>
        </p:txBody>
      </p:sp>
      <p:sp>
        <p:nvSpPr>
          <p:cNvPr id="40" name="SK-14-text-39"/>
          <p:cNvSpPr/>
          <p:nvPr/>
        </p:nvSpPr>
        <p:spPr>
          <a:xfrm>
            <a:off x="4597450" y="5308253"/>
            <a:ext cx="75945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G4 ASIL-B 인증 획득이 불가능해짐에 따라 </a:t>
            </a:r>
            <a:pPr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12/15 SOP(양산) 적용 취소</a:t>
            </a:r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차량 상용화 전면 중단 위기.</a:t>
            </a:r>
            <a:endParaRPr lang="en-US" sz="1125" dirty="0"/>
          </a:p>
        </p:txBody>
      </p:sp>
      <p:sp>
        <p:nvSpPr>
          <p:cNvPr id="41" name="SK-14-text-40"/>
          <p:cNvSpPr/>
          <p:nvPr/>
        </p:nvSpPr>
        <p:spPr>
          <a:xfrm>
            <a:off x="4597450" y="5608290"/>
            <a:ext cx="75945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i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차량 SW 엄격성: Cold Boot 2.0초 미달은 단순 성능 문제가 아닌 운전자 후방 안전 규격 위반으로 해석됨.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32471"/>
            <a:ext cx="11049000" cy="3981450"/>
          </a:xfrm>
          <a:prstGeom prst="rect">
            <a:avLst/>
          </a:prstGeom>
        </p:spPr>
      </p:pic>
      <p:pic>
        <p:nvPicPr>
          <p:cNvPr id="6" name="SK-1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27721"/>
            <a:ext cx="10801350" cy="3771900"/>
          </a:xfrm>
          <a:prstGeom prst="rect">
            <a:avLst/>
          </a:prstGeom>
        </p:spPr>
      </p:pic>
      <p:pic>
        <p:nvPicPr>
          <p:cNvPr id="7" name="SK-1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566321"/>
            <a:ext cx="11049000" cy="933450"/>
          </a:xfrm>
          <a:prstGeom prst="rect">
            <a:avLst/>
          </a:prstGeom>
        </p:spPr>
      </p:pic>
      <p:pic>
        <p:nvPicPr>
          <p:cNvPr id="8" name="SK-1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5946428"/>
            <a:ext cx="216396" cy="173087"/>
          </a:xfrm>
          <a:prstGeom prst="rect">
            <a:avLst/>
          </a:prstGeom>
        </p:spPr>
      </p:pic>
      <p:sp>
        <p:nvSpPr>
          <p:cNvPr id="9" name="SK-15-text-8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10" name="SK-15-text-9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Cold Boot Performance Control Chart</a:t>
            </a:r>
            <a:endParaRPr lang="en-US" sz="2400" dirty="0"/>
          </a:p>
        </p:txBody>
      </p:sp>
      <p:sp>
        <p:nvSpPr>
          <p:cNvPr id="11" name="SK-15-text-10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일자별 Cold Boot 시간 추이를 관리 한계선과 비교하여 임시 워크어라운드 적용 후의 성능 저하 지점을 분석합니다.</a:t>
            </a:r>
            <a:endParaRPr lang="en-US" sz="1200" dirty="0"/>
          </a:p>
        </p:txBody>
      </p:sp>
      <p:sp>
        <p:nvSpPr>
          <p:cNvPr id="12" name="SK-15-text-11"/>
          <p:cNvSpPr/>
          <p:nvPr/>
        </p:nvSpPr>
        <p:spPr>
          <a:xfrm>
            <a:off x="1130796" y="5690146"/>
            <a:ext cx="10384929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분석 결론: 10월 1일 SDK 패치 이후 임계치(Critical Limit) 돌파</a:t>
            </a:r>
            <a:endParaRPr lang="en-US" sz="1350" dirty="0"/>
          </a:p>
        </p:txBody>
      </p:sp>
      <p:sp>
        <p:nvSpPr>
          <p:cNvPr id="13" name="SK-15-text-12"/>
          <p:cNvSpPr/>
          <p:nvPr/>
        </p:nvSpPr>
        <p:spPr>
          <a:xfrm>
            <a:off x="1130796" y="5975896"/>
            <a:ext cx="1029920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Platform팀의 SDK 메모리 누수 임시 워크어라운드 적용 직후 Cold Boot 성능이 1.9s에서 3.5s로 </a:t>
            </a:r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84% 폭발적으로 저하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되었습니다. 이는 후방 카메라 표시 안전 규격(2.0s) 위반으로 이어지는 심각한 기술 부채입니다.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4" name="SK-1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32496"/>
            <a:ext cx="4972050" cy="4953000"/>
          </a:xfrm>
          <a:prstGeom prst="rect">
            <a:avLst/>
          </a:prstGeom>
        </p:spPr>
      </p:pic>
      <p:pic>
        <p:nvPicPr>
          <p:cNvPr id="5" name="SK-1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46796"/>
            <a:ext cx="4724400" cy="4705350"/>
          </a:xfrm>
          <a:prstGeom prst="rect">
            <a:avLst/>
          </a:prstGeom>
        </p:spPr>
      </p:pic>
      <p:pic>
        <p:nvPicPr>
          <p:cNvPr id="6" name="SK-1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8350" y="1632496"/>
            <a:ext cx="5772150" cy="4953000"/>
          </a:xfrm>
          <a:prstGeom prst="rect">
            <a:avLst/>
          </a:prstGeom>
        </p:spPr>
      </p:pic>
      <p:pic>
        <p:nvPicPr>
          <p:cNvPr id="7" name="SK-1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8350" y="1632496"/>
            <a:ext cx="1269802" cy="733425"/>
          </a:xfrm>
          <a:prstGeom prst="rect">
            <a:avLst/>
          </a:prstGeom>
        </p:spPr>
      </p:pic>
      <p:pic>
        <p:nvPicPr>
          <p:cNvPr id="8" name="SK-1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18152" y="1632496"/>
            <a:ext cx="692646" cy="733425"/>
          </a:xfrm>
          <a:prstGeom prst="rect">
            <a:avLst/>
          </a:prstGeom>
        </p:spPr>
      </p:pic>
      <p:pic>
        <p:nvPicPr>
          <p:cNvPr id="9" name="SK-1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798" y="1632496"/>
            <a:ext cx="692646" cy="733425"/>
          </a:xfrm>
          <a:prstGeom prst="rect">
            <a:avLst/>
          </a:prstGeom>
        </p:spPr>
      </p:pic>
      <p:pic>
        <p:nvPicPr>
          <p:cNvPr id="10" name="SK-1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3444" y="1632496"/>
            <a:ext cx="3117056" cy="733425"/>
          </a:xfrm>
          <a:prstGeom prst="rect">
            <a:avLst/>
          </a:prstGeom>
        </p:spPr>
      </p:pic>
      <p:pic>
        <p:nvPicPr>
          <p:cNvPr id="11" name="SK-1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48350" y="2365921"/>
            <a:ext cx="1269802" cy="1649611"/>
          </a:xfrm>
          <a:prstGeom prst="rect">
            <a:avLst/>
          </a:prstGeom>
        </p:spPr>
      </p:pic>
      <p:pic>
        <p:nvPicPr>
          <p:cNvPr id="12" name="SK-1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18152" y="2365921"/>
            <a:ext cx="692646" cy="1649611"/>
          </a:xfrm>
          <a:prstGeom prst="rect">
            <a:avLst/>
          </a:prstGeom>
        </p:spPr>
      </p:pic>
      <p:pic>
        <p:nvPicPr>
          <p:cNvPr id="13" name="SK-1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10798" y="2365921"/>
            <a:ext cx="692646" cy="1649611"/>
          </a:xfrm>
          <a:prstGeom prst="rect">
            <a:avLst/>
          </a:prstGeom>
        </p:spPr>
      </p:pic>
      <p:pic>
        <p:nvPicPr>
          <p:cNvPr id="14" name="SK-1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3444" y="2365921"/>
            <a:ext cx="3117056" cy="1649611"/>
          </a:xfrm>
          <a:prstGeom prst="rect">
            <a:avLst/>
          </a:prstGeom>
        </p:spPr>
      </p:pic>
      <p:pic>
        <p:nvPicPr>
          <p:cNvPr id="15" name="SK-1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48350" y="4015532"/>
            <a:ext cx="1269802" cy="1284833"/>
          </a:xfrm>
          <a:prstGeom prst="rect">
            <a:avLst/>
          </a:prstGeom>
        </p:spPr>
      </p:pic>
      <p:pic>
        <p:nvPicPr>
          <p:cNvPr id="16" name="SK-1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18152" y="4015532"/>
            <a:ext cx="692646" cy="1284833"/>
          </a:xfrm>
          <a:prstGeom prst="rect">
            <a:avLst/>
          </a:prstGeom>
        </p:spPr>
      </p:pic>
      <p:pic>
        <p:nvPicPr>
          <p:cNvPr id="17" name="SK-1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10798" y="4015532"/>
            <a:ext cx="692646" cy="1284833"/>
          </a:xfrm>
          <a:prstGeom prst="rect">
            <a:avLst/>
          </a:prstGeom>
        </p:spPr>
      </p:pic>
      <p:pic>
        <p:nvPicPr>
          <p:cNvPr id="18" name="SK-1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03444" y="4015532"/>
            <a:ext cx="3117056" cy="1284833"/>
          </a:xfrm>
          <a:prstGeom prst="rect">
            <a:avLst/>
          </a:prstGeom>
        </p:spPr>
      </p:pic>
      <p:sp>
        <p:nvSpPr>
          <p:cNvPr id="19" name="SK-16-text-18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TOOL: CI/CD HEALTH AUDIT</a:t>
            </a:r>
            <a:endParaRPr lang="en-US" sz="1050" dirty="0"/>
          </a:p>
        </p:txBody>
      </p:sp>
      <p:sp>
        <p:nvSpPr>
          <p:cNvPr id="20" name="SK-16-text-19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CI Test Pass Rate 및 Flakiness Breakdown</a:t>
            </a:r>
            <a:endParaRPr lang="en-US" sz="2400" dirty="0"/>
          </a:p>
        </p:txBody>
      </p:sp>
      <p:sp>
        <p:nvSpPr>
          <p:cNvPr id="21" name="SK-16-text-20"/>
          <p:cNvSpPr/>
          <p:nvPr/>
        </p:nvSpPr>
        <p:spPr>
          <a:xfrm>
            <a:off x="762000" y="1099096"/>
            <a:ext cx="1123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테스트 파손의 주요 원인을 API 불일치, 메모리 누수, 인프라 부족 등으로 세분화하여 분석합니다.</a:t>
            </a:r>
            <a:endParaRPr lang="en-US" sz="1200" dirty="0"/>
          </a:p>
        </p:txBody>
      </p:sp>
      <p:sp>
        <p:nvSpPr>
          <p:cNvPr id="22" name="SK-16-text-21"/>
          <p:cNvSpPr/>
          <p:nvPr/>
        </p:nvSpPr>
        <p:spPr>
          <a:xfrm>
            <a:off x="6000750" y="1632496"/>
            <a:ext cx="1041202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파손 원인</a:t>
            </a:r>
            <a:endParaRPr lang="en-US" sz="1125" dirty="0"/>
          </a:p>
        </p:txBody>
      </p:sp>
      <p:sp>
        <p:nvSpPr>
          <p:cNvPr id="23" name="SK-16-text-22"/>
          <p:cNvSpPr/>
          <p:nvPr/>
        </p:nvSpPr>
        <p:spPr>
          <a:xfrm>
            <a:off x="7118152" y="1632496"/>
            <a:ext cx="38784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테스트 수</a:t>
            </a:r>
            <a:endParaRPr lang="en-US" sz="1125" dirty="0"/>
          </a:p>
        </p:txBody>
      </p:sp>
      <p:sp>
        <p:nvSpPr>
          <p:cNvPr id="24" name="SK-16-text-23"/>
          <p:cNvSpPr/>
          <p:nvPr/>
        </p:nvSpPr>
        <p:spPr>
          <a:xfrm>
            <a:off x="7772698" y="1632496"/>
            <a:ext cx="46404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비율</a:t>
            </a:r>
            <a:endParaRPr lang="en-US" sz="1125" dirty="0"/>
          </a:p>
        </p:txBody>
      </p:sp>
      <p:sp>
        <p:nvSpPr>
          <p:cNvPr id="25" name="SK-16-text-24"/>
          <p:cNvSpPr/>
          <p:nvPr/>
        </p:nvSpPr>
        <p:spPr>
          <a:xfrm>
            <a:off x="8655844" y="1632496"/>
            <a:ext cx="288845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주요 원인 상세</a:t>
            </a:r>
            <a:endParaRPr lang="en-US" sz="1125" dirty="0"/>
          </a:p>
        </p:txBody>
      </p:sp>
      <p:sp>
        <p:nvSpPr>
          <p:cNvPr id="26" name="SK-16-text-25"/>
          <p:cNvSpPr/>
          <p:nvPr/>
        </p:nvSpPr>
        <p:spPr>
          <a:xfrm>
            <a:off x="6153150" y="2365921"/>
            <a:ext cx="965002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Interface Mismatch</a:t>
            </a:r>
            <a:endParaRPr lang="en-US" sz="1050" dirty="0"/>
          </a:p>
        </p:txBody>
      </p:sp>
      <p:sp>
        <p:nvSpPr>
          <p:cNvPr id="27" name="SK-16-text-26"/>
          <p:cNvSpPr/>
          <p:nvPr/>
        </p:nvSpPr>
        <p:spPr>
          <a:xfrm>
            <a:off x="7080052" y="2365921"/>
            <a:ext cx="464046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185개</a:t>
            </a:r>
            <a:endParaRPr lang="en-US" sz="1050" dirty="0"/>
          </a:p>
        </p:txBody>
      </p:sp>
      <p:sp>
        <p:nvSpPr>
          <p:cNvPr id="28" name="SK-16-text-27"/>
          <p:cNvSpPr/>
          <p:nvPr/>
        </p:nvSpPr>
        <p:spPr>
          <a:xfrm>
            <a:off x="7772698" y="2365921"/>
            <a:ext cx="464046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61.7%</a:t>
            </a:r>
            <a:endParaRPr lang="en-US" sz="1050" dirty="0"/>
          </a:p>
        </p:txBody>
      </p:sp>
      <p:sp>
        <p:nvSpPr>
          <p:cNvPr id="29" name="SK-16-text-28"/>
          <p:cNvSpPr/>
          <p:nvPr/>
        </p:nvSpPr>
        <p:spPr>
          <a:xfrm>
            <a:off x="8655844" y="2365921"/>
            <a:ext cx="2812256" cy="164961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김다온이 임시 워크어라운드 후 API 변경을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메신저로만 전달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FE/QA CI 스크립트 불일치 발생</a:t>
            </a:r>
            <a:endParaRPr lang="en-US" sz="1050" dirty="0"/>
          </a:p>
        </p:txBody>
      </p:sp>
      <p:sp>
        <p:nvSpPr>
          <p:cNvPr id="30" name="SK-16-text-29"/>
          <p:cNvSpPr/>
          <p:nvPr/>
        </p:nvSpPr>
        <p:spPr>
          <a:xfrm>
            <a:off x="6153150" y="4015532"/>
            <a:ext cx="965002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Memory Leak Timeout</a:t>
            </a:r>
            <a:endParaRPr lang="en-US" sz="1050" dirty="0"/>
          </a:p>
        </p:txBody>
      </p:sp>
      <p:sp>
        <p:nvSpPr>
          <p:cNvPr id="31" name="SK-16-text-30"/>
          <p:cNvSpPr/>
          <p:nvPr/>
        </p:nvSpPr>
        <p:spPr>
          <a:xfrm>
            <a:off x="7080052" y="4015532"/>
            <a:ext cx="464046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75개</a:t>
            </a:r>
            <a:endParaRPr lang="en-US" sz="1050" dirty="0"/>
          </a:p>
        </p:txBody>
      </p:sp>
      <p:sp>
        <p:nvSpPr>
          <p:cNvPr id="32" name="SK-16-text-31"/>
          <p:cNvSpPr/>
          <p:nvPr/>
        </p:nvSpPr>
        <p:spPr>
          <a:xfrm>
            <a:off x="7772698" y="4015532"/>
            <a:ext cx="464046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25.0%</a:t>
            </a:r>
            <a:endParaRPr lang="en-US" sz="1050" dirty="0"/>
          </a:p>
        </p:txBody>
      </p:sp>
      <p:sp>
        <p:nvSpPr>
          <p:cNvPr id="33" name="SK-16-text-32"/>
          <p:cNvSpPr/>
          <p:nvPr/>
        </p:nvSpPr>
        <p:spPr>
          <a:xfrm>
            <a:off x="8655844" y="4015532"/>
            <a:ext cx="2812256" cy="12848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Beta SDK 메모리 누수로 인한 프로세스 응답 지연 및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테스트 타임아웃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오류</a:t>
            </a:r>
            <a:endParaRPr lang="en-US" sz="1050" dirty="0"/>
          </a:p>
        </p:txBody>
      </p:sp>
      <p:sp>
        <p:nvSpPr>
          <p:cNvPr id="34" name="SK-16-text-33"/>
          <p:cNvSpPr/>
          <p:nvPr/>
        </p:nvSpPr>
        <p:spPr>
          <a:xfrm>
            <a:off x="6153150" y="5300365"/>
            <a:ext cx="965002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 Infra Flakiness</a:t>
            </a:r>
            <a:endParaRPr lang="en-US" sz="1050" dirty="0"/>
          </a:p>
        </p:txBody>
      </p:sp>
      <p:sp>
        <p:nvSpPr>
          <p:cNvPr id="35" name="SK-16-text-34"/>
          <p:cNvSpPr/>
          <p:nvPr/>
        </p:nvSpPr>
        <p:spPr>
          <a:xfrm>
            <a:off x="7080052" y="5300365"/>
            <a:ext cx="464046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40개</a:t>
            </a:r>
            <a:endParaRPr lang="en-US" sz="1050" dirty="0"/>
          </a:p>
        </p:txBody>
      </p:sp>
      <p:sp>
        <p:nvSpPr>
          <p:cNvPr id="36" name="SK-16-text-35"/>
          <p:cNvSpPr/>
          <p:nvPr/>
        </p:nvSpPr>
        <p:spPr>
          <a:xfrm>
            <a:off x="7772698" y="5300365"/>
            <a:ext cx="464046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13.3%</a:t>
            </a:r>
            <a:endParaRPr lang="en-US" sz="1050" dirty="0"/>
          </a:p>
        </p:txBody>
      </p:sp>
      <p:sp>
        <p:nvSpPr>
          <p:cNvPr id="37" name="SK-16-text-36"/>
          <p:cNvSpPr/>
          <p:nvPr/>
        </p:nvSpPr>
        <p:spPr>
          <a:xfrm>
            <a:off x="8655844" y="5300365"/>
            <a:ext cx="2812256" cy="128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서버 가상화 인프라 부족 및 네트워크 불안정으로 인한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간헐적 빌드 실패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발생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7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7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7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17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499146"/>
            <a:ext cx="5410200" cy="1681609"/>
          </a:xfrm>
          <a:prstGeom prst="rect">
            <a:avLst/>
          </a:prstGeom>
        </p:spPr>
      </p:pic>
      <p:pic>
        <p:nvPicPr>
          <p:cNvPr id="6" name="SK-17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594396"/>
            <a:ext cx="5181600" cy="457200"/>
          </a:xfrm>
          <a:prstGeom prst="rect">
            <a:avLst/>
          </a:prstGeom>
        </p:spPr>
      </p:pic>
      <p:pic>
        <p:nvPicPr>
          <p:cNvPr id="7" name="SK-17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594396"/>
            <a:ext cx="381000" cy="381000"/>
          </a:xfrm>
          <a:prstGeom prst="rect">
            <a:avLst/>
          </a:prstGeom>
        </p:spPr>
      </p:pic>
      <p:pic>
        <p:nvPicPr>
          <p:cNvPr id="8" name="SK-17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425" y="1670596"/>
            <a:ext cx="285750" cy="228600"/>
          </a:xfrm>
          <a:prstGeom prst="rect">
            <a:avLst/>
          </a:prstGeom>
        </p:spPr>
      </p:pic>
      <p:pic>
        <p:nvPicPr>
          <p:cNvPr id="9" name="SK-17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175421"/>
            <a:ext cx="142875" cy="114300"/>
          </a:xfrm>
          <a:prstGeom prst="rect">
            <a:avLst/>
          </a:prstGeom>
        </p:spPr>
      </p:pic>
      <p:pic>
        <p:nvPicPr>
          <p:cNvPr id="10" name="SK-17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45841"/>
            <a:ext cx="142875" cy="114300"/>
          </a:xfrm>
          <a:prstGeom prst="rect">
            <a:avLst/>
          </a:prstGeom>
        </p:spPr>
      </p:pic>
      <p:pic>
        <p:nvPicPr>
          <p:cNvPr id="11" name="SK-17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716262"/>
            <a:ext cx="142875" cy="114300"/>
          </a:xfrm>
          <a:prstGeom prst="rect">
            <a:avLst/>
          </a:prstGeom>
        </p:spPr>
      </p:pic>
      <p:pic>
        <p:nvPicPr>
          <p:cNvPr id="12" name="SK-17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499146"/>
            <a:ext cx="5410200" cy="1681609"/>
          </a:xfrm>
          <a:prstGeom prst="rect">
            <a:avLst/>
          </a:prstGeom>
        </p:spPr>
      </p:pic>
      <p:pic>
        <p:nvPicPr>
          <p:cNvPr id="13" name="SK-17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1594396"/>
            <a:ext cx="5181600" cy="457200"/>
          </a:xfrm>
          <a:prstGeom prst="rect">
            <a:avLst/>
          </a:prstGeom>
        </p:spPr>
      </p:pic>
      <p:pic>
        <p:nvPicPr>
          <p:cNvPr id="14" name="SK-17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1594396"/>
            <a:ext cx="381000" cy="381000"/>
          </a:xfrm>
          <a:prstGeom prst="rect">
            <a:avLst/>
          </a:prstGeom>
        </p:spPr>
      </p:pic>
      <p:pic>
        <p:nvPicPr>
          <p:cNvPr id="15" name="SK-17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72225" y="1670596"/>
            <a:ext cx="285750" cy="228600"/>
          </a:xfrm>
          <a:prstGeom prst="rect">
            <a:avLst/>
          </a:prstGeom>
        </p:spPr>
      </p:pic>
      <p:pic>
        <p:nvPicPr>
          <p:cNvPr id="16" name="SK-17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24600" y="2175421"/>
            <a:ext cx="142875" cy="114300"/>
          </a:xfrm>
          <a:prstGeom prst="rect">
            <a:avLst/>
          </a:prstGeom>
        </p:spPr>
      </p:pic>
      <p:pic>
        <p:nvPicPr>
          <p:cNvPr id="17" name="SK-17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24600" y="2445841"/>
            <a:ext cx="142875" cy="114300"/>
          </a:xfrm>
          <a:prstGeom prst="rect">
            <a:avLst/>
          </a:prstGeom>
        </p:spPr>
      </p:pic>
      <p:pic>
        <p:nvPicPr>
          <p:cNvPr id="18" name="SK-17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24600" y="2716262"/>
            <a:ext cx="142875" cy="114300"/>
          </a:xfrm>
          <a:prstGeom prst="rect">
            <a:avLst/>
          </a:prstGeom>
        </p:spPr>
      </p:pic>
      <p:pic>
        <p:nvPicPr>
          <p:cNvPr id="19" name="SK-17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3361730"/>
            <a:ext cx="5410200" cy="1872258"/>
          </a:xfrm>
          <a:prstGeom prst="rect">
            <a:avLst/>
          </a:prstGeom>
        </p:spPr>
      </p:pic>
      <p:pic>
        <p:nvPicPr>
          <p:cNvPr id="20" name="SK-17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5800" y="3456980"/>
            <a:ext cx="5181600" cy="1681758"/>
          </a:xfrm>
          <a:prstGeom prst="rect">
            <a:avLst/>
          </a:prstGeom>
        </p:spPr>
      </p:pic>
      <p:pic>
        <p:nvPicPr>
          <p:cNvPr id="21" name="SK-17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" y="3552230"/>
            <a:ext cx="4953000" cy="457200"/>
          </a:xfrm>
          <a:prstGeom prst="rect">
            <a:avLst/>
          </a:prstGeom>
        </p:spPr>
      </p:pic>
      <p:pic>
        <p:nvPicPr>
          <p:cNvPr id="22" name="SK-17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0100" y="3552230"/>
            <a:ext cx="381000" cy="381000"/>
          </a:xfrm>
          <a:prstGeom prst="rect">
            <a:avLst/>
          </a:prstGeom>
        </p:spPr>
      </p:pic>
      <p:pic>
        <p:nvPicPr>
          <p:cNvPr id="23" name="SK-17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7725" y="3628430"/>
            <a:ext cx="285750" cy="228600"/>
          </a:xfrm>
          <a:prstGeom prst="rect">
            <a:avLst/>
          </a:prstGeom>
        </p:spPr>
      </p:pic>
      <p:pic>
        <p:nvPicPr>
          <p:cNvPr id="24" name="SK-17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0100" y="4133255"/>
            <a:ext cx="142875" cy="114300"/>
          </a:xfrm>
          <a:prstGeom prst="rect">
            <a:avLst/>
          </a:prstGeom>
        </p:spPr>
      </p:pic>
      <p:pic>
        <p:nvPicPr>
          <p:cNvPr id="25" name="SK-17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0100" y="4403675"/>
            <a:ext cx="142875" cy="114300"/>
          </a:xfrm>
          <a:prstGeom prst="rect">
            <a:avLst/>
          </a:prstGeom>
        </p:spPr>
      </p:pic>
      <p:pic>
        <p:nvPicPr>
          <p:cNvPr id="26" name="SK-17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00100" y="4674096"/>
            <a:ext cx="142875" cy="114300"/>
          </a:xfrm>
          <a:prstGeom prst="rect">
            <a:avLst/>
          </a:prstGeom>
        </p:spPr>
      </p:pic>
      <p:pic>
        <p:nvPicPr>
          <p:cNvPr id="27" name="SK-17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0300" y="3361730"/>
            <a:ext cx="5410200" cy="1872258"/>
          </a:xfrm>
          <a:prstGeom prst="rect">
            <a:avLst/>
          </a:prstGeom>
        </p:spPr>
      </p:pic>
      <p:pic>
        <p:nvPicPr>
          <p:cNvPr id="28" name="SK-17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4600" y="3456980"/>
            <a:ext cx="5181600" cy="1681758"/>
          </a:xfrm>
          <a:prstGeom prst="rect">
            <a:avLst/>
          </a:prstGeom>
        </p:spPr>
      </p:pic>
      <p:pic>
        <p:nvPicPr>
          <p:cNvPr id="29" name="SK-17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38900" y="3552230"/>
            <a:ext cx="4953000" cy="457200"/>
          </a:xfrm>
          <a:prstGeom prst="rect">
            <a:avLst/>
          </a:prstGeom>
        </p:spPr>
      </p:pic>
      <p:pic>
        <p:nvPicPr>
          <p:cNvPr id="30" name="SK-17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8900" y="3552230"/>
            <a:ext cx="381000" cy="381000"/>
          </a:xfrm>
          <a:prstGeom prst="rect">
            <a:avLst/>
          </a:prstGeom>
        </p:spPr>
      </p:pic>
      <p:pic>
        <p:nvPicPr>
          <p:cNvPr id="31" name="SK-17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486525" y="3628430"/>
            <a:ext cx="285750" cy="228600"/>
          </a:xfrm>
          <a:prstGeom prst="rect">
            <a:avLst/>
          </a:prstGeom>
        </p:spPr>
      </p:pic>
      <p:pic>
        <p:nvPicPr>
          <p:cNvPr id="32" name="SK-17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4133255"/>
            <a:ext cx="142875" cy="114300"/>
          </a:xfrm>
          <a:prstGeom prst="rect">
            <a:avLst/>
          </a:prstGeom>
        </p:spPr>
      </p:pic>
      <p:pic>
        <p:nvPicPr>
          <p:cNvPr id="33" name="SK-17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38900" y="4403675"/>
            <a:ext cx="142875" cy="114300"/>
          </a:xfrm>
          <a:prstGeom prst="rect">
            <a:avLst/>
          </a:prstGeom>
        </p:spPr>
      </p:pic>
      <p:pic>
        <p:nvPicPr>
          <p:cNvPr id="34" name="SK-17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438900" y="4674096"/>
            <a:ext cx="142875" cy="114300"/>
          </a:xfrm>
          <a:prstGeom prst="rect">
            <a:avLst/>
          </a:prstGeom>
        </p:spPr>
      </p:pic>
      <p:pic>
        <p:nvPicPr>
          <p:cNvPr id="35" name="SK-17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5462588"/>
            <a:ext cx="11049000" cy="1090613"/>
          </a:xfrm>
          <a:prstGeom prst="rect">
            <a:avLst/>
          </a:prstGeom>
        </p:spPr>
      </p:pic>
      <p:pic>
        <p:nvPicPr>
          <p:cNvPr id="36" name="SK-17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2914650" y="5878116"/>
            <a:ext cx="381000" cy="304800"/>
          </a:xfrm>
          <a:prstGeom prst="rect">
            <a:avLst/>
          </a:prstGeom>
        </p:spPr>
      </p:pic>
      <p:sp>
        <p:nvSpPr>
          <p:cNvPr id="37" name="SK-17-text-3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8" name="SK-17-text-37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Ishikawa(Fishbone) Diagram</a:t>
            </a:r>
            <a:endParaRPr lang="en-US" sz="2400" dirty="0"/>
          </a:p>
        </p:txBody>
      </p:sp>
      <p:sp>
        <p:nvSpPr>
          <p:cNvPr id="39" name="SK-17-text-38"/>
          <p:cNvSpPr/>
          <p:nvPr/>
        </p:nvSpPr>
        <p:spPr>
          <a:xfrm>
            <a:off x="762000" y="10228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지연 및 ASIL-B 인증 위기를 유발한 4대 관점의 근본 원인 분석</a:t>
            </a:r>
            <a:endParaRPr lang="en-US" sz="1200" dirty="0"/>
          </a:p>
        </p:txBody>
      </p:sp>
      <p:sp>
        <p:nvSpPr>
          <p:cNvPr id="40" name="SK-17-text-39"/>
          <p:cNvSpPr/>
          <p:nvPr/>
        </p:nvSpPr>
        <p:spPr>
          <a:xfrm>
            <a:off x="1181100" y="1642021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Hardware / SDK</a:t>
            </a:r>
            <a:endParaRPr lang="en-US" sz="1500" dirty="0"/>
          </a:p>
        </p:txBody>
      </p:sp>
      <p:sp>
        <p:nvSpPr>
          <p:cNvPr id="41" name="SK-17-text-40"/>
          <p:cNvSpPr/>
          <p:nvPr/>
        </p:nvSpPr>
        <p:spPr>
          <a:xfrm>
            <a:off x="923925" y="2146846"/>
            <a:ext cx="5852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v3.0 정식 릴리즈 3주 지연</a:t>
            </a:r>
            <a:endParaRPr lang="en-US" sz="1200" dirty="0"/>
          </a:p>
        </p:txBody>
      </p:sp>
      <p:sp>
        <p:nvSpPr>
          <p:cNvPr id="42" name="SK-17-text-41"/>
          <p:cNvSpPr/>
          <p:nvPr/>
        </p:nvSpPr>
        <p:spPr>
          <a:xfrm>
            <a:off x="923925" y="2417266"/>
            <a:ext cx="69494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Beta SDK 내 치명적인 메모리 누수(Memory Leak) 발생</a:t>
            </a:r>
            <a:endParaRPr lang="en-US" sz="1200" dirty="0"/>
          </a:p>
        </p:txBody>
      </p:sp>
      <p:sp>
        <p:nvSpPr>
          <p:cNvPr id="43" name="SK-17-text-42"/>
          <p:cNvSpPr/>
          <p:nvPr/>
        </p:nvSpPr>
        <p:spPr>
          <a:xfrm>
            <a:off x="923925" y="2687687"/>
            <a:ext cx="5181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SoC 드라이버와 멀티디스플레이 렌더링 충돌</a:t>
            </a:r>
            <a:endParaRPr lang="en-US" sz="1200" dirty="0"/>
          </a:p>
        </p:txBody>
      </p:sp>
      <p:sp>
        <p:nvSpPr>
          <p:cNvPr id="44" name="SK-17-text-43"/>
          <p:cNvSpPr/>
          <p:nvPr/>
        </p:nvSpPr>
        <p:spPr>
          <a:xfrm>
            <a:off x="6819900" y="1642021"/>
            <a:ext cx="3295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Process / Comm</a:t>
            </a:r>
            <a:endParaRPr lang="en-US" sz="1500" dirty="0"/>
          </a:p>
        </p:txBody>
      </p:sp>
      <p:sp>
        <p:nvSpPr>
          <p:cNvPr id="45" name="SK-17-text-44"/>
          <p:cNvSpPr/>
          <p:nvPr/>
        </p:nvSpPr>
        <p:spPr>
          <a:xfrm>
            <a:off x="6562725" y="2146846"/>
            <a:ext cx="54864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스펙 변경사항 JIRA 공식 형상관리 등록 누락</a:t>
            </a:r>
            <a:endParaRPr lang="en-US" sz="1200" dirty="0"/>
          </a:p>
        </p:txBody>
      </p:sp>
      <p:sp>
        <p:nvSpPr>
          <p:cNvPr id="46" name="SK-17-text-45"/>
          <p:cNvSpPr/>
          <p:nvPr/>
        </p:nvSpPr>
        <p:spPr>
          <a:xfrm>
            <a:off x="6562725" y="2417266"/>
            <a:ext cx="51816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메신저를 통한 구두 전달 중심의 정보 파편화</a:t>
            </a:r>
            <a:endParaRPr lang="en-US" sz="1200" dirty="0"/>
          </a:p>
        </p:txBody>
      </p:sp>
      <p:sp>
        <p:nvSpPr>
          <p:cNvPr id="47" name="SK-17-text-46"/>
          <p:cNvSpPr/>
          <p:nvPr/>
        </p:nvSpPr>
        <p:spPr>
          <a:xfrm>
            <a:off x="6562725" y="2687687"/>
            <a:ext cx="56292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간(Platform-FE-QA) Silo화 및 책임 전가 문화</a:t>
            </a:r>
            <a:endParaRPr lang="en-US" sz="1200" dirty="0"/>
          </a:p>
        </p:txBody>
      </p:sp>
      <p:sp>
        <p:nvSpPr>
          <p:cNvPr id="48" name="SK-17-text-47"/>
          <p:cNvSpPr/>
          <p:nvPr/>
        </p:nvSpPr>
        <p:spPr>
          <a:xfrm>
            <a:off x="1295400" y="3599855"/>
            <a:ext cx="4895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Software Architecture</a:t>
            </a:r>
            <a:endParaRPr lang="en-US" sz="1500" dirty="0"/>
          </a:p>
        </p:txBody>
      </p:sp>
      <p:sp>
        <p:nvSpPr>
          <p:cNvPr id="49" name="SK-17-text-48"/>
          <p:cNvSpPr/>
          <p:nvPr/>
        </p:nvSpPr>
        <p:spPr>
          <a:xfrm>
            <a:off x="1038225" y="4104680"/>
            <a:ext cx="49530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 통신 지연으로 인한 초기 부팅 시퀀스 병목</a:t>
            </a:r>
            <a:endParaRPr lang="en-US" sz="1200" dirty="0"/>
          </a:p>
        </p:txBody>
      </p:sp>
      <p:sp>
        <p:nvSpPr>
          <p:cNvPr id="50" name="SK-17-text-49"/>
          <p:cNvSpPr/>
          <p:nvPr/>
        </p:nvSpPr>
        <p:spPr>
          <a:xfrm>
            <a:off x="1038225" y="4375100"/>
            <a:ext cx="5303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누수 차단을 위한 임시 워크어라운드 코드 난립</a:t>
            </a:r>
            <a:endParaRPr lang="en-US" sz="1200" dirty="0"/>
          </a:p>
        </p:txBody>
      </p:sp>
      <p:sp>
        <p:nvSpPr>
          <p:cNvPr id="51" name="SK-17-text-50"/>
          <p:cNvSpPr/>
          <p:nvPr/>
        </p:nvSpPr>
        <p:spPr>
          <a:xfrm>
            <a:off x="1038225" y="4645521"/>
            <a:ext cx="585216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안전 아키텍처(ASIL-B) 설계 가이드라인 미준수</a:t>
            </a:r>
            <a:endParaRPr lang="en-US" sz="1200" dirty="0"/>
          </a:p>
        </p:txBody>
      </p:sp>
      <p:sp>
        <p:nvSpPr>
          <p:cNvPr id="52" name="SK-17-text-51"/>
          <p:cNvSpPr/>
          <p:nvPr/>
        </p:nvSpPr>
        <p:spPr>
          <a:xfrm>
            <a:off x="6934200" y="3599855"/>
            <a:ext cx="2838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Quality Gate</a:t>
            </a:r>
            <a:endParaRPr lang="en-US" sz="1500" dirty="0"/>
          </a:p>
        </p:txBody>
      </p:sp>
      <p:sp>
        <p:nvSpPr>
          <p:cNvPr id="53" name="SK-17-text-52"/>
          <p:cNvSpPr/>
          <p:nvPr/>
        </p:nvSpPr>
        <p:spPr>
          <a:xfrm>
            <a:off x="6677025" y="4104680"/>
            <a:ext cx="5303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빌드 자동화 테스트 300개 전체 파손 방치</a:t>
            </a:r>
            <a:endParaRPr lang="en-US" sz="1200" dirty="0"/>
          </a:p>
        </p:txBody>
      </p:sp>
      <p:sp>
        <p:nvSpPr>
          <p:cNvPr id="54" name="SK-17-text-53"/>
          <p:cNvSpPr/>
          <p:nvPr/>
        </p:nvSpPr>
        <p:spPr>
          <a:xfrm>
            <a:off x="6677025" y="4375100"/>
            <a:ext cx="53035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QA망 가상화 인프라 부족으로 인한 OTA 검증 불능</a:t>
            </a:r>
            <a:endParaRPr lang="en-US" sz="1200" dirty="0"/>
          </a:p>
        </p:txBody>
      </p:sp>
      <p:sp>
        <p:nvSpPr>
          <p:cNvPr id="55" name="SK-17-text-54"/>
          <p:cNvSpPr/>
          <p:nvPr/>
        </p:nvSpPr>
        <p:spPr>
          <a:xfrm>
            <a:off x="6677025" y="4645521"/>
            <a:ext cx="55149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HSM 키 연동 Blocked 상태에서 Gate 조건부 통과</a:t>
            </a:r>
            <a:endParaRPr lang="en-US" sz="1200" dirty="0"/>
          </a:p>
        </p:txBody>
      </p:sp>
      <p:sp>
        <p:nvSpPr>
          <p:cNvPr id="56" name="SK-17-text-55"/>
          <p:cNvSpPr/>
          <p:nvPr/>
        </p:nvSpPr>
        <p:spPr>
          <a:xfrm>
            <a:off x="3524250" y="5614988"/>
            <a:ext cx="5829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42" kern="0" dirty="0">
                <a:solidFill>
                  <a:srgbClr val="F87171"/>
                </a:solidFill>
              </a:rPr>
              <a:t>ANALYSIS RESULT / EFFECT</a:t>
            </a:r>
            <a:endParaRPr lang="en-US" sz="1050" dirty="0"/>
          </a:p>
        </p:txBody>
      </p:sp>
      <p:sp>
        <p:nvSpPr>
          <p:cNvPr id="57" name="SK-17-text-56"/>
          <p:cNvSpPr/>
          <p:nvPr/>
        </p:nvSpPr>
        <p:spPr>
          <a:xfrm>
            <a:off x="3524250" y="5843588"/>
            <a:ext cx="86677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3.5초 달성 실패 &amp; ISO 26262 ASIL-B 인증 위기</a:t>
            </a:r>
            <a:endParaRPr lang="en-US" sz="1650" dirty="0"/>
          </a:p>
        </p:txBody>
      </p:sp>
      <p:sp>
        <p:nvSpPr>
          <p:cNvPr id="58" name="SK-17-text-57"/>
          <p:cNvSpPr/>
          <p:nvPr/>
        </p:nvSpPr>
        <p:spPr>
          <a:xfrm>
            <a:off x="3524250" y="6186488"/>
            <a:ext cx="8667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규격(2.0초) 대비 75% 지연 발생으로 인한 차량용 후방 안전 규정 위반 및 SOP 중단 리스크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8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8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8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18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5410200" cy="3834854"/>
          </a:xfrm>
          <a:prstGeom prst="rect">
            <a:avLst/>
          </a:prstGeom>
        </p:spPr>
      </p:pic>
      <p:pic>
        <p:nvPicPr>
          <p:cNvPr id="6" name="SK-18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822996"/>
            <a:ext cx="5029200" cy="400050"/>
          </a:xfrm>
          <a:prstGeom prst="rect">
            <a:avLst/>
          </a:prstGeom>
        </p:spPr>
      </p:pic>
      <p:pic>
        <p:nvPicPr>
          <p:cNvPr id="7" name="SK-18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851571"/>
            <a:ext cx="285750" cy="228600"/>
          </a:xfrm>
          <a:prstGeom prst="rect">
            <a:avLst/>
          </a:prstGeom>
        </p:spPr>
      </p:pic>
      <p:pic>
        <p:nvPicPr>
          <p:cNvPr id="8" name="SK-18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304729"/>
            <a:ext cx="5029200" cy="642938"/>
          </a:xfrm>
          <a:prstGeom prst="rect">
            <a:avLst/>
          </a:prstGeom>
        </p:spPr>
      </p:pic>
      <p:pic>
        <p:nvPicPr>
          <p:cNvPr id="9" name="SK-18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4061966"/>
            <a:ext cx="5029200" cy="642938"/>
          </a:xfrm>
          <a:prstGeom prst="rect">
            <a:avLst/>
          </a:prstGeom>
        </p:spPr>
      </p:pic>
      <p:pic>
        <p:nvPicPr>
          <p:cNvPr id="10" name="SK-18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0300" y="1632496"/>
            <a:ext cx="5410200" cy="3834854"/>
          </a:xfrm>
          <a:prstGeom prst="rect">
            <a:avLst/>
          </a:prstGeom>
        </p:spPr>
      </p:pic>
      <p:pic>
        <p:nvPicPr>
          <p:cNvPr id="11" name="SK-18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1822996"/>
            <a:ext cx="5029200" cy="400050"/>
          </a:xfrm>
          <a:prstGeom prst="rect">
            <a:avLst/>
          </a:prstGeom>
        </p:spPr>
      </p:pic>
      <p:pic>
        <p:nvPicPr>
          <p:cNvPr id="12" name="SK-18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00800" y="1851571"/>
            <a:ext cx="285750" cy="228600"/>
          </a:xfrm>
          <a:prstGeom prst="rect">
            <a:avLst/>
          </a:prstGeom>
        </p:spPr>
      </p:pic>
      <p:pic>
        <p:nvPicPr>
          <p:cNvPr id="13" name="SK-18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413546"/>
            <a:ext cx="190500" cy="152400"/>
          </a:xfrm>
          <a:prstGeom prst="rect">
            <a:avLst/>
          </a:prstGeom>
        </p:spPr>
      </p:pic>
      <p:pic>
        <p:nvPicPr>
          <p:cNvPr id="14" name="SK-18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013621"/>
            <a:ext cx="190500" cy="152400"/>
          </a:xfrm>
          <a:prstGeom prst="rect">
            <a:avLst/>
          </a:prstGeom>
        </p:spPr>
      </p:pic>
      <p:pic>
        <p:nvPicPr>
          <p:cNvPr id="15" name="SK-18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3823246"/>
            <a:ext cx="1333500" cy="952500"/>
          </a:xfrm>
          <a:prstGeom prst="rect">
            <a:avLst/>
          </a:prstGeom>
        </p:spPr>
      </p:pic>
      <p:pic>
        <p:nvPicPr>
          <p:cNvPr id="16" name="SK-18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24800" y="3941266"/>
            <a:ext cx="178594" cy="148828"/>
          </a:xfrm>
          <a:prstGeom prst="rect">
            <a:avLst/>
          </a:prstGeom>
        </p:spPr>
      </p:pic>
      <p:pic>
        <p:nvPicPr>
          <p:cNvPr id="17" name="SK-18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24800" y="4231779"/>
            <a:ext cx="178594" cy="148828"/>
          </a:xfrm>
          <a:prstGeom prst="rect">
            <a:avLst/>
          </a:prstGeom>
        </p:spPr>
      </p:pic>
      <p:pic>
        <p:nvPicPr>
          <p:cNvPr id="18" name="SK-18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24800" y="4522291"/>
            <a:ext cx="178594" cy="148828"/>
          </a:xfrm>
          <a:prstGeom prst="rect">
            <a:avLst/>
          </a:prstGeom>
        </p:spPr>
      </p:pic>
      <p:pic>
        <p:nvPicPr>
          <p:cNvPr id="19" name="SK-18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657850"/>
            <a:ext cx="11049000" cy="819150"/>
          </a:xfrm>
          <a:prstGeom prst="rect">
            <a:avLst/>
          </a:prstGeom>
        </p:spPr>
      </p:pic>
      <p:pic>
        <p:nvPicPr>
          <p:cNvPr id="20" name="SK-18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0100" y="5936456"/>
            <a:ext cx="1485900" cy="261937"/>
          </a:xfrm>
          <a:prstGeom prst="rect">
            <a:avLst/>
          </a:prstGeom>
        </p:spPr>
      </p:pic>
      <p:sp>
        <p:nvSpPr>
          <p:cNvPr id="21" name="SK-18-text-20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2" name="SK-18-text-21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4 — 팀 커뮤니케이션 Silo화 및 JIRA 형상 관리 파손</a:t>
            </a:r>
            <a:endParaRPr lang="en-US" sz="2400" dirty="0"/>
          </a:p>
        </p:txBody>
      </p:sp>
      <p:sp>
        <p:nvSpPr>
          <p:cNvPr id="23" name="SK-18-text-22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채널이 아닌 메신저를 통한 스펙 공유와 이로 인한 부서 간 비난 및 조직 불신 문제를 다룹니다.</a:t>
            </a:r>
            <a:endParaRPr lang="en-US" sz="1200" dirty="0"/>
          </a:p>
        </p:txBody>
      </p:sp>
      <p:sp>
        <p:nvSpPr>
          <p:cNvPr id="24" name="SK-18-text-23"/>
          <p:cNvSpPr/>
          <p:nvPr/>
        </p:nvSpPr>
        <p:spPr>
          <a:xfrm>
            <a:off x="1162050" y="1822996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문제 요약 및 현상</a:t>
            </a:r>
            <a:endParaRPr lang="en-US" sz="1500" dirty="0"/>
          </a:p>
        </p:txBody>
      </p:sp>
      <p:sp>
        <p:nvSpPr>
          <p:cNvPr id="25" name="SK-18-text-24"/>
          <p:cNvSpPr/>
          <p:nvPr/>
        </p:nvSpPr>
        <p:spPr>
          <a:xfrm>
            <a:off x="762000" y="2375446"/>
            <a:ext cx="5029200" cy="77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스펙 변경이 공식 형상관리(JIRA)에 등록되지 않고 </a:t>
            </a:r>
            <a:pPr indent="0" marL="0">
              <a:lnSpc>
                <a:spcPts val="2040"/>
              </a:lnSpc>
              <a:buNone/>
            </a:pPr>
            <a:r>
              <a:rPr lang="en-US" sz="127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메신저로만 휘발성 공유</a:t>
            </a:r>
            <a:pPr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되어, 부서 간 정보 격차가 발생하고 서로를 비난하는 부정적 조직 문화가 고착화되었습니다.</a:t>
            </a:r>
            <a:endParaRPr lang="en-US" sz="1275" dirty="0"/>
          </a:p>
        </p:txBody>
      </p:sp>
      <p:sp>
        <p:nvSpPr>
          <p:cNvPr id="26" name="SK-18-text-25"/>
          <p:cNvSpPr/>
          <p:nvPr/>
        </p:nvSpPr>
        <p:spPr>
          <a:xfrm>
            <a:off x="895350" y="3399979"/>
            <a:ext cx="4838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남탓 문화(Blame Culture)</a:t>
            </a:r>
            <a:endParaRPr lang="en-US" sz="1125" dirty="0"/>
          </a:p>
        </p:txBody>
      </p:sp>
      <p:sp>
        <p:nvSpPr>
          <p:cNvPr id="27" name="SK-18-text-26"/>
          <p:cNvSpPr/>
          <p:nvPr/>
        </p:nvSpPr>
        <p:spPr>
          <a:xfrm>
            <a:off x="895350" y="3652391"/>
            <a:ext cx="6477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/ FE / Platform 팀 간의 책임 전가 및 비난 문화 팽배</a:t>
            </a:r>
            <a:endParaRPr lang="en-US" sz="1050" dirty="0"/>
          </a:p>
        </p:txBody>
      </p:sp>
      <p:sp>
        <p:nvSpPr>
          <p:cNvPr id="28" name="SK-18-text-27"/>
          <p:cNvSpPr/>
          <p:nvPr/>
        </p:nvSpPr>
        <p:spPr>
          <a:xfrm>
            <a:off x="895350" y="4157216"/>
            <a:ext cx="48387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익명 커뮤니티 민심 폭발</a:t>
            </a:r>
            <a:endParaRPr lang="en-US" sz="1125" dirty="0"/>
          </a:p>
        </p:txBody>
      </p:sp>
      <p:sp>
        <p:nvSpPr>
          <p:cNvPr id="29" name="SK-18-text-28"/>
          <p:cNvSpPr/>
          <p:nvPr/>
        </p:nvSpPr>
        <p:spPr>
          <a:xfrm>
            <a:off x="895350" y="4409629"/>
            <a:ext cx="58369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블라인드 내 "타이타닉 프로젝트", "탈출은 지능순" 게시글 확산</a:t>
            </a:r>
            <a:endParaRPr lang="en-US" sz="1050" dirty="0"/>
          </a:p>
        </p:txBody>
      </p:sp>
      <p:sp>
        <p:nvSpPr>
          <p:cNvPr id="30" name="SK-18-text-29"/>
          <p:cNvSpPr/>
          <p:nvPr/>
        </p:nvSpPr>
        <p:spPr>
          <a:xfrm>
            <a:off x="6800850" y="1822996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근본 원인 및 비즈니스 영향</a:t>
            </a:r>
            <a:endParaRPr lang="en-US" sz="1500" dirty="0"/>
          </a:p>
        </p:txBody>
      </p:sp>
      <p:sp>
        <p:nvSpPr>
          <p:cNvPr id="31" name="SK-18-text-30"/>
          <p:cNvSpPr/>
          <p:nvPr/>
        </p:nvSpPr>
        <p:spPr>
          <a:xfrm>
            <a:off x="6667500" y="237544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공유 프로토콜의 부재</a:t>
            </a:r>
            <a:endParaRPr lang="en-US" sz="1200" dirty="0"/>
          </a:p>
        </p:txBody>
      </p:sp>
      <p:sp>
        <p:nvSpPr>
          <p:cNvPr id="32" name="SK-18-text-31"/>
          <p:cNvSpPr/>
          <p:nvPr/>
        </p:nvSpPr>
        <p:spPr>
          <a:xfrm>
            <a:off x="6629400" y="2642146"/>
            <a:ext cx="5562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채널(JIRA/Wiki)을 배제한 구두/메신저 중심의 비정형 변경</a:t>
            </a:r>
            <a:endParaRPr lang="en-US" sz="1125" dirty="0"/>
          </a:p>
        </p:txBody>
      </p:sp>
      <p:sp>
        <p:nvSpPr>
          <p:cNvPr id="33" name="SK-18-text-32"/>
          <p:cNvSpPr/>
          <p:nvPr/>
        </p:nvSpPr>
        <p:spPr>
          <a:xfrm>
            <a:off x="6667500" y="2975521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PM의 조율 기능 상실</a:t>
            </a:r>
            <a:endParaRPr lang="en-US" sz="1200" dirty="0"/>
          </a:p>
        </p:txBody>
      </p:sp>
      <p:sp>
        <p:nvSpPr>
          <p:cNvPr id="34" name="SK-18-text-33"/>
          <p:cNvSpPr/>
          <p:nvPr/>
        </p:nvSpPr>
        <p:spPr>
          <a:xfrm>
            <a:off x="6629400" y="3242221"/>
            <a:ext cx="5562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인터페이스 충돌에 대한 중재 및 가이드라인 제시 실패</a:t>
            </a:r>
            <a:endParaRPr lang="en-US" sz="1125" dirty="0"/>
          </a:p>
        </p:txBody>
      </p:sp>
      <p:sp>
        <p:nvSpPr>
          <p:cNvPr id="35" name="SK-18-text-34"/>
          <p:cNvSpPr/>
          <p:nvPr/>
        </p:nvSpPr>
        <p:spPr>
          <a:xfrm>
            <a:off x="6467475" y="3966121"/>
            <a:ext cx="12001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F87171"/>
                </a:solidFill>
              </a:rPr>
              <a:t>-40%</a:t>
            </a:r>
            <a:endParaRPr lang="en-US" sz="2400" dirty="0"/>
          </a:p>
        </p:txBody>
      </p:sp>
      <p:sp>
        <p:nvSpPr>
          <p:cNvPr id="36" name="SK-18-text-35"/>
          <p:cNvSpPr/>
          <p:nvPr/>
        </p:nvSpPr>
        <p:spPr>
          <a:xfrm>
            <a:off x="6505575" y="4461421"/>
            <a:ext cx="11239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생산성 저하</a:t>
            </a:r>
            <a:endParaRPr lang="en-US" sz="900" dirty="0"/>
          </a:p>
        </p:txBody>
      </p:sp>
      <p:sp>
        <p:nvSpPr>
          <p:cNvPr id="37" name="SK-18-text-36"/>
          <p:cNvSpPr/>
          <p:nvPr/>
        </p:nvSpPr>
        <p:spPr>
          <a:xfrm>
            <a:off x="8179594" y="3901827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핵심 개발 인력 이탈 리스크 가중</a:t>
            </a:r>
            <a:endParaRPr lang="en-US" sz="1125" dirty="0"/>
          </a:p>
        </p:txBody>
      </p:sp>
      <p:sp>
        <p:nvSpPr>
          <p:cNvPr id="38" name="SK-18-text-37"/>
          <p:cNvSpPr/>
          <p:nvPr/>
        </p:nvSpPr>
        <p:spPr>
          <a:xfrm>
            <a:off x="8179594" y="4192339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협업 파손에 따른 재작업 비용 증가</a:t>
            </a:r>
            <a:endParaRPr lang="en-US" sz="1125" dirty="0"/>
          </a:p>
        </p:txBody>
      </p:sp>
      <p:sp>
        <p:nvSpPr>
          <p:cNvPr id="39" name="SK-18-text-38"/>
          <p:cNvSpPr/>
          <p:nvPr/>
        </p:nvSpPr>
        <p:spPr>
          <a:xfrm>
            <a:off x="8179594" y="4482852"/>
            <a:ext cx="3505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프로젝트 심리적 안전감 붕괴</a:t>
            </a:r>
            <a:endParaRPr lang="en-US" sz="1125" dirty="0"/>
          </a:p>
        </p:txBody>
      </p:sp>
      <p:sp>
        <p:nvSpPr>
          <p:cNvPr id="40" name="SK-18-text-39"/>
          <p:cNvSpPr/>
          <p:nvPr/>
        </p:nvSpPr>
        <p:spPr>
          <a:xfrm>
            <a:off x="914400" y="5936456"/>
            <a:ext cx="221361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CULTURE DIAGNOSIS</a:t>
            </a:r>
            <a:endParaRPr lang="en-US" sz="975" dirty="0"/>
          </a:p>
        </p:txBody>
      </p:sp>
      <p:sp>
        <p:nvSpPr>
          <p:cNvPr id="41" name="SK-18-text-40"/>
          <p:cNvSpPr/>
          <p:nvPr/>
        </p:nvSpPr>
        <p:spPr>
          <a:xfrm>
            <a:off x="2476500" y="5810250"/>
            <a:ext cx="8915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 파손은 단순한 기술적 오류가 아니라, 조직의 </a:t>
            </a:r>
            <a:pPr indent="0" marL="0">
              <a:lnSpc>
                <a:spcPts val="2025"/>
              </a:lnSpc>
              <a:buNone/>
            </a:pPr>
            <a:r>
              <a:rPr lang="en-US" sz="1350" b="1" u="sng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안전감(Psychological Safety)</a:t>
            </a:r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파괴하는 치명적 리스크임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19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19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19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19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11049000" cy="2257425"/>
          </a:xfrm>
          <a:prstGeom prst="rect">
            <a:avLst/>
          </a:prstGeom>
        </p:spPr>
      </p:pic>
      <p:pic>
        <p:nvPicPr>
          <p:cNvPr id="6" name="SK-19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80071"/>
            <a:ext cx="3867150" cy="581025"/>
          </a:xfrm>
          <a:prstGeom prst="rect">
            <a:avLst/>
          </a:prstGeom>
        </p:spPr>
      </p:pic>
      <p:pic>
        <p:nvPicPr>
          <p:cNvPr id="7" name="SK-19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650" y="1280071"/>
            <a:ext cx="1795463" cy="581025"/>
          </a:xfrm>
          <a:prstGeom prst="rect">
            <a:avLst/>
          </a:prstGeom>
        </p:spPr>
      </p:pic>
      <p:pic>
        <p:nvPicPr>
          <p:cNvPr id="8" name="SK-19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4113" y="1280071"/>
            <a:ext cx="1795463" cy="581025"/>
          </a:xfrm>
          <a:prstGeom prst="rect">
            <a:avLst/>
          </a:prstGeom>
        </p:spPr>
      </p:pic>
      <p:pic>
        <p:nvPicPr>
          <p:cNvPr id="9" name="SK-19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9575" y="1280071"/>
            <a:ext cx="1795463" cy="581025"/>
          </a:xfrm>
          <a:prstGeom prst="rect">
            <a:avLst/>
          </a:prstGeom>
        </p:spPr>
      </p:pic>
      <p:pic>
        <p:nvPicPr>
          <p:cNvPr id="10" name="SK-19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5038" y="1280071"/>
            <a:ext cx="1795463" cy="581025"/>
          </a:xfrm>
          <a:prstGeom prst="rect">
            <a:avLst/>
          </a:prstGeom>
        </p:spPr>
      </p:pic>
      <p:pic>
        <p:nvPicPr>
          <p:cNvPr id="11" name="SK-19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1861096"/>
            <a:ext cx="3867150" cy="419100"/>
          </a:xfrm>
          <a:prstGeom prst="rect">
            <a:avLst/>
          </a:prstGeom>
        </p:spPr>
      </p:pic>
      <p:pic>
        <p:nvPicPr>
          <p:cNvPr id="12" name="SK-19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8650" y="1861096"/>
            <a:ext cx="1795463" cy="419100"/>
          </a:xfrm>
          <a:prstGeom prst="rect">
            <a:avLst/>
          </a:prstGeom>
        </p:spPr>
      </p:pic>
      <p:pic>
        <p:nvPicPr>
          <p:cNvPr id="13" name="SK-19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4113" y="1861096"/>
            <a:ext cx="1795463" cy="419100"/>
          </a:xfrm>
          <a:prstGeom prst="rect">
            <a:avLst/>
          </a:prstGeom>
        </p:spPr>
      </p:pic>
      <p:pic>
        <p:nvPicPr>
          <p:cNvPr id="14" name="SK-19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29575" y="1861096"/>
            <a:ext cx="1795463" cy="419100"/>
          </a:xfrm>
          <a:prstGeom prst="rect">
            <a:avLst/>
          </a:prstGeom>
        </p:spPr>
      </p:pic>
      <p:pic>
        <p:nvPicPr>
          <p:cNvPr id="15" name="SK-19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25038" y="1861096"/>
            <a:ext cx="1795463" cy="419100"/>
          </a:xfrm>
          <a:prstGeom prst="rect">
            <a:avLst/>
          </a:prstGeom>
        </p:spPr>
      </p:pic>
      <p:pic>
        <p:nvPicPr>
          <p:cNvPr id="16" name="SK-19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2280196"/>
            <a:ext cx="3867150" cy="419100"/>
          </a:xfrm>
          <a:prstGeom prst="rect">
            <a:avLst/>
          </a:prstGeom>
        </p:spPr>
      </p:pic>
      <p:pic>
        <p:nvPicPr>
          <p:cNvPr id="17" name="SK-19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38650" y="2280196"/>
            <a:ext cx="1795463" cy="419100"/>
          </a:xfrm>
          <a:prstGeom prst="rect">
            <a:avLst/>
          </a:prstGeom>
        </p:spPr>
      </p:pic>
      <p:pic>
        <p:nvPicPr>
          <p:cNvPr id="18" name="SK-19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34113" y="2280196"/>
            <a:ext cx="1795463" cy="419100"/>
          </a:xfrm>
          <a:prstGeom prst="rect">
            <a:avLst/>
          </a:prstGeom>
        </p:spPr>
      </p:pic>
      <p:pic>
        <p:nvPicPr>
          <p:cNvPr id="19" name="SK-19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29575" y="2280196"/>
            <a:ext cx="1795463" cy="419100"/>
          </a:xfrm>
          <a:prstGeom prst="rect">
            <a:avLst/>
          </a:prstGeom>
        </p:spPr>
      </p:pic>
      <p:pic>
        <p:nvPicPr>
          <p:cNvPr id="20" name="SK-19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25038" y="2280196"/>
            <a:ext cx="1795463" cy="419100"/>
          </a:xfrm>
          <a:prstGeom prst="rect">
            <a:avLst/>
          </a:prstGeom>
        </p:spPr>
      </p:pic>
      <p:pic>
        <p:nvPicPr>
          <p:cNvPr id="21" name="SK-19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1500" y="2699296"/>
            <a:ext cx="3867150" cy="419100"/>
          </a:xfrm>
          <a:prstGeom prst="rect">
            <a:avLst/>
          </a:prstGeom>
        </p:spPr>
      </p:pic>
      <p:pic>
        <p:nvPicPr>
          <p:cNvPr id="22" name="SK-19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38650" y="2699296"/>
            <a:ext cx="1795463" cy="419100"/>
          </a:xfrm>
          <a:prstGeom prst="rect">
            <a:avLst/>
          </a:prstGeom>
        </p:spPr>
      </p:pic>
      <p:pic>
        <p:nvPicPr>
          <p:cNvPr id="23" name="SK-19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34113" y="2699296"/>
            <a:ext cx="1795463" cy="419100"/>
          </a:xfrm>
          <a:prstGeom prst="rect">
            <a:avLst/>
          </a:prstGeom>
        </p:spPr>
      </p:pic>
      <p:pic>
        <p:nvPicPr>
          <p:cNvPr id="24" name="SK-19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029575" y="2699296"/>
            <a:ext cx="1795463" cy="419100"/>
          </a:xfrm>
          <a:prstGeom prst="rect">
            <a:avLst/>
          </a:prstGeom>
        </p:spPr>
      </p:pic>
      <p:pic>
        <p:nvPicPr>
          <p:cNvPr id="25" name="SK-19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825038" y="2699296"/>
            <a:ext cx="1795463" cy="419100"/>
          </a:xfrm>
          <a:prstGeom prst="rect">
            <a:avLst/>
          </a:prstGeom>
        </p:spPr>
      </p:pic>
      <p:pic>
        <p:nvPicPr>
          <p:cNvPr id="26" name="SK-19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1500" y="3118396"/>
            <a:ext cx="3867150" cy="419100"/>
          </a:xfrm>
          <a:prstGeom prst="rect">
            <a:avLst/>
          </a:prstGeom>
        </p:spPr>
      </p:pic>
      <p:pic>
        <p:nvPicPr>
          <p:cNvPr id="27" name="SK-19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38650" y="3118396"/>
            <a:ext cx="1795463" cy="419100"/>
          </a:xfrm>
          <a:prstGeom prst="rect">
            <a:avLst/>
          </a:prstGeom>
        </p:spPr>
      </p:pic>
      <p:pic>
        <p:nvPicPr>
          <p:cNvPr id="28" name="SK-19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234113" y="3118396"/>
            <a:ext cx="1795463" cy="419100"/>
          </a:xfrm>
          <a:prstGeom prst="rect">
            <a:avLst/>
          </a:prstGeom>
        </p:spPr>
      </p:pic>
      <p:pic>
        <p:nvPicPr>
          <p:cNvPr id="29" name="SK-19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29575" y="3118396"/>
            <a:ext cx="1795463" cy="419100"/>
          </a:xfrm>
          <a:prstGeom prst="rect">
            <a:avLst/>
          </a:prstGeom>
        </p:spPr>
      </p:pic>
      <p:pic>
        <p:nvPicPr>
          <p:cNvPr id="30" name="SK-19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825038" y="3118396"/>
            <a:ext cx="1795463" cy="419100"/>
          </a:xfrm>
          <a:prstGeom prst="rect">
            <a:avLst/>
          </a:prstGeom>
        </p:spPr>
      </p:pic>
      <p:pic>
        <p:nvPicPr>
          <p:cNvPr id="31" name="SK-19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62000" y="3661321"/>
            <a:ext cx="266700" cy="266700"/>
          </a:xfrm>
          <a:prstGeom prst="rect">
            <a:avLst/>
          </a:prstGeom>
        </p:spPr>
      </p:pic>
      <p:pic>
        <p:nvPicPr>
          <p:cNvPr id="32" name="SK-19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609850" y="3661321"/>
            <a:ext cx="266700" cy="266700"/>
          </a:xfrm>
          <a:prstGeom prst="rect">
            <a:avLst/>
          </a:prstGeom>
        </p:spPr>
      </p:pic>
      <p:pic>
        <p:nvPicPr>
          <p:cNvPr id="33" name="SK-19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495800" y="3661321"/>
            <a:ext cx="266700" cy="266700"/>
          </a:xfrm>
          <a:prstGeom prst="rect">
            <a:avLst/>
          </a:prstGeom>
        </p:spPr>
      </p:pic>
      <p:pic>
        <p:nvPicPr>
          <p:cNvPr id="34" name="SK-19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238875" y="3661321"/>
            <a:ext cx="266700" cy="266700"/>
          </a:xfrm>
          <a:prstGeom prst="rect">
            <a:avLst/>
          </a:prstGeom>
        </p:spPr>
      </p:pic>
      <p:pic>
        <p:nvPicPr>
          <p:cNvPr id="35" name="SK-19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71500" y="4070896"/>
            <a:ext cx="5410200" cy="2257425"/>
          </a:xfrm>
          <a:prstGeom prst="rect">
            <a:avLst/>
          </a:prstGeom>
        </p:spPr>
      </p:pic>
      <p:pic>
        <p:nvPicPr>
          <p:cNvPr id="36" name="SK-19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62000" y="4166146"/>
            <a:ext cx="5029200" cy="371475"/>
          </a:xfrm>
          <a:prstGeom prst="rect">
            <a:avLst/>
          </a:prstGeom>
        </p:spPr>
      </p:pic>
      <p:pic>
        <p:nvPicPr>
          <p:cNvPr id="37" name="SK-19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2000" y="4199483"/>
            <a:ext cx="238125" cy="190500"/>
          </a:xfrm>
          <a:prstGeom prst="rect">
            <a:avLst/>
          </a:prstGeom>
        </p:spPr>
      </p:pic>
      <p:pic>
        <p:nvPicPr>
          <p:cNvPr id="38" name="SK-19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28700" y="4682728"/>
            <a:ext cx="178594" cy="147042"/>
          </a:xfrm>
          <a:prstGeom prst="rect">
            <a:avLst/>
          </a:prstGeom>
        </p:spPr>
      </p:pic>
      <p:pic>
        <p:nvPicPr>
          <p:cNvPr id="39" name="SK-19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28700" y="5216128"/>
            <a:ext cx="178594" cy="147042"/>
          </a:xfrm>
          <a:prstGeom prst="rect">
            <a:avLst/>
          </a:prstGeom>
        </p:spPr>
      </p:pic>
      <p:pic>
        <p:nvPicPr>
          <p:cNvPr id="40" name="SK-19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028700" y="5749528"/>
            <a:ext cx="178594" cy="147042"/>
          </a:xfrm>
          <a:prstGeom prst="rect">
            <a:avLst/>
          </a:prstGeom>
        </p:spPr>
      </p:pic>
      <p:pic>
        <p:nvPicPr>
          <p:cNvPr id="41" name="SK-19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10300" y="4070896"/>
            <a:ext cx="5410200" cy="2257425"/>
          </a:xfrm>
          <a:prstGeom prst="rect">
            <a:avLst/>
          </a:prstGeom>
        </p:spPr>
      </p:pic>
      <p:pic>
        <p:nvPicPr>
          <p:cNvPr id="42" name="SK-19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400800" y="4166146"/>
            <a:ext cx="5029200" cy="371475"/>
          </a:xfrm>
          <a:prstGeom prst="rect">
            <a:avLst/>
          </a:prstGeom>
        </p:spPr>
      </p:pic>
      <p:pic>
        <p:nvPicPr>
          <p:cNvPr id="43" name="SK-19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400800" y="4199483"/>
            <a:ext cx="238125" cy="190500"/>
          </a:xfrm>
          <a:prstGeom prst="rect">
            <a:avLst/>
          </a:prstGeom>
        </p:spPr>
      </p:pic>
      <p:pic>
        <p:nvPicPr>
          <p:cNvPr id="44" name="SK-19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667500" y="4682728"/>
            <a:ext cx="178594" cy="147042"/>
          </a:xfrm>
          <a:prstGeom prst="rect">
            <a:avLst/>
          </a:prstGeom>
        </p:spPr>
      </p:pic>
      <p:pic>
        <p:nvPicPr>
          <p:cNvPr id="45" name="SK-19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667500" y="5216128"/>
            <a:ext cx="178594" cy="147042"/>
          </a:xfrm>
          <a:prstGeom prst="rect">
            <a:avLst/>
          </a:prstGeom>
        </p:spPr>
      </p:pic>
      <p:pic>
        <p:nvPicPr>
          <p:cNvPr id="46" name="SK-19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667500" y="5749528"/>
            <a:ext cx="178594" cy="147042"/>
          </a:xfrm>
          <a:prstGeom prst="rect">
            <a:avLst/>
          </a:prstGeom>
        </p:spPr>
      </p:pic>
      <p:sp>
        <p:nvSpPr>
          <p:cNvPr id="47" name="SK-19-text-46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48" name="SK-19-text-47"/>
          <p:cNvSpPr/>
          <p:nvPr/>
        </p:nvSpPr>
        <p:spPr>
          <a:xfrm>
            <a:off x="762000" y="49530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RACI Matrix 및 Governance Protocol</a:t>
            </a:r>
            <a:endParaRPr lang="en-US" sz="2400" dirty="0"/>
          </a:p>
        </p:txBody>
      </p:sp>
      <p:sp>
        <p:nvSpPr>
          <p:cNvPr id="49" name="SK-19-text-48"/>
          <p:cNvSpPr/>
          <p:nvPr/>
        </p:nvSpPr>
        <p:spPr>
          <a:xfrm>
            <a:off x="762000" y="9085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변경 및 리스크 에스컬레이션 등 주요 업무의 역할 분담과 개선된 정보 공유 프로토콜을 제시합니다.</a:t>
            </a:r>
            <a:endParaRPr lang="en-US" sz="1200" dirty="0"/>
          </a:p>
        </p:txBody>
      </p:sp>
      <p:sp>
        <p:nvSpPr>
          <p:cNvPr id="50" name="SK-19-text-49"/>
          <p:cNvSpPr/>
          <p:nvPr/>
        </p:nvSpPr>
        <p:spPr>
          <a:xfrm>
            <a:off x="762000" y="1280071"/>
            <a:ext cx="36385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주요 업무 및 의사결정</a:t>
            </a:r>
            <a:endParaRPr lang="en-US" sz="1125" dirty="0"/>
          </a:p>
        </p:txBody>
      </p:sp>
      <p:sp>
        <p:nvSpPr>
          <p:cNvPr id="51" name="SK-19-text-50"/>
          <p:cNvSpPr/>
          <p:nvPr/>
        </p:nvSpPr>
        <p:spPr>
          <a:xfrm>
            <a:off x="4438650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PM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이도윤</a:t>
            </a:r>
            <a:endParaRPr lang="en-US" sz="1125" dirty="0"/>
          </a:p>
        </p:txBody>
      </p:sp>
      <p:sp>
        <p:nvSpPr>
          <p:cNvPr id="52" name="SK-19-text-51"/>
          <p:cNvSpPr/>
          <p:nvPr/>
        </p:nvSpPr>
        <p:spPr>
          <a:xfrm>
            <a:off x="6234113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Platform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김다온</a:t>
            </a:r>
            <a:endParaRPr lang="en-US" sz="1125" dirty="0"/>
          </a:p>
        </p:txBody>
      </p:sp>
      <p:sp>
        <p:nvSpPr>
          <p:cNvPr id="53" name="SK-19-text-52"/>
          <p:cNvSpPr/>
          <p:nvPr/>
        </p:nvSpPr>
        <p:spPr>
          <a:xfrm>
            <a:off x="8029575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FE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강민재</a:t>
            </a:r>
            <a:endParaRPr lang="en-US" sz="1125" dirty="0"/>
          </a:p>
        </p:txBody>
      </p:sp>
      <p:sp>
        <p:nvSpPr>
          <p:cNvPr id="54" name="SK-19-text-53"/>
          <p:cNvSpPr/>
          <p:nvPr/>
        </p:nvSpPr>
        <p:spPr>
          <a:xfrm>
            <a:off x="9825038" y="1280071"/>
            <a:ext cx="1566863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</a:rPr>
              <a:t>QA/PO/스폰서</a:t>
            </a:r>
            <a:endParaRPr lang="en-US" sz="1125" dirty="0"/>
          </a:p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FAFC"/>
                </a:solidFill>
              </a:rPr>
              <a:t>이해관계자</a:t>
            </a:r>
            <a:endParaRPr lang="en-US" sz="1125" dirty="0"/>
          </a:p>
        </p:txBody>
      </p:sp>
      <p:sp>
        <p:nvSpPr>
          <p:cNvPr id="55" name="SK-19-text-54"/>
          <p:cNvSpPr/>
          <p:nvPr/>
        </p:nvSpPr>
        <p:spPr>
          <a:xfrm>
            <a:off x="762000" y="18610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스펙 변경 및 JIRA 등록</a:t>
            </a:r>
            <a:endParaRPr lang="en-US" sz="1050" dirty="0"/>
          </a:p>
        </p:txBody>
      </p:sp>
      <p:sp>
        <p:nvSpPr>
          <p:cNvPr id="56" name="SK-19-textBg-55"/>
          <p:cNvSpPr/>
          <p:nvPr/>
        </p:nvSpPr>
        <p:spPr>
          <a:xfrm>
            <a:off x="5203031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7" name="SK-19-text-56"/>
          <p:cNvSpPr/>
          <p:nvPr/>
        </p:nvSpPr>
        <p:spPr>
          <a:xfrm>
            <a:off x="5203031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58" name="SK-19-textBg-57"/>
          <p:cNvSpPr/>
          <p:nvPr/>
        </p:nvSpPr>
        <p:spPr>
          <a:xfrm>
            <a:off x="6998494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SK-19-text-58"/>
          <p:cNvSpPr/>
          <p:nvPr/>
        </p:nvSpPr>
        <p:spPr>
          <a:xfrm>
            <a:off x="6998494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endParaRPr lang="en-US" sz="1050" dirty="0"/>
          </a:p>
        </p:txBody>
      </p:sp>
      <p:sp>
        <p:nvSpPr>
          <p:cNvPr id="60" name="SK-19-textBg-59"/>
          <p:cNvSpPr/>
          <p:nvPr/>
        </p:nvSpPr>
        <p:spPr>
          <a:xfrm>
            <a:off x="8793956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1" name="SK-19-text-60"/>
          <p:cNvSpPr/>
          <p:nvPr/>
        </p:nvSpPr>
        <p:spPr>
          <a:xfrm>
            <a:off x="8793956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62" name="SK-19-textBg-61"/>
          <p:cNvSpPr/>
          <p:nvPr/>
        </p:nvSpPr>
        <p:spPr>
          <a:xfrm>
            <a:off x="10589419" y="19372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SK-19-text-62"/>
          <p:cNvSpPr/>
          <p:nvPr/>
        </p:nvSpPr>
        <p:spPr>
          <a:xfrm>
            <a:off x="10589419" y="19372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94A3B8"/>
                </a:solidFill>
              </a:rPr>
              <a:t>I</a:t>
            </a:r>
            <a:endParaRPr lang="en-US" sz="1050" dirty="0"/>
          </a:p>
        </p:txBody>
      </p:sp>
      <p:sp>
        <p:nvSpPr>
          <p:cNvPr id="64" name="SK-19-text-63"/>
          <p:cNvSpPr/>
          <p:nvPr/>
        </p:nvSpPr>
        <p:spPr>
          <a:xfrm>
            <a:off x="762000" y="22801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변경 (REQ-045 수용)</a:t>
            </a:r>
            <a:endParaRPr lang="en-US" sz="1050" dirty="0"/>
          </a:p>
        </p:txBody>
      </p:sp>
      <p:sp>
        <p:nvSpPr>
          <p:cNvPr id="65" name="SK-19-textBg-64"/>
          <p:cNvSpPr/>
          <p:nvPr/>
        </p:nvSpPr>
        <p:spPr>
          <a:xfrm>
            <a:off x="5203031" y="23563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6" name="SK-19-text-65"/>
          <p:cNvSpPr/>
          <p:nvPr/>
        </p:nvSpPr>
        <p:spPr>
          <a:xfrm>
            <a:off x="5203031" y="23563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67" name="SK-19-textBg-66"/>
          <p:cNvSpPr/>
          <p:nvPr/>
        </p:nvSpPr>
        <p:spPr>
          <a:xfrm>
            <a:off x="6998494" y="23563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8" name="SK-19-text-67"/>
          <p:cNvSpPr/>
          <p:nvPr/>
        </p:nvSpPr>
        <p:spPr>
          <a:xfrm>
            <a:off x="6998494" y="23563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69" name="SK-19-textBg-68"/>
          <p:cNvSpPr/>
          <p:nvPr/>
        </p:nvSpPr>
        <p:spPr>
          <a:xfrm>
            <a:off x="8793956" y="23563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0" name="SK-19-text-69"/>
          <p:cNvSpPr/>
          <p:nvPr/>
        </p:nvSpPr>
        <p:spPr>
          <a:xfrm>
            <a:off x="8793956" y="23563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71" name="SK-19-text-70"/>
          <p:cNvSpPr/>
          <p:nvPr/>
        </p:nvSpPr>
        <p:spPr>
          <a:xfrm>
            <a:off x="9825038" y="2280196"/>
            <a:ext cx="15668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72" name="SK-19-text-71"/>
          <p:cNvSpPr/>
          <p:nvPr/>
        </p:nvSpPr>
        <p:spPr>
          <a:xfrm>
            <a:off x="762000" y="26992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리스크 에스컬레이션</a:t>
            </a:r>
            <a:endParaRPr lang="en-US" sz="1050" dirty="0"/>
          </a:p>
        </p:txBody>
      </p:sp>
      <p:sp>
        <p:nvSpPr>
          <p:cNvPr id="73" name="SK-19-text-72"/>
          <p:cNvSpPr/>
          <p:nvPr/>
        </p:nvSpPr>
        <p:spPr>
          <a:xfrm>
            <a:off x="4438650" y="2699296"/>
            <a:ext cx="15668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/ </a:t>
            </a:r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74" name="SK-19-textBg-73"/>
          <p:cNvSpPr/>
          <p:nvPr/>
        </p:nvSpPr>
        <p:spPr>
          <a:xfrm>
            <a:off x="6998494" y="27754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5" name="SK-19-text-74"/>
          <p:cNvSpPr/>
          <p:nvPr/>
        </p:nvSpPr>
        <p:spPr>
          <a:xfrm>
            <a:off x="6998494" y="27754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endParaRPr lang="en-US" sz="1050" dirty="0"/>
          </a:p>
        </p:txBody>
      </p:sp>
      <p:sp>
        <p:nvSpPr>
          <p:cNvPr id="76" name="SK-19-text-75"/>
          <p:cNvSpPr/>
          <p:nvPr/>
        </p:nvSpPr>
        <p:spPr>
          <a:xfrm>
            <a:off x="7991475" y="2699296"/>
            <a:ext cx="16430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050" dirty="0"/>
          </a:p>
        </p:txBody>
      </p:sp>
      <p:sp>
        <p:nvSpPr>
          <p:cNvPr id="77" name="SK-19-textBg-76"/>
          <p:cNvSpPr/>
          <p:nvPr/>
        </p:nvSpPr>
        <p:spPr>
          <a:xfrm>
            <a:off x="10589419" y="27754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94A3B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8" name="SK-19-text-77"/>
          <p:cNvSpPr/>
          <p:nvPr/>
        </p:nvSpPr>
        <p:spPr>
          <a:xfrm>
            <a:off x="10589419" y="27754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94A3B8"/>
                </a:solidFill>
              </a:rPr>
              <a:t>I</a:t>
            </a:r>
            <a:endParaRPr lang="en-US" sz="1050" dirty="0"/>
          </a:p>
        </p:txBody>
      </p:sp>
      <p:sp>
        <p:nvSpPr>
          <p:cNvPr id="79" name="SK-19-text-78"/>
          <p:cNvSpPr/>
          <p:nvPr/>
        </p:nvSpPr>
        <p:spPr>
          <a:xfrm>
            <a:off x="762000" y="3118396"/>
            <a:ext cx="3638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자동화 테스트 깨짐 복구</a:t>
            </a:r>
            <a:endParaRPr lang="en-US" sz="1050" dirty="0"/>
          </a:p>
        </p:txBody>
      </p:sp>
      <p:sp>
        <p:nvSpPr>
          <p:cNvPr id="80" name="SK-19-textBg-79"/>
          <p:cNvSpPr/>
          <p:nvPr/>
        </p:nvSpPr>
        <p:spPr>
          <a:xfrm>
            <a:off x="5203031" y="31945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818C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1" name="SK-19-text-80"/>
          <p:cNvSpPr/>
          <p:nvPr/>
        </p:nvSpPr>
        <p:spPr>
          <a:xfrm>
            <a:off x="5203031" y="31945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endParaRPr lang="en-US" sz="1050" dirty="0"/>
          </a:p>
        </p:txBody>
      </p:sp>
      <p:sp>
        <p:nvSpPr>
          <p:cNvPr id="82" name="SK-19-textBg-81"/>
          <p:cNvSpPr/>
          <p:nvPr/>
        </p:nvSpPr>
        <p:spPr>
          <a:xfrm>
            <a:off x="6998494" y="31945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3" name="SK-19-text-82"/>
          <p:cNvSpPr/>
          <p:nvPr/>
        </p:nvSpPr>
        <p:spPr>
          <a:xfrm>
            <a:off x="6998494" y="31945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endParaRPr lang="en-US" sz="1050" dirty="0"/>
          </a:p>
        </p:txBody>
      </p:sp>
      <p:sp>
        <p:nvSpPr>
          <p:cNvPr id="84" name="SK-19-textBg-83"/>
          <p:cNvSpPr/>
          <p:nvPr/>
        </p:nvSpPr>
        <p:spPr>
          <a:xfrm>
            <a:off x="8793956" y="3194596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38BDF8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5" name="SK-19-text-84"/>
          <p:cNvSpPr/>
          <p:nvPr/>
        </p:nvSpPr>
        <p:spPr>
          <a:xfrm>
            <a:off x="8793956" y="3194596"/>
            <a:ext cx="26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endParaRPr lang="en-US" sz="1050" dirty="0"/>
          </a:p>
        </p:txBody>
      </p:sp>
      <p:sp>
        <p:nvSpPr>
          <p:cNvPr id="86" name="SK-19-text-85"/>
          <p:cNvSpPr/>
          <p:nvPr/>
        </p:nvSpPr>
        <p:spPr>
          <a:xfrm>
            <a:off x="9825038" y="3118396"/>
            <a:ext cx="15668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algn="ctr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(QA)</a:t>
            </a:r>
            <a:endParaRPr lang="en-US" sz="1050" dirty="0"/>
          </a:p>
        </p:txBody>
      </p:sp>
      <p:sp>
        <p:nvSpPr>
          <p:cNvPr id="87" name="SK-19-text-86"/>
          <p:cNvSpPr/>
          <p:nvPr/>
        </p:nvSpPr>
        <p:spPr>
          <a:xfrm>
            <a:off x="762000" y="3661321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R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Responsible: 실행 책임자</a:t>
            </a:r>
            <a:endParaRPr lang="en-US" sz="900" dirty="0"/>
          </a:p>
        </p:txBody>
      </p:sp>
      <p:sp>
        <p:nvSpPr>
          <p:cNvPr id="88" name="SK-19-text-87"/>
          <p:cNvSpPr/>
          <p:nvPr/>
        </p:nvSpPr>
        <p:spPr>
          <a:xfrm>
            <a:off x="2609850" y="3661321"/>
            <a:ext cx="288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818CF8"/>
                </a:solidFill>
              </a:rPr>
              <a:t>A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Accountable: 최종 승인자</a:t>
            </a:r>
            <a:endParaRPr lang="en-US" sz="900" dirty="0"/>
          </a:p>
        </p:txBody>
      </p:sp>
      <p:sp>
        <p:nvSpPr>
          <p:cNvPr id="89" name="SK-19-text-88"/>
          <p:cNvSpPr/>
          <p:nvPr/>
        </p:nvSpPr>
        <p:spPr>
          <a:xfrm>
            <a:off x="4495800" y="3661321"/>
            <a:ext cx="2606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FBBF24"/>
                </a:solidFill>
              </a:rPr>
              <a:t>C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Consulted: 협의 대상자</a:t>
            </a:r>
            <a:endParaRPr lang="en-US" sz="900" dirty="0"/>
          </a:p>
        </p:txBody>
      </p:sp>
      <p:sp>
        <p:nvSpPr>
          <p:cNvPr id="90" name="SK-19-text-89"/>
          <p:cNvSpPr/>
          <p:nvPr/>
        </p:nvSpPr>
        <p:spPr>
          <a:xfrm>
            <a:off x="6238875" y="3661321"/>
            <a:ext cx="24688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050" b="1" dirty="0">
                <a:solidFill>
                  <a:srgbClr val="94A3B8"/>
                </a:solidFill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Informed: 정보 수신자</a:t>
            </a:r>
            <a:endParaRPr lang="en-US" sz="900" dirty="0"/>
          </a:p>
        </p:txBody>
      </p:sp>
      <p:sp>
        <p:nvSpPr>
          <p:cNvPr id="91" name="SK-19-text-90"/>
          <p:cNvSpPr/>
          <p:nvPr/>
        </p:nvSpPr>
        <p:spPr>
          <a:xfrm>
            <a:off x="1114425" y="4166146"/>
            <a:ext cx="276034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거버넌스 개선 가이드라인</a:t>
            </a:r>
            <a:endParaRPr lang="en-US" sz="1350" dirty="0"/>
          </a:p>
        </p:txBody>
      </p:sp>
      <p:sp>
        <p:nvSpPr>
          <p:cNvPr id="92" name="SK-19-text-91"/>
          <p:cNvSpPr/>
          <p:nvPr/>
        </p:nvSpPr>
        <p:spPr>
          <a:xfrm>
            <a:off x="1207294" y="46328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API 변경 발생 시 Platform Lead(김다온)가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티켓을 선행 생성(R)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하는 것을 원칙으로 함</a:t>
            </a:r>
            <a:endParaRPr lang="en-US" sz="1125" dirty="0"/>
          </a:p>
        </p:txBody>
      </p:sp>
      <p:sp>
        <p:nvSpPr>
          <p:cNvPr id="93" name="SK-19-text-92"/>
          <p:cNvSpPr/>
          <p:nvPr/>
        </p:nvSpPr>
        <p:spPr>
          <a:xfrm>
            <a:off x="1207294" y="51662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PM(이도윤)의 공식 승인(A) 전,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메신저를 통한 구두 전달 및 코드 배포를 엄격히 금지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</a:t>
            </a:r>
            <a:endParaRPr lang="en-US" sz="1125" dirty="0"/>
          </a:p>
        </p:txBody>
      </p:sp>
      <p:sp>
        <p:nvSpPr>
          <p:cNvPr id="94" name="SK-19-text-93"/>
          <p:cNvSpPr/>
          <p:nvPr/>
        </p:nvSpPr>
        <p:spPr>
          <a:xfrm>
            <a:off x="1207294" y="56996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변경 사항은 JIRA 기반 Single Source of Truth(SSOT)를 통해 QA 및 유관 부서에 자동 전파되어야 함</a:t>
            </a:r>
            <a:endParaRPr lang="en-US" sz="1125" dirty="0"/>
          </a:p>
        </p:txBody>
      </p:sp>
      <p:sp>
        <p:nvSpPr>
          <p:cNvPr id="95" name="SK-19-text-94"/>
          <p:cNvSpPr/>
          <p:nvPr/>
        </p:nvSpPr>
        <p:spPr>
          <a:xfrm>
            <a:off x="6753225" y="4166146"/>
            <a:ext cx="3171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리스크 에스컬레이션 프로토콜</a:t>
            </a:r>
            <a:endParaRPr lang="en-US" sz="1350" dirty="0"/>
          </a:p>
        </p:txBody>
      </p:sp>
      <p:sp>
        <p:nvSpPr>
          <p:cNvPr id="96" name="SK-19-text-95"/>
          <p:cNvSpPr/>
          <p:nvPr/>
        </p:nvSpPr>
        <p:spPr>
          <a:xfrm>
            <a:off x="6846094" y="46328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벤더(NovaChip) 일정 1주 이상 지연 시, PM은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당일 즉시 스폰서에게 공식 보고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대응 전략 수립</a:t>
            </a:r>
            <a:endParaRPr lang="en-US" sz="1125" dirty="0"/>
          </a:p>
        </p:txBody>
      </p:sp>
      <p:sp>
        <p:nvSpPr>
          <p:cNvPr id="97" name="SK-19-text-96"/>
          <p:cNvSpPr/>
          <p:nvPr/>
        </p:nvSpPr>
        <p:spPr>
          <a:xfrm>
            <a:off x="6846094" y="51662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계약 외 추가 비용(HSM 라이선스 등) 발생 시, 임의 판단을 배제하고 </a:t>
            </a:r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법무/구매팀 공조 체계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가동</a:t>
            </a:r>
            <a:endParaRPr lang="en-US" sz="1125" dirty="0"/>
          </a:p>
        </p:txBody>
      </p:sp>
      <p:sp>
        <p:nvSpPr>
          <p:cNvPr id="98" name="SK-19-text-97"/>
          <p:cNvSpPr/>
          <p:nvPr/>
        </p:nvSpPr>
        <p:spPr>
          <a:xfrm>
            <a:off x="6846094" y="5699671"/>
            <a:ext cx="476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기술 부채 이월 결정 시, Safety/Compliance Impact 정량 지표를 포함하여 CCB의 공식 의결 절차를 준수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0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0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0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0975"/>
            <a:ext cx="11049000" cy="946696"/>
          </a:xfrm>
          <a:prstGeom prst="rect">
            <a:avLst/>
          </a:prstGeom>
        </p:spPr>
      </p:pic>
      <p:pic>
        <p:nvPicPr>
          <p:cNvPr id="5" name="SK-20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70546"/>
            <a:ext cx="5372100" cy="5406479"/>
          </a:xfrm>
          <a:prstGeom prst="rect">
            <a:avLst/>
          </a:prstGeom>
        </p:spPr>
      </p:pic>
      <p:pic>
        <p:nvPicPr>
          <p:cNvPr id="6" name="SK-20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394371"/>
            <a:ext cx="285750" cy="228600"/>
          </a:xfrm>
          <a:prstGeom prst="rect">
            <a:avLst/>
          </a:prstGeom>
        </p:spPr>
      </p:pic>
      <p:pic>
        <p:nvPicPr>
          <p:cNvPr id="7" name="SK-20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746796"/>
            <a:ext cx="4991100" cy="579388"/>
          </a:xfrm>
          <a:prstGeom prst="rect">
            <a:avLst/>
          </a:prstGeom>
        </p:spPr>
      </p:pic>
      <p:pic>
        <p:nvPicPr>
          <p:cNvPr id="8" name="SK-20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1845915"/>
            <a:ext cx="381000" cy="381000"/>
          </a:xfrm>
          <a:prstGeom prst="rect">
            <a:avLst/>
          </a:prstGeom>
        </p:spPr>
      </p:pic>
      <p:pic>
        <p:nvPicPr>
          <p:cNvPr id="9" name="SK-20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7744" y="1948755"/>
            <a:ext cx="214313" cy="175320"/>
          </a:xfrm>
          <a:prstGeom prst="rect">
            <a:avLst/>
          </a:prstGeom>
        </p:spPr>
      </p:pic>
      <p:pic>
        <p:nvPicPr>
          <p:cNvPr id="10" name="SK-20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86113" y="2383334"/>
            <a:ext cx="142875" cy="114300"/>
          </a:xfrm>
          <a:prstGeom prst="rect">
            <a:avLst/>
          </a:prstGeom>
        </p:spPr>
      </p:pic>
      <p:pic>
        <p:nvPicPr>
          <p:cNvPr id="11" name="SK-20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2554784"/>
            <a:ext cx="4991100" cy="579388"/>
          </a:xfrm>
          <a:prstGeom prst="rect">
            <a:avLst/>
          </a:prstGeom>
        </p:spPr>
      </p:pic>
      <p:pic>
        <p:nvPicPr>
          <p:cNvPr id="12" name="SK-20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4400" y="2653903"/>
            <a:ext cx="381000" cy="381000"/>
          </a:xfrm>
          <a:prstGeom prst="rect">
            <a:avLst/>
          </a:prstGeom>
        </p:spPr>
      </p:pic>
      <p:pic>
        <p:nvPicPr>
          <p:cNvPr id="13" name="SK-20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7744" y="2756743"/>
            <a:ext cx="214313" cy="175320"/>
          </a:xfrm>
          <a:prstGeom prst="rect">
            <a:avLst/>
          </a:prstGeom>
        </p:spPr>
      </p:pic>
      <p:pic>
        <p:nvPicPr>
          <p:cNvPr id="14" name="SK-20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186113" y="3191321"/>
            <a:ext cx="142875" cy="114300"/>
          </a:xfrm>
          <a:prstGeom prst="rect">
            <a:avLst/>
          </a:prstGeom>
        </p:spPr>
      </p:pic>
      <p:pic>
        <p:nvPicPr>
          <p:cNvPr id="15" name="SK-20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362771"/>
            <a:ext cx="4991100" cy="579388"/>
          </a:xfrm>
          <a:prstGeom prst="rect">
            <a:avLst/>
          </a:prstGeom>
        </p:spPr>
      </p:pic>
      <p:pic>
        <p:nvPicPr>
          <p:cNvPr id="16" name="SK-20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400" y="3461891"/>
            <a:ext cx="381000" cy="381000"/>
          </a:xfrm>
          <a:prstGeom prst="rect">
            <a:avLst/>
          </a:prstGeom>
        </p:spPr>
      </p:pic>
      <p:pic>
        <p:nvPicPr>
          <p:cNvPr id="17" name="SK-20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7744" y="3564731"/>
            <a:ext cx="214313" cy="175320"/>
          </a:xfrm>
          <a:prstGeom prst="rect">
            <a:avLst/>
          </a:prstGeom>
        </p:spPr>
      </p:pic>
      <p:pic>
        <p:nvPicPr>
          <p:cNvPr id="18" name="SK-20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86113" y="3999309"/>
            <a:ext cx="142875" cy="114300"/>
          </a:xfrm>
          <a:prstGeom prst="rect">
            <a:avLst/>
          </a:prstGeom>
        </p:spPr>
      </p:pic>
      <p:pic>
        <p:nvPicPr>
          <p:cNvPr id="19" name="SK-20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62000" y="4170759"/>
            <a:ext cx="4991100" cy="579388"/>
          </a:xfrm>
          <a:prstGeom prst="rect">
            <a:avLst/>
          </a:prstGeom>
        </p:spPr>
      </p:pic>
      <p:pic>
        <p:nvPicPr>
          <p:cNvPr id="20" name="SK-20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4400" y="4269879"/>
            <a:ext cx="381000" cy="381000"/>
          </a:xfrm>
          <a:prstGeom prst="rect">
            <a:avLst/>
          </a:prstGeom>
        </p:spPr>
      </p:pic>
      <p:pic>
        <p:nvPicPr>
          <p:cNvPr id="21" name="SK-20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7744" y="4372719"/>
            <a:ext cx="214313" cy="175320"/>
          </a:xfrm>
          <a:prstGeom prst="rect">
            <a:avLst/>
          </a:prstGeom>
        </p:spPr>
      </p:pic>
      <p:pic>
        <p:nvPicPr>
          <p:cNvPr id="22" name="SK-20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186113" y="4807297"/>
            <a:ext cx="142875" cy="114300"/>
          </a:xfrm>
          <a:prstGeom prst="rect">
            <a:avLst/>
          </a:prstGeom>
        </p:spPr>
      </p:pic>
      <p:pic>
        <p:nvPicPr>
          <p:cNvPr id="23" name="SK-20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62000" y="4978747"/>
            <a:ext cx="4991100" cy="795338"/>
          </a:xfrm>
          <a:prstGeom prst="rect">
            <a:avLst/>
          </a:prstGeom>
        </p:spPr>
      </p:pic>
      <p:pic>
        <p:nvPicPr>
          <p:cNvPr id="24" name="SK-20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4400" y="5185916"/>
            <a:ext cx="381000" cy="381000"/>
          </a:xfrm>
          <a:prstGeom prst="rect">
            <a:avLst/>
          </a:prstGeom>
        </p:spPr>
      </p:pic>
      <p:pic>
        <p:nvPicPr>
          <p:cNvPr id="25" name="SK-20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97744" y="5288756"/>
            <a:ext cx="214313" cy="175320"/>
          </a:xfrm>
          <a:prstGeom prst="rect">
            <a:avLst/>
          </a:prstGeom>
        </p:spPr>
      </p:pic>
      <p:pic>
        <p:nvPicPr>
          <p:cNvPr id="26" name="SK-20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447800" y="5507385"/>
            <a:ext cx="2105025" cy="209550"/>
          </a:xfrm>
          <a:prstGeom prst="rect">
            <a:avLst/>
          </a:prstGeom>
        </p:spPr>
      </p:pic>
      <p:pic>
        <p:nvPicPr>
          <p:cNvPr id="27" name="SK-20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186113" y="5831235"/>
            <a:ext cx="142875" cy="114300"/>
          </a:xfrm>
          <a:prstGeom prst="rect">
            <a:avLst/>
          </a:prstGeom>
        </p:spPr>
      </p:pic>
      <p:pic>
        <p:nvPicPr>
          <p:cNvPr id="28" name="SK-20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62000" y="6002685"/>
            <a:ext cx="4991100" cy="579388"/>
          </a:xfrm>
          <a:prstGeom prst="rect">
            <a:avLst/>
          </a:prstGeom>
        </p:spPr>
      </p:pic>
      <p:pic>
        <p:nvPicPr>
          <p:cNvPr id="29" name="SK-20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4400" y="6101804"/>
            <a:ext cx="381000" cy="381000"/>
          </a:xfrm>
          <a:prstGeom prst="rect">
            <a:avLst/>
          </a:prstGeom>
        </p:spPr>
      </p:pic>
      <p:pic>
        <p:nvPicPr>
          <p:cNvPr id="30" name="SK-20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97744" y="6204645"/>
            <a:ext cx="214313" cy="175320"/>
          </a:xfrm>
          <a:prstGeom prst="rect">
            <a:avLst/>
          </a:prstGeom>
        </p:spPr>
      </p:pic>
      <p:pic>
        <p:nvPicPr>
          <p:cNvPr id="31" name="SK-20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248400" y="1270546"/>
            <a:ext cx="5372100" cy="5406479"/>
          </a:xfrm>
          <a:prstGeom prst="rect">
            <a:avLst/>
          </a:prstGeom>
        </p:spPr>
      </p:pic>
      <p:pic>
        <p:nvPicPr>
          <p:cNvPr id="32" name="SK-20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438900" y="1394371"/>
            <a:ext cx="285750" cy="228600"/>
          </a:xfrm>
          <a:prstGeom prst="rect">
            <a:avLst/>
          </a:prstGeom>
        </p:spPr>
      </p:pic>
      <p:pic>
        <p:nvPicPr>
          <p:cNvPr id="33" name="SK-20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438900" y="1746796"/>
            <a:ext cx="4991100" cy="579388"/>
          </a:xfrm>
          <a:prstGeom prst="rect">
            <a:avLst/>
          </a:prstGeom>
        </p:spPr>
      </p:pic>
      <p:pic>
        <p:nvPicPr>
          <p:cNvPr id="34" name="SK-20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91300" y="1845915"/>
            <a:ext cx="381000" cy="381000"/>
          </a:xfrm>
          <a:prstGeom prst="rect">
            <a:avLst/>
          </a:prstGeom>
        </p:spPr>
      </p:pic>
      <p:pic>
        <p:nvPicPr>
          <p:cNvPr id="35" name="SK-20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674644" y="1948755"/>
            <a:ext cx="214313" cy="175320"/>
          </a:xfrm>
          <a:prstGeom prst="rect">
            <a:avLst/>
          </a:prstGeom>
        </p:spPr>
      </p:pic>
      <p:pic>
        <p:nvPicPr>
          <p:cNvPr id="36" name="SK-20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863013" y="2383334"/>
            <a:ext cx="142875" cy="114300"/>
          </a:xfrm>
          <a:prstGeom prst="rect">
            <a:avLst/>
          </a:prstGeom>
        </p:spPr>
      </p:pic>
      <p:pic>
        <p:nvPicPr>
          <p:cNvPr id="37" name="SK-20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438900" y="2554784"/>
            <a:ext cx="4991100" cy="579388"/>
          </a:xfrm>
          <a:prstGeom prst="rect">
            <a:avLst/>
          </a:prstGeom>
        </p:spPr>
      </p:pic>
      <p:pic>
        <p:nvPicPr>
          <p:cNvPr id="38" name="SK-20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91300" y="2653903"/>
            <a:ext cx="381000" cy="381000"/>
          </a:xfrm>
          <a:prstGeom prst="rect">
            <a:avLst/>
          </a:prstGeom>
        </p:spPr>
      </p:pic>
      <p:pic>
        <p:nvPicPr>
          <p:cNvPr id="39" name="SK-20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74644" y="2756743"/>
            <a:ext cx="214313" cy="175320"/>
          </a:xfrm>
          <a:prstGeom prst="rect">
            <a:avLst/>
          </a:prstGeom>
        </p:spPr>
      </p:pic>
      <p:pic>
        <p:nvPicPr>
          <p:cNvPr id="40" name="SK-20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8863013" y="3191321"/>
            <a:ext cx="142875" cy="114300"/>
          </a:xfrm>
          <a:prstGeom prst="rect">
            <a:avLst/>
          </a:prstGeom>
        </p:spPr>
      </p:pic>
      <p:pic>
        <p:nvPicPr>
          <p:cNvPr id="41" name="SK-20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438900" y="3362771"/>
            <a:ext cx="4991100" cy="579388"/>
          </a:xfrm>
          <a:prstGeom prst="rect">
            <a:avLst/>
          </a:prstGeom>
        </p:spPr>
      </p:pic>
      <p:pic>
        <p:nvPicPr>
          <p:cNvPr id="42" name="SK-20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591300" y="3461891"/>
            <a:ext cx="381000" cy="381000"/>
          </a:xfrm>
          <a:prstGeom prst="rect">
            <a:avLst/>
          </a:prstGeom>
        </p:spPr>
      </p:pic>
      <p:pic>
        <p:nvPicPr>
          <p:cNvPr id="43" name="SK-20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74644" y="3564731"/>
            <a:ext cx="214313" cy="175320"/>
          </a:xfrm>
          <a:prstGeom prst="rect">
            <a:avLst/>
          </a:prstGeom>
        </p:spPr>
      </p:pic>
      <p:pic>
        <p:nvPicPr>
          <p:cNvPr id="44" name="SK-20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8863013" y="3999309"/>
            <a:ext cx="142875" cy="114300"/>
          </a:xfrm>
          <a:prstGeom prst="rect">
            <a:avLst/>
          </a:prstGeom>
        </p:spPr>
      </p:pic>
      <p:pic>
        <p:nvPicPr>
          <p:cNvPr id="45" name="SK-20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438900" y="4170759"/>
            <a:ext cx="4991100" cy="579388"/>
          </a:xfrm>
          <a:prstGeom prst="rect">
            <a:avLst/>
          </a:prstGeom>
        </p:spPr>
      </p:pic>
      <p:pic>
        <p:nvPicPr>
          <p:cNvPr id="46" name="SK-20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591300" y="4269879"/>
            <a:ext cx="381000" cy="381000"/>
          </a:xfrm>
          <a:prstGeom prst="rect">
            <a:avLst/>
          </a:prstGeom>
        </p:spPr>
      </p:pic>
      <p:pic>
        <p:nvPicPr>
          <p:cNvPr id="47" name="SK-20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6674644" y="4372719"/>
            <a:ext cx="214313" cy="175320"/>
          </a:xfrm>
          <a:prstGeom prst="rect">
            <a:avLst/>
          </a:prstGeom>
        </p:spPr>
      </p:pic>
      <p:pic>
        <p:nvPicPr>
          <p:cNvPr id="48" name="SK-20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863013" y="4807297"/>
            <a:ext cx="142875" cy="114300"/>
          </a:xfrm>
          <a:prstGeom prst="rect">
            <a:avLst/>
          </a:prstGeom>
        </p:spPr>
      </p:pic>
      <p:pic>
        <p:nvPicPr>
          <p:cNvPr id="49" name="SK-20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438900" y="4978747"/>
            <a:ext cx="4991100" cy="795338"/>
          </a:xfrm>
          <a:prstGeom prst="rect">
            <a:avLst/>
          </a:prstGeom>
        </p:spPr>
      </p:pic>
      <p:pic>
        <p:nvPicPr>
          <p:cNvPr id="50" name="SK-20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591300" y="5185916"/>
            <a:ext cx="381000" cy="381000"/>
          </a:xfrm>
          <a:prstGeom prst="rect">
            <a:avLst/>
          </a:prstGeom>
        </p:spPr>
      </p:pic>
      <p:pic>
        <p:nvPicPr>
          <p:cNvPr id="51" name="SK-20-img-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674644" y="5288756"/>
            <a:ext cx="214313" cy="175320"/>
          </a:xfrm>
          <a:prstGeom prst="rect">
            <a:avLst/>
          </a:prstGeom>
        </p:spPr>
      </p:pic>
      <p:pic>
        <p:nvPicPr>
          <p:cNvPr id="52" name="SK-20-img-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124700" y="5507385"/>
            <a:ext cx="1943100" cy="209550"/>
          </a:xfrm>
          <a:prstGeom prst="rect">
            <a:avLst/>
          </a:prstGeom>
        </p:spPr>
      </p:pic>
      <p:pic>
        <p:nvPicPr>
          <p:cNvPr id="53" name="SK-20-img-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863013" y="5831235"/>
            <a:ext cx="142875" cy="114300"/>
          </a:xfrm>
          <a:prstGeom prst="rect">
            <a:avLst/>
          </a:prstGeom>
        </p:spPr>
      </p:pic>
      <p:pic>
        <p:nvPicPr>
          <p:cNvPr id="54" name="SK-20-img-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438900" y="6002685"/>
            <a:ext cx="4991100" cy="579388"/>
          </a:xfrm>
          <a:prstGeom prst="rect">
            <a:avLst/>
          </a:prstGeom>
        </p:spPr>
      </p:pic>
      <p:pic>
        <p:nvPicPr>
          <p:cNvPr id="55" name="SK-20-img-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6591300" y="6101804"/>
            <a:ext cx="381000" cy="381000"/>
          </a:xfrm>
          <a:prstGeom prst="rect">
            <a:avLst/>
          </a:prstGeom>
        </p:spPr>
      </p:pic>
      <p:pic>
        <p:nvPicPr>
          <p:cNvPr id="56" name="SK-20-img-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6674644" y="6204645"/>
            <a:ext cx="214313" cy="175320"/>
          </a:xfrm>
          <a:prstGeom prst="rect">
            <a:avLst/>
          </a:prstGeom>
        </p:spPr>
      </p:pic>
      <p:sp>
        <p:nvSpPr>
          <p:cNvPr id="57" name="SK-20-text-56"/>
          <p:cNvSpPr/>
          <p:nvPr/>
        </p:nvSpPr>
        <p:spPr>
          <a:xfrm>
            <a:off x="762000" y="180975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58" name="SK-20-text-57"/>
          <p:cNvSpPr/>
          <p:nvPr/>
        </p:nvSpPr>
        <p:spPr>
          <a:xfrm>
            <a:off x="762000" y="457200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Communication Information Flow Map</a:t>
            </a:r>
            <a:endParaRPr lang="en-US" sz="2400" dirty="0"/>
          </a:p>
        </p:txBody>
      </p:sp>
      <p:sp>
        <p:nvSpPr>
          <p:cNvPr id="59" name="SK-20-text-58"/>
          <p:cNvSpPr/>
          <p:nvPr/>
        </p:nvSpPr>
        <p:spPr>
          <a:xfrm>
            <a:off x="762000" y="899071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파손된 커뮤니케이션 파이프라인과 AI 에이전트를 통한 정상적인 인지적 흐름 비교</a:t>
            </a:r>
            <a:endParaRPr lang="en-US" sz="1200" dirty="0"/>
          </a:p>
        </p:txBody>
      </p:sp>
      <p:sp>
        <p:nvSpPr>
          <p:cNvPr id="60" name="SK-20-text-59"/>
          <p:cNvSpPr/>
          <p:nvPr/>
        </p:nvSpPr>
        <p:spPr>
          <a:xfrm>
            <a:off x="1162050" y="1365796"/>
            <a:ext cx="4667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7171"/>
                </a:solidFill>
              </a:rPr>
              <a:t>현재의 파손된 파이프라인 (Silo)</a:t>
            </a:r>
            <a:endParaRPr lang="en-US" sz="1500" dirty="0"/>
          </a:p>
        </p:txBody>
      </p:sp>
      <p:sp>
        <p:nvSpPr>
          <p:cNvPr id="61" name="SK-20-text-60"/>
          <p:cNvSpPr/>
          <p:nvPr/>
        </p:nvSpPr>
        <p:spPr>
          <a:xfrm>
            <a:off x="1447800" y="1819721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개발자</a:t>
            </a:r>
            <a:endParaRPr lang="en-US" sz="1200" dirty="0"/>
          </a:p>
        </p:txBody>
      </p:sp>
      <p:sp>
        <p:nvSpPr>
          <p:cNvPr id="62" name="SK-20-text-61"/>
          <p:cNvSpPr/>
          <p:nvPr/>
        </p:nvSpPr>
        <p:spPr>
          <a:xfrm>
            <a:off x="1447800" y="2067371"/>
            <a:ext cx="349377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메모리 누수 임시 워크어라운드 적용</a:t>
            </a:r>
            <a:endParaRPr lang="en-US" sz="975" dirty="0"/>
          </a:p>
        </p:txBody>
      </p:sp>
      <p:sp>
        <p:nvSpPr>
          <p:cNvPr id="63" name="SK-20-text-62"/>
          <p:cNvSpPr/>
          <p:nvPr/>
        </p:nvSpPr>
        <p:spPr>
          <a:xfrm>
            <a:off x="1447800" y="2627709"/>
            <a:ext cx="227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메신저 구두 전달</a:t>
            </a:r>
            <a:endParaRPr lang="en-US" sz="1200" dirty="0"/>
          </a:p>
        </p:txBody>
      </p:sp>
      <p:sp>
        <p:nvSpPr>
          <p:cNvPr id="64" name="SK-20-text-63"/>
          <p:cNvSpPr/>
          <p:nvPr/>
        </p:nvSpPr>
        <p:spPr>
          <a:xfrm>
            <a:off x="1447800" y="2875359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변경 사항을 비공식 채널로 전파</a:t>
            </a:r>
            <a:endParaRPr lang="en-US" sz="975" dirty="0"/>
          </a:p>
        </p:txBody>
      </p:sp>
      <p:sp>
        <p:nvSpPr>
          <p:cNvPr id="65" name="SK-20-text-64"/>
          <p:cNvSpPr/>
          <p:nvPr/>
        </p:nvSpPr>
        <p:spPr>
          <a:xfrm>
            <a:off x="1447800" y="3435697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 / QA 확인 누락</a:t>
            </a:r>
            <a:endParaRPr lang="en-US" sz="1200" dirty="0"/>
          </a:p>
        </p:txBody>
      </p:sp>
      <p:sp>
        <p:nvSpPr>
          <p:cNvPr id="66" name="SK-20-text-65"/>
          <p:cNvSpPr/>
          <p:nvPr/>
        </p:nvSpPr>
        <p:spPr>
          <a:xfrm>
            <a:off x="1447800" y="3683347"/>
            <a:ext cx="28994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파편화로 인한 변경 인지 실패</a:t>
            </a:r>
            <a:endParaRPr lang="en-US" sz="975" dirty="0"/>
          </a:p>
        </p:txBody>
      </p:sp>
      <p:sp>
        <p:nvSpPr>
          <p:cNvPr id="67" name="SK-20-text-66"/>
          <p:cNvSpPr/>
          <p:nvPr/>
        </p:nvSpPr>
        <p:spPr>
          <a:xfrm>
            <a:off x="1447800" y="4243685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밤샘 CI 빌드 실행</a:t>
            </a:r>
            <a:endParaRPr lang="en-US" sz="1200" dirty="0"/>
          </a:p>
        </p:txBody>
      </p:sp>
      <p:sp>
        <p:nvSpPr>
          <p:cNvPr id="68" name="SK-20-text-67"/>
          <p:cNvSpPr/>
          <p:nvPr/>
        </p:nvSpPr>
        <p:spPr>
          <a:xfrm>
            <a:off x="1447800" y="4491335"/>
            <a:ext cx="33451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불일치 상태로 자동화 테스트 진행</a:t>
            </a:r>
            <a:endParaRPr lang="en-US" sz="975" dirty="0"/>
          </a:p>
        </p:txBody>
      </p:sp>
      <p:sp>
        <p:nvSpPr>
          <p:cNvPr id="69" name="SK-20-text-68"/>
          <p:cNvSpPr/>
          <p:nvPr/>
        </p:nvSpPr>
        <p:spPr>
          <a:xfrm>
            <a:off x="1447800" y="5035897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300개 테스트 파손</a:t>
            </a:r>
            <a:endParaRPr lang="en-US" sz="1200" dirty="0"/>
          </a:p>
        </p:txBody>
      </p:sp>
      <p:sp>
        <p:nvSpPr>
          <p:cNvPr id="70" name="SK-20-text-69"/>
          <p:cNvSpPr/>
          <p:nvPr/>
        </p:nvSpPr>
        <p:spPr>
          <a:xfrm>
            <a:off x="1447800" y="5283547"/>
            <a:ext cx="384048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성공률 58% 급락, 품질 게이트 붕괴</a:t>
            </a:r>
            <a:endParaRPr lang="en-US" sz="975" dirty="0"/>
          </a:p>
        </p:txBody>
      </p:sp>
      <p:sp>
        <p:nvSpPr>
          <p:cNvPr id="71" name="SK-20-text-70"/>
          <p:cNvSpPr/>
          <p:nvPr/>
        </p:nvSpPr>
        <p:spPr>
          <a:xfrm>
            <a:off x="1543050" y="5507385"/>
            <a:ext cx="20721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FAILURE</a:t>
            </a:r>
            <a:endParaRPr lang="en-US" sz="900" dirty="0"/>
          </a:p>
        </p:txBody>
      </p:sp>
      <p:sp>
        <p:nvSpPr>
          <p:cNvPr id="72" name="SK-20-text-71"/>
          <p:cNvSpPr/>
          <p:nvPr/>
        </p:nvSpPr>
        <p:spPr>
          <a:xfrm>
            <a:off x="1447800" y="6075611"/>
            <a:ext cx="2636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아침 데일리 스크럼 비난전</a:t>
            </a:r>
            <a:endParaRPr lang="en-US" sz="1200" dirty="0"/>
          </a:p>
        </p:txBody>
      </p:sp>
      <p:sp>
        <p:nvSpPr>
          <p:cNvPr id="73" name="SK-20-text-72"/>
          <p:cNvSpPr/>
          <p:nvPr/>
        </p:nvSpPr>
        <p:spPr>
          <a:xfrm>
            <a:off x="1447800" y="6323261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남탓 문화 및 조직 불신 확산</a:t>
            </a:r>
            <a:endParaRPr lang="en-US" sz="975" dirty="0"/>
          </a:p>
        </p:txBody>
      </p:sp>
      <p:sp>
        <p:nvSpPr>
          <p:cNvPr id="74" name="SK-20-text-73"/>
          <p:cNvSpPr/>
          <p:nvPr/>
        </p:nvSpPr>
        <p:spPr>
          <a:xfrm>
            <a:off x="6838950" y="1365796"/>
            <a:ext cx="5353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38BDF8"/>
                </a:solidFill>
              </a:rPr>
              <a:t>에이전틱 정상 파이프라인 (Cognitive)</a:t>
            </a:r>
            <a:endParaRPr lang="en-US" sz="1500" dirty="0"/>
          </a:p>
        </p:txBody>
      </p:sp>
      <p:sp>
        <p:nvSpPr>
          <p:cNvPr id="75" name="SK-20-text-74"/>
          <p:cNvSpPr/>
          <p:nvPr/>
        </p:nvSpPr>
        <p:spPr>
          <a:xfrm>
            <a:off x="7124700" y="1819721"/>
            <a:ext cx="2270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 개발자</a:t>
            </a:r>
            <a:endParaRPr lang="en-US" sz="1200" dirty="0"/>
          </a:p>
        </p:txBody>
      </p:sp>
      <p:sp>
        <p:nvSpPr>
          <p:cNvPr id="76" name="SK-20-text-75"/>
          <p:cNvSpPr/>
          <p:nvPr/>
        </p:nvSpPr>
        <p:spPr>
          <a:xfrm>
            <a:off x="7124700" y="2067371"/>
            <a:ext cx="230505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공식 API 변경 승인 요청</a:t>
            </a:r>
            <a:endParaRPr lang="en-US" sz="975" dirty="0"/>
          </a:p>
        </p:txBody>
      </p:sp>
      <p:sp>
        <p:nvSpPr>
          <p:cNvPr id="77" name="SK-20-text-76"/>
          <p:cNvSpPr/>
          <p:nvPr/>
        </p:nvSpPr>
        <p:spPr>
          <a:xfrm>
            <a:off x="7124700" y="2627709"/>
            <a:ext cx="3185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API 변경 티켓 발행</a:t>
            </a:r>
            <a:endParaRPr lang="en-US" sz="1200" dirty="0"/>
          </a:p>
        </p:txBody>
      </p:sp>
      <p:sp>
        <p:nvSpPr>
          <p:cNvPr id="78" name="SK-20-text-77"/>
          <p:cNvSpPr/>
          <p:nvPr/>
        </p:nvSpPr>
        <p:spPr>
          <a:xfrm>
            <a:off x="7124700" y="2875359"/>
            <a:ext cx="260223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정보 원천(SSOT) 기록</a:t>
            </a:r>
            <a:endParaRPr lang="en-US" sz="975" dirty="0"/>
          </a:p>
        </p:txBody>
      </p:sp>
      <p:sp>
        <p:nvSpPr>
          <p:cNvPr id="79" name="SK-20-text-78"/>
          <p:cNvSpPr/>
          <p:nvPr/>
        </p:nvSpPr>
        <p:spPr>
          <a:xfrm>
            <a:off x="7124700" y="3435697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 Orchestrator 감지</a:t>
            </a:r>
            <a:endParaRPr lang="en-US" sz="1200" dirty="0"/>
          </a:p>
        </p:txBody>
      </p:sp>
      <p:sp>
        <p:nvSpPr>
          <p:cNvPr id="80" name="SK-20-text-79"/>
          <p:cNvSpPr/>
          <p:nvPr/>
        </p:nvSpPr>
        <p:spPr>
          <a:xfrm>
            <a:off x="7124700" y="3683347"/>
            <a:ext cx="28994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영향도를 실시간으로 자동 분석</a:t>
            </a:r>
            <a:endParaRPr lang="en-US" sz="975" dirty="0"/>
          </a:p>
        </p:txBody>
      </p:sp>
      <p:sp>
        <p:nvSpPr>
          <p:cNvPr id="81" name="SK-20-text-80"/>
          <p:cNvSpPr/>
          <p:nvPr/>
        </p:nvSpPr>
        <p:spPr>
          <a:xfrm>
            <a:off x="7124700" y="4243685"/>
            <a:ext cx="446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FE/QA 알림 및 CI Webhook 갱신</a:t>
            </a:r>
            <a:endParaRPr lang="en-US" sz="1200" dirty="0"/>
          </a:p>
        </p:txBody>
      </p:sp>
      <p:sp>
        <p:nvSpPr>
          <p:cNvPr id="82" name="SK-20-text-81"/>
          <p:cNvSpPr/>
          <p:nvPr/>
        </p:nvSpPr>
        <p:spPr>
          <a:xfrm>
            <a:off x="7124700" y="4491335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유관 부서 자동 전파 및 테스트 동기화</a:t>
            </a:r>
            <a:endParaRPr lang="en-US" sz="975" dirty="0"/>
          </a:p>
        </p:txBody>
      </p:sp>
      <p:sp>
        <p:nvSpPr>
          <p:cNvPr id="83" name="SK-20-text-82"/>
          <p:cNvSpPr/>
          <p:nvPr/>
        </p:nvSpPr>
        <p:spPr>
          <a:xfrm>
            <a:off x="7124700" y="5035897"/>
            <a:ext cx="245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Build Pass</a:t>
            </a:r>
            <a:endParaRPr lang="en-US" sz="1200" dirty="0"/>
          </a:p>
        </p:txBody>
      </p:sp>
      <p:sp>
        <p:nvSpPr>
          <p:cNvPr id="84" name="SK-20-text-83"/>
          <p:cNvSpPr/>
          <p:nvPr/>
        </p:nvSpPr>
        <p:spPr>
          <a:xfrm>
            <a:off x="7124700" y="5283547"/>
            <a:ext cx="33947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성공률 95% 이상 복구, 정합성 확보</a:t>
            </a:r>
            <a:endParaRPr lang="en-US" sz="975" dirty="0"/>
          </a:p>
        </p:txBody>
      </p:sp>
      <p:sp>
        <p:nvSpPr>
          <p:cNvPr id="85" name="SK-20-text-84"/>
          <p:cNvSpPr/>
          <p:nvPr/>
        </p:nvSpPr>
        <p:spPr>
          <a:xfrm>
            <a:off x="7219950" y="5507385"/>
            <a:ext cx="20556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STABILITY</a:t>
            </a:r>
            <a:endParaRPr lang="en-US" sz="900" dirty="0"/>
          </a:p>
        </p:txBody>
      </p:sp>
      <p:sp>
        <p:nvSpPr>
          <p:cNvPr id="86" name="SK-20-text-85"/>
          <p:cNvSpPr/>
          <p:nvPr/>
        </p:nvSpPr>
        <p:spPr>
          <a:xfrm>
            <a:off x="7124700" y="6075611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 기반 협업 문화</a:t>
            </a:r>
            <a:endParaRPr lang="en-US" sz="1200" dirty="0"/>
          </a:p>
        </p:txBody>
      </p:sp>
      <p:sp>
        <p:nvSpPr>
          <p:cNvPr id="87" name="SK-20-text-86"/>
          <p:cNvSpPr/>
          <p:nvPr/>
        </p:nvSpPr>
        <p:spPr>
          <a:xfrm>
            <a:off x="7124700" y="6323261"/>
            <a:ext cx="31965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정보 공유로 심리적 안전감 회복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1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1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1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21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6492180" cy="3911054"/>
          </a:xfrm>
          <a:prstGeom prst="rect">
            <a:avLst/>
          </a:prstGeom>
        </p:spPr>
      </p:pic>
      <p:pic>
        <p:nvPicPr>
          <p:cNvPr id="6" name="SK-21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46796"/>
            <a:ext cx="1565821" cy="481012"/>
          </a:xfrm>
          <a:prstGeom prst="rect">
            <a:avLst/>
          </a:prstGeom>
        </p:spPr>
      </p:pic>
      <p:pic>
        <p:nvPicPr>
          <p:cNvPr id="7" name="SK-21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1621" y="1746796"/>
            <a:ext cx="1252686" cy="481012"/>
          </a:xfrm>
          <a:prstGeom prst="rect">
            <a:avLst/>
          </a:prstGeom>
        </p:spPr>
      </p:pic>
      <p:pic>
        <p:nvPicPr>
          <p:cNvPr id="8" name="SK-21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4307" y="1746796"/>
            <a:ext cx="939403" cy="481012"/>
          </a:xfrm>
          <a:prstGeom prst="rect">
            <a:avLst/>
          </a:prstGeom>
        </p:spPr>
      </p:pic>
      <p:pic>
        <p:nvPicPr>
          <p:cNvPr id="9" name="SK-21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710" y="1746796"/>
            <a:ext cx="2505670" cy="481012"/>
          </a:xfrm>
          <a:prstGeom prst="rect">
            <a:avLst/>
          </a:prstGeom>
        </p:spPr>
      </p:pic>
      <p:pic>
        <p:nvPicPr>
          <p:cNvPr id="10" name="SK-21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227808"/>
            <a:ext cx="1565821" cy="1067098"/>
          </a:xfrm>
          <a:prstGeom prst="rect">
            <a:avLst/>
          </a:prstGeom>
        </p:spPr>
      </p:pic>
      <p:pic>
        <p:nvPicPr>
          <p:cNvPr id="11" name="SK-21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51621" y="2227808"/>
            <a:ext cx="1252686" cy="1067098"/>
          </a:xfrm>
          <a:prstGeom prst="rect">
            <a:avLst/>
          </a:prstGeom>
        </p:spPr>
      </p:pic>
      <p:pic>
        <p:nvPicPr>
          <p:cNvPr id="12" name="SK-21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04307" y="2227808"/>
            <a:ext cx="939403" cy="1067098"/>
          </a:xfrm>
          <a:prstGeom prst="rect">
            <a:avLst/>
          </a:prstGeom>
        </p:spPr>
      </p:pic>
      <p:pic>
        <p:nvPicPr>
          <p:cNvPr id="13" name="SK-21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43710" y="2227808"/>
            <a:ext cx="2505670" cy="1067098"/>
          </a:xfrm>
          <a:prstGeom prst="rect">
            <a:avLst/>
          </a:prstGeom>
        </p:spPr>
      </p:pic>
      <p:pic>
        <p:nvPicPr>
          <p:cNvPr id="14" name="SK-21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294906"/>
            <a:ext cx="1565821" cy="1067098"/>
          </a:xfrm>
          <a:prstGeom prst="rect">
            <a:avLst/>
          </a:prstGeom>
        </p:spPr>
      </p:pic>
      <p:pic>
        <p:nvPicPr>
          <p:cNvPr id="15" name="SK-21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51621" y="3294906"/>
            <a:ext cx="1252686" cy="1067098"/>
          </a:xfrm>
          <a:prstGeom prst="rect">
            <a:avLst/>
          </a:prstGeom>
        </p:spPr>
      </p:pic>
      <p:pic>
        <p:nvPicPr>
          <p:cNvPr id="16" name="SK-21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04307" y="3294906"/>
            <a:ext cx="939403" cy="1067098"/>
          </a:xfrm>
          <a:prstGeom prst="rect">
            <a:avLst/>
          </a:prstGeom>
        </p:spPr>
      </p:pic>
      <p:pic>
        <p:nvPicPr>
          <p:cNvPr id="17" name="SK-21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43710" y="3294906"/>
            <a:ext cx="2505670" cy="1067098"/>
          </a:xfrm>
          <a:prstGeom prst="rect">
            <a:avLst/>
          </a:prstGeom>
        </p:spPr>
      </p:pic>
      <p:pic>
        <p:nvPicPr>
          <p:cNvPr id="18" name="SK-21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4362004"/>
            <a:ext cx="1565821" cy="1067246"/>
          </a:xfrm>
          <a:prstGeom prst="rect">
            <a:avLst/>
          </a:prstGeom>
        </p:spPr>
      </p:pic>
      <p:pic>
        <p:nvPicPr>
          <p:cNvPr id="19" name="SK-21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51621" y="4362004"/>
            <a:ext cx="1252686" cy="1067246"/>
          </a:xfrm>
          <a:prstGeom prst="rect">
            <a:avLst/>
          </a:prstGeom>
        </p:spPr>
      </p:pic>
      <p:pic>
        <p:nvPicPr>
          <p:cNvPr id="20" name="SK-21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504307" y="4362004"/>
            <a:ext cx="939403" cy="1067246"/>
          </a:xfrm>
          <a:prstGeom prst="rect">
            <a:avLst/>
          </a:prstGeom>
        </p:spPr>
      </p:pic>
      <p:pic>
        <p:nvPicPr>
          <p:cNvPr id="21" name="SK-21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43710" y="4362004"/>
            <a:ext cx="2505670" cy="1067246"/>
          </a:xfrm>
          <a:prstGeom prst="rect">
            <a:avLst/>
          </a:prstGeom>
        </p:spPr>
      </p:pic>
      <p:pic>
        <p:nvPicPr>
          <p:cNvPr id="22" name="SK-21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71500" y="5848350"/>
            <a:ext cx="6492180" cy="628650"/>
          </a:xfrm>
          <a:prstGeom prst="rect">
            <a:avLst/>
          </a:prstGeom>
        </p:spPr>
      </p:pic>
      <p:pic>
        <p:nvPicPr>
          <p:cNvPr id="23" name="SK-21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3900" y="6079331"/>
            <a:ext cx="166688" cy="166688"/>
          </a:xfrm>
          <a:prstGeom prst="rect">
            <a:avLst/>
          </a:prstGeom>
        </p:spPr>
      </p:pic>
      <p:pic>
        <p:nvPicPr>
          <p:cNvPr id="24" name="SK-21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2280" y="1834009"/>
            <a:ext cx="4328220" cy="2929086"/>
          </a:xfrm>
          <a:prstGeom prst="rect">
            <a:avLst/>
          </a:prstGeom>
        </p:spPr>
      </p:pic>
      <p:pic>
        <p:nvPicPr>
          <p:cNvPr id="25" name="SK-21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82780" y="2072134"/>
            <a:ext cx="238125" cy="190500"/>
          </a:xfrm>
          <a:prstGeom prst="rect">
            <a:avLst/>
          </a:prstGeom>
        </p:spPr>
      </p:pic>
      <p:pic>
        <p:nvPicPr>
          <p:cNvPr id="26" name="SK-21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82780" y="2424559"/>
            <a:ext cx="190500" cy="152400"/>
          </a:xfrm>
          <a:prstGeom prst="rect">
            <a:avLst/>
          </a:prstGeom>
        </p:spPr>
      </p:pic>
      <p:pic>
        <p:nvPicPr>
          <p:cNvPr id="27" name="SK-21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82780" y="3178671"/>
            <a:ext cx="190500" cy="217587"/>
          </a:xfrm>
          <a:prstGeom prst="rect">
            <a:avLst/>
          </a:prstGeom>
        </p:spPr>
      </p:pic>
      <p:pic>
        <p:nvPicPr>
          <p:cNvPr id="28" name="SK-21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82780" y="3932783"/>
            <a:ext cx="190500" cy="190500"/>
          </a:xfrm>
          <a:prstGeom prst="rect">
            <a:avLst/>
          </a:prstGeom>
        </p:spPr>
      </p:pic>
      <p:pic>
        <p:nvPicPr>
          <p:cNvPr id="29" name="SK-21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92280" y="4953595"/>
            <a:ext cx="4328220" cy="1321891"/>
          </a:xfrm>
          <a:prstGeom prst="rect">
            <a:avLst/>
          </a:prstGeom>
        </p:spPr>
      </p:pic>
      <p:pic>
        <p:nvPicPr>
          <p:cNvPr id="30" name="SK-21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82780" y="5191720"/>
            <a:ext cx="238125" cy="190500"/>
          </a:xfrm>
          <a:prstGeom prst="rect">
            <a:avLst/>
          </a:prstGeom>
        </p:spPr>
      </p:pic>
      <p:pic>
        <p:nvPicPr>
          <p:cNvPr id="31" name="SK-21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482780" y="5544145"/>
            <a:ext cx="190500" cy="152400"/>
          </a:xfrm>
          <a:prstGeom prst="rect">
            <a:avLst/>
          </a:prstGeom>
        </p:spPr>
      </p:pic>
      <p:pic>
        <p:nvPicPr>
          <p:cNvPr id="32" name="SK-21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482780" y="5871716"/>
            <a:ext cx="190500" cy="152400"/>
          </a:xfrm>
          <a:prstGeom prst="rect">
            <a:avLst/>
          </a:prstGeom>
        </p:spPr>
      </p:pic>
      <p:sp>
        <p:nvSpPr>
          <p:cNvPr id="33" name="SK-21-text-32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4" name="SK-21-text-33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Team Psychological Safety Barometer</a:t>
            </a:r>
            <a:endParaRPr lang="en-US" sz="2400" dirty="0"/>
          </a:p>
        </p:txBody>
      </p:sp>
      <p:sp>
        <p:nvSpPr>
          <p:cNvPr id="35" name="SK-21-text-34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투명성, 신뢰도, 지속 가능성 지표를 통해 조직의 심리적 안전 상태를 측정하고 개선 방향을 도출합니다.</a:t>
            </a:r>
            <a:endParaRPr lang="en-US" sz="1200" dirty="0"/>
          </a:p>
        </p:txBody>
      </p:sp>
      <p:sp>
        <p:nvSpPr>
          <p:cNvPr id="36" name="SK-21-text-35"/>
          <p:cNvSpPr/>
          <p:nvPr/>
        </p:nvSpPr>
        <p:spPr>
          <a:xfrm>
            <a:off x="819150" y="1746796"/>
            <a:ext cx="1375321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항목</a:t>
            </a:r>
            <a:endParaRPr lang="en-US" sz="1125" dirty="0"/>
          </a:p>
        </p:txBody>
      </p:sp>
      <p:sp>
        <p:nvSpPr>
          <p:cNvPr id="37" name="SK-21-text-36"/>
          <p:cNvSpPr/>
          <p:nvPr/>
        </p:nvSpPr>
        <p:spPr>
          <a:xfrm>
            <a:off x="2384971" y="1746796"/>
            <a:ext cx="1062186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측정 지표</a:t>
            </a:r>
            <a:endParaRPr lang="en-US" sz="1125" dirty="0"/>
          </a:p>
        </p:txBody>
      </p:sp>
      <p:sp>
        <p:nvSpPr>
          <p:cNvPr id="38" name="SK-21-text-37"/>
          <p:cNvSpPr/>
          <p:nvPr/>
        </p:nvSpPr>
        <p:spPr>
          <a:xfrm>
            <a:off x="3637657" y="1746796"/>
            <a:ext cx="748903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</a:t>
            </a:r>
            <a:endParaRPr lang="en-US" sz="1125" dirty="0"/>
          </a:p>
        </p:txBody>
      </p:sp>
      <p:sp>
        <p:nvSpPr>
          <p:cNvPr id="39" name="SK-21-text-38"/>
          <p:cNvSpPr/>
          <p:nvPr/>
        </p:nvSpPr>
        <p:spPr>
          <a:xfrm>
            <a:off x="4577060" y="1746796"/>
            <a:ext cx="2315170" cy="48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현상 분석</a:t>
            </a:r>
            <a:endParaRPr lang="en-US" sz="1125" dirty="0"/>
          </a:p>
        </p:txBody>
      </p:sp>
      <p:sp>
        <p:nvSpPr>
          <p:cNvPr id="40" name="SK-21-text-39"/>
          <p:cNvSpPr/>
          <p:nvPr/>
        </p:nvSpPr>
        <p:spPr>
          <a:xfrm>
            <a:off x="819150" y="2227808"/>
            <a:ext cx="1441777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투명한 위기 공유</a:t>
            </a:r>
            <a:endParaRPr lang="en-US" sz="1200" dirty="0"/>
          </a:p>
        </p:txBody>
      </p:sp>
      <p:sp>
        <p:nvSpPr>
          <p:cNvPr id="41" name="SK-21-textBg-40"/>
          <p:cNvSpPr/>
          <p:nvPr/>
        </p:nvSpPr>
        <p:spPr>
          <a:xfrm>
            <a:off x="2384971" y="2585145"/>
            <a:ext cx="571500" cy="352425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SK-21-text-41"/>
          <p:cNvSpPr/>
          <p:nvPr/>
        </p:nvSpPr>
        <p:spPr>
          <a:xfrm>
            <a:off x="2508796" y="2585145"/>
            <a:ext cx="5349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7171"/>
                </a:solidFill>
              </a:rPr>
              <a:t>15점</a:t>
            </a:r>
            <a:endParaRPr lang="en-US" sz="1350" dirty="0"/>
          </a:p>
        </p:txBody>
      </p:sp>
      <p:sp>
        <p:nvSpPr>
          <p:cNvPr id="43" name="SK-21-text-42"/>
          <p:cNvSpPr/>
          <p:nvPr/>
        </p:nvSpPr>
        <p:spPr>
          <a:xfrm>
            <a:off x="3637657" y="2227808"/>
            <a:ext cx="748903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200" dirty="0"/>
          </a:p>
        </p:txBody>
      </p:sp>
      <p:sp>
        <p:nvSpPr>
          <p:cNvPr id="44" name="SK-21-text-43"/>
          <p:cNvSpPr/>
          <p:nvPr/>
        </p:nvSpPr>
        <p:spPr>
          <a:xfrm>
            <a:off x="4577060" y="2227808"/>
            <a:ext cx="2238970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보고 은폐 및 위기 상황 리스크 에스컬레이션 부재</a:t>
            </a:r>
            <a:endParaRPr lang="en-US" sz="1200" dirty="0"/>
          </a:p>
        </p:txBody>
      </p:sp>
      <p:sp>
        <p:nvSpPr>
          <p:cNvPr id="45" name="SK-21-text-44"/>
          <p:cNvSpPr/>
          <p:nvPr/>
        </p:nvSpPr>
        <p:spPr>
          <a:xfrm>
            <a:off x="819150" y="3294906"/>
            <a:ext cx="1375321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부서 간 신뢰도</a:t>
            </a:r>
            <a:endParaRPr lang="en-US" sz="1200" dirty="0"/>
          </a:p>
        </p:txBody>
      </p:sp>
      <p:sp>
        <p:nvSpPr>
          <p:cNvPr id="46" name="SK-21-textBg-45"/>
          <p:cNvSpPr/>
          <p:nvPr/>
        </p:nvSpPr>
        <p:spPr>
          <a:xfrm>
            <a:off x="2384971" y="3652242"/>
            <a:ext cx="628650" cy="352425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SK-21-text-46"/>
          <p:cNvSpPr/>
          <p:nvPr/>
        </p:nvSpPr>
        <p:spPr>
          <a:xfrm>
            <a:off x="2508796" y="3652242"/>
            <a:ext cx="567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7171"/>
                </a:solidFill>
              </a:rPr>
              <a:t>20점</a:t>
            </a:r>
            <a:endParaRPr lang="en-US" sz="1350" dirty="0"/>
          </a:p>
        </p:txBody>
      </p:sp>
      <p:sp>
        <p:nvSpPr>
          <p:cNvPr id="48" name="SK-21-text-47"/>
          <p:cNvSpPr/>
          <p:nvPr/>
        </p:nvSpPr>
        <p:spPr>
          <a:xfrm>
            <a:off x="3637657" y="3294906"/>
            <a:ext cx="748903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200" dirty="0"/>
          </a:p>
        </p:txBody>
      </p:sp>
      <p:sp>
        <p:nvSpPr>
          <p:cNvPr id="49" name="SK-21-text-48"/>
          <p:cNvSpPr/>
          <p:nvPr/>
        </p:nvSpPr>
        <p:spPr>
          <a:xfrm>
            <a:off x="4577060" y="3294906"/>
            <a:ext cx="2238970" cy="106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메신저 기반의 책임 전가 및 부서 간 Silo 현상 심화</a:t>
            </a:r>
            <a:endParaRPr lang="en-US" sz="1200" dirty="0"/>
          </a:p>
        </p:txBody>
      </p:sp>
      <p:sp>
        <p:nvSpPr>
          <p:cNvPr id="50" name="SK-21-text-49"/>
          <p:cNvSpPr/>
          <p:nvPr/>
        </p:nvSpPr>
        <p:spPr>
          <a:xfrm>
            <a:off x="819150" y="4362004"/>
            <a:ext cx="1375321" cy="106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지속 가능성</a:t>
            </a:r>
            <a:endParaRPr lang="en-US" sz="1200" dirty="0"/>
          </a:p>
        </p:txBody>
      </p:sp>
      <p:sp>
        <p:nvSpPr>
          <p:cNvPr id="51" name="SK-21-textBg-50"/>
          <p:cNvSpPr/>
          <p:nvPr/>
        </p:nvSpPr>
        <p:spPr>
          <a:xfrm>
            <a:off x="2384971" y="4719340"/>
            <a:ext cx="628650" cy="352425"/>
          </a:xfrm>
          <a:prstGeom prst="roundRect">
            <a:avLst>
              <a:gd name="adj" fmla="val 50000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2" name="SK-21-text-51"/>
          <p:cNvSpPr/>
          <p:nvPr/>
        </p:nvSpPr>
        <p:spPr>
          <a:xfrm>
            <a:off x="2508796" y="4719340"/>
            <a:ext cx="56734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7171"/>
                </a:solidFill>
              </a:rPr>
              <a:t>30점</a:t>
            </a:r>
            <a:endParaRPr lang="en-US" sz="1350" dirty="0"/>
          </a:p>
        </p:txBody>
      </p:sp>
      <p:sp>
        <p:nvSpPr>
          <p:cNvPr id="53" name="SK-21-text-52"/>
          <p:cNvSpPr/>
          <p:nvPr/>
        </p:nvSpPr>
        <p:spPr>
          <a:xfrm>
            <a:off x="3637657" y="4362004"/>
            <a:ext cx="748903" cy="106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spc="48" kern="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1200" dirty="0"/>
          </a:p>
        </p:txBody>
      </p:sp>
      <p:sp>
        <p:nvSpPr>
          <p:cNvPr id="54" name="SK-21-text-53"/>
          <p:cNvSpPr/>
          <p:nvPr/>
        </p:nvSpPr>
        <p:spPr>
          <a:xfrm>
            <a:off x="4577060" y="4362004"/>
            <a:ext cx="2238970" cy="106724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주말 전원 철야 강요로 인한 개발진 번아웃 및 이탈 리스크</a:t>
            </a:r>
            <a:endParaRPr lang="en-US" sz="1200" dirty="0"/>
          </a:p>
        </p:txBody>
      </p:sp>
      <p:sp>
        <p:nvSpPr>
          <p:cNvPr id="55" name="SK-21-text-54"/>
          <p:cNvSpPr/>
          <p:nvPr/>
        </p:nvSpPr>
        <p:spPr>
          <a:xfrm>
            <a:off x="985838" y="5962650"/>
            <a:ext cx="59254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 파손은 기술적 결함을 넘어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심리적 안전감(Psychological Safety)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파괴하며 프로젝트 사멸의 핵심 원인이 됨.</a:t>
            </a:r>
            <a:endParaRPr lang="en-US" sz="1050" dirty="0"/>
          </a:p>
        </p:txBody>
      </p:sp>
      <p:sp>
        <p:nvSpPr>
          <p:cNvPr id="56" name="SK-21-text-55"/>
          <p:cNvSpPr/>
          <p:nvPr/>
        </p:nvSpPr>
        <p:spPr>
          <a:xfrm>
            <a:off x="7816155" y="2024509"/>
            <a:ext cx="39472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조직 문화 개선 방향</a:t>
            </a:r>
            <a:endParaRPr lang="en-US" sz="1500" dirty="0"/>
          </a:p>
        </p:txBody>
      </p:sp>
      <p:sp>
        <p:nvSpPr>
          <p:cNvPr id="57" name="SK-21-text-56"/>
          <p:cNvSpPr/>
          <p:nvPr/>
        </p:nvSpPr>
        <p:spPr>
          <a:xfrm>
            <a:off x="7787580" y="2424559"/>
            <a:ext cx="364242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Cognitive Agent 기반 자동 에스컬레이션: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인위적인 보고 은폐를 차단하고 데이터 기반의 즉각적인 위기 공유 체계 구축</a:t>
            </a:r>
            <a:endParaRPr lang="en-US" sz="1200" dirty="0"/>
          </a:p>
        </p:txBody>
      </p:sp>
      <p:sp>
        <p:nvSpPr>
          <p:cNvPr id="58" name="SK-21-text-57"/>
          <p:cNvSpPr/>
          <p:nvPr/>
        </p:nvSpPr>
        <p:spPr>
          <a:xfrm>
            <a:off x="7787580" y="3178671"/>
            <a:ext cx="364242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 통합 SSOT(Single Source of Truth):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개인 메신저 구두 전달을 금지하고 모든 변경 사항을 공식 형상 관리 시스템으로 단일화</a:t>
            </a:r>
            <a:endParaRPr lang="en-US" sz="1200" dirty="0"/>
          </a:p>
        </p:txBody>
      </p:sp>
      <p:sp>
        <p:nvSpPr>
          <p:cNvPr id="59" name="SK-21-text-58"/>
          <p:cNvSpPr/>
          <p:nvPr/>
        </p:nvSpPr>
        <p:spPr>
          <a:xfrm>
            <a:off x="7787580" y="3932783"/>
            <a:ext cx="364242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변경 심의 프로세스 정상화: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Top-down 요구사항의 무분별한 직수용을 차단하여 지속 가능한 개발 속도 확보</a:t>
            </a:r>
            <a:endParaRPr lang="en-US" sz="1200" dirty="0"/>
          </a:p>
        </p:txBody>
      </p:sp>
      <p:sp>
        <p:nvSpPr>
          <p:cNvPr id="60" name="SK-21-text-59"/>
          <p:cNvSpPr/>
          <p:nvPr/>
        </p:nvSpPr>
        <p:spPr>
          <a:xfrm>
            <a:off x="7816155" y="5144095"/>
            <a:ext cx="437584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전환 목표 (Future State)</a:t>
            </a:r>
            <a:endParaRPr lang="en-US" sz="1500" dirty="0"/>
          </a:p>
        </p:txBody>
      </p:sp>
      <p:sp>
        <p:nvSpPr>
          <p:cNvPr id="61" name="SK-21-text-60"/>
          <p:cNvSpPr/>
          <p:nvPr/>
        </p:nvSpPr>
        <p:spPr>
          <a:xfrm>
            <a:off x="7787580" y="5544145"/>
            <a:ext cx="44044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Reactive 운영 → Proactive 거버넌스 전환</a:t>
            </a:r>
            <a:endParaRPr lang="en-US" sz="1200" dirty="0"/>
          </a:p>
        </p:txBody>
      </p:sp>
      <p:sp>
        <p:nvSpPr>
          <p:cNvPr id="62" name="SK-21-text-61"/>
          <p:cNvSpPr/>
          <p:nvPr/>
        </p:nvSpPr>
        <p:spPr>
          <a:xfrm>
            <a:off x="7787580" y="5871716"/>
            <a:ext cx="428244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비난 문화 → 데이터 기반 신뢰 문화 구축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2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2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946696"/>
          </a:xfrm>
          <a:prstGeom prst="rect">
            <a:avLst/>
          </a:prstGeom>
        </p:spPr>
      </p:pic>
      <p:pic>
        <p:nvPicPr>
          <p:cNvPr id="5" name="SK-2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94371"/>
            <a:ext cx="5410200" cy="2538413"/>
          </a:xfrm>
          <a:prstGeom prst="rect">
            <a:avLst/>
          </a:prstGeom>
        </p:spPr>
      </p:pic>
      <p:pic>
        <p:nvPicPr>
          <p:cNvPr id="6" name="SK-2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46771"/>
            <a:ext cx="381000" cy="381000"/>
          </a:xfrm>
          <a:prstGeom prst="rect">
            <a:avLst/>
          </a:prstGeom>
        </p:spPr>
      </p:pic>
      <p:pic>
        <p:nvPicPr>
          <p:cNvPr id="7" name="SK-2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8" y="1642021"/>
            <a:ext cx="238125" cy="190500"/>
          </a:xfrm>
          <a:prstGeom prst="rect">
            <a:avLst/>
          </a:prstGeom>
        </p:spPr>
      </p:pic>
      <p:pic>
        <p:nvPicPr>
          <p:cNvPr id="8" name="SK-2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80346"/>
            <a:ext cx="1552575" cy="228600"/>
          </a:xfrm>
          <a:prstGeom prst="rect">
            <a:avLst/>
          </a:prstGeom>
        </p:spPr>
      </p:pic>
      <p:pic>
        <p:nvPicPr>
          <p:cNvPr id="9" name="SK-2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0775" y="3480346"/>
            <a:ext cx="1943100" cy="228600"/>
          </a:xfrm>
          <a:prstGeom prst="rect">
            <a:avLst/>
          </a:prstGeom>
        </p:spPr>
      </p:pic>
      <p:pic>
        <p:nvPicPr>
          <p:cNvPr id="10" name="SK-2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4085183"/>
            <a:ext cx="5410200" cy="2538413"/>
          </a:xfrm>
          <a:prstGeom prst="rect">
            <a:avLst/>
          </a:prstGeom>
        </p:spPr>
      </p:pic>
      <p:pic>
        <p:nvPicPr>
          <p:cNvPr id="11" name="SK-22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4237583"/>
            <a:ext cx="381000" cy="381000"/>
          </a:xfrm>
          <a:prstGeom prst="rect">
            <a:avLst/>
          </a:prstGeom>
        </p:spPr>
      </p:pic>
      <p:pic>
        <p:nvPicPr>
          <p:cNvPr id="12" name="SK-2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438" y="4332833"/>
            <a:ext cx="238125" cy="190500"/>
          </a:xfrm>
          <a:prstGeom prst="rect">
            <a:avLst/>
          </a:prstGeom>
        </p:spPr>
      </p:pic>
      <p:pic>
        <p:nvPicPr>
          <p:cNvPr id="13" name="SK-2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1394371"/>
            <a:ext cx="5410200" cy="2705100"/>
          </a:xfrm>
          <a:prstGeom prst="rect">
            <a:avLst/>
          </a:prstGeom>
        </p:spPr>
      </p:pic>
      <p:pic>
        <p:nvPicPr>
          <p:cNvPr id="14" name="SK-2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1518196"/>
            <a:ext cx="381000" cy="381000"/>
          </a:xfrm>
          <a:prstGeom prst="rect">
            <a:avLst/>
          </a:prstGeom>
        </p:spPr>
      </p:pic>
      <p:pic>
        <p:nvPicPr>
          <p:cNvPr id="15" name="SK-2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2238" y="1613446"/>
            <a:ext cx="238125" cy="190500"/>
          </a:xfrm>
          <a:prstGeom prst="rect">
            <a:avLst/>
          </a:prstGeom>
        </p:spPr>
      </p:pic>
      <p:pic>
        <p:nvPicPr>
          <p:cNvPr id="16" name="SK-2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0300" y="4223296"/>
            <a:ext cx="5410200" cy="2400300"/>
          </a:xfrm>
          <a:prstGeom prst="rect">
            <a:avLst/>
          </a:prstGeom>
        </p:spPr>
      </p:pic>
      <p:pic>
        <p:nvPicPr>
          <p:cNvPr id="17" name="SK-2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4375696"/>
            <a:ext cx="381000" cy="381000"/>
          </a:xfrm>
          <a:prstGeom prst="rect">
            <a:avLst/>
          </a:prstGeom>
        </p:spPr>
      </p:pic>
      <p:pic>
        <p:nvPicPr>
          <p:cNvPr id="18" name="SK-2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2238" y="4470946"/>
            <a:ext cx="238125" cy="190500"/>
          </a:xfrm>
          <a:prstGeom prst="rect">
            <a:avLst/>
          </a:prstGeom>
        </p:spPr>
      </p:pic>
      <p:pic>
        <p:nvPicPr>
          <p:cNvPr id="19" name="SK-2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4880521"/>
            <a:ext cx="5029200" cy="1266825"/>
          </a:xfrm>
          <a:prstGeom prst="rect">
            <a:avLst/>
          </a:prstGeom>
        </p:spPr>
      </p:pic>
      <p:pic>
        <p:nvPicPr>
          <p:cNvPr id="20" name="SK-2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6242596"/>
            <a:ext cx="1571625" cy="228600"/>
          </a:xfrm>
          <a:prstGeom prst="rect">
            <a:avLst/>
          </a:prstGeom>
        </p:spPr>
      </p:pic>
      <p:pic>
        <p:nvPicPr>
          <p:cNvPr id="21" name="SK-2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48625" y="6242596"/>
            <a:ext cx="2133600" cy="228600"/>
          </a:xfrm>
          <a:prstGeom prst="rect">
            <a:avLst/>
          </a:prstGeom>
        </p:spPr>
      </p:pic>
      <p:sp>
        <p:nvSpPr>
          <p:cNvPr id="22" name="SK-22-text-21"/>
          <p:cNvSpPr/>
          <p:nvPr/>
        </p:nvSpPr>
        <p:spPr>
          <a:xfrm>
            <a:off x="762000" y="24765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3" name="SK-22-text-22"/>
          <p:cNvSpPr/>
          <p:nvPr/>
        </p:nvSpPr>
        <p:spPr>
          <a:xfrm>
            <a:off x="762000" y="52387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근본원인 5 — 보안 규제 컴플라이언스 이월 및 임시방편 위기대응</a:t>
            </a:r>
            <a:endParaRPr lang="en-US" sz="2400" dirty="0"/>
          </a:p>
        </p:txBody>
      </p:sp>
      <p:sp>
        <p:nvSpPr>
          <p:cNvPr id="24" name="SK-22-text-23"/>
          <p:cNvSpPr/>
          <p:nvPr/>
        </p:nvSpPr>
        <p:spPr>
          <a:xfrm>
            <a:off x="762000" y="96574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및 UN R155 위반 위험을 임시 약관으로 우회하려 한 Reactive 위기 대응의 법적 리스크를 진단합니다.</a:t>
            </a:r>
            <a:endParaRPr lang="en-US" sz="1200" dirty="0"/>
          </a:p>
        </p:txBody>
      </p:sp>
      <p:sp>
        <p:nvSpPr>
          <p:cNvPr id="25" name="SK-22-text-24"/>
          <p:cNvSpPr/>
          <p:nvPr/>
        </p:nvSpPr>
        <p:spPr>
          <a:xfrm>
            <a:off x="1257300" y="1594396"/>
            <a:ext cx="2381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현상 및 문제 요약</a:t>
            </a:r>
            <a:endParaRPr lang="en-US" sz="1500" dirty="0"/>
          </a:p>
        </p:txBody>
      </p:sp>
      <p:sp>
        <p:nvSpPr>
          <p:cNvPr id="26" name="SK-22-text-25"/>
          <p:cNvSpPr/>
          <p:nvPr/>
        </p:nvSpPr>
        <p:spPr>
          <a:xfrm>
            <a:off x="952500" y="2051596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HSM 연동(REQ-077) 지연에도 G2 게이트를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시키며 리스크 부채 이월</a:t>
            </a:r>
            <a:endParaRPr lang="en-US" sz="1200" dirty="0"/>
          </a:p>
        </p:txBody>
      </p:sp>
      <p:sp>
        <p:nvSpPr>
          <p:cNvPr id="27" name="SK-22-text-26"/>
          <p:cNvSpPr/>
          <p:nvPr/>
        </p:nvSpPr>
        <p:spPr>
          <a:xfrm>
            <a:off x="952500" y="2604046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유럽 시장 GDPR 및 UN R155 법규 대응 미비 상태에서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임시 약관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우회 시도</a:t>
            </a:r>
            <a:endParaRPr lang="en-US" sz="1200" dirty="0"/>
          </a:p>
        </p:txBody>
      </p:sp>
      <p:sp>
        <p:nvSpPr>
          <p:cNvPr id="28" name="SK-22-text-27"/>
          <p:cNvSpPr/>
          <p:nvPr/>
        </p:nvSpPr>
        <p:spPr>
          <a:xfrm>
            <a:off x="952500" y="3156496"/>
            <a:ext cx="6586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취약점 제거보다 마일스톤 날짜 준수에 매몰된 관료적 행정 처리</a:t>
            </a:r>
            <a:endParaRPr lang="en-US" sz="1200" dirty="0"/>
          </a:p>
        </p:txBody>
      </p:sp>
      <p:sp>
        <p:nvSpPr>
          <p:cNvPr id="29" name="SK-22-text-28"/>
          <p:cNvSpPr/>
          <p:nvPr/>
        </p:nvSpPr>
        <p:spPr>
          <a:xfrm>
            <a:off x="857250" y="3480346"/>
            <a:ext cx="25630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G2 GATE HEALTH: POOR</a:t>
            </a:r>
            <a:endParaRPr lang="en-US" sz="900" dirty="0"/>
          </a:p>
        </p:txBody>
      </p:sp>
      <p:sp>
        <p:nvSpPr>
          <p:cNvPr id="30" name="SK-22-text-29"/>
          <p:cNvSpPr/>
          <p:nvPr/>
        </p:nvSpPr>
        <p:spPr>
          <a:xfrm>
            <a:off x="2486025" y="3480346"/>
            <a:ext cx="30453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STATUS: DEBT ACCUMULATED</a:t>
            </a:r>
            <a:endParaRPr lang="en-US" sz="900" dirty="0"/>
          </a:p>
        </p:txBody>
      </p:sp>
      <p:sp>
        <p:nvSpPr>
          <p:cNvPr id="31" name="SK-22-text-30"/>
          <p:cNvSpPr/>
          <p:nvPr/>
        </p:nvSpPr>
        <p:spPr>
          <a:xfrm>
            <a:off x="1257300" y="4285208"/>
            <a:ext cx="2152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진단된 근본 원인</a:t>
            </a:r>
            <a:endParaRPr lang="en-US" sz="1500" dirty="0"/>
          </a:p>
        </p:txBody>
      </p:sp>
      <p:sp>
        <p:nvSpPr>
          <p:cNvPr id="32" name="SK-22-text-31"/>
          <p:cNvSpPr/>
          <p:nvPr/>
        </p:nvSpPr>
        <p:spPr>
          <a:xfrm>
            <a:off x="952500" y="4742408"/>
            <a:ext cx="739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게이트 통과 중심의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관료적 PMing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(Checkbox Compliance)</a:t>
            </a:r>
            <a:endParaRPr lang="en-US" sz="1200" dirty="0"/>
          </a:p>
        </p:txBody>
      </p:sp>
      <p:sp>
        <p:nvSpPr>
          <p:cNvPr id="33" name="SK-22-text-32"/>
          <p:cNvSpPr/>
          <p:nvPr/>
        </p:nvSpPr>
        <p:spPr>
          <a:xfrm>
            <a:off x="952500" y="5066258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위기를 투명하게 보고하기보다 임시 조치로 덮으려는 </a:t>
            </a:r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Reactive 대응 문화</a:t>
            </a:r>
            <a:endParaRPr lang="en-US" sz="1200" dirty="0"/>
          </a:p>
        </p:txBody>
      </p:sp>
      <p:sp>
        <p:nvSpPr>
          <p:cNvPr id="34" name="SK-22-text-33"/>
          <p:cNvSpPr/>
          <p:nvPr/>
        </p:nvSpPr>
        <p:spPr>
          <a:xfrm>
            <a:off x="952500" y="5618708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보안/법무 규제 준수를 기능 구현보다 후순위로 두는 아키텍처 거버넌스 부재</a:t>
            </a:r>
            <a:endParaRPr lang="en-US" sz="1200" dirty="0"/>
          </a:p>
        </p:txBody>
      </p:sp>
      <p:sp>
        <p:nvSpPr>
          <p:cNvPr id="35" name="SK-22-text-34"/>
          <p:cNvSpPr/>
          <p:nvPr/>
        </p:nvSpPr>
        <p:spPr>
          <a:xfrm>
            <a:off x="6896100" y="1565821"/>
            <a:ext cx="443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비즈니스 파급력 (Critical)</a:t>
            </a:r>
            <a:endParaRPr lang="en-US" sz="1500" dirty="0"/>
          </a:p>
        </p:txBody>
      </p:sp>
      <p:sp>
        <p:nvSpPr>
          <p:cNvPr id="36" name="SK-22-text-35"/>
          <p:cNvSpPr/>
          <p:nvPr/>
        </p:nvSpPr>
        <p:spPr>
          <a:xfrm>
            <a:off x="6591300" y="2023021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위반: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유럽 운전자 데이터 암호화 미비로 인한 천문학적 벌금 부과 위험</a:t>
            </a:r>
            <a:endParaRPr lang="en-US" sz="1200" dirty="0"/>
          </a:p>
        </p:txBody>
      </p:sp>
      <p:sp>
        <p:nvSpPr>
          <p:cNvPr id="37" name="SK-22-text-36"/>
          <p:cNvSpPr/>
          <p:nvPr/>
        </p:nvSpPr>
        <p:spPr>
          <a:xfrm>
            <a:off x="6591300" y="2575471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 R155 인증 취소: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차량 사이버보안 규격 미달로 인한 유럽 내 판매 금지</a:t>
            </a:r>
            <a:endParaRPr lang="en-US" sz="1200" dirty="0"/>
          </a:p>
        </p:txBody>
      </p:sp>
      <p:sp>
        <p:nvSpPr>
          <p:cNvPr id="38" name="SK-22-text-37"/>
          <p:cNvSpPr/>
          <p:nvPr/>
        </p:nvSpPr>
        <p:spPr>
          <a:xfrm>
            <a:off x="6591300" y="3127921"/>
            <a:ext cx="483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대형 리콜 사유:</a:t>
            </a:r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우회는 소프트웨어 업데이트로 해결 불가능한 법적 리콜 초래</a:t>
            </a:r>
            <a:endParaRPr lang="en-US" sz="1200" dirty="0"/>
          </a:p>
        </p:txBody>
      </p:sp>
      <p:sp>
        <p:nvSpPr>
          <p:cNvPr id="39" name="SK-22-text-38"/>
          <p:cNvSpPr/>
          <p:nvPr/>
        </p:nvSpPr>
        <p:spPr>
          <a:xfrm>
            <a:off x="6400800" y="3632746"/>
            <a:ext cx="5791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손실: 약 450억 원 + 브랜드 신뢰 붕괴</a:t>
            </a:r>
            <a:endParaRPr lang="en-US" sz="1800" dirty="0"/>
          </a:p>
        </p:txBody>
      </p:sp>
      <p:sp>
        <p:nvSpPr>
          <p:cNvPr id="40" name="SK-22-text-39"/>
          <p:cNvSpPr/>
          <p:nvPr/>
        </p:nvSpPr>
        <p:spPr>
          <a:xfrm>
            <a:off x="6896100" y="4423321"/>
            <a:ext cx="3524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F8FAFC"/>
                </a:solidFill>
              </a:rPr>
              <a:t>법무/컴플라이언스 위계 진단</a:t>
            </a:r>
            <a:endParaRPr lang="en-US" sz="1500" dirty="0"/>
          </a:p>
        </p:txBody>
      </p:sp>
      <p:sp>
        <p:nvSpPr>
          <p:cNvPr id="41" name="SK-22-text-40"/>
          <p:cNvSpPr/>
          <p:nvPr/>
        </p:nvSpPr>
        <p:spPr>
          <a:xfrm>
            <a:off x="6553200" y="4975771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Strategic Insight</a:t>
            </a:r>
            <a:endParaRPr lang="en-US" sz="1200" dirty="0"/>
          </a:p>
        </p:txBody>
      </p:sp>
      <p:sp>
        <p:nvSpPr>
          <p:cNvPr id="42" name="SK-22-text-41"/>
          <p:cNvSpPr/>
          <p:nvPr/>
        </p:nvSpPr>
        <p:spPr>
          <a:xfrm>
            <a:off x="6553200" y="5251996"/>
            <a:ext cx="472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차량용 SW에서 보안 및 규제 준수는 </a:t>
            </a:r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기능적 버그가 아닌 법적 생존의 문제</a:t>
            </a:r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임시 약관 우회는 리스크를 제거하는 것이 아니라 잠재적 폭탄을 양산 시점으로 유예하는 행위이며, 이는 SOP 취소 및 대형 리콜의 직격탄이 됩니다.</a:t>
            </a:r>
            <a:endParaRPr lang="en-US" sz="1125" dirty="0"/>
          </a:p>
        </p:txBody>
      </p:sp>
      <p:sp>
        <p:nvSpPr>
          <p:cNvPr id="43" name="SK-22-text-42"/>
          <p:cNvSpPr/>
          <p:nvPr/>
        </p:nvSpPr>
        <p:spPr>
          <a:xfrm>
            <a:off x="6496050" y="6242596"/>
            <a:ext cx="29690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 RISK: REQ-077</a:t>
            </a:r>
            <a:endParaRPr lang="en-US" sz="900" dirty="0"/>
          </a:p>
        </p:txBody>
      </p:sp>
      <p:sp>
        <p:nvSpPr>
          <p:cNvPr id="44" name="SK-22-text-43"/>
          <p:cNvSpPr/>
          <p:nvPr/>
        </p:nvSpPr>
        <p:spPr>
          <a:xfrm>
            <a:off x="8143875" y="6242596"/>
            <a:ext cx="3573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REGULATORY ALIGNMENT: FAILED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3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3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3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23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6492180" cy="4063454"/>
          </a:xfrm>
          <a:prstGeom prst="rect">
            <a:avLst/>
          </a:prstGeom>
        </p:spPr>
      </p:pic>
      <p:pic>
        <p:nvPicPr>
          <p:cNvPr id="6" name="SK-23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632496"/>
            <a:ext cx="6492180" cy="466725"/>
          </a:xfrm>
          <a:prstGeom prst="rect">
            <a:avLst/>
          </a:prstGeom>
        </p:spPr>
      </p:pic>
      <p:pic>
        <p:nvPicPr>
          <p:cNvPr id="7" name="SK-23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2099221"/>
            <a:ext cx="1607641" cy="739825"/>
          </a:xfrm>
          <a:prstGeom prst="rect">
            <a:avLst/>
          </a:prstGeom>
        </p:spPr>
      </p:pic>
      <p:pic>
        <p:nvPicPr>
          <p:cNvPr id="8" name="SK-23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9141" y="2099221"/>
            <a:ext cx="2216646" cy="739825"/>
          </a:xfrm>
          <a:prstGeom prst="rect">
            <a:avLst/>
          </a:prstGeom>
        </p:spPr>
      </p:pic>
      <p:pic>
        <p:nvPicPr>
          <p:cNvPr id="9" name="SK-23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5788" y="2099221"/>
            <a:ext cx="1286619" cy="739825"/>
          </a:xfrm>
          <a:prstGeom prst="rect">
            <a:avLst/>
          </a:prstGeom>
        </p:spPr>
      </p:pic>
      <p:pic>
        <p:nvPicPr>
          <p:cNvPr id="10" name="SK-23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2407" y="2099221"/>
            <a:ext cx="1381274" cy="739825"/>
          </a:xfrm>
          <a:prstGeom prst="rect">
            <a:avLst/>
          </a:prstGeom>
        </p:spPr>
      </p:pic>
      <p:pic>
        <p:nvPicPr>
          <p:cNvPr id="11" name="SK-23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2839045"/>
            <a:ext cx="1607641" cy="945059"/>
          </a:xfrm>
          <a:prstGeom prst="rect">
            <a:avLst/>
          </a:prstGeom>
        </p:spPr>
      </p:pic>
      <p:pic>
        <p:nvPicPr>
          <p:cNvPr id="12" name="SK-23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79141" y="2839045"/>
            <a:ext cx="2216646" cy="945059"/>
          </a:xfrm>
          <a:prstGeom prst="rect">
            <a:avLst/>
          </a:prstGeom>
        </p:spPr>
      </p:pic>
      <p:pic>
        <p:nvPicPr>
          <p:cNvPr id="13" name="SK-23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95788" y="2839045"/>
            <a:ext cx="1286619" cy="945059"/>
          </a:xfrm>
          <a:prstGeom prst="rect">
            <a:avLst/>
          </a:prstGeom>
        </p:spPr>
      </p:pic>
      <p:pic>
        <p:nvPicPr>
          <p:cNvPr id="14" name="SK-23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82407" y="2839045"/>
            <a:ext cx="1381274" cy="945059"/>
          </a:xfrm>
          <a:prstGeom prst="rect">
            <a:avLst/>
          </a:prstGeom>
        </p:spPr>
      </p:pic>
      <p:pic>
        <p:nvPicPr>
          <p:cNvPr id="15" name="SK-23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784104"/>
            <a:ext cx="1607641" cy="945059"/>
          </a:xfrm>
          <a:prstGeom prst="rect">
            <a:avLst/>
          </a:prstGeom>
        </p:spPr>
      </p:pic>
      <p:pic>
        <p:nvPicPr>
          <p:cNvPr id="16" name="SK-23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79141" y="3784104"/>
            <a:ext cx="2216646" cy="945059"/>
          </a:xfrm>
          <a:prstGeom prst="rect">
            <a:avLst/>
          </a:prstGeom>
        </p:spPr>
      </p:pic>
      <p:pic>
        <p:nvPicPr>
          <p:cNvPr id="17" name="SK-23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95788" y="3784104"/>
            <a:ext cx="1286619" cy="945059"/>
          </a:xfrm>
          <a:prstGeom prst="rect">
            <a:avLst/>
          </a:prstGeom>
        </p:spPr>
      </p:pic>
      <p:pic>
        <p:nvPicPr>
          <p:cNvPr id="18" name="SK-23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682407" y="3784104"/>
            <a:ext cx="1381274" cy="945059"/>
          </a:xfrm>
          <a:prstGeom prst="rect">
            <a:avLst/>
          </a:prstGeom>
        </p:spPr>
      </p:pic>
      <p:pic>
        <p:nvPicPr>
          <p:cNvPr id="19" name="SK-23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4729163"/>
            <a:ext cx="1607641" cy="966788"/>
          </a:xfrm>
          <a:prstGeom prst="rect">
            <a:avLst/>
          </a:prstGeom>
        </p:spPr>
      </p:pic>
      <p:pic>
        <p:nvPicPr>
          <p:cNvPr id="20" name="SK-23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79141" y="4729163"/>
            <a:ext cx="2216646" cy="966788"/>
          </a:xfrm>
          <a:prstGeom prst="rect">
            <a:avLst/>
          </a:prstGeom>
        </p:spPr>
      </p:pic>
      <p:pic>
        <p:nvPicPr>
          <p:cNvPr id="21" name="SK-23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395788" y="4729163"/>
            <a:ext cx="1286619" cy="966788"/>
          </a:xfrm>
          <a:prstGeom prst="rect">
            <a:avLst/>
          </a:prstGeom>
        </p:spPr>
      </p:pic>
      <p:pic>
        <p:nvPicPr>
          <p:cNvPr id="22" name="SK-23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82407" y="4729163"/>
            <a:ext cx="1381274" cy="966788"/>
          </a:xfrm>
          <a:prstGeom prst="rect">
            <a:avLst/>
          </a:prstGeom>
        </p:spPr>
      </p:pic>
      <p:pic>
        <p:nvPicPr>
          <p:cNvPr id="23" name="SK-23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71500" y="5848350"/>
            <a:ext cx="6492180" cy="628650"/>
          </a:xfrm>
          <a:prstGeom prst="rect">
            <a:avLst/>
          </a:prstGeom>
        </p:spPr>
      </p:pic>
      <p:pic>
        <p:nvPicPr>
          <p:cNvPr id="24" name="SK-23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3900" y="6010424"/>
            <a:ext cx="166688" cy="137220"/>
          </a:xfrm>
          <a:prstGeom prst="rect">
            <a:avLst/>
          </a:prstGeom>
        </p:spPr>
      </p:pic>
      <p:pic>
        <p:nvPicPr>
          <p:cNvPr id="25" name="SK-23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92280" y="1768673"/>
            <a:ext cx="4328220" cy="4572000"/>
          </a:xfrm>
          <a:prstGeom prst="rect">
            <a:avLst/>
          </a:prstGeom>
        </p:spPr>
      </p:pic>
      <p:pic>
        <p:nvPicPr>
          <p:cNvPr id="26" name="SK-23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06580" y="1882973"/>
            <a:ext cx="4076700" cy="4324350"/>
          </a:xfrm>
          <a:prstGeom prst="rect">
            <a:avLst/>
          </a:prstGeom>
        </p:spPr>
      </p:pic>
      <p:sp>
        <p:nvSpPr>
          <p:cNvPr id="27" name="SK-23-text-26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28" name="SK-23-text-27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1 — Gate Health 및 Compliance Audit Radar</a:t>
            </a:r>
            <a:endParaRPr lang="en-US" sz="2400" dirty="0"/>
          </a:p>
        </p:txBody>
      </p:sp>
      <p:sp>
        <p:nvSpPr>
          <p:cNvPr id="29" name="SK-23-text-28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안전, 사이버 보안, 개인정보 보호 규격에 대한 현재 준비도와 게이트별 부채 이월 상태를 평가합니다.</a:t>
            </a:r>
            <a:endParaRPr lang="en-US" sz="1200" dirty="0"/>
          </a:p>
        </p:txBody>
      </p:sp>
      <p:sp>
        <p:nvSpPr>
          <p:cNvPr id="30" name="SK-23-text-29"/>
          <p:cNvSpPr/>
          <p:nvPr/>
        </p:nvSpPr>
        <p:spPr>
          <a:xfrm>
            <a:off x="723900" y="1632496"/>
            <a:ext cx="137904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컴플라이언스 항목</a:t>
            </a:r>
            <a:endParaRPr lang="en-US" sz="1050" dirty="0"/>
          </a:p>
        </p:txBody>
      </p:sp>
      <p:sp>
        <p:nvSpPr>
          <p:cNvPr id="31" name="SK-23-text-30"/>
          <p:cNvSpPr/>
          <p:nvPr/>
        </p:nvSpPr>
        <p:spPr>
          <a:xfrm>
            <a:off x="2331541" y="1632496"/>
            <a:ext cx="198804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요구 규격</a:t>
            </a:r>
            <a:endParaRPr lang="en-US" sz="1050" dirty="0"/>
          </a:p>
        </p:txBody>
      </p:sp>
      <p:sp>
        <p:nvSpPr>
          <p:cNvPr id="32" name="SK-23-text-31"/>
          <p:cNvSpPr/>
          <p:nvPr/>
        </p:nvSpPr>
        <p:spPr>
          <a:xfrm>
            <a:off x="4548188" y="1632496"/>
            <a:ext cx="105801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현재 준비도</a:t>
            </a:r>
            <a:endParaRPr lang="en-US" sz="1050" dirty="0"/>
          </a:p>
        </p:txBody>
      </p:sp>
      <p:sp>
        <p:nvSpPr>
          <p:cNvPr id="33" name="SK-23-text-32"/>
          <p:cNvSpPr/>
          <p:nvPr/>
        </p:nvSpPr>
        <p:spPr>
          <a:xfrm>
            <a:off x="5834807" y="1632496"/>
            <a:ext cx="1152674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</a:rPr>
              <a:t>위험 평가</a:t>
            </a:r>
            <a:endParaRPr lang="en-US" sz="1050" dirty="0"/>
          </a:p>
        </p:txBody>
      </p:sp>
      <p:sp>
        <p:nvSpPr>
          <p:cNvPr id="34" name="SK-23-text-33"/>
          <p:cNvSpPr/>
          <p:nvPr/>
        </p:nvSpPr>
        <p:spPr>
          <a:xfrm>
            <a:off x="723900" y="2099221"/>
            <a:ext cx="2762451" cy="73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ISO 26262 ASIL-B</a:t>
            </a:r>
            <a:endParaRPr lang="en-US" sz="1125" dirty="0"/>
          </a:p>
        </p:txBody>
      </p:sp>
      <p:sp>
        <p:nvSpPr>
          <p:cNvPr id="35" name="SK-23-text-34"/>
          <p:cNvSpPr/>
          <p:nvPr/>
        </p:nvSpPr>
        <p:spPr>
          <a:xfrm>
            <a:off x="2331541" y="2099221"/>
            <a:ext cx="2737946" cy="73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안전 프로세스 및 CI 검증</a:t>
            </a:r>
            <a:endParaRPr lang="en-US" sz="1125" dirty="0"/>
          </a:p>
        </p:txBody>
      </p:sp>
      <p:sp>
        <p:nvSpPr>
          <p:cNvPr id="36" name="SK-23-text-35"/>
          <p:cNvSpPr/>
          <p:nvPr/>
        </p:nvSpPr>
        <p:spPr>
          <a:xfrm>
            <a:off x="4548188" y="2099221"/>
            <a:ext cx="1558980" cy="739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35 / 100</a:t>
            </a:r>
            <a:endParaRPr lang="en-US" sz="1125" dirty="0"/>
          </a:p>
        </p:txBody>
      </p:sp>
      <p:sp>
        <p:nvSpPr>
          <p:cNvPr id="37" name="SK-23-textBg-36"/>
          <p:cNvSpPr/>
          <p:nvPr/>
        </p:nvSpPr>
        <p:spPr>
          <a:xfrm>
            <a:off x="5834807" y="2341513"/>
            <a:ext cx="742950" cy="255240"/>
          </a:xfrm>
          <a:prstGeom prst="roundRect">
            <a:avLst>
              <a:gd name="adj" fmla="val 14927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23-text-37"/>
          <p:cNvSpPr/>
          <p:nvPr/>
        </p:nvSpPr>
        <p:spPr>
          <a:xfrm>
            <a:off x="5920532" y="2341513"/>
            <a:ext cx="981222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RISK</a:t>
            </a:r>
            <a:endParaRPr lang="en-US" sz="900" dirty="0"/>
          </a:p>
        </p:txBody>
      </p:sp>
      <p:sp>
        <p:nvSpPr>
          <p:cNvPr id="39" name="SK-23-text-38"/>
          <p:cNvSpPr/>
          <p:nvPr/>
        </p:nvSpPr>
        <p:spPr>
          <a:xfrm>
            <a:off x="723900" y="2839045"/>
            <a:ext cx="1379041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 R155</a:t>
            </a:r>
            <a:endParaRPr lang="en-US" sz="1125" dirty="0"/>
          </a:p>
        </p:txBody>
      </p:sp>
      <p:sp>
        <p:nvSpPr>
          <p:cNvPr id="40" name="SK-23-text-39"/>
          <p:cNvSpPr/>
          <p:nvPr/>
        </p:nvSpPr>
        <p:spPr>
          <a:xfrm>
            <a:off x="2331541" y="2839045"/>
            <a:ext cx="2590071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HSM 키 관리 및 암호화 모듈</a:t>
            </a:r>
            <a:endParaRPr lang="en-US" sz="1125" dirty="0"/>
          </a:p>
        </p:txBody>
      </p:sp>
      <p:sp>
        <p:nvSpPr>
          <p:cNvPr id="41" name="SK-23-text-40"/>
          <p:cNvSpPr/>
          <p:nvPr/>
        </p:nvSpPr>
        <p:spPr>
          <a:xfrm>
            <a:off x="4548188" y="2839045"/>
            <a:ext cx="981819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100 (Blocked)</a:t>
            </a:r>
            <a:endParaRPr lang="en-US" sz="1125" dirty="0"/>
          </a:p>
        </p:txBody>
      </p:sp>
      <p:sp>
        <p:nvSpPr>
          <p:cNvPr id="42" name="SK-23-textBg-41"/>
          <p:cNvSpPr/>
          <p:nvPr/>
        </p:nvSpPr>
        <p:spPr>
          <a:xfrm>
            <a:off x="5834807" y="3183880"/>
            <a:ext cx="704850" cy="255240"/>
          </a:xfrm>
          <a:prstGeom prst="roundRect">
            <a:avLst>
              <a:gd name="adj" fmla="val 1492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23-text-42"/>
          <p:cNvSpPr/>
          <p:nvPr/>
        </p:nvSpPr>
        <p:spPr>
          <a:xfrm>
            <a:off x="5920532" y="3183880"/>
            <a:ext cx="860030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44" name="SK-23-text-43"/>
          <p:cNvSpPr/>
          <p:nvPr/>
        </p:nvSpPr>
        <p:spPr>
          <a:xfrm>
            <a:off x="723900" y="3784104"/>
            <a:ext cx="1379041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</a:t>
            </a:r>
            <a:endParaRPr lang="en-US" sz="1125" dirty="0"/>
          </a:p>
        </p:txBody>
      </p:sp>
      <p:sp>
        <p:nvSpPr>
          <p:cNvPr id="45" name="SK-23-text-44"/>
          <p:cNvSpPr/>
          <p:nvPr/>
        </p:nvSpPr>
        <p:spPr>
          <a:xfrm>
            <a:off x="2331541" y="3784104"/>
            <a:ext cx="1911846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음성데이터 전송 동의 및 암호화</a:t>
            </a:r>
            <a:endParaRPr lang="en-US" sz="1125" dirty="0"/>
          </a:p>
        </p:txBody>
      </p:sp>
      <p:sp>
        <p:nvSpPr>
          <p:cNvPr id="46" name="SK-23-text-45"/>
          <p:cNvSpPr/>
          <p:nvPr/>
        </p:nvSpPr>
        <p:spPr>
          <a:xfrm>
            <a:off x="4548188" y="3784104"/>
            <a:ext cx="1558980" cy="94505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100</a:t>
            </a:r>
            <a:endParaRPr lang="en-US" sz="1125" dirty="0"/>
          </a:p>
        </p:txBody>
      </p:sp>
      <p:sp>
        <p:nvSpPr>
          <p:cNvPr id="47" name="SK-23-textBg-46"/>
          <p:cNvSpPr/>
          <p:nvPr/>
        </p:nvSpPr>
        <p:spPr>
          <a:xfrm>
            <a:off x="5834807" y="4128939"/>
            <a:ext cx="704850" cy="255240"/>
          </a:xfrm>
          <a:prstGeom prst="roundRect">
            <a:avLst>
              <a:gd name="adj" fmla="val 14927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K-23-text-47"/>
          <p:cNvSpPr/>
          <p:nvPr/>
        </p:nvSpPr>
        <p:spPr>
          <a:xfrm>
            <a:off x="5920532" y="4128939"/>
            <a:ext cx="860030" cy="255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49" name="SK-23-text-48"/>
          <p:cNvSpPr/>
          <p:nvPr/>
        </p:nvSpPr>
        <p:spPr>
          <a:xfrm>
            <a:off x="723900" y="4729163"/>
            <a:ext cx="1302841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G2 Architecture Gate</a:t>
            </a:r>
            <a:endParaRPr lang="en-US" sz="1125" dirty="0"/>
          </a:p>
        </p:txBody>
      </p:sp>
      <p:sp>
        <p:nvSpPr>
          <p:cNvPr id="50" name="SK-23-text-49"/>
          <p:cNvSpPr/>
          <p:nvPr/>
        </p:nvSpPr>
        <p:spPr>
          <a:xfrm>
            <a:off x="2331541" y="4729163"/>
            <a:ext cx="1988046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아키텍처 확정</a:t>
            </a:r>
            <a:endParaRPr lang="en-US" sz="1125" dirty="0"/>
          </a:p>
        </p:txBody>
      </p:sp>
      <p:sp>
        <p:nvSpPr>
          <p:cNvPr id="51" name="SK-23-text-50"/>
          <p:cNvSpPr/>
          <p:nvPr/>
        </p:nvSpPr>
        <p:spPr>
          <a:xfrm>
            <a:off x="4548188" y="4729163"/>
            <a:ext cx="1058019" cy="96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조건부 통과</a:t>
            </a:r>
            <a:endParaRPr lang="en-US" sz="1125" dirty="0"/>
          </a:p>
        </p:txBody>
      </p:sp>
      <p:sp>
        <p:nvSpPr>
          <p:cNvPr id="52" name="SK-23-text-51"/>
          <p:cNvSpPr/>
          <p:nvPr/>
        </p:nvSpPr>
        <p:spPr>
          <a:xfrm>
            <a:off x="5920532" y="5004941"/>
            <a:ext cx="924074" cy="4152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18CF8"/>
                </a:solidFill>
                <a:highlight>
                  <a:srgbClr val="818CF8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DEBT ACCUMULATED</a:t>
            </a:r>
            <a:endParaRPr lang="en-US" sz="900" dirty="0"/>
          </a:p>
        </p:txBody>
      </p:sp>
      <p:sp>
        <p:nvSpPr>
          <p:cNvPr id="53" name="SK-23-text-52"/>
          <p:cNvSpPr/>
          <p:nvPr/>
        </p:nvSpPr>
        <p:spPr>
          <a:xfrm>
            <a:off x="995363" y="5962650"/>
            <a:ext cx="61873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pPr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SW 규제 위계:</a:t>
            </a:r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보안 우회는 단순 버그가 아니라 법적 판매 금지 및 천문학적 리콜 사유에 해당합니다. (GDPR 억대 벌금 및 UN R155 인증 취소 위험)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4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4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4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11049000" cy="946696"/>
          </a:xfrm>
          <a:prstGeom prst="rect">
            <a:avLst/>
          </a:prstGeom>
        </p:spPr>
      </p:pic>
      <p:pic>
        <p:nvPicPr>
          <p:cNvPr id="5" name="SK-24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632496"/>
            <a:ext cx="5372100" cy="930622"/>
          </a:xfrm>
          <a:prstGeom prst="rect">
            <a:avLst/>
          </a:prstGeom>
        </p:spPr>
      </p:pic>
      <p:pic>
        <p:nvPicPr>
          <p:cNvPr id="6" name="SK-24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746796"/>
            <a:ext cx="381000" cy="381000"/>
          </a:xfrm>
          <a:prstGeom prst="rect">
            <a:avLst/>
          </a:prstGeom>
        </p:spPr>
      </p:pic>
      <p:pic>
        <p:nvPicPr>
          <p:cNvPr id="7" name="SK-24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8" y="1842046"/>
            <a:ext cx="238125" cy="190500"/>
          </a:xfrm>
          <a:prstGeom prst="rect">
            <a:avLst/>
          </a:prstGeom>
        </p:spPr>
      </p:pic>
      <p:pic>
        <p:nvPicPr>
          <p:cNvPr id="8" name="SK-24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677418"/>
            <a:ext cx="5372100" cy="930622"/>
          </a:xfrm>
          <a:prstGeom prst="rect">
            <a:avLst/>
          </a:prstGeom>
        </p:spPr>
      </p:pic>
      <p:pic>
        <p:nvPicPr>
          <p:cNvPr id="9" name="SK-24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2791718"/>
            <a:ext cx="381000" cy="381000"/>
          </a:xfrm>
          <a:prstGeom prst="rect">
            <a:avLst/>
          </a:prstGeom>
        </p:spPr>
      </p:pic>
      <p:pic>
        <p:nvPicPr>
          <p:cNvPr id="10" name="SK-24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238" y="2886968"/>
            <a:ext cx="238125" cy="190500"/>
          </a:xfrm>
          <a:prstGeom prst="rect">
            <a:avLst/>
          </a:prstGeom>
        </p:spPr>
      </p:pic>
      <p:pic>
        <p:nvPicPr>
          <p:cNvPr id="11" name="SK-24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722340"/>
            <a:ext cx="5372100" cy="930622"/>
          </a:xfrm>
          <a:prstGeom prst="rect">
            <a:avLst/>
          </a:prstGeom>
        </p:spPr>
      </p:pic>
      <p:pic>
        <p:nvPicPr>
          <p:cNvPr id="12" name="SK-24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836640"/>
            <a:ext cx="381000" cy="381000"/>
          </a:xfrm>
          <a:prstGeom prst="rect">
            <a:avLst/>
          </a:prstGeom>
        </p:spPr>
      </p:pic>
      <p:pic>
        <p:nvPicPr>
          <p:cNvPr id="13" name="SK-24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7238" y="3931890"/>
            <a:ext cx="238125" cy="190500"/>
          </a:xfrm>
          <a:prstGeom prst="rect">
            <a:avLst/>
          </a:prstGeom>
        </p:spPr>
      </p:pic>
      <p:pic>
        <p:nvPicPr>
          <p:cNvPr id="14" name="SK-24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767263"/>
            <a:ext cx="5372100" cy="930622"/>
          </a:xfrm>
          <a:prstGeom prst="rect">
            <a:avLst/>
          </a:prstGeom>
        </p:spPr>
      </p:pic>
      <p:pic>
        <p:nvPicPr>
          <p:cNvPr id="15" name="SK-24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800" y="4881563"/>
            <a:ext cx="381000" cy="381000"/>
          </a:xfrm>
          <a:prstGeom prst="rect">
            <a:avLst/>
          </a:prstGeom>
        </p:spPr>
      </p:pic>
      <p:pic>
        <p:nvPicPr>
          <p:cNvPr id="16" name="SK-24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7238" y="4976813"/>
            <a:ext cx="238125" cy="190500"/>
          </a:xfrm>
          <a:prstGeom prst="rect">
            <a:avLst/>
          </a:prstGeom>
        </p:spPr>
      </p:pic>
      <p:pic>
        <p:nvPicPr>
          <p:cNvPr id="17" name="SK-24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5812185"/>
            <a:ext cx="5372100" cy="930622"/>
          </a:xfrm>
          <a:prstGeom prst="rect">
            <a:avLst/>
          </a:prstGeom>
        </p:spPr>
      </p:pic>
      <p:pic>
        <p:nvPicPr>
          <p:cNvPr id="18" name="SK-24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800" y="5926485"/>
            <a:ext cx="381000" cy="381000"/>
          </a:xfrm>
          <a:prstGeom prst="rect">
            <a:avLst/>
          </a:prstGeom>
        </p:spPr>
      </p:pic>
      <p:pic>
        <p:nvPicPr>
          <p:cNvPr id="19" name="SK-24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7238" y="6021735"/>
            <a:ext cx="238125" cy="190500"/>
          </a:xfrm>
          <a:prstGeom prst="rect">
            <a:avLst/>
          </a:prstGeom>
        </p:spPr>
      </p:pic>
      <p:pic>
        <p:nvPicPr>
          <p:cNvPr id="20" name="SK-24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48400" y="1632496"/>
            <a:ext cx="5372100" cy="5110163"/>
          </a:xfrm>
          <a:prstGeom prst="rect">
            <a:avLst/>
          </a:prstGeom>
        </p:spPr>
      </p:pic>
      <p:pic>
        <p:nvPicPr>
          <p:cNvPr id="21" name="SK-24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77000" y="1861096"/>
            <a:ext cx="4914900" cy="428625"/>
          </a:xfrm>
          <a:prstGeom prst="rect">
            <a:avLst/>
          </a:prstGeom>
        </p:spPr>
      </p:pic>
      <p:pic>
        <p:nvPicPr>
          <p:cNvPr id="22" name="SK-24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1903958"/>
            <a:ext cx="285750" cy="228600"/>
          </a:xfrm>
          <a:prstGeom prst="rect">
            <a:avLst/>
          </a:prstGeom>
        </p:spPr>
      </p:pic>
      <p:pic>
        <p:nvPicPr>
          <p:cNvPr id="23" name="SK-24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575471"/>
            <a:ext cx="190500" cy="152400"/>
          </a:xfrm>
          <a:prstGeom prst="rect">
            <a:avLst/>
          </a:prstGeom>
        </p:spPr>
      </p:pic>
      <p:pic>
        <p:nvPicPr>
          <p:cNvPr id="24" name="SK-24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3327946"/>
            <a:ext cx="190500" cy="152400"/>
          </a:xfrm>
          <a:prstGeom prst="rect">
            <a:avLst/>
          </a:prstGeom>
        </p:spPr>
      </p:pic>
      <p:pic>
        <p:nvPicPr>
          <p:cNvPr id="25" name="SK-24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77000" y="4080421"/>
            <a:ext cx="190500" cy="152400"/>
          </a:xfrm>
          <a:prstGeom prst="rect">
            <a:avLst/>
          </a:prstGeom>
        </p:spPr>
      </p:pic>
      <p:pic>
        <p:nvPicPr>
          <p:cNvPr id="26" name="SK-24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832896"/>
            <a:ext cx="190500" cy="152400"/>
          </a:xfrm>
          <a:prstGeom prst="rect">
            <a:avLst/>
          </a:prstGeom>
        </p:spPr>
      </p:pic>
      <p:pic>
        <p:nvPicPr>
          <p:cNvPr id="27" name="SK-24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477000" y="5642521"/>
            <a:ext cx="4914900" cy="871538"/>
          </a:xfrm>
          <a:prstGeom prst="rect">
            <a:avLst/>
          </a:prstGeom>
        </p:spPr>
      </p:pic>
      <p:pic>
        <p:nvPicPr>
          <p:cNvPr id="28" name="SK-24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640116" y="5796260"/>
            <a:ext cx="178594" cy="148828"/>
          </a:xfrm>
          <a:prstGeom prst="rect">
            <a:avLst/>
          </a:prstGeom>
        </p:spPr>
      </p:pic>
      <p:sp>
        <p:nvSpPr>
          <p:cNvPr id="29" name="SK-24-text-28"/>
          <p:cNvSpPr/>
          <p:nvPr/>
        </p:nvSpPr>
        <p:spPr>
          <a:xfrm>
            <a:off x="762000" y="3810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0" name="SK-24-text-29"/>
          <p:cNvSpPr/>
          <p:nvPr/>
        </p:nvSpPr>
        <p:spPr>
          <a:xfrm>
            <a:off x="762000" y="6572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2 — Causal Relationship Map</a:t>
            </a:r>
            <a:endParaRPr lang="en-US" sz="2400" dirty="0"/>
          </a:p>
        </p:txBody>
      </p:sp>
      <p:sp>
        <p:nvSpPr>
          <p:cNvPr id="31" name="SK-24-text-30"/>
          <p:cNvSpPr/>
          <p:nvPr/>
        </p:nvSpPr>
        <p:spPr>
          <a:xfrm>
            <a:off x="762000" y="1099096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5대 근본원인이 서로 어떻게 결합되어 프로젝트의 붕괴를 증폭시키는지 시스템 사고 관점에서 시각화합니다.</a:t>
            </a:r>
            <a:endParaRPr lang="en-US" sz="1200" dirty="0"/>
          </a:p>
        </p:txBody>
      </p:sp>
      <p:sp>
        <p:nvSpPr>
          <p:cNvPr id="32" name="SK-24-text-31"/>
          <p:cNvSpPr/>
          <p:nvPr/>
        </p:nvSpPr>
        <p:spPr>
          <a:xfrm>
            <a:off x="1219200" y="1746796"/>
            <a:ext cx="4657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1: 벤더 통제 실패</a:t>
            </a:r>
            <a:endParaRPr lang="en-US" sz="1350" dirty="0"/>
          </a:p>
        </p:txBody>
      </p:sp>
      <p:sp>
        <p:nvSpPr>
          <p:cNvPr id="33" name="SK-24-text-32"/>
          <p:cNvSpPr/>
          <p:nvPr/>
        </p:nvSpPr>
        <p:spPr>
          <a:xfrm>
            <a:off x="1219200" y="2042071"/>
            <a:ext cx="802386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SDK 3주 연기 및 HSM 보안 라이선스 미결로 기반 기술 인프라 붕괴</a:t>
            </a:r>
            <a:endParaRPr lang="en-US" sz="1050" dirty="0"/>
          </a:p>
        </p:txBody>
      </p:sp>
      <p:sp>
        <p:nvSpPr>
          <p:cNvPr id="34" name="SK-24-text-33"/>
          <p:cNvSpPr/>
          <p:nvPr/>
        </p:nvSpPr>
        <p:spPr>
          <a:xfrm>
            <a:off x="1219200" y="2791718"/>
            <a:ext cx="46958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2: Scope Creep</a:t>
            </a:r>
            <a:endParaRPr lang="en-US" sz="1350" dirty="0"/>
          </a:p>
        </p:txBody>
      </p:sp>
      <p:sp>
        <p:nvSpPr>
          <p:cNvPr id="35" name="SK-24-text-34"/>
          <p:cNvSpPr/>
          <p:nvPr/>
        </p:nvSpPr>
        <p:spPr>
          <a:xfrm>
            <a:off x="1219200" y="3086993"/>
            <a:ext cx="46101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AI 음성비서 CCB 심의 없이 직수용하여 OTA 핵심 인력 차출 및 병목 유발</a:t>
            </a:r>
            <a:endParaRPr lang="en-US" sz="1050" dirty="0"/>
          </a:p>
        </p:txBody>
      </p:sp>
      <p:sp>
        <p:nvSpPr>
          <p:cNvPr id="36" name="SK-24-text-35"/>
          <p:cNvSpPr/>
          <p:nvPr/>
        </p:nvSpPr>
        <p:spPr>
          <a:xfrm>
            <a:off x="1219200" y="3836640"/>
            <a:ext cx="4248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3: 안전/품질 붕괴</a:t>
            </a:r>
            <a:endParaRPr lang="en-US" sz="1350" dirty="0"/>
          </a:p>
        </p:txBody>
      </p:sp>
      <p:sp>
        <p:nvSpPr>
          <p:cNvPr id="37" name="SK-24-text-36"/>
          <p:cNvSpPr/>
          <p:nvPr/>
        </p:nvSpPr>
        <p:spPr>
          <a:xfrm>
            <a:off x="1219200" y="4131915"/>
            <a:ext cx="87706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3.5s 지연 및 CI 테스트 300개 파손 방치로 ASIL-B 인증 위기</a:t>
            </a:r>
            <a:endParaRPr lang="en-US" sz="1050" dirty="0"/>
          </a:p>
        </p:txBody>
      </p:sp>
      <p:sp>
        <p:nvSpPr>
          <p:cNvPr id="38" name="SK-24-text-37"/>
          <p:cNvSpPr/>
          <p:nvPr/>
        </p:nvSpPr>
        <p:spPr>
          <a:xfrm>
            <a:off x="1219200" y="4881563"/>
            <a:ext cx="47491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4: Silo &amp; JIRA 누락</a:t>
            </a:r>
            <a:endParaRPr lang="en-US" sz="1350" dirty="0"/>
          </a:p>
        </p:txBody>
      </p:sp>
      <p:sp>
        <p:nvSpPr>
          <p:cNvPr id="39" name="SK-24-text-38"/>
          <p:cNvSpPr/>
          <p:nvPr/>
        </p:nvSpPr>
        <p:spPr>
          <a:xfrm>
            <a:off x="1219200" y="5176838"/>
            <a:ext cx="6477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구두 전달 관행으로 인한 형상 파손 및 익명 게시판 기반 조직 불신 확산</a:t>
            </a:r>
            <a:endParaRPr lang="en-US" sz="1050" dirty="0"/>
          </a:p>
        </p:txBody>
      </p:sp>
      <p:sp>
        <p:nvSpPr>
          <p:cNvPr id="40" name="SK-24-text-39"/>
          <p:cNvSpPr/>
          <p:nvPr/>
        </p:nvSpPr>
        <p:spPr>
          <a:xfrm>
            <a:off x="1219200" y="5926485"/>
            <a:ext cx="41148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F8FAFC"/>
                </a:solidFill>
              </a:rPr>
              <a:t>근본원인 5: 보안규제 우회</a:t>
            </a:r>
            <a:endParaRPr lang="en-US" sz="1350" dirty="0"/>
          </a:p>
        </p:txBody>
      </p:sp>
      <p:sp>
        <p:nvSpPr>
          <p:cNvPr id="41" name="SK-24-text-40"/>
          <p:cNvSpPr/>
          <p:nvPr/>
        </p:nvSpPr>
        <p:spPr>
          <a:xfrm>
            <a:off x="1219200" y="6221760"/>
            <a:ext cx="647700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위반 위험 및 임시방편 리스크 은폐로 인한 법적/규제 부채 이월</a:t>
            </a:r>
            <a:endParaRPr lang="en-US" sz="1050" dirty="0"/>
          </a:p>
        </p:txBody>
      </p:sp>
      <p:sp>
        <p:nvSpPr>
          <p:cNvPr id="42" name="SK-24-text-41"/>
          <p:cNvSpPr/>
          <p:nvPr/>
        </p:nvSpPr>
        <p:spPr>
          <a:xfrm>
            <a:off x="6877050" y="1861096"/>
            <a:ext cx="337375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38BDF8"/>
                </a:solidFill>
              </a:rPr>
              <a:t>프로젝트 붕괴 증폭 효과</a:t>
            </a:r>
            <a:endParaRPr lang="en-US" sz="1650" dirty="0"/>
          </a:p>
        </p:txBody>
      </p:sp>
      <p:sp>
        <p:nvSpPr>
          <p:cNvPr id="43" name="SK-24-text-42"/>
          <p:cNvSpPr/>
          <p:nvPr/>
        </p:nvSpPr>
        <p:spPr>
          <a:xfrm>
            <a:off x="6781800" y="2556421"/>
            <a:ext cx="3550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복합적 기술 부채의 기하급수적 증가</a:t>
            </a:r>
            <a:endParaRPr lang="en-US" sz="1200" dirty="0"/>
          </a:p>
        </p:txBody>
      </p:sp>
      <p:sp>
        <p:nvSpPr>
          <p:cNvPr id="44" name="SK-24-text-43"/>
          <p:cNvSpPr/>
          <p:nvPr/>
        </p:nvSpPr>
        <p:spPr>
          <a:xfrm>
            <a:off x="6781800" y="2804071"/>
            <a:ext cx="5196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지연과 워크어라운드 코드가 결합되어 수정 비용 증폭</a:t>
            </a:r>
            <a:endParaRPr lang="en-US" sz="1050" dirty="0"/>
          </a:p>
        </p:txBody>
      </p:sp>
      <p:sp>
        <p:nvSpPr>
          <p:cNvPr id="45" name="SK-24-text-44"/>
          <p:cNvSpPr/>
          <p:nvPr/>
        </p:nvSpPr>
        <p:spPr>
          <a:xfrm>
            <a:off x="6781800" y="3308896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불능의 Scope &amp; Schedule Spiral</a:t>
            </a:r>
            <a:endParaRPr lang="en-US" sz="1200" dirty="0"/>
          </a:p>
        </p:txBody>
      </p:sp>
      <p:sp>
        <p:nvSpPr>
          <p:cNvPr id="46" name="SK-24-text-45"/>
          <p:cNvSpPr/>
          <p:nvPr/>
        </p:nvSpPr>
        <p:spPr>
          <a:xfrm>
            <a:off x="6781800" y="3556546"/>
            <a:ext cx="541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무검토 요구사항이 자원 부족을 낳고, 다시 일정 지연을 가속화</a:t>
            </a:r>
            <a:endParaRPr lang="en-US" sz="1050" dirty="0"/>
          </a:p>
        </p:txBody>
      </p:sp>
      <p:sp>
        <p:nvSpPr>
          <p:cNvPr id="47" name="SK-24-text-46"/>
          <p:cNvSpPr/>
          <p:nvPr/>
        </p:nvSpPr>
        <p:spPr>
          <a:xfrm>
            <a:off x="6781800" y="4061371"/>
            <a:ext cx="391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심리적 안전감 및 협업 체계 파괴</a:t>
            </a:r>
            <a:endParaRPr lang="en-US" sz="1200" dirty="0"/>
          </a:p>
        </p:txBody>
      </p:sp>
      <p:sp>
        <p:nvSpPr>
          <p:cNvPr id="48" name="SK-24-text-47"/>
          <p:cNvSpPr/>
          <p:nvPr/>
        </p:nvSpPr>
        <p:spPr>
          <a:xfrm>
            <a:off x="6781800" y="4309021"/>
            <a:ext cx="541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격차로 인한 비난 문화가 확산되어 생산성 40% 저하</a:t>
            </a:r>
            <a:endParaRPr lang="en-US" sz="1050" dirty="0"/>
          </a:p>
        </p:txBody>
      </p:sp>
      <p:sp>
        <p:nvSpPr>
          <p:cNvPr id="49" name="SK-24-text-48"/>
          <p:cNvSpPr/>
          <p:nvPr/>
        </p:nvSpPr>
        <p:spPr>
          <a:xfrm>
            <a:off x="6781800" y="4813846"/>
            <a:ext cx="3667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법적·윤리적 리스크 임계점 도달</a:t>
            </a:r>
            <a:endParaRPr lang="en-US" sz="1200" dirty="0"/>
          </a:p>
        </p:txBody>
      </p:sp>
      <p:sp>
        <p:nvSpPr>
          <p:cNvPr id="50" name="SK-24-text-49"/>
          <p:cNvSpPr/>
          <p:nvPr/>
        </p:nvSpPr>
        <p:spPr>
          <a:xfrm>
            <a:off x="6781800" y="5061496"/>
            <a:ext cx="54102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GDPR 및 UN R155 미준수로 인한 차량 판매 금지 및 리콜 위험</a:t>
            </a:r>
            <a:endParaRPr lang="en-US" sz="1050" dirty="0"/>
          </a:p>
        </p:txBody>
      </p:sp>
      <p:sp>
        <p:nvSpPr>
          <p:cNvPr id="51" name="SK-24-text-50"/>
          <p:cNvSpPr/>
          <p:nvPr/>
        </p:nvSpPr>
        <p:spPr>
          <a:xfrm>
            <a:off x="6477000" y="5642521"/>
            <a:ext cx="4686300" cy="8715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다섯 원인은 서로의 원인이자 결과로 작용하여 SDK 지연, 변경 증가, 테스트 파손, 조직 불신, 규제 부채를 동시에 확대하는 </a:t>
            </a:r>
            <a:pPr algn="ctr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'죽음의 소용돌이(Downward Spiral)'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형성함.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5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5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5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8600"/>
            <a:ext cx="11049000" cy="946696"/>
          </a:xfrm>
          <a:prstGeom prst="rect">
            <a:avLst/>
          </a:prstGeom>
        </p:spPr>
      </p:pic>
      <p:pic>
        <p:nvPicPr>
          <p:cNvPr id="5" name="SK-25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308646"/>
            <a:ext cx="11049000" cy="3076575"/>
          </a:xfrm>
          <a:prstGeom prst="rect">
            <a:avLst/>
          </a:prstGeom>
        </p:spPr>
      </p:pic>
      <p:pic>
        <p:nvPicPr>
          <p:cNvPr id="6" name="SK-25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375321"/>
            <a:ext cx="10801350" cy="2924175"/>
          </a:xfrm>
          <a:prstGeom prst="rect">
            <a:avLst/>
          </a:prstGeom>
        </p:spPr>
      </p:pic>
      <p:pic>
        <p:nvPicPr>
          <p:cNvPr id="7" name="SK-25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499521"/>
            <a:ext cx="11049000" cy="1810792"/>
          </a:xfrm>
          <a:prstGeom prst="rect">
            <a:avLst/>
          </a:prstGeom>
        </p:spPr>
      </p:pic>
      <p:pic>
        <p:nvPicPr>
          <p:cNvPr id="8" name="SK-25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499521"/>
            <a:ext cx="11049000" cy="333375"/>
          </a:xfrm>
          <a:prstGeom prst="rect">
            <a:avLst/>
          </a:prstGeom>
        </p:spPr>
      </p:pic>
      <p:pic>
        <p:nvPicPr>
          <p:cNvPr id="9" name="SK-25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4499521"/>
            <a:ext cx="5524500" cy="333375"/>
          </a:xfrm>
          <a:prstGeom prst="rect">
            <a:avLst/>
          </a:prstGeom>
        </p:spPr>
      </p:pic>
      <p:pic>
        <p:nvPicPr>
          <p:cNvPr id="10" name="SK-25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4499521"/>
            <a:ext cx="1657350" cy="333375"/>
          </a:xfrm>
          <a:prstGeom prst="rect">
            <a:avLst/>
          </a:prstGeom>
        </p:spPr>
      </p:pic>
      <p:pic>
        <p:nvPicPr>
          <p:cNvPr id="11" name="SK-25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3350" y="4499521"/>
            <a:ext cx="1657350" cy="333375"/>
          </a:xfrm>
          <a:prstGeom prst="rect">
            <a:avLst/>
          </a:prstGeom>
        </p:spPr>
      </p:pic>
      <p:pic>
        <p:nvPicPr>
          <p:cNvPr id="12" name="SK-25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10700" y="4499521"/>
            <a:ext cx="2209800" cy="333375"/>
          </a:xfrm>
          <a:prstGeom prst="rect">
            <a:avLst/>
          </a:prstGeom>
        </p:spPr>
      </p:pic>
      <p:pic>
        <p:nvPicPr>
          <p:cNvPr id="13" name="SK-25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832896"/>
            <a:ext cx="11049000" cy="369243"/>
          </a:xfrm>
          <a:prstGeom prst="rect">
            <a:avLst/>
          </a:prstGeom>
        </p:spPr>
      </p:pic>
      <p:pic>
        <p:nvPicPr>
          <p:cNvPr id="14" name="SK-25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5202138"/>
            <a:ext cx="11049000" cy="369243"/>
          </a:xfrm>
          <a:prstGeom prst="rect">
            <a:avLst/>
          </a:prstGeom>
        </p:spPr>
      </p:pic>
      <p:pic>
        <p:nvPicPr>
          <p:cNvPr id="15" name="SK-25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5571381"/>
            <a:ext cx="11049000" cy="369243"/>
          </a:xfrm>
          <a:prstGeom prst="rect">
            <a:avLst/>
          </a:prstGeom>
        </p:spPr>
      </p:pic>
      <p:pic>
        <p:nvPicPr>
          <p:cNvPr id="16" name="SK-25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6473577"/>
            <a:ext cx="154781" cy="125760"/>
          </a:xfrm>
          <a:prstGeom prst="rect">
            <a:avLst/>
          </a:prstGeom>
        </p:spPr>
      </p:pic>
      <p:sp>
        <p:nvSpPr>
          <p:cNvPr id="17" name="SK-25-text-16"/>
          <p:cNvSpPr/>
          <p:nvPr/>
        </p:nvSpPr>
        <p:spPr>
          <a:xfrm>
            <a:off x="762000" y="2286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18" name="SK-25-text-17"/>
          <p:cNvSpPr/>
          <p:nvPr/>
        </p:nvSpPr>
        <p:spPr>
          <a:xfrm>
            <a:off x="762000" y="5048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디텍팅 도구 3 — Technical Debt Pareto Analysis</a:t>
            </a:r>
            <a:endParaRPr lang="en-US" sz="2400" dirty="0"/>
          </a:p>
        </p:txBody>
      </p:sp>
      <p:sp>
        <p:nvSpPr>
          <p:cNvPr id="19" name="SK-25-text-18"/>
          <p:cNvSpPr/>
          <p:nvPr/>
        </p:nvSpPr>
        <p:spPr>
          <a:xfrm>
            <a:off x="762000" y="946696"/>
            <a:ext cx="1123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재작업 시간을 기준으로 기술 부채 항목의 우선순위를 정하고 파레토 분석을 통해 핵심 리스크를 평가합니다.</a:t>
            </a:r>
            <a:endParaRPr lang="en-US" sz="1200" dirty="0"/>
          </a:p>
        </p:txBody>
      </p:sp>
      <p:sp>
        <p:nvSpPr>
          <p:cNvPr id="20" name="SK-25-text-19"/>
          <p:cNvSpPr/>
          <p:nvPr/>
        </p:nvSpPr>
        <p:spPr>
          <a:xfrm>
            <a:off x="685800" y="4499521"/>
            <a:ext cx="53721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부채 항목</a:t>
            </a:r>
            <a:endParaRPr lang="en-US" sz="1050" dirty="0"/>
          </a:p>
        </p:txBody>
      </p:sp>
      <p:sp>
        <p:nvSpPr>
          <p:cNvPr id="21" name="SK-25-text-20"/>
          <p:cNvSpPr/>
          <p:nvPr/>
        </p:nvSpPr>
        <p:spPr>
          <a:xfrm>
            <a:off x="6210300" y="4499521"/>
            <a:ext cx="1504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 재작업 시간</a:t>
            </a:r>
            <a:endParaRPr lang="en-US" sz="1050" dirty="0"/>
          </a:p>
        </p:txBody>
      </p:sp>
      <p:sp>
        <p:nvSpPr>
          <p:cNvPr id="22" name="SK-25-text-21"/>
          <p:cNvSpPr/>
          <p:nvPr/>
        </p:nvSpPr>
        <p:spPr>
          <a:xfrm>
            <a:off x="7867650" y="4499521"/>
            <a:ext cx="15049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누적 비율 (%)</a:t>
            </a:r>
            <a:endParaRPr lang="en-US" sz="1050" dirty="0"/>
          </a:p>
        </p:txBody>
      </p:sp>
      <p:sp>
        <p:nvSpPr>
          <p:cNvPr id="23" name="SK-25-text-22"/>
          <p:cNvSpPr/>
          <p:nvPr/>
        </p:nvSpPr>
        <p:spPr>
          <a:xfrm>
            <a:off x="9525000" y="4499521"/>
            <a:ext cx="20574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수준</a:t>
            </a:r>
            <a:endParaRPr lang="en-US" sz="1050" dirty="0"/>
          </a:p>
        </p:txBody>
      </p:sp>
      <p:sp>
        <p:nvSpPr>
          <p:cNvPr id="24" name="SK-25-text-23"/>
          <p:cNvSpPr/>
          <p:nvPr/>
        </p:nvSpPr>
        <p:spPr>
          <a:xfrm>
            <a:off x="685800" y="4832896"/>
            <a:ext cx="537210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SDK 메모리 누수 워크어라운드 제거 및 정식 SDK 연동</a:t>
            </a:r>
            <a:endParaRPr lang="en-US" sz="1050" dirty="0"/>
          </a:p>
        </p:txBody>
      </p:sp>
      <p:sp>
        <p:nvSpPr>
          <p:cNvPr id="25" name="SK-25-text-24"/>
          <p:cNvSpPr/>
          <p:nvPr/>
        </p:nvSpPr>
        <p:spPr>
          <a:xfrm>
            <a:off x="6210300" y="4832896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160시간</a:t>
            </a:r>
            <a:endParaRPr lang="en-US" sz="1050" dirty="0"/>
          </a:p>
        </p:txBody>
      </p:sp>
      <p:sp>
        <p:nvSpPr>
          <p:cNvPr id="26" name="SK-25-text-25"/>
          <p:cNvSpPr/>
          <p:nvPr/>
        </p:nvSpPr>
        <p:spPr>
          <a:xfrm>
            <a:off x="7867650" y="4832896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38.1%</a:t>
            </a:r>
            <a:endParaRPr lang="en-US" sz="1050" dirty="0"/>
          </a:p>
        </p:txBody>
      </p:sp>
      <p:sp>
        <p:nvSpPr>
          <p:cNvPr id="27" name="SK-25-textBg-26"/>
          <p:cNvSpPr/>
          <p:nvPr/>
        </p:nvSpPr>
        <p:spPr>
          <a:xfrm>
            <a:off x="9525000" y="4908947"/>
            <a:ext cx="704850" cy="217140"/>
          </a:xfrm>
          <a:prstGeom prst="roundRect">
            <a:avLst>
              <a:gd name="adj" fmla="val 17546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K-25-text-27"/>
          <p:cNvSpPr/>
          <p:nvPr/>
        </p:nvSpPr>
        <p:spPr>
          <a:xfrm>
            <a:off x="9610725" y="4908947"/>
            <a:ext cx="86003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29" name="SK-25-text-28"/>
          <p:cNvSpPr/>
          <p:nvPr/>
        </p:nvSpPr>
        <p:spPr>
          <a:xfrm>
            <a:off x="685800" y="5202138"/>
            <a:ext cx="5751944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REQ-045 AI 음성비서 껍데기 제거 및 정식 HSM 암호화</a:t>
            </a:r>
            <a:endParaRPr lang="en-US" sz="1050" dirty="0"/>
          </a:p>
        </p:txBody>
      </p:sp>
      <p:sp>
        <p:nvSpPr>
          <p:cNvPr id="30" name="SK-25-text-29"/>
          <p:cNvSpPr/>
          <p:nvPr/>
        </p:nvSpPr>
        <p:spPr>
          <a:xfrm>
            <a:off x="6210300" y="5202138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120시간</a:t>
            </a:r>
            <a:endParaRPr lang="en-US" sz="1050" dirty="0"/>
          </a:p>
        </p:txBody>
      </p:sp>
      <p:sp>
        <p:nvSpPr>
          <p:cNvPr id="31" name="SK-25-text-30"/>
          <p:cNvSpPr/>
          <p:nvPr/>
        </p:nvSpPr>
        <p:spPr>
          <a:xfrm>
            <a:off x="7867650" y="5202138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66.7%</a:t>
            </a:r>
            <a:endParaRPr lang="en-US" sz="1050" dirty="0"/>
          </a:p>
        </p:txBody>
      </p:sp>
      <p:sp>
        <p:nvSpPr>
          <p:cNvPr id="32" name="SK-25-textBg-31"/>
          <p:cNvSpPr/>
          <p:nvPr/>
        </p:nvSpPr>
        <p:spPr>
          <a:xfrm>
            <a:off x="9525000" y="5278189"/>
            <a:ext cx="704850" cy="217140"/>
          </a:xfrm>
          <a:prstGeom prst="roundRect">
            <a:avLst>
              <a:gd name="adj" fmla="val 17546"/>
            </a:avLst>
          </a:prstGeom>
          <a:solidFill>
            <a:srgbClr val="F87171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K-25-text-32"/>
          <p:cNvSpPr/>
          <p:nvPr/>
        </p:nvSpPr>
        <p:spPr>
          <a:xfrm>
            <a:off x="9610725" y="5278189"/>
            <a:ext cx="86003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CRITICAL</a:t>
            </a:r>
            <a:endParaRPr lang="en-US" sz="900" dirty="0"/>
          </a:p>
        </p:txBody>
      </p:sp>
      <p:sp>
        <p:nvSpPr>
          <p:cNvPr id="34" name="SK-25-text-33"/>
          <p:cNvSpPr/>
          <p:nvPr/>
        </p:nvSpPr>
        <p:spPr>
          <a:xfrm>
            <a:off x="685800" y="5571381"/>
            <a:ext cx="537210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 자동화 테스트 300개 스크립트 수정</a:t>
            </a:r>
            <a:endParaRPr lang="en-US" sz="1050" dirty="0"/>
          </a:p>
        </p:txBody>
      </p:sp>
      <p:sp>
        <p:nvSpPr>
          <p:cNvPr id="35" name="SK-25-text-34"/>
          <p:cNvSpPr/>
          <p:nvPr/>
        </p:nvSpPr>
        <p:spPr>
          <a:xfrm>
            <a:off x="6210300" y="5571381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80시간</a:t>
            </a:r>
            <a:endParaRPr lang="en-US" sz="1050" dirty="0"/>
          </a:p>
        </p:txBody>
      </p:sp>
      <p:sp>
        <p:nvSpPr>
          <p:cNvPr id="36" name="SK-25-text-35"/>
          <p:cNvSpPr/>
          <p:nvPr/>
        </p:nvSpPr>
        <p:spPr>
          <a:xfrm>
            <a:off x="7867650" y="5571381"/>
            <a:ext cx="1504950" cy="36924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85.7%</a:t>
            </a:r>
            <a:endParaRPr lang="en-US" sz="1050" dirty="0"/>
          </a:p>
        </p:txBody>
      </p:sp>
      <p:sp>
        <p:nvSpPr>
          <p:cNvPr id="37" name="SK-25-textBg-36"/>
          <p:cNvSpPr/>
          <p:nvPr/>
        </p:nvSpPr>
        <p:spPr>
          <a:xfrm>
            <a:off x="9525000" y="5647432"/>
            <a:ext cx="457200" cy="217140"/>
          </a:xfrm>
          <a:prstGeom prst="roundRect">
            <a:avLst>
              <a:gd name="adj" fmla="val 17546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SK-25-text-37"/>
          <p:cNvSpPr/>
          <p:nvPr/>
        </p:nvSpPr>
        <p:spPr>
          <a:xfrm>
            <a:off x="9610725" y="5647432"/>
            <a:ext cx="36576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SK-25-text-38"/>
          <p:cNvSpPr/>
          <p:nvPr/>
        </p:nvSpPr>
        <p:spPr>
          <a:xfrm>
            <a:off x="685800" y="5940623"/>
            <a:ext cx="537210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Cold Boot CAN 통신 드라이버 최적화</a:t>
            </a:r>
            <a:endParaRPr lang="en-US" sz="1050" dirty="0"/>
          </a:p>
        </p:txBody>
      </p:sp>
      <p:sp>
        <p:nvSpPr>
          <p:cNvPr id="40" name="SK-25-text-39"/>
          <p:cNvSpPr/>
          <p:nvPr/>
        </p:nvSpPr>
        <p:spPr>
          <a:xfrm>
            <a:off x="6210300" y="5940623"/>
            <a:ext cx="150495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60시간</a:t>
            </a:r>
            <a:endParaRPr lang="en-US" sz="1050" dirty="0"/>
          </a:p>
        </p:txBody>
      </p:sp>
      <p:sp>
        <p:nvSpPr>
          <p:cNvPr id="41" name="SK-25-text-40"/>
          <p:cNvSpPr/>
          <p:nvPr/>
        </p:nvSpPr>
        <p:spPr>
          <a:xfrm>
            <a:off x="7867650" y="5940623"/>
            <a:ext cx="1504950" cy="36968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100.0%</a:t>
            </a:r>
            <a:endParaRPr lang="en-US" sz="1050" dirty="0"/>
          </a:p>
        </p:txBody>
      </p:sp>
      <p:sp>
        <p:nvSpPr>
          <p:cNvPr id="42" name="SK-25-textBg-41"/>
          <p:cNvSpPr/>
          <p:nvPr/>
        </p:nvSpPr>
        <p:spPr>
          <a:xfrm>
            <a:off x="9525000" y="6016823"/>
            <a:ext cx="457200" cy="217140"/>
          </a:xfrm>
          <a:prstGeom prst="roundRect">
            <a:avLst>
              <a:gd name="adj" fmla="val 17546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SK-25-text-42"/>
          <p:cNvSpPr/>
          <p:nvPr/>
        </p:nvSpPr>
        <p:spPr>
          <a:xfrm>
            <a:off x="9610725" y="6016823"/>
            <a:ext cx="365760" cy="2171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SK-25-text-43"/>
          <p:cNvSpPr/>
          <p:nvPr/>
        </p:nvSpPr>
        <p:spPr>
          <a:xfrm>
            <a:off x="802481" y="6443663"/>
            <a:ext cx="1138951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2개 항목(SDK 연동 및 HSM 암호화)이 전체 기술 부채의 66.7%를 차지하며, G4 게이트 통과를 위한 최우선 해결 과제임.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K-26-img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SK-26-img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SK-26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4800"/>
            <a:ext cx="11049000" cy="946696"/>
          </a:xfrm>
          <a:prstGeom prst="rect">
            <a:avLst/>
          </a:prstGeom>
        </p:spPr>
      </p:pic>
      <p:pic>
        <p:nvPicPr>
          <p:cNvPr id="5" name="SK-26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9588" y="1432471"/>
            <a:ext cx="1535906" cy="280988"/>
          </a:xfrm>
          <a:prstGeom prst="rect">
            <a:avLst/>
          </a:prstGeom>
        </p:spPr>
      </p:pic>
      <p:pic>
        <p:nvPicPr>
          <p:cNvPr id="6" name="SK-26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888" y="1517154"/>
            <a:ext cx="154781" cy="125760"/>
          </a:xfrm>
          <a:prstGeom prst="rect">
            <a:avLst/>
          </a:prstGeom>
        </p:spPr>
      </p:pic>
      <p:pic>
        <p:nvPicPr>
          <p:cNvPr id="7" name="SK-26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55994" y="1432471"/>
            <a:ext cx="1764506" cy="280988"/>
          </a:xfrm>
          <a:prstGeom prst="rect">
            <a:avLst/>
          </a:prstGeom>
        </p:spPr>
      </p:pic>
      <p:pic>
        <p:nvPicPr>
          <p:cNvPr id="8" name="SK-26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70294" y="1517154"/>
            <a:ext cx="154781" cy="125760"/>
          </a:xfrm>
          <a:prstGeom prst="rect">
            <a:avLst/>
          </a:prstGeom>
        </p:spPr>
      </p:pic>
      <p:pic>
        <p:nvPicPr>
          <p:cNvPr id="9" name="SK-26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837283"/>
            <a:ext cx="2118271" cy="2420392"/>
          </a:xfrm>
          <a:prstGeom prst="rect">
            <a:avLst/>
          </a:prstGeom>
        </p:spPr>
      </p:pic>
      <p:pic>
        <p:nvPicPr>
          <p:cNvPr id="10" name="SK-26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499271"/>
            <a:ext cx="1889671" cy="209550"/>
          </a:xfrm>
          <a:prstGeom prst="rect">
            <a:avLst/>
          </a:prstGeom>
        </p:spPr>
      </p:pic>
      <p:pic>
        <p:nvPicPr>
          <p:cNvPr id="11" name="SK-26-img-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4019550"/>
            <a:ext cx="142875" cy="114300"/>
          </a:xfrm>
          <a:prstGeom prst="rect">
            <a:avLst/>
          </a:prstGeom>
        </p:spPr>
      </p:pic>
      <p:pic>
        <p:nvPicPr>
          <p:cNvPr id="12" name="SK-26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4071" y="1837283"/>
            <a:ext cx="2118420" cy="2420392"/>
          </a:xfrm>
          <a:prstGeom prst="rect">
            <a:avLst/>
          </a:prstGeom>
        </p:spPr>
      </p:pic>
      <p:pic>
        <p:nvPicPr>
          <p:cNvPr id="13" name="SK-26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8371" y="2499271"/>
            <a:ext cx="1889820" cy="209550"/>
          </a:xfrm>
          <a:prstGeom prst="rect">
            <a:avLst/>
          </a:prstGeom>
        </p:spPr>
      </p:pic>
      <p:pic>
        <p:nvPicPr>
          <p:cNvPr id="14" name="SK-26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18371" y="4019550"/>
            <a:ext cx="142875" cy="114300"/>
          </a:xfrm>
          <a:prstGeom prst="rect">
            <a:avLst/>
          </a:prstGeom>
        </p:spPr>
      </p:pic>
      <p:pic>
        <p:nvPicPr>
          <p:cNvPr id="15" name="SK-26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6790" y="1837283"/>
            <a:ext cx="2118271" cy="2420392"/>
          </a:xfrm>
          <a:prstGeom prst="rect">
            <a:avLst/>
          </a:prstGeom>
        </p:spPr>
      </p:pic>
      <p:pic>
        <p:nvPicPr>
          <p:cNvPr id="16" name="SK-26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51090" y="2499271"/>
            <a:ext cx="1889671" cy="209550"/>
          </a:xfrm>
          <a:prstGeom prst="rect">
            <a:avLst/>
          </a:prstGeom>
        </p:spPr>
      </p:pic>
      <p:pic>
        <p:nvPicPr>
          <p:cNvPr id="17" name="SK-26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151090" y="4019550"/>
            <a:ext cx="142875" cy="114300"/>
          </a:xfrm>
          <a:prstGeom prst="rect">
            <a:avLst/>
          </a:prstGeom>
        </p:spPr>
      </p:pic>
      <p:pic>
        <p:nvPicPr>
          <p:cNvPr id="18" name="SK-26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69361" y="1837283"/>
            <a:ext cx="2118420" cy="2420392"/>
          </a:xfrm>
          <a:prstGeom prst="rect">
            <a:avLst/>
          </a:prstGeom>
        </p:spPr>
      </p:pic>
      <p:pic>
        <p:nvPicPr>
          <p:cNvPr id="19" name="SK-26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83661" y="2499271"/>
            <a:ext cx="1889820" cy="209550"/>
          </a:xfrm>
          <a:prstGeom prst="rect">
            <a:avLst/>
          </a:prstGeom>
        </p:spPr>
      </p:pic>
      <p:pic>
        <p:nvPicPr>
          <p:cNvPr id="20" name="SK-26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83661" y="4019550"/>
            <a:ext cx="142875" cy="114300"/>
          </a:xfrm>
          <a:prstGeom prst="rect">
            <a:avLst/>
          </a:prstGeom>
        </p:spPr>
      </p:pic>
      <p:pic>
        <p:nvPicPr>
          <p:cNvPr id="21" name="SK-26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02080" y="1837283"/>
            <a:ext cx="2118271" cy="2420392"/>
          </a:xfrm>
          <a:prstGeom prst="rect">
            <a:avLst/>
          </a:prstGeom>
        </p:spPr>
      </p:pic>
      <p:pic>
        <p:nvPicPr>
          <p:cNvPr id="22" name="SK-26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616380" y="2499271"/>
            <a:ext cx="1889671" cy="209550"/>
          </a:xfrm>
          <a:prstGeom prst="rect">
            <a:avLst/>
          </a:prstGeom>
        </p:spPr>
      </p:pic>
      <p:pic>
        <p:nvPicPr>
          <p:cNvPr id="23" name="SK-26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16380" y="4019550"/>
            <a:ext cx="142875" cy="114300"/>
          </a:xfrm>
          <a:prstGeom prst="rect">
            <a:avLst/>
          </a:prstGeom>
        </p:spPr>
      </p:pic>
      <p:pic>
        <p:nvPicPr>
          <p:cNvPr id="24" name="SK-26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762500"/>
            <a:ext cx="3581400" cy="1285875"/>
          </a:xfrm>
          <a:prstGeom prst="rect">
            <a:avLst/>
          </a:prstGeom>
        </p:spPr>
      </p:pic>
      <p:pic>
        <p:nvPicPr>
          <p:cNvPr id="25" name="SK-26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23900" y="5133975"/>
            <a:ext cx="381000" cy="228600"/>
          </a:xfrm>
          <a:prstGeom prst="rect">
            <a:avLst/>
          </a:prstGeom>
        </p:spPr>
      </p:pic>
      <p:pic>
        <p:nvPicPr>
          <p:cNvPr id="26" name="SK-26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23900" y="5438775"/>
            <a:ext cx="3276600" cy="485775"/>
          </a:xfrm>
          <a:prstGeom prst="rect">
            <a:avLst/>
          </a:prstGeom>
        </p:spPr>
      </p:pic>
      <p:pic>
        <p:nvPicPr>
          <p:cNvPr id="27" name="SK-26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05300" y="4762500"/>
            <a:ext cx="3581400" cy="1285875"/>
          </a:xfrm>
          <a:prstGeom prst="rect">
            <a:avLst/>
          </a:prstGeom>
        </p:spPr>
      </p:pic>
      <p:pic>
        <p:nvPicPr>
          <p:cNvPr id="28" name="SK-26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57700" y="5133975"/>
            <a:ext cx="381000" cy="228600"/>
          </a:xfrm>
          <a:prstGeom prst="rect">
            <a:avLst/>
          </a:prstGeom>
        </p:spPr>
      </p:pic>
      <p:pic>
        <p:nvPicPr>
          <p:cNvPr id="29" name="SK-26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57700" y="5438775"/>
            <a:ext cx="3276600" cy="485775"/>
          </a:xfrm>
          <a:prstGeom prst="rect">
            <a:avLst/>
          </a:prstGeom>
        </p:spPr>
      </p:pic>
      <p:pic>
        <p:nvPicPr>
          <p:cNvPr id="30" name="SK-26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039100" y="4762500"/>
            <a:ext cx="3581400" cy="1285875"/>
          </a:xfrm>
          <a:prstGeom prst="rect">
            <a:avLst/>
          </a:prstGeom>
        </p:spPr>
      </p:pic>
      <p:pic>
        <p:nvPicPr>
          <p:cNvPr id="31" name="SK-26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91500" y="5133975"/>
            <a:ext cx="381000" cy="228600"/>
          </a:xfrm>
          <a:prstGeom prst="rect">
            <a:avLst/>
          </a:prstGeom>
        </p:spPr>
      </p:pic>
      <p:pic>
        <p:nvPicPr>
          <p:cNvPr id="32" name="SK-26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91500" y="5438775"/>
            <a:ext cx="3276600" cy="485775"/>
          </a:xfrm>
          <a:prstGeom prst="rect">
            <a:avLst/>
          </a:prstGeom>
        </p:spPr>
      </p:pic>
      <p:pic>
        <p:nvPicPr>
          <p:cNvPr id="33" name="SK-26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0" y="6200775"/>
            <a:ext cx="11049000" cy="352425"/>
          </a:xfrm>
          <a:prstGeom prst="rect">
            <a:avLst/>
          </a:prstGeom>
        </p:spPr>
      </p:pic>
      <p:pic>
        <p:nvPicPr>
          <p:cNvPr id="34" name="SK-26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393031" y="6308378"/>
            <a:ext cx="166688" cy="137220"/>
          </a:xfrm>
          <a:prstGeom prst="rect">
            <a:avLst/>
          </a:prstGeom>
        </p:spPr>
      </p:pic>
      <p:pic>
        <p:nvPicPr>
          <p:cNvPr id="35" name="SK-26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031581" y="6308378"/>
            <a:ext cx="166688" cy="137220"/>
          </a:xfrm>
          <a:prstGeom prst="rect">
            <a:avLst/>
          </a:prstGeom>
        </p:spPr>
      </p:pic>
      <p:pic>
        <p:nvPicPr>
          <p:cNvPr id="36" name="SK-26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546306" y="6308378"/>
            <a:ext cx="166688" cy="137220"/>
          </a:xfrm>
          <a:prstGeom prst="rect">
            <a:avLst/>
          </a:prstGeom>
        </p:spPr>
      </p:pic>
      <p:sp>
        <p:nvSpPr>
          <p:cNvPr id="37" name="SK-26-text-36"/>
          <p:cNvSpPr/>
          <p:nvPr/>
        </p:nvSpPr>
        <p:spPr>
          <a:xfrm>
            <a:off x="762000" y="304800"/>
            <a:ext cx="109347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b="1" spc="84" kern="0" dirty="0">
                <a:solidFill>
                  <a:srgbClr val="38BDF8"/>
                </a:solidFill>
              </a:rPr>
              <a:t>PROJECT DIAGNOSTIC REPORT &amp; RECOVERY STRATEGY</a:t>
            </a:r>
            <a:endParaRPr lang="en-US" sz="1050" dirty="0"/>
          </a:p>
        </p:txBody>
      </p:sp>
      <p:sp>
        <p:nvSpPr>
          <p:cNvPr id="38" name="SK-26-text-37"/>
          <p:cNvSpPr/>
          <p:nvPr/>
        </p:nvSpPr>
        <p:spPr>
          <a:xfrm>
            <a:off x="762000" y="581025"/>
            <a:ext cx="1143000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8FAFC"/>
                </a:solidFill>
              </a:rPr>
              <a:t>PMBOK 8th Mindset Synthesis &amp; Cognitive PM-Twin AI Agent Workflows</a:t>
            </a:r>
            <a:endParaRPr lang="en-US" sz="2400" dirty="0"/>
          </a:p>
        </p:txBody>
      </p:sp>
      <p:sp>
        <p:nvSpPr>
          <p:cNvPr id="39" name="SK-26-text-38"/>
          <p:cNvSpPr/>
          <p:nvPr/>
        </p:nvSpPr>
        <p:spPr>
          <a:xfrm>
            <a:off x="762000" y="1022896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 아키텍처와 3대 액션 아이템을 통해 위기 운영을 Proactive 거버넌스로 전환하고 비즈니스 가치를 사수합니다.</a:t>
            </a:r>
            <a:endParaRPr lang="en-US" sz="1200" dirty="0"/>
          </a:p>
        </p:txBody>
      </p:sp>
      <p:sp>
        <p:nvSpPr>
          <p:cNvPr id="40" name="SK-26-text-39"/>
          <p:cNvSpPr/>
          <p:nvPr/>
        </p:nvSpPr>
        <p:spPr>
          <a:xfrm>
            <a:off x="571500" y="1456283"/>
            <a:ext cx="989266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818CF8"/>
                </a:solidFill>
              </a:rPr>
              <a:t>Cognitive PM-Twin Agent Architecture &amp; 5대 수행 임무</a:t>
            </a:r>
            <a:endParaRPr lang="en-US" sz="1350" dirty="0"/>
          </a:p>
        </p:txBody>
      </p:sp>
      <p:sp>
        <p:nvSpPr>
          <p:cNvPr id="41" name="SK-26-text-40"/>
          <p:cNvSpPr/>
          <p:nvPr/>
        </p:nvSpPr>
        <p:spPr>
          <a:xfrm>
            <a:off x="8398669" y="1432471"/>
            <a:ext cx="2360853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12/15 SOP 양산 사수</a:t>
            </a:r>
            <a:endParaRPr lang="en-US" sz="975" dirty="0"/>
          </a:p>
        </p:txBody>
      </p:sp>
      <p:sp>
        <p:nvSpPr>
          <p:cNvPr id="42" name="SK-26-text-41"/>
          <p:cNvSpPr/>
          <p:nvPr/>
        </p:nvSpPr>
        <p:spPr>
          <a:xfrm>
            <a:off x="10125075" y="1432471"/>
            <a:ext cx="2066925" cy="2809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리콜 비용 약 450억 예방</a:t>
            </a:r>
            <a:endParaRPr lang="en-US" sz="975" dirty="0"/>
          </a:p>
        </p:txBody>
      </p:sp>
      <p:sp>
        <p:nvSpPr>
          <p:cNvPr id="43" name="SK-26-text-42"/>
          <p:cNvSpPr/>
          <p:nvPr/>
        </p:nvSpPr>
        <p:spPr>
          <a:xfrm>
            <a:off x="685800" y="1932533"/>
            <a:ext cx="1965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01</a:t>
            </a:r>
            <a:endParaRPr lang="en-US" sz="900" dirty="0"/>
          </a:p>
        </p:txBody>
      </p:sp>
      <p:sp>
        <p:nvSpPr>
          <p:cNvPr id="44" name="SK-26-text-43"/>
          <p:cNvSpPr/>
          <p:nvPr/>
        </p:nvSpPr>
        <p:spPr>
          <a:xfrm>
            <a:off x="685800" y="2180183"/>
            <a:ext cx="19706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Identify</a:t>
            </a:r>
            <a:endParaRPr lang="en-US" sz="1275" dirty="0"/>
          </a:p>
        </p:txBody>
      </p:sp>
      <p:sp>
        <p:nvSpPr>
          <p:cNvPr id="45" name="SK-26-text-44"/>
          <p:cNvSpPr/>
          <p:nvPr/>
        </p:nvSpPr>
        <p:spPr>
          <a:xfrm>
            <a:off x="742950" y="2499271"/>
            <a:ext cx="22668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 Orchestrator</a:t>
            </a:r>
            <a:endParaRPr lang="en-US" sz="900" dirty="0"/>
          </a:p>
        </p:txBody>
      </p:sp>
      <p:sp>
        <p:nvSpPr>
          <p:cNvPr id="46" name="SK-26-text-45"/>
          <p:cNvSpPr/>
          <p:nvPr/>
        </p:nvSpPr>
        <p:spPr>
          <a:xfrm>
            <a:off x="685800" y="2785021"/>
            <a:ext cx="188967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JIRA/Git/Slack 크롤링으로 Cold Boot, CI 파손, 조직 민심 실시간 식별</a:t>
            </a:r>
            <a:endParaRPr lang="en-US" sz="1050" dirty="0"/>
          </a:p>
        </p:txBody>
      </p:sp>
      <p:sp>
        <p:nvSpPr>
          <p:cNvPr id="47" name="SK-26-text-46"/>
          <p:cNvSpPr/>
          <p:nvPr/>
        </p:nvSpPr>
        <p:spPr>
          <a:xfrm>
            <a:off x="885825" y="3990975"/>
            <a:ext cx="1889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감지 3일 → 5분</a:t>
            </a:r>
            <a:endParaRPr lang="en-US" sz="900" dirty="0"/>
          </a:p>
        </p:txBody>
      </p:sp>
      <p:sp>
        <p:nvSpPr>
          <p:cNvPr id="48" name="SK-26-text-47"/>
          <p:cNvSpPr/>
          <p:nvPr/>
        </p:nvSpPr>
        <p:spPr>
          <a:xfrm>
            <a:off x="2918371" y="1932533"/>
            <a:ext cx="1966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02</a:t>
            </a:r>
            <a:endParaRPr lang="en-US" sz="900" dirty="0"/>
          </a:p>
        </p:txBody>
      </p:sp>
      <p:sp>
        <p:nvSpPr>
          <p:cNvPr id="49" name="SK-26-text-48"/>
          <p:cNvSpPr/>
          <p:nvPr/>
        </p:nvSpPr>
        <p:spPr>
          <a:xfrm>
            <a:off x="2918371" y="2180183"/>
            <a:ext cx="197078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Analyze</a:t>
            </a:r>
            <a:endParaRPr lang="en-US" sz="1275" dirty="0"/>
          </a:p>
        </p:txBody>
      </p:sp>
      <p:sp>
        <p:nvSpPr>
          <p:cNvPr id="50" name="SK-26-text-49"/>
          <p:cNvSpPr/>
          <p:nvPr/>
        </p:nvSpPr>
        <p:spPr>
          <a:xfrm>
            <a:off x="2975521" y="2499271"/>
            <a:ext cx="23957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Root Cause Advisor</a:t>
            </a:r>
            <a:endParaRPr lang="en-US" sz="900" dirty="0"/>
          </a:p>
        </p:txBody>
      </p:sp>
      <p:sp>
        <p:nvSpPr>
          <p:cNvPr id="51" name="SK-26-text-50"/>
          <p:cNvSpPr/>
          <p:nvPr/>
        </p:nvSpPr>
        <p:spPr>
          <a:xfrm>
            <a:off x="2918371" y="2785021"/>
            <a:ext cx="188982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Systems Thinking 기반 리스크 파급효과 및 은폐된 기술부채 시뮬레이션</a:t>
            </a:r>
            <a:endParaRPr lang="en-US" sz="1050" dirty="0"/>
          </a:p>
        </p:txBody>
      </p:sp>
      <p:sp>
        <p:nvSpPr>
          <p:cNvPr id="52" name="SK-26-text-51"/>
          <p:cNvSpPr/>
          <p:nvPr/>
        </p:nvSpPr>
        <p:spPr>
          <a:xfrm>
            <a:off x="3118396" y="3990975"/>
            <a:ext cx="1889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부채 100% 시각화</a:t>
            </a:r>
            <a:endParaRPr lang="en-US" sz="900" dirty="0"/>
          </a:p>
        </p:txBody>
      </p:sp>
      <p:sp>
        <p:nvSpPr>
          <p:cNvPr id="53" name="SK-26-text-52"/>
          <p:cNvSpPr/>
          <p:nvPr/>
        </p:nvSpPr>
        <p:spPr>
          <a:xfrm>
            <a:off x="5151090" y="1932533"/>
            <a:ext cx="1965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03</a:t>
            </a:r>
            <a:endParaRPr lang="en-US" sz="900" dirty="0"/>
          </a:p>
        </p:txBody>
      </p:sp>
      <p:sp>
        <p:nvSpPr>
          <p:cNvPr id="54" name="SK-26-text-53"/>
          <p:cNvSpPr/>
          <p:nvPr/>
        </p:nvSpPr>
        <p:spPr>
          <a:xfrm>
            <a:off x="5151090" y="2180183"/>
            <a:ext cx="19706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</a:t>
            </a:r>
            <a:endParaRPr lang="en-US" sz="1275" dirty="0"/>
          </a:p>
        </p:txBody>
      </p:sp>
      <p:sp>
        <p:nvSpPr>
          <p:cNvPr id="55" name="SK-26-text-54"/>
          <p:cNvSpPr/>
          <p:nvPr/>
        </p:nvSpPr>
        <p:spPr>
          <a:xfrm>
            <a:off x="5208240" y="2499271"/>
            <a:ext cx="200915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Synapse (Chief)</a:t>
            </a:r>
            <a:endParaRPr lang="en-US" sz="900" dirty="0"/>
          </a:p>
        </p:txBody>
      </p:sp>
      <p:sp>
        <p:nvSpPr>
          <p:cNvPr id="56" name="SK-26-text-55"/>
          <p:cNvSpPr/>
          <p:nvPr/>
        </p:nvSpPr>
        <p:spPr>
          <a:xfrm>
            <a:off x="5151090" y="2785021"/>
            <a:ext cx="188967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 Freeze 자동 통제 및 CCB 가상 심의, 스폰서 보고서 자동 생성</a:t>
            </a:r>
            <a:endParaRPr lang="en-US" sz="1050" dirty="0"/>
          </a:p>
        </p:txBody>
      </p:sp>
      <p:sp>
        <p:nvSpPr>
          <p:cNvPr id="57" name="SK-26-text-56"/>
          <p:cNvSpPr/>
          <p:nvPr/>
        </p:nvSpPr>
        <p:spPr>
          <a:xfrm>
            <a:off x="5351115" y="3990975"/>
            <a:ext cx="1889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무검토 Scope 0건</a:t>
            </a:r>
            <a:endParaRPr lang="en-US" sz="900" dirty="0"/>
          </a:p>
        </p:txBody>
      </p:sp>
      <p:sp>
        <p:nvSpPr>
          <p:cNvPr id="58" name="SK-26-text-57"/>
          <p:cNvSpPr/>
          <p:nvPr/>
        </p:nvSpPr>
        <p:spPr>
          <a:xfrm>
            <a:off x="7383661" y="1932533"/>
            <a:ext cx="19660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04</a:t>
            </a:r>
            <a:endParaRPr lang="en-US" sz="900" dirty="0"/>
          </a:p>
        </p:txBody>
      </p:sp>
      <p:sp>
        <p:nvSpPr>
          <p:cNvPr id="59" name="SK-26-text-58"/>
          <p:cNvSpPr/>
          <p:nvPr/>
        </p:nvSpPr>
        <p:spPr>
          <a:xfrm>
            <a:off x="7383661" y="2180183"/>
            <a:ext cx="197078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</a:t>
            </a:r>
            <a:endParaRPr lang="en-US" sz="1275" dirty="0"/>
          </a:p>
        </p:txBody>
      </p:sp>
      <p:sp>
        <p:nvSpPr>
          <p:cNvPr id="60" name="SK-26-text-59"/>
          <p:cNvSpPr/>
          <p:nvPr/>
        </p:nvSpPr>
        <p:spPr>
          <a:xfrm>
            <a:off x="7440811" y="2499271"/>
            <a:ext cx="21380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Sentinel</a:t>
            </a:r>
            <a:endParaRPr lang="en-US" sz="900" dirty="0"/>
          </a:p>
        </p:txBody>
      </p:sp>
      <p:sp>
        <p:nvSpPr>
          <p:cNvPr id="61" name="SK-26-text-60"/>
          <p:cNvSpPr/>
          <p:nvPr/>
        </p:nvSpPr>
        <p:spPr>
          <a:xfrm>
            <a:off x="7383661" y="2785021"/>
            <a:ext cx="188982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복구 계획서 자동 구성 및 CI 테스트 스크립트 자가 복구 실행</a:t>
            </a:r>
            <a:endParaRPr lang="en-US" sz="1050" dirty="0"/>
          </a:p>
        </p:txBody>
      </p:sp>
      <p:sp>
        <p:nvSpPr>
          <p:cNvPr id="62" name="SK-26-text-61"/>
          <p:cNvSpPr/>
          <p:nvPr/>
        </p:nvSpPr>
        <p:spPr>
          <a:xfrm>
            <a:off x="7583686" y="3990975"/>
            <a:ext cx="188982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2시간 내 완편</a:t>
            </a:r>
            <a:endParaRPr lang="en-US" sz="900" dirty="0"/>
          </a:p>
        </p:txBody>
      </p:sp>
      <p:sp>
        <p:nvSpPr>
          <p:cNvPr id="63" name="SK-26-text-62"/>
          <p:cNvSpPr/>
          <p:nvPr/>
        </p:nvSpPr>
        <p:spPr>
          <a:xfrm>
            <a:off x="9616380" y="1932533"/>
            <a:ext cx="19658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4A3B8">
                    <a:alpha val="50000"/>
                  </a:srgbClr>
                </a:solidFill>
              </a:rPr>
              <a:t>STEP 05</a:t>
            </a:r>
            <a:endParaRPr lang="en-US" sz="900" dirty="0"/>
          </a:p>
        </p:txBody>
      </p:sp>
      <p:sp>
        <p:nvSpPr>
          <p:cNvPr id="64" name="SK-26-text-63"/>
          <p:cNvSpPr/>
          <p:nvPr/>
        </p:nvSpPr>
        <p:spPr>
          <a:xfrm>
            <a:off x="9616380" y="2180183"/>
            <a:ext cx="197063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913"/>
              </a:lnSpc>
              <a:buNone/>
            </a:pPr>
            <a:r>
              <a:rPr lang="en-US" sz="127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Validate</a:t>
            </a:r>
            <a:endParaRPr lang="en-US" sz="1275" dirty="0"/>
          </a:p>
        </p:txBody>
      </p:sp>
      <p:sp>
        <p:nvSpPr>
          <p:cNvPr id="65" name="SK-26-text-64"/>
          <p:cNvSpPr/>
          <p:nvPr/>
        </p:nvSpPr>
        <p:spPr>
          <a:xfrm>
            <a:off x="9673530" y="2499271"/>
            <a:ext cx="185157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 Engine</a:t>
            </a:r>
            <a:endParaRPr lang="en-US" sz="900" dirty="0"/>
          </a:p>
        </p:txBody>
      </p:sp>
      <p:sp>
        <p:nvSpPr>
          <p:cNvPr id="66" name="SK-26-text-65"/>
          <p:cNvSpPr/>
          <p:nvPr/>
        </p:nvSpPr>
        <p:spPr>
          <a:xfrm>
            <a:off x="9616380" y="2785021"/>
            <a:ext cx="1889671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Proactive 거버넌스 전환, ASIL-B 100% 획득 및 SOP 안전성 최종 검증</a:t>
            </a:r>
            <a:endParaRPr lang="en-US" sz="1050" dirty="0"/>
          </a:p>
        </p:txBody>
      </p:sp>
      <p:sp>
        <p:nvSpPr>
          <p:cNvPr id="67" name="SK-26-text-66"/>
          <p:cNvSpPr/>
          <p:nvPr/>
        </p:nvSpPr>
        <p:spPr>
          <a:xfrm>
            <a:off x="9816405" y="3990975"/>
            <a:ext cx="188967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리콜 0% 목표 달성</a:t>
            </a:r>
            <a:endParaRPr lang="en-US" sz="900" dirty="0"/>
          </a:p>
        </p:txBody>
      </p:sp>
      <p:sp>
        <p:nvSpPr>
          <p:cNvPr id="68" name="SK-26-text-67"/>
          <p:cNvSpPr/>
          <p:nvPr/>
        </p:nvSpPr>
        <p:spPr>
          <a:xfrm>
            <a:off x="571500" y="4410075"/>
            <a:ext cx="111347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38BDF8"/>
                </a:solidFill>
              </a:rPr>
              <a:t>현업 즉시 적용 3대 Action Items</a:t>
            </a:r>
            <a:endParaRPr lang="en-US" sz="1350" dirty="0"/>
          </a:p>
        </p:txBody>
      </p:sp>
      <p:sp>
        <p:nvSpPr>
          <p:cNvPr id="69" name="SK-26-text-68"/>
          <p:cNvSpPr/>
          <p:nvPr/>
        </p:nvSpPr>
        <p:spPr>
          <a:xfrm>
            <a:off x="723900" y="4886325"/>
            <a:ext cx="1859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이도윤 PM</a:t>
            </a:r>
            <a:endParaRPr lang="en-US" sz="900" dirty="0"/>
          </a:p>
        </p:txBody>
      </p:sp>
      <p:sp>
        <p:nvSpPr>
          <p:cNvPr id="70" name="SK-26-text-69"/>
          <p:cNvSpPr/>
          <p:nvPr/>
        </p:nvSpPr>
        <p:spPr>
          <a:xfrm>
            <a:off x="3028950" y="4886325"/>
            <a:ext cx="3002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Due: 10/06 08:00</a:t>
            </a:r>
            <a:endParaRPr lang="en-US" sz="900" dirty="0"/>
          </a:p>
        </p:txBody>
      </p:sp>
      <p:sp>
        <p:nvSpPr>
          <p:cNvPr id="71" name="SK-26-text-70"/>
          <p:cNvSpPr/>
          <p:nvPr/>
        </p:nvSpPr>
        <p:spPr>
          <a:xfrm>
            <a:off x="1219200" y="5155406"/>
            <a:ext cx="31623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스폰서 에스컬레이션 및 벤더 협상</a:t>
            </a:r>
            <a:endParaRPr lang="en-US" sz="1125" dirty="0"/>
          </a:p>
        </p:txBody>
      </p:sp>
      <p:sp>
        <p:nvSpPr>
          <p:cNvPr id="72" name="SK-26-text-71"/>
          <p:cNvSpPr/>
          <p:nvPr/>
        </p:nvSpPr>
        <p:spPr>
          <a:xfrm>
            <a:off x="800100" y="5438775"/>
            <a:ext cx="3124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NovaChip CEO 상담 요청 및 SDK 지연 페널티/HSM 비용 무상화 협상 안건 제출</a:t>
            </a:r>
            <a:endParaRPr lang="en-US" sz="975" dirty="0"/>
          </a:p>
        </p:txBody>
      </p:sp>
      <p:sp>
        <p:nvSpPr>
          <p:cNvPr id="73" name="SK-26-text-72"/>
          <p:cNvSpPr/>
          <p:nvPr/>
        </p:nvSpPr>
        <p:spPr>
          <a:xfrm>
            <a:off x="4457700" y="4886325"/>
            <a:ext cx="1859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최서린 PO</a:t>
            </a:r>
            <a:endParaRPr lang="en-US" sz="900" dirty="0"/>
          </a:p>
        </p:txBody>
      </p:sp>
      <p:sp>
        <p:nvSpPr>
          <p:cNvPr id="74" name="SK-26-text-73"/>
          <p:cNvSpPr/>
          <p:nvPr/>
        </p:nvSpPr>
        <p:spPr>
          <a:xfrm>
            <a:off x="6800850" y="4886325"/>
            <a:ext cx="30022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Due: 10/07 18:00</a:t>
            </a:r>
            <a:endParaRPr lang="en-US" sz="900" dirty="0"/>
          </a:p>
        </p:txBody>
      </p:sp>
      <p:sp>
        <p:nvSpPr>
          <p:cNvPr id="75" name="SK-26-text-74"/>
          <p:cNvSpPr/>
          <p:nvPr/>
        </p:nvSpPr>
        <p:spPr>
          <a:xfrm>
            <a:off x="4953000" y="5155406"/>
            <a:ext cx="35052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CCB Scope Freeze 재정립</a:t>
            </a:r>
            <a:endParaRPr lang="en-US" sz="1125" dirty="0"/>
          </a:p>
        </p:txBody>
      </p:sp>
      <p:sp>
        <p:nvSpPr>
          <p:cNvPr id="76" name="SK-26-text-75"/>
          <p:cNvSpPr/>
          <p:nvPr/>
        </p:nvSpPr>
        <p:spPr>
          <a:xfrm>
            <a:off x="4533900" y="5438775"/>
            <a:ext cx="3124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음성 Phase 분리(G4 이관), G3는 Cold Boot 2.0s 및 HSM 연동에 집중</a:t>
            </a:r>
            <a:endParaRPr lang="en-US" sz="975" dirty="0"/>
          </a:p>
        </p:txBody>
      </p:sp>
      <p:sp>
        <p:nvSpPr>
          <p:cNvPr id="77" name="SK-26-text-76"/>
          <p:cNvSpPr/>
          <p:nvPr/>
        </p:nvSpPr>
        <p:spPr>
          <a:xfrm>
            <a:off x="8191500" y="4886325"/>
            <a:ext cx="268224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QA / FE Lead</a:t>
            </a:r>
            <a:endParaRPr lang="en-US" sz="900" dirty="0"/>
          </a:p>
        </p:txBody>
      </p:sp>
      <p:sp>
        <p:nvSpPr>
          <p:cNvPr id="78" name="SK-26-text-77"/>
          <p:cNvSpPr/>
          <p:nvPr/>
        </p:nvSpPr>
        <p:spPr>
          <a:xfrm>
            <a:off x="10534650" y="4886325"/>
            <a:ext cx="16573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Due: 10/08 12:00</a:t>
            </a:r>
            <a:endParaRPr lang="en-US" sz="900" dirty="0"/>
          </a:p>
        </p:txBody>
      </p:sp>
      <p:sp>
        <p:nvSpPr>
          <p:cNvPr id="79" name="SK-26-text-78"/>
          <p:cNvSpPr/>
          <p:nvPr/>
        </p:nvSpPr>
        <p:spPr>
          <a:xfrm>
            <a:off x="8686800" y="5155406"/>
            <a:ext cx="35052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1125" b="1" dirty="0">
                <a:solidFill>
                  <a:srgbClr val="F8FA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자동화 &amp; API Lock</a:t>
            </a:r>
            <a:endParaRPr lang="en-US" sz="1125" dirty="0"/>
          </a:p>
        </p:txBody>
      </p:sp>
      <p:sp>
        <p:nvSpPr>
          <p:cNvPr id="80" name="SK-26-text-79"/>
          <p:cNvSpPr/>
          <p:nvPr/>
        </p:nvSpPr>
        <p:spPr>
          <a:xfrm>
            <a:off x="8267700" y="5438775"/>
            <a:ext cx="31242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JIRA-Slack-CI 연동, 메신저 구두 공유 금지, API 변경 시 CI 자동 수정 적용</a:t>
            </a:r>
            <a:endParaRPr lang="en-US" sz="975" dirty="0"/>
          </a:p>
        </p:txBody>
      </p:sp>
      <p:sp>
        <p:nvSpPr>
          <p:cNvPr id="81" name="SK-26-text-80"/>
          <p:cNvSpPr/>
          <p:nvPr/>
        </p:nvSpPr>
        <p:spPr>
          <a:xfrm>
            <a:off x="1654969" y="6276975"/>
            <a:ext cx="503682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Reactive → Proactive Governance</a:t>
            </a:r>
            <a:endParaRPr lang="en-US" sz="1050" dirty="0"/>
          </a:p>
        </p:txBody>
      </p:sp>
      <p:sp>
        <p:nvSpPr>
          <p:cNvPr id="82" name="SK-26-text-81"/>
          <p:cNvSpPr/>
          <p:nvPr/>
        </p:nvSpPr>
        <p:spPr>
          <a:xfrm>
            <a:off x="5293519" y="6276975"/>
            <a:ext cx="4876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Silo → Transparent SSOT (JIRA)</a:t>
            </a:r>
            <a:endParaRPr lang="en-US" sz="1050" dirty="0"/>
          </a:p>
        </p:txBody>
      </p:sp>
      <p:sp>
        <p:nvSpPr>
          <p:cNvPr id="83" name="SK-26-text-82"/>
          <p:cNvSpPr/>
          <p:nvPr/>
        </p:nvSpPr>
        <p:spPr>
          <a:xfrm>
            <a:off x="8808244" y="6276975"/>
            <a:ext cx="33837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Compliance &amp; Safety Protection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687835" y="365760"/>
            <a:ext cx="881633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653394" y="365760"/>
            <a:ext cx="6885212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141754" y="365760"/>
            <a:ext cx="7908492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2486601" y="365760"/>
            <a:ext cx="721879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74188" y="365760"/>
            <a:ext cx="11443624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5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6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65472"/>
            <a:ext cx="11460480" cy="512705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7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8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74188" y="365760"/>
            <a:ext cx="11443624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0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676977"/>
            <a:ext cx="11460480" cy="5504046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474345"/>
            <a:ext cx="11460480" cy="590931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51811" y="365760"/>
            <a:ext cx="10688378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5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403659"/>
            <a:ext cx="11460480" cy="605068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6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469633"/>
            <a:ext cx="11460480" cy="591873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7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8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19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20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474345"/>
            <a:ext cx="11460480" cy="590931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21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22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577630" y="365760"/>
            <a:ext cx="11036740" cy="6126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23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65760" y="879609"/>
            <a:ext cx="11460480" cy="509878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SK-2-img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7650"/>
            <a:ext cx="11049000" cy="889546"/>
          </a:xfrm>
          <a:prstGeom prst="rect">
            <a:avLst/>
          </a:prstGeom>
        </p:spPr>
      </p:pic>
      <p:pic>
        <p:nvPicPr>
          <p:cNvPr id="5" name="SK-2-img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280071"/>
            <a:ext cx="6400800" cy="1771650"/>
          </a:xfrm>
          <a:prstGeom prst="rect">
            <a:avLst/>
          </a:prstGeom>
        </p:spPr>
      </p:pic>
      <p:pic>
        <p:nvPicPr>
          <p:cNvPr id="6" name="SK-2-img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118271"/>
            <a:ext cx="1457325" cy="314325"/>
          </a:xfrm>
          <a:prstGeom prst="rect">
            <a:avLst/>
          </a:prstGeom>
        </p:spPr>
      </p:pic>
      <p:pic>
        <p:nvPicPr>
          <p:cNvPr id="7" name="SK-2-img-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625" y="2118271"/>
            <a:ext cx="1476375" cy="314325"/>
          </a:xfrm>
          <a:prstGeom prst="rect">
            <a:avLst/>
          </a:prstGeom>
        </p:spPr>
      </p:pic>
      <p:pic>
        <p:nvPicPr>
          <p:cNvPr id="8" name="SK-2-img-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4300" y="2118271"/>
            <a:ext cx="1647825" cy="314325"/>
          </a:xfrm>
          <a:prstGeom prst="rect">
            <a:avLst/>
          </a:prstGeom>
        </p:spPr>
      </p:pic>
      <p:pic>
        <p:nvPicPr>
          <p:cNvPr id="9" name="SK-2-img-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546896"/>
            <a:ext cx="1114425" cy="314325"/>
          </a:xfrm>
          <a:prstGeom prst="rect">
            <a:avLst/>
          </a:prstGeom>
        </p:spPr>
      </p:pic>
      <p:pic>
        <p:nvPicPr>
          <p:cNvPr id="10" name="SK-2-img-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90725" y="2546896"/>
            <a:ext cx="1143000" cy="314325"/>
          </a:xfrm>
          <a:prstGeom prst="rect">
            <a:avLst/>
          </a:prstGeom>
        </p:spPr>
      </p:pic>
      <p:pic>
        <p:nvPicPr>
          <p:cNvPr id="12" name="SK-2-img-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3280321"/>
            <a:ext cx="1920180" cy="428625"/>
          </a:xfrm>
          <a:prstGeom prst="rect">
            <a:avLst/>
          </a:prstGeom>
        </p:spPr>
      </p:pic>
      <p:pic>
        <p:nvPicPr>
          <p:cNvPr id="13" name="SK-2-img-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91680" y="3280321"/>
            <a:ext cx="1600200" cy="428625"/>
          </a:xfrm>
          <a:prstGeom prst="rect">
            <a:avLst/>
          </a:prstGeom>
        </p:spPr>
      </p:pic>
      <p:pic>
        <p:nvPicPr>
          <p:cNvPr id="14" name="SK-2-img-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880" y="3280321"/>
            <a:ext cx="1920180" cy="428625"/>
          </a:xfrm>
          <a:prstGeom prst="rect">
            <a:avLst/>
          </a:prstGeom>
        </p:spPr>
      </p:pic>
      <p:pic>
        <p:nvPicPr>
          <p:cNvPr id="15" name="SK-2-img-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12061" y="3280321"/>
            <a:ext cx="960239" cy="428625"/>
          </a:xfrm>
          <a:prstGeom prst="rect">
            <a:avLst/>
          </a:prstGeom>
        </p:spPr>
      </p:pic>
      <p:pic>
        <p:nvPicPr>
          <p:cNvPr id="16" name="SK-2-img-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1500" y="3708946"/>
            <a:ext cx="1920180" cy="580281"/>
          </a:xfrm>
          <a:prstGeom prst="rect">
            <a:avLst/>
          </a:prstGeom>
        </p:spPr>
      </p:pic>
      <p:pic>
        <p:nvPicPr>
          <p:cNvPr id="17" name="SK-2-img-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91680" y="3708946"/>
            <a:ext cx="1600200" cy="580281"/>
          </a:xfrm>
          <a:prstGeom prst="rect">
            <a:avLst/>
          </a:prstGeom>
        </p:spPr>
      </p:pic>
      <p:pic>
        <p:nvPicPr>
          <p:cNvPr id="18" name="SK-2-img-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91880" y="3708946"/>
            <a:ext cx="1920180" cy="580281"/>
          </a:xfrm>
          <a:prstGeom prst="rect">
            <a:avLst/>
          </a:prstGeom>
        </p:spPr>
      </p:pic>
      <p:pic>
        <p:nvPicPr>
          <p:cNvPr id="19" name="SK-2-img-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2061" y="3708946"/>
            <a:ext cx="960239" cy="580281"/>
          </a:xfrm>
          <a:prstGeom prst="rect">
            <a:avLst/>
          </a:prstGeom>
        </p:spPr>
      </p:pic>
      <p:pic>
        <p:nvPicPr>
          <p:cNvPr id="20" name="SK-2-img-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289227"/>
            <a:ext cx="1920180" cy="580281"/>
          </a:xfrm>
          <a:prstGeom prst="rect">
            <a:avLst/>
          </a:prstGeom>
        </p:spPr>
      </p:pic>
      <p:pic>
        <p:nvPicPr>
          <p:cNvPr id="21" name="SK-2-img-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491680" y="4289227"/>
            <a:ext cx="1600200" cy="580281"/>
          </a:xfrm>
          <a:prstGeom prst="rect">
            <a:avLst/>
          </a:prstGeom>
        </p:spPr>
      </p:pic>
      <p:pic>
        <p:nvPicPr>
          <p:cNvPr id="22" name="SK-2-img-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091880" y="4289227"/>
            <a:ext cx="1920180" cy="580281"/>
          </a:xfrm>
          <a:prstGeom prst="rect">
            <a:avLst/>
          </a:prstGeom>
        </p:spPr>
      </p:pic>
      <p:pic>
        <p:nvPicPr>
          <p:cNvPr id="23" name="SK-2-img-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12061" y="4289227"/>
            <a:ext cx="960239" cy="580281"/>
          </a:xfrm>
          <a:prstGeom prst="rect">
            <a:avLst/>
          </a:prstGeom>
        </p:spPr>
      </p:pic>
      <p:pic>
        <p:nvPicPr>
          <p:cNvPr id="24" name="SK-2-img-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500" y="4869507"/>
            <a:ext cx="1920180" cy="580281"/>
          </a:xfrm>
          <a:prstGeom prst="rect">
            <a:avLst/>
          </a:prstGeom>
        </p:spPr>
      </p:pic>
      <p:pic>
        <p:nvPicPr>
          <p:cNvPr id="25" name="SK-2-img-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491680" y="4869507"/>
            <a:ext cx="1600200" cy="580281"/>
          </a:xfrm>
          <a:prstGeom prst="rect">
            <a:avLst/>
          </a:prstGeom>
        </p:spPr>
      </p:pic>
      <p:pic>
        <p:nvPicPr>
          <p:cNvPr id="26" name="SK-2-img-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91880" y="4869507"/>
            <a:ext cx="1920180" cy="580281"/>
          </a:xfrm>
          <a:prstGeom prst="rect">
            <a:avLst/>
          </a:prstGeom>
        </p:spPr>
      </p:pic>
      <p:pic>
        <p:nvPicPr>
          <p:cNvPr id="27" name="SK-2-img-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012061" y="4869507"/>
            <a:ext cx="960239" cy="580281"/>
          </a:xfrm>
          <a:prstGeom prst="rect">
            <a:avLst/>
          </a:prstGeom>
        </p:spPr>
      </p:pic>
      <p:pic>
        <p:nvPicPr>
          <p:cNvPr id="28" name="SK-2-img-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71500" y="5449788"/>
            <a:ext cx="1920180" cy="580281"/>
          </a:xfrm>
          <a:prstGeom prst="rect">
            <a:avLst/>
          </a:prstGeom>
        </p:spPr>
      </p:pic>
      <p:pic>
        <p:nvPicPr>
          <p:cNvPr id="29" name="SK-2-img-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491680" y="5449788"/>
            <a:ext cx="1600200" cy="580281"/>
          </a:xfrm>
          <a:prstGeom prst="rect">
            <a:avLst/>
          </a:prstGeom>
        </p:spPr>
      </p:pic>
      <p:pic>
        <p:nvPicPr>
          <p:cNvPr id="30" name="SK-2-img-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1880" y="5449788"/>
            <a:ext cx="1920180" cy="580281"/>
          </a:xfrm>
          <a:prstGeom prst="rect">
            <a:avLst/>
          </a:prstGeom>
        </p:spPr>
      </p:pic>
      <p:pic>
        <p:nvPicPr>
          <p:cNvPr id="31" name="SK-2-img-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12061" y="5449788"/>
            <a:ext cx="960239" cy="580281"/>
          </a:xfrm>
          <a:prstGeom prst="rect">
            <a:avLst/>
          </a:prstGeom>
        </p:spPr>
      </p:pic>
      <p:pic>
        <p:nvPicPr>
          <p:cNvPr id="32" name="SK-2-img-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1500" y="6030069"/>
            <a:ext cx="1920180" cy="580281"/>
          </a:xfrm>
          <a:prstGeom prst="rect">
            <a:avLst/>
          </a:prstGeom>
        </p:spPr>
      </p:pic>
      <p:pic>
        <p:nvPicPr>
          <p:cNvPr id="33" name="SK-2-img-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491680" y="6030069"/>
            <a:ext cx="1600200" cy="580281"/>
          </a:xfrm>
          <a:prstGeom prst="rect">
            <a:avLst/>
          </a:prstGeom>
        </p:spPr>
      </p:pic>
      <p:pic>
        <p:nvPicPr>
          <p:cNvPr id="34" name="SK-2-img-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091880" y="6030069"/>
            <a:ext cx="1920180" cy="580281"/>
          </a:xfrm>
          <a:prstGeom prst="rect">
            <a:avLst/>
          </a:prstGeom>
        </p:spPr>
      </p:pic>
      <p:pic>
        <p:nvPicPr>
          <p:cNvPr id="35" name="SK-2-img-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012061" y="6030069"/>
            <a:ext cx="960239" cy="580281"/>
          </a:xfrm>
          <a:prstGeom prst="rect">
            <a:avLst/>
          </a:prstGeom>
        </p:spPr>
      </p:pic>
      <p:pic>
        <p:nvPicPr>
          <p:cNvPr id="36" name="SK-2-img-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353300" y="1400175"/>
            <a:ext cx="4267200" cy="941784"/>
          </a:xfrm>
          <a:prstGeom prst="rect">
            <a:avLst/>
          </a:prstGeom>
        </p:spPr>
      </p:pic>
      <p:pic>
        <p:nvPicPr>
          <p:cNvPr id="37" name="SK-2-img-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67600" y="1476375"/>
            <a:ext cx="457200" cy="457200"/>
          </a:xfrm>
          <a:prstGeom prst="rect">
            <a:avLst/>
          </a:prstGeom>
        </p:spPr>
      </p:pic>
      <p:pic>
        <p:nvPicPr>
          <p:cNvPr id="38" name="SK-2-img-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589044" y="1617315"/>
            <a:ext cx="214313" cy="175320"/>
          </a:xfrm>
          <a:prstGeom prst="rect">
            <a:avLst/>
          </a:prstGeom>
        </p:spPr>
      </p:pic>
      <p:pic>
        <p:nvPicPr>
          <p:cNvPr id="39" name="SK-2-img-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7353300" y="2437209"/>
            <a:ext cx="4267200" cy="941784"/>
          </a:xfrm>
          <a:prstGeom prst="rect">
            <a:avLst/>
          </a:prstGeom>
        </p:spPr>
      </p:pic>
      <p:pic>
        <p:nvPicPr>
          <p:cNvPr id="40" name="SK-2-img-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467600" y="2513409"/>
            <a:ext cx="457200" cy="457200"/>
          </a:xfrm>
          <a:prstGeom prst="rect">
            <a:avLst/>
          </a:prstGeom>
        </p:spPr>
      </p:pic>
      <p:pic>
        <p:nvPicPr>
          <p:cNvPr id="41" name="SK-2-img-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7589044" y="2654350"/>
            <a:ext cx="214313" cy="175320"/>
          </a:xfrm>
          <a:prstGeom prst="rect">
            <a:avLst/>
          </a:prstGeom>
        </p:spPr>
      </p:pic>
      <p:pic>
        <p:nvPicPr>
          <p:cNvPr id="42" name="SK-2-img-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353300" y="3474244"/>
            <a:ext cx="4267200" cy="941784"/>
          </a:xfrm>
          <a:prstGeom prst="rect">
            <a:avLst/>
          </a:prstGeom>
        </p:spPr>
      </p:pic>
      <p:pic>
        <p:nvPicPr>
          <p:cNvPr id="43" name="SK-2-img-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467600" y="3550444"/>
            <a:ext cx="457200" cy="457200"/>
          </a:xfrm>
          <a:prstGeom prst="rect">
            <a:avLst/>
          </a:prstGeom>
        </p:spPr>
      </p:pic>
      <p:pic>
        <p:nvPicPr>
          <p:cNvPr id="44" name="SK-2-img-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589044" y="3691384"/>
            <a:ext cx="214313" cy="175320"/>
          </a:xfrm>
          <a:prstGeom prst="rect">
            <a:avLst/>
          </a:prstGeom>
        </p:spPr>
      </p:pic>
      <p:pic>
        <p:nvPicPr>
          <p:cNvPr id="45" name="SK-2-img-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353300" y="4511278"/>
            <a:ext cx="4267200" cy="941784"/>
          </a:xfrm>
          <a:prstGeom prst="rect">
            <a:avLst/>
          </a:prstGeom>
        </p:spPr>
      </p:pic>
      <p:pic>
        <p:nvPicPr>
          <p:cNvPr id="46" name="SK-2-img-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467600" y="4587478"/>
            <a:ext cx="457200" cy="457200"/>
          </a:xfrm>
          <a:prstGeom prst="rect">
            <a:avLst/>
          </a:prstGeom>
        </p:spPr>
      </p:pic>
      <p:pic>
        <p:nvPicPr>
          <p:cNvPr id="47" name="SK-2-img-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589044" y="4728418"/>
            <a:ext cx="214313" cy="175320"/>
          </a:xfrm>
          <a:prstGeom prst="rect">
            <a:avLst/>
          </a:prstGeom>
        </p:spPr>
      </p:pic>
      <p:pic>
        <p:nvPicPr>
          <p:cNvPr id="48" name="SK-2-img-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7353300" y="5548313"/>
            <a:ext cx="4267200" cy="941784"/>
          </a:xfrm>
          <a:prstGeom prst="rect">
            <a:avLst/>
          </a:prstGeom>
        </p:spPr>
      </p:pic>
      <p:pic>
        <p:nvPicPr>
          <p:cNvPr id="49" name="SK-2-img-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467600" y="5624513"/>
            <a:ext cx="457200" cy="457200"/>
          </a:xfrm>
          <a:prstGeom prst="rect">
            <a:avLst/>
          </a:prstGeom>
        </p:spPr>
      </p:pic>
      <p:pic>
        <p:nvPicPr>
          <p:cNvPr id="50" name="SK-2-img-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589044" y="5765453"/>
            <a:ext cx="214313" cy="175320"/>
          </a:xfrm>
          <a:prstGeom prst="rect">
            <a:avLst/>
          </a:prstGeom>
        </p:spPr>
      </p:pic>
      <p:pic>
        <p:nvPicPr>
          <p:cNvPr id="51" name="Picture 50" descr="nextgen_v4_slide_24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803754" y="365760"/>
            <a:ext cx="4584492" cy="6126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2026-08-23T05:23:19Z</dcterms:created>
  <dcterms:modified xsi:type="dcterms:W3CDTF">2026-08-23T05:23:19Z</dcterms:modified>
</cp:coreProperties>
</file>
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png"/><Relationship Id="rId31" Type="http://schemas.openxmlformats.org/officeDocument/2006/relationships/image" Target="../media/image-13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pn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pn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pn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pn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pn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pn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png"/><Relationship Id="rId45" Type="http://schemas.openxmlformats.org/officeDocument/2006/relationships/image" Target="../media/image-14-45.png"/><Relationship Id="rId46" Type="http://schemas.openxmlformats.org/officeDocument/2006/relationships/image" Target="../media/image-14-46.png"/><Relationship Id="rId47" Type="http://schemas.openxmlformats.org/officeDocument/2006/relationships/image" Target="../media/image-14-47.png"/><Relationship Id="rId48" Type="http://schemas.openxmlformats.org/officeDocument/2006/relationships/image" Target="../media/image-14-48.png"/><Relationship Id="rId49" Type="http://schemas.openxmlformats.org/officeDocument/2006/relationships/image" Target="../media/image-14-49.png"/><Relationship Id="rId50" Type="http://schemas.openxmlformats.org/officeDocument/2006/relationships/image" Target="../media/image-14-50.png"/><Relationship Id="rId51" Type="http://schemas.openxmlformats.org/officeDocument/2006/relationships/image" Target="../media/image-14-51.png"/><Relationship Id="rId52" Type="http://schemas.openxmlformats.org/officeDocument/2006/relationships/image" Target="../media/image-14-52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pn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pn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pn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png"/><Relationship Id="rId33" Type="http://schemas.openxmlformats.org/officeDocument/2006/relationships/image" Target="../media/image-15-33.png"/><Relationship Id="rId34" Type="http://schemas.openxmlformats.org/officeDocument/2006/relationships/image" Target="../media/image-15-34.png"/><Relationship Id="rId35" Type="http://schemas.openxmlformats.org/officeDocument/2006/relationships/image" Target="../media/image-15-35.png"/><Relationship Id="rId36" Type="http://schemas.openxmlformats.org/officeDocument/2006/relationships/image" Target="../media/image-15-36.png"/><Relationship Id="rId37" Type="http://schemas.openxmlformats.org/officeDocument/2006/relationships/image" Target="../media/image-15-37.png"/><Relationship Id="rId38" Type="http://schemas.openxmlformats.org/officeDocument/2006/relationships/image" Target="../media/image-15-38.png"/><Relationship Id="rId39" Type="http://schemas.openxmlformats.org/officeDocument/2006/relationships/image" Target="../media/image-15-39.png"/><Relationship Id="rId40" Type="http://schemas.openxmlformats.org/officeDocument/2006/relationships/image" Target="../media/image-15-40.png"/><Relationship Id="rId41" Type="http://schemas.openxmlformats.org/officeDocument/2006/relationships/image" Target="../media/image-15-41.png"/><Relationship Id="rId42" Type="http://schemas.openxmlformats.org/officeDocument/2006/relationships/image" Target="../media/image-15-42.png"/><Relationship Id="rId43" Type="http://schemas.openxmlformats.org/officeDocument/2006/relationships/image" Target="../media/image-15-43.png"/><Relationship Id="rId44" Type="http://schemas.openxmlformats.org/officeDocument/2006/relationships/image" Target="../media/image-15-44.png"/><Relationship Id="rId45" Type="http://schemas.openxmlformats.org/officeDocument/2006/relationships/image" Target="../media/image-15-45.png"/><Relationship Id="rId46" Type="http://schemas.openxmlformats.org/officeDocument/2006/relationships/image" Target="../media/image-15-46.png"/><Relationship Id="rId47" Type="http://schemas.openxmlformats.org/officeDocument/2006/relationships/image" Target="../media/image-15-47.png"/><Relationship Id="rId48" Type="http://schemas.openxmlformats.org/officeDocument/2006/relationships/image" Target="../media/image-15-48.png"/><Relationship Id="rId49" Type="http://schemas.openxmlformats.org/officeDocument/2006/relationships/image" Target="../media/image-15-49.png"/><Relationship Id="rId50" Type="http://schemas.openxmlformats.org/officeDocument/2006/relationships/image" Target="../media/image-15-50.png"/><Relationship Id="rId51" Type="http://schemas.openxmlformats.org/officeDocument/2006/relationships/image" Target="../media/image-15-51.png"/><Relationship Id="rId52" Type="http://schemas.openxmlformats.org/officeDocument/2006/relationships/image" Target="../media/image-15-52.png"/><Relationship Id="rId53" Type="http://schemas.openxmlformats.org/officeDocument/2006/relationships/image" Target="../media/image-15-53.png"/><Relationship Id="rId54" Type="http://schemas.openxmlformats.org/officeDocument/2006/relationships/image" Target="../media/image-15-54.png"/><Relationship Id="rId55" Type="http://schemas.openxmlformats.org/officeDocument/2006/relationships/image" Target="../media/image-15-55.png"/><Relationship Id="rId56" Type="http://schemas.openxmlformats.org/officeDocument/2006/relationships/image" Target="../media/image-15-56.png"/><Relationship Id="rId57" Type="http://schemas.openxmlformats.org/officeDocument/2006/relationships/image" Target="../media/image-15-57.png"/><Relationship Id="rId58" Type="http://schemas.openxmlformats.org/officeDocument/2006/relationships/image" Target="../media/image-15-58.png"/><Relationship Id="rId59" Type="http://schemas.openxmlformats.org/officeDocument/2006/relationships/image" Target="../media/image-15-59.png"/><Relationship Id="rId60" Type="http://schemas.openxmlformats.org/officeDocument/2006/relationships/image" Target="../media/image-15-60.png"/><Relationship Id="rId61" Type="http://schemas.openxmlformats.org/officeDocument/2006/relationships/image" Target="../media/image-15-61.png"/><Relationship Id="rId62" Type="http://schemas.openxmlformats.org/officeDocument/2006/relationships/image" Target="../media/image-15-62.png"/><Relationship Id="rId63" Type="http://schemas.openxmlformats.org/officeDocument/2006/relationships/image" Target="../media/image-15-63.png"/><Relationship Id="rId64" Type="http://schemas.openxmlformats.org/officeDocument/2006/relationships/slideLayout" Target="../slideLayouts/slideLayout1.xml"/><Relationship Id="rId6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pn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pn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png"/><Relationship Id="rId23" Type="http://schemas.openxmlformats.org/officeDocument/2006/relationships/image" Target="../media/image-18-23.png"/><Relationship Id="rId24" Type="http://schemas.openxmlformats.org/officeDocument/2006/relationships/image" Target="../media/image-18-24.png"/><Relationship Id="rId25" Type="http://schemas.openxmlformats.org/officeDocument/2006/relationships/image" Target="../media/image-18-25.png"/><Relationship Id="rId26" Type="http://schemas.openxmlformats.org/officeDocument/2006/relationships/image" Target="../media/image-18-26.png"/><Relationship Id="rId27" Type="http://schemas.openxmlformats.org/officeDocument/2006/relationships/image" Target="../media/image-18-27.png"/><Relationship Id="rId28" Type="http://schemas.openxmlformats.org/officeDocument/2006/relationships/image" Target="../media/image-18-28.png"/><Relationship Id="rId29" Type="http://schemas.openxmlformats.org/officeDocument/2006/relationships/image" Target="../media/image-18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pn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pn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png"/><Relationship Id="rId23" Type="http://schemas.openxmlformats.org/officeDocument/2006/relationships/image" Target="../media/image-21-23.png"/><Relationship Id="rId24" Type="http://schemas.openxmlformats.org/officeDocument/2006/relationships/image" Target="../media/image-21-24.png"/><Relationship Id="rId25" Type="http://schemas.openxmlformats.org/officeDocument/2006/relationships/image" Target="../media/image-21-25.png"/><Relationship Id="rId26" Type="http://schemas.openxmlformats.org/officeDocument/2006/relationships/image" Target="../media/image-21-26.png"/><Relationship Id="rId27" Type="http://schemas.openxmlformats.org/officeDocument/2006/relationships/image" Target="../media/image-21-27.png"/><Relationship Id="rId28" Type="http://schemas.openxmlformats.org/officeDocument/2006/relationships/image" Target="../media/image-21-28.png"/><Relationship Id="rId29" Type="http://schemas.openxmlformats.org/officeDocument/2006/relationships/image" Target="../media/image-21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png"/><Relationship Id="rId23" Type="http://schemas.openxmlformats.org/officeDocument/2006/relationships/image" Target="../media/image-23-23.png"/><Relationship Id="rId24" Type="http://schemas.openxmlformats.org/officeDocument/2006/relationships/image" Target="../media/image-23-24.png"/><Relationship Id="rId25" Type="http://schemas.openxmlformats.org/officeDocument/2006/relationships/image" Target="../media/image-2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pn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pn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png"/><Relationship Id="rId21" Type="http://schemas.openxmlformats.org/officeDocument/2006/relationships/image" Target="../media/image-24-21.png"/><Relationship Id="rId22" Type="http://schemas.openxmlformats.org/officeDocument/2006/relationships/image" Target="../media/image-24-22.png"/><Relationship Id="rId23" Type="http://schemas.openxmlformats.org/officeDocument/2006/relationships/image" Target="../media/image-24-23.png"/><Relationship Id="rId24" Type="http://schemas.openxmlformats.org/officeDocument/2006/relationships/image" Target="../media/image-24-24.png"/><Relationship Id="rId25" Type="http://schemas.openxmlformats.org/officeDocument/2006/relationships/image" Target="../media/image-24-25.png"/><Relationship Id="rId26" Type="http://schemas.openxmlformats.org/officeDocument/2006/relationships/image" Target="../media/image-24-26.png"/><Relationship Id="rId27" Type="http://schemas.openxmlformats.org/officeDocument/2006/relationships/image" Target="../media/image-24-27.png"/><Relationship Id="rId28" Type="http://schemas.openxmlformats.org/officeDocument/2006/relationships/image" Target="../media/image-24-28.png"/><Relationship Id="rId29" Type="http://schemas.openxmlformats.org/officeDocument/2006/relationships/image" Target="../media/image-24-29.png"/><Relationship Id="rId30" Type="http://schemas.openxmlformats.org/officeDocument/2006/relationships/image" Target="../media/image-24-30.png"/><Relationship Id="rId31" Type="http://schemas.openxmlformats.org/officeDocument/2006/relationships/image" Target="../media/image-24-31.png"/><Relationship Id="rId32" Type="http://schemas.openxmlformats.org/officeDocument/2006/relationships/image" Target="../media/image-24-32.png"/><Relationship Id="rId33" Type="http://schemas.openxmlformats.org/officeDocument/2006/relationships/image" Target="../media/image-24-33.png"/><Relationship Id="rId34" Type="http://schemas.openxmlformats.org/officeDocument/2006/relationships/image" Target="../media/image-24-34.png"/><Relationship Id="rId35" Type="http://schemas.openxmlformats.org/officeDocument/2006/relationships/image" Target="../media/image-24-35.png"/><Relationship Id="rId36" Type="http://schemas.openxmlformats.org/officeDocument/2006/relationships/image" Target="../media/image-24-36.png"/><Relationship Id="rId37" Type="http://schemas.openxmlformats.org/officeDocument/2006/relationships/image" Target="../media/image-24-37.png"/><Relationship Id="rId38" Type="http://schemas.openxmlformats.org/officeDocument/2006/relationships/image" Target="../media/image-24-38.png"/><Relationship Id="rId39" Type="http://schemas.openxmlformats.org/officeDocument/2006/relationships/image" Target="../media/image-24-39.png"/><Relationship Id="rId40" Type="http://schemas.openxmlformats.org/officeDocument/2006/relationships/image" Target="../media/image-24-40.png"/><Relationship Id="rId41" Type="http://schemas.openxmlformats.org/officeDocument/2006/relationships/image" Target="../media/image-24-41.png"/><Relationship Id="rId42" Type="http://schemas.openxmlformats.org/officeDocument/2006/relationships/image" Target="../media/image-24-42.png"/><Relationship Id="rId43" Type="http://schemas.openxmlformats.org/officeDocument/2006/relationships/image" Target="../media/image-24-43.png"/><Relationship Id="rId44" Type="http://schemas.openxmlformats.org/officeDocument/2006/relationships/image" Target="../media/image-24-44.png"/><Relationship Id="rId45" Type="http://schemas.openxmlformats.org/officeDocument/2006/relationships/slideLayout" Target="../slideLayouts/slideLayout1.xml"/><Relationship Id="rId4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png"/><Relationship Id="rId21" Type="http://schemas.openxmlformats.org/officeDocument/2006/relationships/image" Target="../media/image-25-21.png"/><Relationship Id="rId22" Type="http://schemas.openxmlformats.org/officeDocument/2006/relationships/image" Target="../media/image-25-22.png"/><Relationship Id="rId23" Type="http://schemas.openxmlformats.org/officeDocument/2006/relationships/image" Target="../media/image-25-23.png"/><Relationship Id="rId24" Type="http://schemas.openxmlformats.org/officeDocument/2006/relationships/image" Target="../media/image-25-24.png"/><Relationship Id="rId25" Type="http://schemas.openxmlformats.org/officeDocument/2006/relationships/image" Target="../media/image-25-25.png"/><Relationship Id="rId26" Type="http://schemas.openxmlformats.org/officeDocument/2006/relationships/image" Target="../media/image-25-26.png"/><Relationship Id="rId27" Type="http://schemas.openxmlformats.org/officeDocument/2006/relationships/image" Target="../media/image-25-27.png"/><Relationship Id="rId28" Type="http://schemas.openxmlformats.org/officeDocument/2006/relationships/image" Target="../media/image-25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image" Target="../media/image-26-21.png"/><Relationship Id="rId22" Type="http://schemas.openxmlformats.org/officeDocument/2006/relationships/image" Target="../media/image-26-22.png"/><Relationship Id="rId23" Type="http://schemas.openxmlformats.org/officeDocument/2006/relationships/image" Target="../media/image-26-23.png"/><Relationship Id="rId24" Type="http://schemas.openxmlformats.org/officeDocument/2006/relationships/image" Target="../media/image-26-24.png"/><Relationship Id="rId25" Type="http://schemas.openxmlformats.org/officeDocument/2006/relationships/image" Target="../media/image-26-25.png"/><Relationship Id="rId26" Type="http://schemas.openxmlformats.org/officeDocument/2006/relationships/image" Target="../media/image-26-26.png"/><Relationship Id="rId27" Type="http://schemas.openxmlformats.org/officeDocument/2006/relationships/image" Target="../media/image-26-27.png"/><Relationship Id="rId28" Type="http://schemas.openxmlformats.org/officeDocument/2006/relationships/image" Target="../media/image-26-28.png"/><Relationship Id="rId29" Type="http://schemas.openxmlformats.org/officeDocument/2006/relationships/image" Target="../media/image-26-29.png"/><Relationship Id="rId30" Type="http://schemas.openxmlformats.org/officeDocument/2006/relationships/image" Target="../media/image-26-30.png"/><Relationship Id="rId31" Type="http://schemas.openxmlformats.org/officeDocument/2006/relationships/image" Target="../media/image-26-31.png"/><Relationship Id="rId32" Type="http://schemas.openxmlformats.org/officeDocument/2006/relationships/image" Target="../media/image-26-32.png"/><Relationship Id="rId33" Type="http://schemas.openxmlformats.org/officeDocument/2006/relationships/image" Target="../media/image-26-33.png"/><Relationship Id="rId34" Type="http://schemas.openxmlformats.org/officeDocument/2006/relationships/image" Target="../media/image-26-34.png"/><Relationship Id="rId35" Type="http://schemas.openxmlformats.org/officeDocument/2006/relationships/image" Target="../media/image-26-35.png"/><Relationship Id="rId36" Type="http://schemas.openxmlformats.org/officeDocument/2006/relationships/image" Target="../media/image-26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image" Target="../media/image-27-17.png"/><Relationship Id="rId18" Type="http://schemas.openxmlformats.org/officeDocument/2006/relationships/image" Target="../media/image-27-18.png"/><Relationship Id="rId19" Type="http://schemas.openxmlformats.org/officeDocument/2006/relationships/image" Target="../media/image-27-19.png"/><Relationship Id="rId20" Type="http://schemas.openxmlformats.org/officeDocument/2006/relationships/image" Target="../media/image-27-20.png"/><Relationship Id="rId21" Type="http://schemas.openxmlformats.org/officeDocument/2006/relationships/image" Target="../media/image-27-21.png"/><Relationship Id="rId22" Type="http://schemas.openxmlformats.org/officeDocument/2006/relationships/image" Target="../media/image-27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png"/><Relationship Id="rId19" Type="http://schemas.openxmlformats.org/officeDocument/2006/relationships/image" Target="../media/image-28-19.png"/><Relationship Id="rId20" Type="http://schemas.openxmlformats.org/officeDocument/2006/relationships/image" Target="../media/image-28-20.png"/><Relationship Id="rId21" Type="http://schemas.openxmlformats.org/officeDocument/2006/relationships/image" Target="../media/image-28-21.png"/><Relationship Id="rId22" Type="http://schemas.openxmlformats.org/officeDocument/2006/relationships/image" Target="../media/image-28-22.png"/><Relationship Id="rId23" Type="http://schemas.openxmlformats.org/officeDocument/2006/relationships/image" Target="../media/image-28-23.png"/><Relationship Id="rId24" Type="http://schemas.openxmlformats.org/officeDocument/2006/relationships/image" Target="../media/image-28-24.png"/><Relationship Id="rId25" Type="http://schemas.openxmlformats.org/officeDocument/2006/relationships/image" Target="../media/image-28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image" Target="../media/image-29-17.png"/><Relationship Id="rId18" Type="http://schemas.openxmlformats.org/officeDocument/2006/relationships/image" Target="../media/image-29-18.png"/><Relationship Id="rId19" Type="http://schemas.openxmlformats.org/officeDocument/2006/relationships/image" Target="../media/image-29-19.png"/><Relationship Id="rId20" Type="http://schemas.openxmlformats.org/officeDocument/2006/relationships/image" Target="../media/image-29-20.png"/><Relationship Id="rId21" Type="http://schemas.openxmlformats.org/officeDocument/2006/relationships/image" Target="../media/image-29-21.png"/><Relationship Id="rId22" Type="http://schemas.openxmlformats.org/officeDocument/2006/relationships/image" Target="../media/image-29-22.png"/><Relationship Id="rId23" Type="http://schemas.openxmlformats.org/officeDocument/2006/relationships/image" Target="../media/image-29-23.png"/><Relationship Id="rId24" Type="http://schemas.openxmlformats.org/officeDocument/2006/relationships/image" Target="../media/image-29-24.png"/><Relationship Id="rId25" Type="http://schemas.openxmlformats.org/officeDocument/2006/relationships/image" Target="../media/image-29-25.png"/><Relationship Id="rId26" Type="http://schemas.openxmlformats.org/officeDocument/2006/relationships/image" Target="../media/image-29-26.png"/><Relationship Id="rId27" Type="http://schemas.openxmlformats.org/officeDocument/2006/relationships/image" Target="../media/image-29-27.png"/><Relationship Id="rId28" Type="http://schemas.openxmlformats.org/officeDocument/2006/relationships/image" Target="../media/image-29-28.png"/><Relationship Id="rId29" Type="http://schemas.openxmlformats.org/officeDocument/2006/relationships/image" Target="../media/image-29-29.png"/><Relationship Id="rId30" Type="http://schemas.openxmlformats.org/officeDocument/2006/relationships/image" Target="../media/image-29-30.png"/><Relationship Id="rId31" Type="http://schemas.openxmlformats.org/officeDocument/2006/relationships/image" Target="../media/image-29-31.png"/><Relationship Id="rId32" Type="http://schemas.openxmlformats.org/officeDocument/2006/relationships/image" Target="../media/image-29-32.png"/><Relationship Id="rId33" Type="http://schemas.openxmlformats.org/officeDocument/2006/relationships/image" Target="../media/image-29-33.png"/><Relationship Id="rId34" Type="http://schemas.openxmlformats.org/officeDocument/2006/relationships/image" Target="../media/image-29-34.png"/><Relationship Id="rId35" Type="http://schemas.openxmlformats.org/officeDocument/2006/relationships/image" Target="../media/image-29-35.png"/><Relationship Id="rId36" Type="http://schemas.openxmlformats.org/officeDocument/2006/relationships/image" Target="../media/image-29-36.png"/><Relationship Id="rId37" Type="http://schemas.openxmlformats.org/officeDocument/2006/relationships/image" Target="../media/image-29-37.png"/><Relationship Id="rId38" Type="http://schemas.openxmlformats.org/officeDocument/2006/relationships/image" Target="../media/image-29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image" Target="../media/image-30-20.png"/><Relationship Id="rId21" Type="http://schemas.openxmlformats.org/officeDocument/2006/relationships/image" Target="../media/image-30-21.png"/><Relationship Id="rId22" Type="http://schemas.openxmlformats.org/officeDocument/2006/relationships/image" Target="../media/image-30-22.png"/><Relationship Id="rId23" Type="http://schemas.openxmlformats.org/officeDocument/2006/relationships/image" Target="../media/image-30-23.png"/><Relationship Id="rId24" Type="http://schemas.openxmlformats.org/officeDocument/2006/relationships/image" Target="../media/image-30-24.png"/><Relationship Id="rId25" Type="http://schemas.openxmlformats.org/officeDocument/2006/relationships/image" Target="../media/image-30-25.png"/><Relationship Id="rId26" Type="http://schemas.openxmlformats.org/officeDocument/2006/relationships/image" Target="../media/image-30-26.png"/><Relationship Id="rId27" Type="http://schemas.openxmlformats.org/officeDocument/2006/relationships/image" Target="../media/image-30-27.png"/><Relationship Id="rId28" Type="http://schemas.openxmlformats.org/officeDocument/2006/relationships/image" Target="../media/image-30-28.png"/><Relationship Id="rId29" Type="http://schemas.openxmlformats.org/officeDocument/2006/relationships/image" Target="../media/image-30-29.png"/><Relationship Id="rId30" Type="http://schemas.openxmlformats.org/officeDocument/2006/relationships/image" Target="../media/image-30-30.png"/><Relationship Id="rId31" Type="http://schemas.openxmlformats.org/officeDocument/2006/relationships/image" Target="../media/image-30-31.png"/><Relationship Id="rId32" Type="http://schemas.openxmlformats.org/officeDocument/2006/relationships/image" Target="../media/image-30-32.png"/><Relationship Id="rId33" Type="http://schemas.openxmlformats.org/officeDocument/2006/relationships/image" Target="../media/image-30-33.png"/><Relationship Id="rId34" Type="http://schemas.openxmlformats.org/officeDocument/2006/relationships/image" Target="../media/image-30-34.png"/><Relationship Id="rId35" Type="http://schemas.openxmlformats.org/officeDocument/2006/relationships/image" Target="../media/image-30-35.png"/><Relationship Id="rId36" Type="http://schemas.openxmlformats.org/officeDocument/2006/relationships/image" Target="../media/image-30-36.png"/><Relationship Id="rId37" Type="http://schemas.openxmlformats.org/officeDocument/2006/relationships/image" Target="../media/image-30-37.png"/><Relationship Id="rId38" Type="http://schemas.openxmlformats.org/officeDocument/2006/relationships/image" Target="../media/image-30-38.png"/><Relationship Id="rId39" Type="http://schemas.openxmlformats.org/officeDocument/2006/relationships/image" Target="../media/image-30-39.png"/><Relationship Id="rId40" Type="http://schemas.openxmlformats.org/officeDocument/2006/relationships/image" Target="../media/image-30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png"/><Relationship Id="rId15" Type="http://schemas.openxmlformats.org/officeDocument/2006/relationships/image" Target="../media/image-31-15.png"/><Relationship Id="rId16" Type="http://schemas.openxmlformats.org/officeDocument/2006/relationships/image" Target="../media/image-31-16.png"/><Relationship Id="rId17" Type="http://schemas.openxmlformats.org/officeDocument/2006/relationships/image" Target="../media/image-31-17.png"/><Relationship Id="rId18" Type="http://schemas.openxmlformats.org/officeDocument/2006/relationships/image" Target="../media/image-31-18.png"/><Relationship Id="rId19" Type="http://schemas.openxmlformats.org/officeDocument/2006/relationships/image" Target="../media/image-31-19.png"/><Relationship Id="rId20" Type="http://schemas.openxmlformats.org/officeDocument/2006/relationships/image" Target="../media/image-31-20.png"/><Relationship Id="rId21" Type="http://schemas.openxmlformats.org/officeDocument/2006/relationships/image" Target="../media/image-31-21.png"/><Relationship Id="rId22" Type="http://schemas.openxmlformats.org/officeDocument/2006/relationships/image" Target="../media/image-31-22.png"/><Relationship Id="rId23" Type="http://schemas.openxmlformats.org/officeDocument/2006/relationships/image" Target="../media/image-31-23.png"/><Relationship Id="rId24" Type="http://schemas.openxmlformats.org/officeDocument/2006/relationships/image" Target="../media/image-31-24.png"/><Relationship Id="rId25" Type="http://schemas.openxmlformats.org/officeDocument/2006/relationships/image" Target="../media/image-31-25.png"/><Relationship Id="rId26" Type="http://schemas.openxmlformats.org/officeDocument/2006/relationships/image" Target="../media/image-31-26.png"/><Relationship Id="rId27" Type="http://schemas.openxmlformats.org/officeDocument/2006/relationships/image" Target="../media/image-31-27.png"/><Relationship Id="rId28" Type="http://schemas.openxmlformats.org/officeDocument/2006/relationships/image" Target="../media/image-31-28.png"/><Relationship Id="rId29" Type="http://schemas.openxmlformats.org/officeDocument/2006/relationships/image" Target="../media/image-31-29.png"/><Relationship Id="rId30" Type="http://schemas.openxmlformats.org/officeDocument/2006/relationships/image" Target="../media/image-31-30.png"/><Relationship Id="rId31" Type="http://schemas.openxmlformats.org/officeDocument/2006/relationships/image" Target="../media/image-31-31.png"/><Relationship Id="rId32" Type="http://schemas.openxmlformats.org/officeDocument/2006/relationships/image" Target="../media/image-31-32.png"/><Relationship Id="rId33" Type="http://schemas.openxmlformats.org/officeDocument/2006/relationships/image" Target="../media/image-31-33.png"/><Relationship Id="rId34" Type="http://schemas.openxmlformats.org/officeDocument/2006/relationships/image" Target="../media/image-31-34.png"/><Relationship Id="rId35" Type="http://schemas.openxmlformats.org/officeDocument/2006/relationships/image" Target="../media/image-31-35.png"/><Relationship Id="rId36" Type="http://schemas.openxmlformats.org/officeDocument/2006/relationships/image" Target="../media/image-31-36.png"/><Relationship Id="rId37" Type="http://schemas.openxmlformats.org/officeDocument/2006/relationships/image" Target="../media/image-31-37.png"/><Relationship Id="rId38" Type="http://schemas.openxmlformats.org/officeDocument/2006/relationships/image" Target="../media/image-31-38.png"/><Relationship Id="rId39" Type="http://schemas.openxmlformats.org/officeDocument/2006/relationships/image" Target="../media/image-31-39.png"/><Relationship Id="rId40" Type="http://schemas.openxmlformats.org/officeDocument/2006/relationships/image" Target="../media/image-31-40.png"/><Relationship Id="rId41" Type="http://schemas.openxmlformats.org/officeDocument/2006/relationships/image" Target="../media/image-31-41.png"/><Relationship Id="rId42" Type="http://schemas.openxmlformats.org/officeDocument/2006/relationships/image" Target="../media/image-31-42.png"/><Relationship Id="rId43" Type="http://schemas.openxmlformats.org/officeDocument/2006/relationships/image" Target="../media/image-31-43.png"/><Relationship Id="rId44" Type="http://schemas.openxmlformats.org/officeDocument/2006/relationships/image" Target="../media/image-31-44.png"/><Relationship Id="rId45" Type="http://schemas.openxmlformats.org/officeDocument/2006/relationships/image" Target="../media/image-31-45.png"/><Relationship Id="rId46" Type="http://schemas.openxmlformats.org/officeDocument/2006/relationships/image" Target="../media/image-31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png"/><Relationship Id="rId15" Type="http://schemas.openxmlformats.org/officeDocument/2006/relationships/image" Target="../media/image-32-15.png"/><Relationship Id="rId16" Type="http://schemas.openxmlformats.org/officeDocument/2006/relationships/image" Target="../media/image-32-16.png"/><Relationship Id="rId17" Type="http://schemas.openxmlformats.org/officeDocument/2006/relationships/image" Target="../media/image-32-17.png"/><Relationship Id="rId18" Type="http://schemas.openxmlformats.org/officeDocument/2006/relationships/image" Target="../media/image-32-18.png"/><Relationship Id="rId19" Type="http://schemas.openxmlformats.org/officeDocument/2006/relationships/image" Target="../media/image-32-19.png"/><Relationship Id="rId20" Type="http://schemas.openxmlformats.org/officeDocument/2006/relationships/image" Target="../media/image-32-20.png"/><Relationship Id="rId21" Type="http://schemas.openxmlformats.org/officeDocument/2006/relationships/image" Target="../media/image-32-21.png"/><Relationship Id="rId22" Type="http://schemas.openxmlformats.org/officeDocument/2006/relationships/image" Target="../media/image-32-22.png"/><Relationship Id="rId23" Type="http://schemas.openxmlformats.org/officeDocument/2006/relationships/image" Target="../media/image-32-23.png"/><Relationship Id="rId24" Type="http://schemas.openxmlformats.org/officeDocument/2006/relationships/image" Target="../media/image-32-24.png"/><Relationship Id="rId25" Type="http://schemas.openxmlformats.org/officeDocument/2006/relationships/image" Target="../media/image-32-25.png"/><Relationship Id="rId26" Type="http://schemas.openxmlformats.org/officeDocument/2006/relationships/image" Target="../media/image-32-26.png"/><Relationship Id="rId27" Type="http://schemas.openxmlformats.org/officeDocument/2006/relationships/image" Target="../media/image-32-27.png"/><Relationship Id="rId28" Type="http://schemas.openxmlformats.org/officeDocument/2006/relationships/image" Target="../media/image-32-28.png"/><Relationship Id="rId29" Type="http://schemas.openxmlformats.org/officeDocument/2006/relationships/image" Target="../media/image-32-29.png"/><Relationship Id="rId30" Type="http://schemas.openxmlformats.org/officeDocument/2006/relationships/image" Target="../media/image-32-30.png"/><Relationship Id="rId31" Type="http://schemas.openxmlformats.org/officeDocument/2006/relationships/image" Target="../media/image-32-31.png"/><Relationship Id="rId32" Type="http://schemas.openxmlformats.org/officeDocument/2006/relationships/image" Target="../media/image-32-32.png"/><Relationship Id="rId33" Type="http://schemas.openxmlformats.org/officeDocument/2006/relationships/image" Target="../media/image-32-33.png"/><Relationship Id="rId34" Type="http://schemas.openxmlformats.org/officeDocument/2006/relationships/image" Target="../media/image-32-34.png"/><Relationship Id="rId35" Type="http://schemas.openxmlformats.org/officeDocument/2006/relationships/image" Target="../media/image-32-35.png"/><Relationship Id="rId36" Type="http://schemas.openxmlformats.org/officeDocument/2006/relationships/image" Target="../media/image-32-36.png"/><Relationship Id="rId37" Type="http://schemas.openxmlformats.org/officeDocument/2006/relationships/image" Target="../media/image-32-37.png"/><Relationship Id="rId38" Type="http://schemas.openxmlformats.org/officeDocument/2006/relationships/image" Target="../media/image-32-38.png"/><Relationship Id="rId39" Type="http://schemas.openxmlformats.org/officeDocument/2006/relationships/image" Target="../media/image-32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png"/><Relationship Id="rId14" Type="http://schemas.openxmlformats.org/officeDocument/2006/relationships/image" Target="../media/image-33-14.png"/><Relationship Id="rId15" Type="http://schemas.openxmlformats.org/officeDocument/2006/relationships/image" Target="../media/image-33-15.png"/><Relationship Id="rId16" Type="http://schemas.openxmlformats.org/officeDocument/2006/relationships/image" Target="../media/image-33-16.png"/><Relationship Id="rId17" Type="http://schemas.openxmlformats.org/officeDocument/2006/relationships/image" Target="../media/image-33-17.png"/><Relationship Id="rId18" Type="http://schemas.openxmlformats.org/officeDocument/2006/relationships/image" Target="../media/image-33-18.png"/><Relationship Id="rId19" Type="http://schemas.openxmlformats.org/officeDocument/2006/relationships/image" Target="../media/image-33-19.png"/><Relationship Id="rId20" Type="http://schemas.openxmlformats.org/officeDocument/2006/relationships/image" Target="../media/image-33-20.png"/><Relationship Id="rId21" Type="http://schemas.openxmlformats.org/officeDocument/2006/relationships/image" Target="../media/image-33-21.png"/><Relationship Id="rId22" Type="http://schemas.openxmlformats.org/officeDocument/2006/relationships/image" Target="../media/image-33-22.png"/><Relationship Id="rId23" Type="http://schemas.openxmlformats.org/officeDocument/2006/relationships/image" Target="../media/image-33-23.png"/><Relationship Id="rId24" Type="http://schemas.openxmlformats.org/officeDocument/2006/relationships/image" Target="../media/image-33-24.png"/><Relationship Id="rId25" Type="http://schemas.openxmlformats.org/officeDocument/2006/relationships/image" Target="../media/image-33-25.png"/><Relationship Id="rId26" Type="http://schemas.openxmlformats.org/officeDocument/2006/relationships/image" Target="../media/image-33-26.png"/><Relationship Id="rId27" Type="http://schemas.openxmlformats.org/officeDocument/2006/relationships/image" Target="../media/image-33-27.png"/><Relationship Id="rId28" Type="http://schemas.openxmlformats.org/officeDocument/2006/relationships/image" Target="../media/image-33-28.png"/><Relationship Id="rId29" Type="http://schemas.openxmlformats.org/officeDocument/2006/relationships/image" Target="../media/image-33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png"/><Relationship Id="rId12" Type="http://schemas.openxmlformats.org/officeDocument/2006/relationships/image" Target="../media/image-34-12.png"/><Relationship Id="rId13" Type="http://schemas.openxmlformats.org/officeDocument/2006/relationships/image" Target="../media/image-34-13.png"/><Relationship Id="rId14" Type="http://schemas.openxmlformats.org/officeDocument/2006/relationships/image" Target="../media/image-34-14.png"/><Relationship Id="rId15" Type="http://schemas.openxmlformats.org/officeDocument/2006/relationships/image" Target="../media/image-34-15.png"/><Relationship Id="rId16" Type="http://schemas.openxmlformats.org/officeDocument/2006/relationships/image" Target="../media/image-34-16.png"/><Relationship Id="rId17" Type="http://schemas.openxmlformats.org/officeDocument/2006/relationships/image" Target="../media/image-34-17.png"/><Relationship Id="rId18" Type="http://schemas.openxmlformats.org/officeDocument/2006/relationships/image" Target="../media/image-34-18.png"/><Relationship Id="rId19" Type="http://schemas.openxmlformats.org/officeDocument/2006/relationships/image" Target="../media/image-34-19.png"/><Relationship Id="rId20" Type="http://schemas.openxmlformats.org/officeDocument/2006/relationships/image" Target="../media/image-34-20.png"/><Relationship Id="rId21" Type="http://schemas.openxmlformats.org/officeDocument/2006/relationships/image" Target="../media/image-34-21.png"/><Relationship Id="rId22" Type="http://schemas.openxmlformats.org/officeDocument/2006/relationships/image" Target="../media/image-34-22.png"/><Relationship Id="rId23" Type="http://schemas.openxmlformats.org/officeDocument/2006/relationships/image" Target="../media/image-34-23.png"/><Relationship Id="rId24" Type="http://schemas.openxmlformats.org/officeDocument/2006/relationships/image" Target="../media/image-34-24.png"/><Relationship Id="rId25" Type="http://schemas.openxmlformats.org/officeDocument/2006/relationships/image" Target="../media/image-34-25.png"/><Relationship Id="rId26" Type="http://schemas.openxmlformats.org/officeDocument/2006/relationships/image" Target="../media/image-34-26.png"/><Relationship Id="rId27" Type="http://schemas.openxmlformats.org/officeDocument/2006/relationships/image" Target="../media/image-34-27.png"/><Relationship Id="rId28" Type="http://schemas.openxmlformats.org/officeDocument/2006/relationships/image" Target="../media/image-34-28.png"/><Relationship Id="rId29" Type="http://schemas.openxmlformats.org/officeDocument/2006/relationships/image" Target="../media/image-34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png"/><Relationship Id="rId13" Type="http://schemas.openxmlformats.org/officeDocument/2006/relationships/image" Target="../media/image-35-13.png"/><Relationship Id="rId14" Type="http://schemas.openxmlformats.org/officeDocument/2006/relationships/image" Target="../media/image-35-14.png"/><Relationship Id="rId15" Type="http://schemas.openxmlformats.org/officeDocument/2006/relationships/image" Target="../media/image-35-15.png"/><Relationship Id="rId16" Type="http://schemas.openxmlformats.org/officeDocument/2006/relationships/image" Target="../media/image-35-16.png"/><Relationship Id="rId17" Type="http://schemas.openxmlformats.org/officeDocument/2006/relationships/image" Target="../media/image-35-17.png"/><Relationship Id="rId18" Type="http://schemas.openxmlformats.org/officeDocument/2006/relationships/image" Target="../media/image-35-18.png"/><Relationship Id="rId19" Type="http://schemas.openxmlformats.org/officeDocument/2006/relationships/image" Target="../media/image-35-19.png"/><Relationship Id="rId20" Type="http://schemas.openxmlformats.org/officeDocument/2006/relationships/image" Target="../media/image-35-20.png"/><Relationship Id="rId21" Type="http://schemas.openxmlformats.org/officeDocument/2006/relationships/image" Target="../media/image-35-21.png"/><Relationship Id="rId22" Type="http://schemas.openxmlformats.org/officeDocument/2006/relationships/image" Target="../media/image-35-22.png"/><Relationship Id="rId23" Type="http://schemas.openxmlformats.org/officeDocument/2006/relationships/image" Target="../media/image-3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image" Target="../media/image-36-10.png"/><Relationship Id="rId11" Type="http://schemas.openxmlformats.org/officeDocument/2006/relationships/image" Target="../media/image-36-11.png"/><Relationship Id="rId12" Type="http://schemas.openxmlformats.org/officeDocument/2006/relationships/image" Target="../media/image-36-12.png"/><Relationship Id="rId13" Type="http://schemas.openxmlformats.org/officeDocument/2006/relationships/image" Target="../media/image-36-13.png"/><Relationship Id="rId14" Type="http://schemas.openxmlformats.org/officeDocument/2006/relationships/image" Target="../media/image-36-14.png"/><Relationship Id="rId15" Type="http://schemas.openxmlformats.org/officeDocument/2006/relationships/image" Target="../media/image-36-15.png"/><Relationship Id="rId16" Type="http://schemas.openxmlformats.org/officeDocument/2006/relationships/image" Target="../media/image-36-16.png"/><Relationship Id="rId17" Type="http://schemas.openxmlformats.org/officeDocument/2006/relationships/image" Target="../media/image-36-17.png"/><Relationship Id="rId18" Type="http://schemas.openxmlformats.org/officeDocument/2006/relationships/image" Target="../media/image-36-18.png"/><Relationship Id="rId19" Type="http://schemas.openxmlformats.org/officeDocument/2006/relationships/image" Target="../media/image-36-19.png"/><Relationship Id="rId20" Type="http://schemas.openxmlformats.org/officeDocument/2006/relationships/image" Target="../media/image-36-20.png"/><Relationship Id="rId21" Type="http://schemas.openxmlformats.org/officeDocument/2006/relationships/image" Target="../media/image-36-21.png"/><Relationship Id="rId22" Type="http://schemas.openxmlformats.org/officeDocument/2006/relationships/image" Target="../media/image-36-22.png"/><Relationship Id="rId23" Type="http://schemas.openxmlformats.org/officeDocument/2006/relationships/image" Target="../media/image-36-23.png"/><Relationship Id="rId24" Type="http://schemas.openxmlformats.org/officeDocument/2006/relationships/image" Target="../media/image-36-24.png"/><Relationship Id="rId25" Type="http://schemas.openxmlformats.org/officeDocument/2006/relationships/image" Target="../media/image-36-25.png"/><Relationship Id="rId26" Type="http://schemas.openxmlformats.org/officeDocument/2006/relationships/image" Target="../media/image-36-26.png"/><Relationship Id="rId27" Type="http://schemas.openxmlformats.org/officeDocument/2006/relationships/image" Target="../media/image-36-27.png"/><Relationship Id="rId28" Type="http://schemas.openxmlformats.org/officeDocument/2006/relationships/image" Target="../media/image-36-28.png"/><Relationship Id="rId29" Type="http://schemas.openxmlformats.org/officeDocument/2006/relationships/image" Target="../media/image-36-29.png"/><Relationship Id="rId30" Type="http://schemas.openxmlformats.org/officeDocument/2006/relationships/image" Target="../media/image-36-30.png"/><Relationship Id="rId31" Type="http://schemas.openxmlformats.org/officeDocument/2006/relationships/image" Target="../media/image-36-31.png"/><Relationship Id="rId32" Type="http://schemas.openxmlformats.org/officeDocument/2006/relationships/image" Target="../media/image-36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image" Target="../media/image-37-10.pn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png"/><Relationship Id="rId13" Type="http://schemas.openxmlformats.org/officeDocument/2006/relationships/image" Target="../media/image-37-13.png"/><Relationship Id="rId14" Type="http://schemas.openxmlformats.org/officeDocument/2006/relationships/image" Target="../media/image-37-14.png"/><Relationship Id="rId15" Type="http://schemas.openxmlformats.org/officeDocument/2006/relationships/image" Target="../media/image-37-15.png"/><Relationship Id="rId16" Type="http://schemas.openxmlformats.org/officeDocument/2006/relationships/image" Target="../media/image-37-16.png"/><Relationship Id="rId17" Type="http://schemas.openxmlformats.org/officeDocument/2006/relationships/image" Target="../media/image-37-17.png"/><Relationship Id="rId18" Type="http://schemas.openxmlformats.org/officeDocument/2006/relationships/image" Target="../media/image-37-18.png"/><Relationship Id="rId19" Type="http://schemas.openxmlformats.org/officeDocument/2006/relationships/image" Target="../media/image-37-19.png"/><Relationship Id="rId20" Type="http://schemas.openxmlformats.org/officeDocument/2006/relationships/image" Target="../media/image-37-20.png"/><Relationship Id="rId21" Type="http://schemas.openxmlformats.org/officeDocument/2006/relationships/image" Target="../media/image-37-21.png"/><Relationship Id="rId22" Type="http://schemas.openxmlformats.org/officeDocument/2006/relationships/image" Target="../media/image-37-22.png"/><Relationship Id="rId23" Type="http://schemas.openxmlformats.org/officeDocument/2006/relationships/image" Target="../media/image-3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image" Target="../media/image-38-9.png"/><Relationship Id="rId10" Type="http://schemas.openxmlformats.org/officeDocument/2006/relationships/image" Target="../media/image-38-10.png"/><Relationship Id="rId11" Type="http://schemas.openxmlformats.org/officeDocument/2006/relationships/image" Target="../media/image-38-11.png"/><Relationship Id="rId12" Type="http://schemas.openxmlformats.org/officeDocument/2006/relationships/image" Target="../media/image-38-12.png"/><Relationship Id="rId13" Type="http://schemas.openxmlformats.org/officeDocument/2006/relationships/image" Target="../media/image-38-13.png"/><Relationship Id="rId14" Type="http://schemas.openxmlformats.org/officeDocument/2006/relationships/image" Target="../media/image-38-14.png"/><Relationship Id="rId15" Type="http://schemas.openxmlformats.org/officeDocument/2006/relationships/image" Target="../media/image-38-15.png"/><Relationship Id="rId16" Type="http://schemas.openxmlformats.org/officeDocument/2006/relationships/image" Target="../media/image-38-16.png"/><Relationship Id="rId17" Type="http://schemas.openxmlformats.org/officeDocument/2006/relationships/image" Target="../media/image-38-17.png"/><Relationship Id="rId18" Type="http://schemas.openxmlformats.org/officeDocument/2006/relationships/image" Target="../media/image-38-18.png"/><Relationship Id="rId19" Type="http://schemas.openxmlformats.org/officeDocument/2006/relationships/image" Target="../media/image-38-19.png"/><Relationship Id="rId20" Type="http://schemas.openxmlformats.org/officeDocument/2006/relationships/image" Target="../media/image-38-20.png"/><Relationship Id="rId21" Type="http://schemas.openxmlformats.org/officeDocument/2006/relationships/image" Target="../media/image-38-21.png"/><Relationship Id="rId22" Type="http://schemas.openxmlformats.org/officeDocument/2006/relationships/image" Target="../media/image-38-22.png"/><Relationship Id="rId23" Type="http://schemas.openxmlformats.org/officeDocument/2006/relationships/image" Target="../media/image-38-23.png"/><Relationship Id="rId24" Type="http://schemas.openxmlformats.org/officeDocument/2006/relationships/image" Target="../media/image-38-24.png"/><Relationship Id="rId25" Type="http://schemas.openxmlformats.org/officeDocument/2006/relationships/image" Target="../media/image-38-25.png"/><Relationship Id="rId26" Type="http://schemas.openxmlformats.org/officeDocument/2006/relationships/image" Target="../media/image-38-26.png"/><Relationship Id="rId27" Type="http://schemas.openxmlformats.org/officeDocument/2006/relationships/image" Target="../media/image-38-27.png"/><Relationship Id="rId28" Type="http://schemas.openxmlformats.org/officeDocument/2006/relationships/image" Target="../media/image-38-28.png"/><Relationship Id="rId29" Type="http://schemas.openxmlformats.org/officeDocument/2006/relationships/image" Target="../media/image-38-29.png"/><Relationship Id="rId30" Type="http://schemas.openxmlformats.org/officeDocument/2006/relationships/image" Target="../media/image-38-30.png"/><Relationship Id="rId31" Type="http://schemas.openxmlformats.org/officeDocument/2006/relationships/image" Target="../media/image-38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762000"/>
            <a:ext cx="571500" cy="5715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867251"/>
            <a:ext cx="10287000" cy="857250"/>
          </a:xfrm>
          <a:prstGeom prst="rect">
            <a:avLst/>
          </a:prstGeom>
        </p:spPr>
      </p:pic>
      <p:sp>
        <p:nvSpPr>
          <p:cNvPr id="5" name="SK-1-text-4"/>
          <p:cNvSpPr/>
          <p:nvPr/>
        </p:nvSpPr>
        <p:spPr>
          <a:xfrm>
            <a:off x="952500" y="1219200"/>
            <a:ext cx="60521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spc="162" kern="0" dirty="0">
                <a:solidFill>
                  <a:srgbClr val="005AEE"/>
                </a:solidFill>
              </a:rPr>
              <a:t>ENGINEERING DIAGNOSTIC REPORT</a:t>
            </a:r>
            <a:endParaRPr lang="en-US" sz="1350" dirty="0"/>
          </a:p>
        </p:txBody>
      </p:sp>
      <p:sp>
        <p:nvSpPr>
          <p:cNvPr id="6" name="SK-1-text-5"/>
          <p:cNvSpPr/>
          <p:nvPr/>
        </p:nvSpPr>
        <p:spPr>
          <a:xfrm>
            <a:off x="952500" y="1685925"/>
            <a:ext cx="8572500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10"/>
              </a:lnSpc>
              <a:buNone/>
            </a:pPr>
            <a:r>
              <a:rPr lang="en-US" sz="5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 진단 및 AI Agent 개선안</a:t>
            </a:r>
            <a:endParaRPr lang="en-US" sz="5100" dirty="0"/>
          </a:p>
        </p:txBody>
      </p:sp>
      <p:sp>
        <p:nvSpPr>
          <p:cNvPr id="7" name="SK-1-text-6"/>
          <p:cNvSpPr/>
          <p:nvPr/>
        </p:nvSpPr>
        <p:spPr>
          <a:xfrm>
            <a:off x="952500" y="3301305"/>
            <a:ext cx="1090803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PM Competition 2026 본선 발표</a:t>
            </a:r>
            <a:endParaRPr lang="en-US" sz="2100" dirty="0"/>
          </a:p>
        </p:txBody>
      </p:sp>
      <p:sp>
        <p:nvSpPr>
          <p:cNvPr id="8" name="SK-1-text-7"/>
          <p:cNvSpPr/>
          <p:nvPr/>
        </p:nvSpPr>
        <p:spPr>
          <a:xfrm>
            <a:off x="952500" y="3952726"/>
            <a:ext cx="10363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사건번호 PMB-2026-0826</a:t>
            </a:r>
            <a:endParaRPr lang="en-US" sz="1050" dirty="0"/>
          </a:p>
        </p:txBody>
      </p:sp>
      <p:sp>
        <p:nvSpPr>
          <p:cNvPr id="9" name="SK-1-text-8"/>
          <p:cNvSpPr/>
          <p:nvPr/>
        </p:nvSpPr>
        <p:spPr>
          <a:xfrm>
            <a:off x="952500" y="6248251"/>
            <a:ext cx="1722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CURRENT DATE</a:t>
            </a:r>
            <a:endParaRPr lang="en-US" sz="900" dirty="0"/>
          </a:p>
        </p:txBody>
      </p:sp>
      <p:sp>
        <p:nvSpPr>
          <p:cNvPr id="10" name="SK-1-text-9"/>
          <p:cNvSpPr/>
          <p:nvPr/>
        </p:nvSpPr>
        <p:spPr>
          <a:xfrm>
            <a:off x="952500" y="6495901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2026-08-26</a:t>
            </a:r>
            <a:endParaRPr lang="en-US" sz="1200" dirty="0"/>
          </a:p>
        </p:txBody>
      </p:sp>
      <p:sp>
        <p:nvSpPr>
          <p:cNvPr id="11" name="SK-1-text-10"/>
          <p:cNvSpPr/>
          <p:nvPr/>
        </p:nvSpPr>
        <p:spPr>
          <a:xfrm>
            <a:off x="2476500" y="6248251"/>
            <a:ext cx="3409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ASSESSMENT FRAMEWORK</a:t>
            </a:r>
            <a:endParaRPr lang="en-US" sz="900" dirty="0"/>
          </a:p>
        </p:txBody>
      </p:sp>
      <p:sp>
        <p:nvSpPr>
          <p:cNvPr id="12" name="SK-1-text-11"/>
          <p:cNvSpPr/>
          <p:nvPr/>
        </p:nvSpPr>
        <p:spPr>
          <a:xfrm>
            <a:off x="2476500" y="6495901"/>
            <a:ext cx="659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PMBOK 8th Edition &amp; Value-Driven AI</a:t>
            </a:r>
            <a:endParaRPr lang="en-US" sz="1200" dirty="0"/>
          </a:p>
        </p:txBody>
      </p:sp>
      <p:sp>
        <p:nvSpPr>
          <p:cNvPr id="13" name="SK-1-text-12"/>
          <p:cNvSpPr/>
          <p:nvPr/>
        </p:nvSpPr>
        <p:spPr>
          <a:xfrm>
            <a:off x="6381750" y="6248251"/>
            <a:ext cx="1790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STATUS</a:t>
            </a:r>
            <a:endParaRPr lang="en-US" sz="900" dirty="0"/>
          </a:p>
        </p:txBody>
      </p:sp>
      <p:sp>
        <p:nvSpPr>
          <p:cNvPr id="14" name="SK-1-text-13"/>
          <p:cNvSpPr/>
          <p:nvPr/>
        </p:nvSpPr>
        <p:spPr>
          <a:xfrm>
            <a:off x="6381750" y="6495901"/>
            <a:ext cx="336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</a:rPr>
              <a:t>CRITICAL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11049000" cy="242888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95463"/>
            <a:ext cx="11049000" cy="4281488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95463"/>
            <a:ext cx="476250" cy="3905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50" y="1795463"/>
            <a:ext cx="2095500" cy="3905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3250" y="1795463"/>
            <a:ext cx="2786807" cy="3905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0057" y="1795463"/>
            <a:ext cx="2767459" cy="3905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7516" y="1795463"/>
            <a:ext cx="2922984" cy="3905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185988"/>
            <a:ext cx="476250" cy="834777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7750" y="2185988"/>
            <a:ext cx="2095500" cy="834777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43250" y="2185988"/>
            <a:ext cx="2786807" cy="834777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5650" y="2348508"/>
            <a:ext cx="1747838" cy="295275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90900" y="2427536"/>
            <a:ext cx="166688" cy="137220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30057" y="2185988"/>
            <a:ext cx="2767459" cy="834777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2457" y="2348508"/>
            <a:ext cx="1528763" cy="295275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7707" y="2427536"/>
            <a:ext cx="166688" cy="137220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97516" y="2185988"/>
            <a:ext cx="2922984" cy="834777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020764"/>
            <a:ext cx="476250" cy="598587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750" y="3020764"/>
            <a:ext cx="2095500" cy="598587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143250" y="3020764"/>
            <a:ext cx="2786807" cy="598587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95650" y="3172420"/>
            <a:ext cx="1181100" cy="295275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30057" y="3020764"/>
            <a:ext cx="2767459" cy="598587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82457" y="3172420"/>
            <a:ext cx="1276350" cy="295275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97516" y="3020764"/>
            <a:ext cx="2922984" cy="598587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3619351"/>
            <a:ext cx="476250" cy="819150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7750" y="3619351"/>
            <a:ext cx="2095500" cy="819150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43250" y="3619351"/>
            <a:ext cx="2786807" cy="819150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95650" y="3781276"/>
            <a:ext cx="1304925" cy="295275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930057" y="3619351"/>
            <a:ext cx="2767459" cy="819150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82457" y="3781276"/>
            <a:ext cx="1114425" cy="295275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97516" y="3619351"/>
            <a:ext cx="2922984" cy="819150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500" y="4438501"/>
            <a:ext cx="476250" cy="819150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7750" y="4438501"/>
            <a:ext cx="2095500" cy="81915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143250" y="4438501"/>
            <a:ext cx="2786807" cy="81915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95650" y="4700439"/>
            <a:ext cx="1162050" cy="295275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930057" y="4438501"/>
            <a:ext cx="2767459" cy="81915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082457" y="4600426"/>
            <a:ext cx="1162050" cy="295275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697516" y="4438501"/>
            <a:ext cx="2922984" cy="819150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71500" y="5257651"/>
            <a:ext cx="476250" cy="819299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47750" y="5257651"/>
            <a:ext cx="2095500" cy="819299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143250" y="5257651"/>
            <a:ext cx="2786807" cy="819299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295650" y="5519589"/>
            <a:ext cx="1476375" cy="295275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930057" y="5257651"/>
            <a:ext cx="2767459" cy="819299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082457" y="5419576"/>
            <a:ext cx="1343025" cy="295275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97516" y="5257651"/>
            <a:ext cx="2922984" cy="819299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10413" y="6384578"/>
            <a:ext cx="166688" cy="137220"/>
          </a:xfrm>
          <a:prstGeom prst="rect">
            <a:avLst/>
          </a:prstGeom>
        </p:spPr>
      </p:pic>
      <p:sp>
        <p:nvSpPr>
          <p:cNvPr id="51" name="SK-2-text-50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2" name="SK-2-text-51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이상징후 식별: 수박 프로젝트의 실체 (1-5)</a:t>
            </a:r>
            <a:endParaRPr lang="en-US" sz="2550" dirty="0"/>
          </a:p>
        </p:txBody>
      </p:sp>
      <p:sp>
        <p:nvSpPr>
          <p:cNvPr id="53" name="SK-2-text-52"/>
          <p:cNvSpPr/>
          <p:nvPr/>
        </p:nvSpPr>
        <p:spPr>
          <a:xfrm>
            <a:off x="723900" y="1371600"/>
            <a:ext cx="114681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이상: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"수박 프로젝트"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보고된 지표는 정상(Green)이나 프로젝트의 실질적 가치는 결함(Red) 상태임</a:t>
            </a:r>
            <a:endParaRPr lang="en-US" sz="1275" dirty="0"/>
          </a:p>
        </p:txBody>
      </p:sp>
      <p:sp>
        <p:nvSpPr>
          <p:cNvPr id="54" name="SK-2-text-53"/>
          <p:cNvSpPr/>
          <p:nvPr/>
        </p:nvSpPr>
        <p:spPr>
          <a:xfrm>
            <a:off x="723900" y="1795463"/>
            <a:ext cx="2476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55" name="SK-2-text-54"/>
          <p:cNvSpPr/>
          <p:nvPr/>
        </p:nvSpPr>
        <p:spPr>
          <a:xfrm>
            <a:off x="1200150" y="1795463"/>
            <a:ext cx="18669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050" dirty="0"/>
          </a:p>
        </p:txBody>
      </p:sp>
      <p:sp>
        <p:nvSpPr>
          <p:cNvPr id="56" name="SK-2-text-55"/>
          <p:cNvSpPr/>
          <p:nvPr/>
        </p:nvSpPr>
        <p:spPr>
          <a:xfrm>
            <a:off x="3295650" y="1795463"/>
            <a:ext cx="255820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(겉)</a:t>
            </a:r>
            <a:endParaRPr lang="en-US" sz="1050" dirty="0"/>
          </a:p>
        </p:txBody>
      </p:sp>
      <p:sp>
        <p:nvSpPr>
          <p:cNvPr id="57" name="SK-2-text-56"/>
          <p:cNvSpPr/>
          <p:nvPr/>
        </p:nvSpPr>
        <p:spPr>
          <a:xfrm>
            <a:off x="6082457" y="1795463"/>
            <a:ext cx="253885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(속)</a:t>
            </a:r>
            <a:endParaRPr lang="en-US" sz="1050" dirty="0"/>
          </a:p>
        </p:txBody>
      </p:sp>
      <p:sp>
        <p:nvSpPr>
          <p:cNvPr id="58" name="SK-2-text-57"/>
          <p:cNvSpPr/>
          <p:nvPr/>
        </p:nvSpPr>
        <p:spPr>
          <a:xfrm>
            <a:off x="8849916" y="1795463"/>
            <a:ext cx="269438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050" dirty="0"/>
          </a:p>
        </p:txBody>
      </p:sp>
      <p:sp>
        <p:nvSpPr>
          <p:cNvPr id="59" name="SK-2-text-58"/>
          <p:cNvSpPr/>
          <p:nvPr/>
        </p:nvSpPr>
        <p:spPr>
          <a:xfrm>
            <a:off x="723900" y="2185988"/>
            <a:ext cx="247650" cy="83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</a:t>
            </a:r>
            <a:endParaRPr lang="en-US" sz="1125" dirty="0"/>
          </a:p>
        </p:txBody>
      </p:sp>
      <p:sp>
        <p:nvSpPr>
          <p:cNvPr id="60" name="SK-2-text-59"/>
          <p:cNvSpPr/>
          <p:nvPr/>
        </p:nvSpPr>
        <p:spPr>
          <a:xfrm>
            <a:off x="1200150" y="2185988"/>
            <a:ext cx="1866900" cy="83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상태</a:t>
            </a:r>
            <a:endParaRPr lang="en-US" sz="1125" dirty="0"/>
          </a:p>
        </p:txBody>
      </p:sp>
      <p:sp>
        <p:nvSpPr>
          <p:cNvPr id="61" name="SK-2-text-60"/>
          <p:cNvSpPr/>
          <p:nvPr/>
        </p:nvSpPr>
        <p:spPr>
          <a:xfrm>
            <a:off x="3633788" y="2348508"/>
            <a:ext cx="24713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ALL GREEN</a:t>
            </a:r>
            <a:endParaRPr lang="en-US" sz="1050" dirty="0"/>
          </a:p>
        </p:txBody>
      </p:sp>
      <p:sp>
        <p:nvSpPr>
          <p:cNvPr id="62" name="SK-2-text-61"/>
          <p:cNvSpPr/>
          <p:nvPr/>
        </p:nvSpPr>
        <p:spPr>
          <a:xfrm>
            <a:off x="3295650" y="2672358"/>
            <a:ext cx="26022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정상. 이상 없음."</a:t>
            </a:r>
            <a:endParaRPr lang="en-US" sz="975" dirty="0"/>
          </a:p>
        </p:txBody>
      </p:sp>
      <p:sp>
        <p:nvSpPr>
          <p:cNvPr id="63" name="SK-2-text-62"/>
          <p:cNvSpPr/>
          <p:nvPr/>
        </p:nvSpPr>
        <p:spPr>
          <a:xfrm>
            <a:off x="6420594" y="2348508"/>
            <a:ext cx="13382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급락</a:t>
            </a:r>
            <a:endParaRPr lang="en-US" sz="1050" dirty="0"/>
          </a:p>
        </p:txBody>
      </p:sp>
      <p:sp>
        <p:nvSpPr>
          <p:cNvPr id="64" name="SK-2-text-63"/>
          <p:cNvSpPr/>
          <p:nvPr/>
        </p:nvSpPr>
        <p:spPr>
          <a:xfrm>
            <a:off x="6082457" y="2672358"/>
            <a:ext cx="30975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18.4% → 6.1% (심각)</a:t>
            </a:r>
            <a:endParaRPr lang="en-US" sz="975" dirty="0"/>
          </a:p>
        </p:txBody>
      </p:sp>
      <p:sp>
        <p:nvSpPr>
          <p:cNvPr id="65" name="SK-2-textBg-64"/>
          <p:cNvSpPr/>
          <p:nvPr/>
        </p:nvSpPr>
        <p:spPr>
          <a:xfrm>
            <a:off x="8849916" y="2515195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K-2-text-65"/>
          <p:cNvSpPr/>
          <p:nvPr/>
        </p:nvSpPr>
        <p:spPr>
          <a:xfrm>
            <a:off x="8907066" y="2515195"/>
            <a:ext cx="3284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08_ai_weekly, 09_telemetry</a:t>
            </a:r>
            <a:endParaRPr lang="en-US" sz="900" dirty="0"/>
          </a:p>
        </p:txBody>
      </p:sp>
      <p:sp>
        <p:nvSpPr>
          <p:cNvPr id="67" name="SK-2-text-66"/>
          <p:cNvSpPr/>
          <p:nvPr/>
        </p:nvSpPr>
        <p:spPr>
          <a:xfrm>
            <a:off x="723900" y="3020764"/>
            <a:ext cx="247650" cy="598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2</a:t>
            </a:r>
            <a:endParaRPr lang="en-US" sz="1125" dirty="0"/>
          </a:p>
        </p:txBody>
      </p:sp>
      <p:sp>
        <p:nvSpPr>
          <p:cNvPr id="68" name="SK-2-text-67"/>
          <p:cNvSpPr/>
          <p:nvPr/>
        </p:nvSpPr>
        <p:spPr>
          <a:xfrm>
            <a:off x="1200150" y="3020764"/>
            <a:ext cx="1866900" cy="598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 성공률</a:t>
            </a:r>
            <a:endParaRPr lang="en-US" sz="1125" dirty="0"/>
          </a:p>
        </p:txBody>
      </p:sp>
      <p:sp>
        <p:nvSpPr>
          <p:cNvPr id="69" name="SK-2-text-68"/>
          <p:cNvSpPr/>
          <p:nvPr/>
        </p:nvSpPr>
        <p:spPr>
          <a:xfrm>
            <a:off x="3390900" y="3172420"/>
            <a:ext cx="208935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93.4% (GREEN)</a:t>
            </a:r>
            <a:endParaRPr lang="en-US" sz="1050" dirty="0"/>
          </a:p>
        </p:txBody>
      </p:sp>
      <p:sp>
        <p:nvSpPr>
          <p:cNvPr id="70" name="SK-2-text-69"/>
          <p:cNvSpPr/>
          <p:nvPr/>
        </p:nvSpPr>
        <p:spPr>
          <a:xfrm>
            <a:off x="6177707" y="3172420"/>
            <a:ext cx="19821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58.6% (실사업장)</a:t>
            </a:r>
            <a:endParaRPr lang="en-US" sz="1050" dirty="0"/>
          </a:p>
        </p:txBody>
      </p:sp>
      <p:sp>
        <p:nvSpPr>
          <p:cNvPr id="71" name="SK-2-textBg-70"/>
          <p:cNvSpPr/>
          <p:nvPr/>
        </p:nvSpPr>
        <p:spPr>
          <a:xfrm>
            <a:off x="8849916" y="3231952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2" name="SK-2-text-71"/>
          <p:cNvSpPr/>
          <p:nvPr/>
        </p:nvSpPr>
        <p:spPr>
          <a:xfrm>
            <a:off x="8907066" y="3231952"/>
            <a:ext cx="3284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01_charter SC-03 vs 10_nav</a:t>
            </a:r>
            <a:endParaRPr lang="en-US" sz="900" dirty="0"/>
          </a:p>
        </p:txBody>
      </p:sp>
      <p:sp>
        <p:nvSpPr>
          <p:cNvPr id="73" name="SK-2-text-72"/>
          <p:cNvSpPr/>
          <p:nvPr/>
        </p:nvSpPr>
        <p:spPr>
          <a:xfrm>
            <a:off x="723900" y="3619351"/>
            <a:ext cx="2476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3</a:t>
            </a:r>
            <a:endParaRPr lang="en-US" sz="1125" dirty="0"/>
          </a:p>
        </p:txBody>
      </p:sp>
      <p:sp>
        <p:nvSpPr>
          <p:cNvPr id="74" name="SK-2-text-73"/>
          <p:cNvSpPr/>
          <p:nvPr/>
        </p:nvSpPr>
        <p:spPr>
          <a:xfrm>
            <a:off x="1200150" y="3619351"/>
            <a:ext cx="1866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지표</a:t>
            </a:r>
            <a:endParaRPr lang="en-US" sz="1125" dirty="0"/>
          </a:p>
        </p:txBody>
      </p:sp>
      <p:sp>
        <p:nvSpPr>
          <p:cNvPr id="75" name="SK-2-text-74"/>
          <p:cNvSpPr/>
          <p:nvPr/>
        </p:nvSpPr>
        <p:spPr>
          <a:xfrm>
            <a:off x="3390900" y="3781276"/>
            <a:ext cx="308270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1.02, CPI 0.98</a:t>
            </a:r>
            <a:endParaRPr lang="en-US" sz="1050" dirty="0"/>
          </a:p>
        </p:txBody>
      </p:sp>
      <p:sp>
        <p:nvSpPr>
          <p:cNvPr id="76" name="SK-2-text-75"/>
          <p:cNvSpPr/>
          <p:nvPr/>
        </p:nvSpPr>
        <p:spPr>
          <a:xfrm>
            <a:off x="3295650" y="4105126"/>
            <a:ext cx="25582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부문만 게시"</a:t>
            </a:r>
            <a:endParaRPr lang="en-US" sz="900" dirty="0"/>
          </a:p>
        </p:txBody>
      </p:sp>
      <p:sp>
        <p:nvSpPr>
          <p:cNvPr id="77" name="SK-2-text-76"/>
          <p:cNvSpPr/>
          <p:nvPr/>
        </p:nvSpPr>
        <p:spPr>
          <a:xfrm>
            <a:off x="6177707" y="3781276"/>
            <a:ext cx="20219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CPI 0.944</a:t>
            </a:r>
            <a:endParaRPr lang="en-US" sz="1050" dirty="0"/>
          </a:p>
        </p:txBody>
      </p:sp>
      <p:sp>
        <p:nvSpPr>
          <p:cNvPr id="78" name="SK-2-text-77"/>
          <p:cNvSpPr/>
          <p:nvPr/>
        </p:nvSpPr>
        <p:spPr>
          <a:xfrm>
            <a:off x="6082457" y="4105126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21.4억 별도 집계</a:t>
            </a:r>
            <a:endParaRPr lang="en-US" sz="900" dirty="0"/>
          </a:p>
        </p:txBody>
      </p:sp>
      <p:sp>
        <p:nvSpPr>
          <p:cNvPr id="79" name="SK-2-textBg-78"/>
          <p:cNvSpPr/>
          <p:nvPr/>
        </p:nvSpPr>
        <p:spPr>
          <a:xfrm>
            <a:off x="8849916" y="3940820"/>
            <a:ext cx="809625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0" name="SK-2-text-79"/>
          <p:cNvSpPr/>
          <p:nvPr/>
        </p:nvSpPr>
        <p:spPr>
          <a:xfrm>
            <a:off x="8907066" y="3940820"/>
            <a:ext cx="12172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06_evm 비고</a:t>
            </a:r>
            <a:endParaRPr lang="en-US" sz="900" dirty="0"/>
          </a:p>
        </p:txBody>
      </p:sp>
      <p:sp>
        <p:nvSpPr>
          <p:cNvPr id="81" name="SK-2-text-80"/>
          <p:cNvSpPr/>
          <p:nvPr/>
        </p:nvSpPr>
        <p:spPr>
          <a:xfrm>
            <a:off x="723900" y="4438501"/>
            <a:ext cx="2476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4</a:t>
            </a:r>
            <a:endParaRPr lang="en-US" sz="1125" dirty="0"/>
          </a:p>
        </p:txBody>
      </p:sp>
      <p:sp>
        <p:nvSpPr>
          <p:cNvPr id="82" name="SK-2-text-81"/>
          <p:cNvSpPr/>
          <p:nvPr/>
        </p:nvSpPr>
        <p:spPr>
          <a:xfrm>
            <a:off x="1200150" y="4438501"/>
            <a:ext cx="1866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</a:t>
            </a:r>
            <a:endParaRPr lang="en-US" sz="1125" dirty="0"/>
          </a:p>
        </p:txBody>
      </p:sp>
      <p:sp>
        <p:nvSpPr>
          <p:cNvPr id="83" name="SK-2-text-82"/>
          <p:cNvSpPr/>
          <p:nvPr/>
        </p:nvSpPr>
        <p:spPr>
          <a:xfrm>
            <a:off x="3390900" y="4700439"/>
            <a:ext cx="16370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0건</a:t>
            </a:r>
            <a:endParaRPr lang="en-US" sz="1050" dirty="0"/>
          </a:p>
        </p:txBody>
      </p:sp>
      <p:sp>
        <p:nvSpPr>
          <p:cNvPr id="84" name="SK-2-text-83"/>
          <p:cNvSpPr/>
          <p:nvPr/>
        </p:nvSpPr>
        <p:spPr>
          <a:xfrm>
            <a:off x="6177707" y="4600426"/>
            <a:ext cx="16370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</a:t>
            </a:r>
            <a:endParaRPr lang="en-US" sz="1050" dirty="0"/>
          </a:p>
        </p:txBody>
      </p:sp>
      <p:sp>
        <p:nvSpPr>
          <p:cNvPr id="85" name="SK-2-text-84"/>
          <p:cNvSpPr/>
          <p:nvPr/>
        </p:nvSpPr>
        <p:spPr>
          <a:xfrm>
            <a:off x="6082457" y="4924276"/>
            <a:ext cx="25388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없이 Medium 하향됨</a:t>
            </a:r>
            <a:endParaRPr lang="en-US" sz="900" dirty="0"/>
          </a:p>
        </p:txBody>
      </p:sp>
      <p:sp>
        <p:nvSpPr>
          <p:cNvPr id="86" name="SK-2-textBg-85"/>
          <p:cNvSpPr/>
          <p:nvPr/>
        </p:nvSpPr>
        <p:spPr>
          <a:xfrm>
            <a:off x="8849916" y="4759970"/>
            <a:ext cx="15811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7" name="SK-2-text-86"/>
          <p:cNvSpPr/>
          <p:nvPr/>
        </p:nvSpPr>
        <p:spPr>
          <a:xfrm>
            <a:off x="8907066" y="4759970"/>
            <a:ext cx="31387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11_risk_register, M-02</a:t>
            </a:r>
            <a:endParaRPr lang="en-US" sz="900" dirty="0"/>
          </a:p>
        </p:txBody>
      </p:sp>
      <p:sp>
        <p:nvSpPr>
          <p:cNvPr id="88" name="SK-2-text-87"/>
          <p:cNvSpPr/>
          <p:nvPr/>
        </p:nvSpPr>
        <p:spPr>
          <a:xfrm>
            <a:off x="723900" y="5257651"/>
            <a:ext cx="247650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5</a:t>
            </a:r>
            <a:endParaRPr lang="en-US" sz="1125" dirty="0"/>
          </a:p>
        </p:txBody>
      </p:sp>
      <p:sp>
        <p:nvSpPr>
          <p:cNvPr id="89" name="SK-2-text-88"/>
          <p:cNvSpPr/>
          <p:nvPr/>
        </p:nvSpPr>
        <p:spPr>
          <a:xfrm>
            <a:off x="1200150" y="5257651"/>
            <a:ext cx="1866900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완료율</a:t>
            </a:r>
            <a:endParaRPr lang="en-US" sz="1125" dirty="0"/>
          </a:p>
        </p:txBody>
      </p:sp>
      <p:sp>
        <p:nvSpPr>
          <p:cNvPr id="90" name="SK-2-text-89"/>
          <p:cNvSpPr/>
          <p:nvPr/>
        </p:nvSpPr>
        <p:spPr>
          <a:xfrm>
            <a:off x="3390900" y="5519589"/>
            <a:ext cx="323530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92.9% (78/84 Done)</a:t>
            </a:r>
            <a:endParaRPr lang="en-US" sz="1050" dirty="0"/>
          </a:p>
        </p:txBody>
      </p:sp>
      <p:sp>
        <p:nvSpPr>
          <p:cNvPr id="91" name="SK-2-text-90"/>
          <p:cNvSpPr/>
          <p:nvPr/>
        </p:nvSpPr>
        <p:spPr>
          <a:xfrm>
            <a:off x="6177707" y="5419576"/>
            <a:ext cx="17240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endParaRPr lang="en-US" sz="1050" dirty="0"/>
          </a:p>
        </p:txBody>
      </p:sp>
      <p:sp>
        <p:nvSpPr>
          <p:cNvPr id="92" name="SK-2-text-91"/>
          <p:cNvSpPr/>
          <p:nvPr/>
        </p:nvSpPr>
        <p:spPr>
          <a:xfrm>
            <a:off x="6082457" y="5743426"/>
            <a:ext cx="29565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삭제 → 머지만으로 Done</a:t>
            </a:r>
            <a:endParaRPr lang="en-US" sz="900" dirty="0"/>
          </a:p>
        </p:txBody>
      </p:sp>
      <p:sp>
        <p:nvSpPr>
          <p:cNvPr id="93" name="SK-2-textBg-92"/>
          <p:cNvSpPr/>
          <p:nvPr/>
        </p:nvSpPr>
        <p:spPr>
          <a:xfrm>
            <a:off x="8849916" y="5579120"/>
            <a:ext cx="91440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4" name="SK-2-text-93"/>
          <p:cNvSpPr/>
          <p:nvPr/>
        </p:nvSpPr>
        <p:spPr>
          <a:xfrm>
            <a:off x="8907066" y="5579120"/>
            <a:ext cx="1840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CR-012, M-03</a:t>
            </a:r>
            <a:endParaRPr lang="en-US" sz="900" dirty="0"/>
          </a:p>
        </p:txBody>
      </p:sp>
      <p:sp>
        <p:nvSpPr>
          <p:cNvPr id="95" name="SK-2-text-94"/>
          <p:cNvSpPr/>
          <p:nvPr/>
        </p:nvSpPr>
        <p:spPr>
          <a:xfrm>
            <a:off x="7334250" y="6353175"/>
            <a:ext cx="4857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체계 유지가 목적이 된 프로젝트의 전형적인 "구조적 맹목" 현상 식별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32435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424904" cy="442913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404" y="1504950"/>
            <a:ext cx="1699766" cy="442913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6170" y="1504950"/>
            <a:ext cx="2549723" cy="442913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5894" y="1504950"/>
            <a:ext cx="4037112" cy="442913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3005" y="1504950"/>
            <a:ext cx="2337495" cy="442913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47863"/>
            <a:ext cx="424904" cy="725686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404" y="1947863"/>
            <a:ext cx="1699766" cy="725686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6170" y="1947863"/>
            <a:ext cx="2549723" cy="725686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10470" y="2094905"/>
            <a:ext cx="178594" cy="148828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45894" y="1947863"/>
            <a:ext cx="4037112" cy="725686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3005" y="1947863"/>
            <a:ext cx="2337495" cy="725686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2673548"/>
            <a:ext cx="424904" cy="725686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404" y="2673548"/>
            <a:ext cx="1699766" cy="725686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96170" y="2673548"/>
            <a:ext cx="2549723" cy="725686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45894" y="2673548"/>
            <a:ext cx="4037112" cy="725686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83005" y="2673548"/>
            <a:ext cx="2337495" cy="725686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3399234"/>
            <a:ext cx="424904" cy="725686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6404" y="3399234"/>
            <a:ext cx="1699766" cy="725686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96170" y="3399234"/>
            <a:ext cx="2549723" cy="725686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45894" y="3399234"/>
            <a:ext cx="4037112" cy="725686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83005" y="3399234"/>
            <a:ext cx="2337495" cy="725686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124920"/>
            <a:ext cx="424904" cy="809923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6404" y="4124920"/>
            <a:ext cx="1699766" cy="809923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96170" y="4124920"/>
            <a:ext cx="2549723" cy="809923"/>
          </a:xfrm>
          <a:prstGeom prst="rect">
            <a:avLst/>
          </a:prstGeom>
        </p:spPr>
      </p:pic>
      <p:pic>
        <p:nvPicPr>
          <p:cNvPr id="31" name="SK-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45894" y="4124920"/>
            <a:ext cx="4037112" cy="809923"/>
          </a:xfrm>
          <a:prstGeom prst="rect">
            <a:avLst/>
          </a:prstGeom>
        </p:spPr>
      </p:pic>
      <p:pic>
        <p:nvPicPr>
          <p:cNvPr id="32" name="SK-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83005" y="4124920"/>
            <a:ext cx="2337495" cy="809923"/>
          </a:xfrm>
          <a:prstGeom prst="rect">
            <a:avLst/>
          </a:prstGeom>
        </p:spPr>
      </p:pic>
      <p:pic>
        <p:nvPicPr>
          <p:cNvPr id="33" name="SK-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6019800"/>
            <a:ext cx="11049000" cy="457200"/>
          </a:xfrm>
          <a:prstGeom prst="rect">
            <a:avLst/>
          </a:prstGeom>
        </p:spPr>
      </p:pic>
      <p:pic>
        <p:nvPicPr>
          <p:cNvPr id="34" name="SK-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5800" y="6172200"/>
            <a:ext cx="190500" cy="152400"/>
          </a:xfrm>
          <a:prstGeom prst="rect">
            <a:avLst/>
          </a:prstGeom>
        </p:spPr>
      </p:pic>
      <p:sp>
        <p:nvSpPr>
          <p:cNvPr id="35" name="SK-3-text-34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6" name="SK-3-text-35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이상징후 식별: 운영 및 소통의 결함 (6-10)</a:t>
            </a:r>
            <a:endParaRPr lang="en-US" sz="2550" dirty="0"/>
          </a:p>
        </p:txBody>
      </p:sp>
      <p:sp>
        <p:nvSpPr>
          <p:cNvPr id="37" name="SK-3-text-36"/>
          <p:cNvSpPr/>
          <p:nvPr/>
        </p:nvSpPr>
        <p:spPr>
          <a:xfrm>
            <a:off x="533400" y="1504950"/>
            <a:ext cx="27250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125" dirty="0"/>
          </a:p>
        </p:txBody>
      </p:sp>
      <p:sp>
        <p:nvSpPr>
          <p:cNvPr id="38" name="SK-3-text-37"/>
          <p:cNvSpPr/>
          <p:nvPr/>
        </p:nvSpPr>
        <p:spPr>
          <a:xfrm>
            <a:off x="1110704" y="1504950"/>
            <a:ext cx="154736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125" dirty="0"/>
          </a:p>
        </p:txBody>
      </p:sp>
      <p:sp>
        <p:nvSpPr>
          <p:cNvPr id="39" name="SK-3-text-38"/>
          <p:cNvSpPr/>
          <p:nvPr/>
        </p:nvSpPr>
        <p:spPr>
          <a:xfrm>
            <a:off x="2810470" y="1504950"/>
            <a:ext cx="23973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보고(겉)</a:t>
            </a:r>
            <a:endParaRPr lang="en-US" sz="1125" dirty="0"/>
          </a:p>
        </p:txBody>
      </p:sp>
      <p:sp>
        <p:nvSpPr>
          <p:cNvPr id="40" name="SK-3-text-39"/>
          <p:cNvSpPr/>
          <p:nvPr/>
        </p:nvSpPr>
        <p:spPr>
          <a:xfrm>
            <a:off x="5360194" y="1504950"/>
            <a:ext cx="388471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실제(속)</a:t>
            </a:r>
            <a:endParaRPr lang="en-US" sz="1125" dirty="0"/>
          </a:p>
        </p:txBody>
      </p:sp>
      <p:sp>
        <p:nvSpPr>
          <p:cNvPr id="41" name="SK-3-text-40"/>
          <p:cNvSpPr/>
          <p:nvPr/>
        </p:nvSpPr>
        <p:spPr>
          <a:xfrm>
            <a:off x="9397305" y="1504950"/>
            <a:ext cx="21850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125" dirty="0"/>
          </a:p>
        </p:txBody>
      </p:sp>
      <p:sp>
        <p:nvSpPr>
          <p:cNvPr id="42" name="SK-3-text-41"/>
          <p:cNvSpPr/>
          <p:nvPr/>
        </p:nvSpPr>
        <p:spPr>
          <a:xfrm>
            <a:off x="533400" y="1947863"/>
            <a:ext cx="272504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6</a:t>
            </a:r>
            <a:endParaRPr lang="en-US" sz="1125" dirty="0"/>
          </a:p>
        </p:txBody>
      </p:sp>
      <p:sp>
        <p:nvSpPr>
          <p:cNvPr id="43" name="SK-3-text-42"/>
          <p:cNvSpPr/>
          <p:nvPr/>
        </p:nvSpPr>
        <p:spPr>
          <a:xfrm>
            <a:off x="1110704" y="1947863"/>
            <a:ext cx="1547366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정상</a:t>
            </a:r>
            <a:endParaRPr lang="en-US" sz="1125" dirty="0"/>
          </a:p>
        </p:txBody>
      </p:sp>
      <p:sp>
        <p:nvSpPr>
          <p:cNvPr id="44" name="SK-3-text-43"/>
          <p:cNvSpPr/>
          <p:nvPr/>
        </p:nvSpPr>
        <p:spPr>
          <a:xfrm>
            <a:off x="3046214" y="2062163"/>
            <a:ext cx="1771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</a:t>
            </a:r>
            <a:endParaRPr lang="en-US" sz="1125" dirty="0"/>
          </a:p>
        </p:txBody>
      </p:sp>
      <p:sp>
        <p:nvSpPr>
          <p:cNvPr id="45" name="SK-3-text-44"/>
          <p:cNvSpPr/>
          <p:nvPr/>
        </p:nvSpPr>
        <p:spPr>
          <a:xfrm>
            <a:off x="5360194" y="2062163"/>
            <a:ext cx="20193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35건</a:t>
            </a:r>
            <a:endParaRPr lang="en-US" sz="1125" dirty="0"/>
          </a:p>
        </p:txBody>
      </p:sp>
      <p:sp>
        <p:nvSpPr>
          <p:cNvPr id="46" name="SK-3-text-45"/>
          <p:cNvSpPr/>
          <p:nvPr/>
        </p:nvSpPr>
        <p:spPr>
          <a:xfrm>
            <a:off x="5360194" y="2295525"/>
            <a:ext cx="30632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미등록, 영향평가 수행 0건</a:t>
            </a:r>
            <a:endParaRPr lang="en-US" sz="1050" dirty="0"/>
          </a:p>
        </p:txBody>
      </p:sp>
      <p:sp>
        <p:nvSpPr>
          <p:cNvPr id="47" name="SK-3-textBg-46"/>
          <p:cNvSpPr/>
          <p:nvPr/>
        </p:nvSpPr>
        <p:spPr>
          <a:xfrm>
            <a:off x="9397305" y="2062163"/>
            <a:ext cx="165735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K-3-text-47"/>
          <p:cNvSpPr/>
          <p:nvPr/>
        </p:nvSpPr>
        <p:spPr>
          <a:xfrm>
            <a:off x="9454455" y="2062163"/>
            <a:ext cx="273754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05_change_requests</a:t>
            </a:r>
            <a:endParaRPr lang="en-US" sz="1125" dirty="0"/>
          </a:p>
        </p:txBody>
      </p:sp>
      <p:sp>
        <p:nvSpPr>
          <p:cNvPr id="49" name="SK-3-text-48"/>
          <p:cNvSpPr/>
          <p:nvPr/>
        </p:nvSpPr>
        <p:spPr>
          <a:xfrm>
            <a:off x="533400" y="2673548"/>
            <a:ext cx="272504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7</a:t>
            </a:r>
            <a:endParaRPr lang="en-US" sz="1125" dirty="0"/>
          </a:p>
        </p:txBody>
      </p:sp>
      <p:sp>
        <p:nvSpPr>
          <p:cNvPr id="50" name="SK-3-text-49"/>
          <p:cNvSpPr/>
          <p:nvPr/>
        </p:nvSpPr>
        <p:spPr>
          <a:xfrm>
            <a:off x="1110704" y="2673548"/>
            <a:ext cx="1560118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관리</a:t>
            </a:r>
            <a:endParaRPr lang="en-US" sz="1125" dirty="0"/>
          </a:p>
        </p:txBody>
      </p:sp>
      <p:sp>
        <p:nvSpPr>
          <p:cNvPr id="51" name="SK-3-text-50"/>
          <p:cNvSpPr/>
          <p:nvPr/>
        </p:nvSpPr>
        <p:spPr>
          <a:xfrm>
            <a:off x="2810470" y="2797373"/>
            <a:ext cx="24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52" name="SK-3-text-51"/>
          <p:cNvSpPr/>
          <p:nvPr/>
        </p:nvSpPr>
        <p:spPr>
          <a:xfrm>
            <a:off x="5360194" y="2787848"/>
            <a:ext cx="1733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5건 전부 미측정</a:t>
            </a:r>
            <a:endParaRPr lang="en-US" sz="1125" dirty="0"/>
          </a:p>
        </p:txBody>
      </p:sp>
      <p:sp>
        <p:nvSpPr>
          <p:cNvPr id="53" name="SK-3-text-52"/>
          <p:cNvSpPr/>
          <p:nvPr/>
        </p:nvSpPr>
        <p:spPr>
          <a:xfrm>
            <a:off x="5360194" y="3021211"/>
            <a:ext cx="31165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측정체계 자체가 없음 (방치 상태)</a:t>
            </a:r>
            <a:endParaRPr lang="en-US" sz="1050" dirty="0"/>
          </a:p>
        </p:txBody>
      </p:sp>
      <p:sp>
        <p:nvSpPr>
          <p:cNvPr id="54" name="SK-3-textBg-53"/>
          <p:cNvSpPr/>
          <p:nvPr/>
        </p:nvSpPr>
        <p:spPr>
          <a:xfrm>
            <a:off x="9397305" y="2787848"/>
            <a:ext cx="17430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K-3-text-54"/>
          <p:cNvSpPr/>
          <p:nvPr/>
        </p:nvSpPr>
        <p:spPr>
          <a:xfrm>
            <a:off x="9454455" y="2787848"/>
            <a:ext cx="273754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02_benefit_register</a:t>
            </a:r>
            <a:endParaRPr lang="en-US" sz="1125" dirty="0"/>
          </a:p>
        </p:txBody>
      </p:sp>
      <p:sp>
        <p:nvSpPr>
          <p:cNvPr id="56" name="SK-3-text-55"/>
          <p:cNvSpPr/>
          <p:nvPr/>
        </p:nvSpPr>
        <p:spPr>
          <a:xfrm>
            <a:off x="533400" y="3399234"/>
            <a:ext cx="272504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8</a:t>
            </a:r>
            <a:endParaRPr lang="en-US" sz="1125" dirty="0"/>
          </a:p>
        </p:txBody>
      </p:sp>
      <p:sp>
        <p:nvSpPr>
          <p:cNvPr id="57" name="SK-3-text-56"/>
          <p:cNvSpPr/>
          <p:nvPr/>
        </p:nvSpPr>
        <p:spPr>
          <a:xfrm>
            <a:off x="1110704" y="3399234"/>
            <a:ext cx="1547366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리스크</a:t>
            </a:r>
            <a:endParaRPr lang="en-US" sz="1125" dirty="0"/>
          </a:p>
        </p:txBody>
      </p:sp>
      <p:sp>
        <p:nvSpPr>
          <p:cNvPr id="58" name="SK-3-text-57"/>
          <p:cNvSpPr/>
          <p:nvPr/>
        </p:nvSpPr>
        <p:spPr>
          <a:xfrm>
            <a:off x="2810470" y="3513534"/>
            <a:ext cx="1619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리스크대장 미등록</a:t>
            </a:r>
            <a:endParaRPr lang="en-US" sz="1125" dirty="0"/>
          </a:p>
        </p:txBody>
      </p:sp>
      <p:sp>
        <p:nvSpPr>
          <p:cNvPr id="59" name="SK-3-text-58"/>
          <p:cNvSpPr/>
          <p:nvPr/>
        </p:nvSpPr>
        <p:spPr>
          <a:xfrm>
            <a:off x="5360194" y="3513534"/>
            <a:ext cx="4819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 = 배포일(9/30)</a:t>
            </a:r>
            <a:endParaRPr lang="en-US" sz="1125" dirty="0"/>
          </a:p>
        </p:txBody>
      </p:sp>
      <p:sp>
        <p:nvSpPr>
          <p:cNvPr id="60" name="SK-3-text-59"/>
          <p:cNvSpPr/>
          <p:nvPr/>
        </p:nvSpPr>
        <p:spPr>
          <a:xfrm>
            <a:off x="5360194" y="3746897"/>
            <a:ext cx="34899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마이그레이션 필요 기간 2~4주 누락</a:t>
            </a:r>
            <a:endParaRPr lang="en-US" sz="1050" dirty="0"/>
          </a:p>
        </p:txBody>
      </p:sp>
      <p:sp>
        <p:nvSpPr>
          <p:cNvPr id="61" name="SK-3-textBg-60"/>
          <p:cNvSpPr/>
          <p:nvPr/>
        </p:nvSpPr>
        <p:spPr>
          <a:xfrm>
            <a:off x="9397305" y="3513534"/>
            <a:ext cx="4572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K-3-text-61"/>
          <p:cNvSpPr/>
          <p:nvPr/>
        </p:nvSpPr>
        <p:spPr>
          <a:xfrm>
            <a:off x="9454455" y="3513534"/>
            <a:ext cx="6858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E-02</a:t>
            </a:r>
            <a:endParaRPr lang="en-US" sz="1125" dirty="0"/>
          </a:p>
        </p:txBody>
      </p:sp>
      <p:sp>
        <p:nvSpPr>
          <p:cNvPr id="63" name="SK-3-text-62"/>
          <p:cNvSpPr/>
          <p:nvPr/>
        </p:nvSpPr>
        <p:spPr>
          <a:xfrm>
            <a:off x="533400" y="4124920"/>
            <a:ext cx="272504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9</a:t>
            </a:r>
            <a:endParaRPr lang="en-US" sz="1125" dirty="0"/>
          </a:p>
        </p:txBody>
      </p:sp>
      <p:sp>
        <p:nvSpPr>
          <p:cNvPr id="64" name="SK-3-text-63"/>
          <p:cNvSpPr/>
          <p:nvPr/>
        </p:nvSpPr>
        <p:spPr>
          <a:xfrm>
            <a:off x="1110704" y="4124920"/>
            <a:ext cx="1547366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소통</a:t>
            </a:r>
            <a:endParaRPr lang="en-US" sz="1125" dirty="0"/>
          </a:p>
        </p:txBody>
      </p:sp>
      <p:sp>
        <p:nvSpPr>
          <p:cNvPr id="65" name="SK-3-text-64"/>
          <p:cNvSpPr/>
          <p:nvPr/>
        </p:nvSpPr>
        <p:spPr>
          <a:xfrm>
            <a:off x="2810470" y="4248745"/>
            <a:ext cx="24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66" name="SK-3-text-65"/>
          <p:cNvSpPr/>
          <p:nvPr/>
        </p:nvSpPr>
        <p:spPr>
          <a:xfrm>
            <a:off x="5360194" y="4239220"/>
            <a:ext cx="2076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5건</a:t>
            </a:r>
            <a:endParaRPr lang="en-US" sz="1125" dirty="0"/>
          </a:p>
        </p:txBody>
      </p:sp>
      <p:sp>
        <p:nvSpPr>
          <p:cNvPr id="67" name="SK-3-text-66"/>
          <p:cNvSpPr/>
          <p:nvPr/>
        </p:nvSpPr>
        <p:spPr>
          <a:xfrm>
            <a:off x="5360194" y="4472583"/>
            <a:ext cx="3703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리전(미국, 인도, 한국) 간 충돌</a:t>
            </a:r>
            <a:endParaRPr lang="en-US" sz="1050" dirty="0"/>
          </a:p>
        </p:txBody>
      </p:sp>
      <p:sp>
        <p:nvSpPr>
          <p:cNvPr id="68" name="SK-3-textBg-67"/>
          <p:cNvSpPr/>
          <p:nvPr/>
        </p:nvSpPr>
        <p:spPr>
          <a:xfrm>
            <a:off x="9397305" y="4239220"/>
            <a:ext cx="14001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SK-3-text-68"/>
          <p:cNvSpPr/>
          <p:nvPr/>
        </p:nvSpPr>
        <p:spPr>
          <a:xfrm>
            <a:off x="9454455" y="4239220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12_decision_log</a:t>
            </a:r>
            <a:endParaRPr lang="en-US" sz="1125" dirty="0"/>
          </a:p>
        </p:txBody>
      </p:sp>
      <p:sp>
        <p:nvSpPr>
          <p:cNvPr id="70" name="SK-3-text-69"/>
          <p:cNvSpPr/>
          <p:nvPr/>
        </p:nvSpPr>
        <p:spPr>
          <a:xfrm>
            <a:off x="9397305" y="4567833"/>
            <a:ext cx="27946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DEC-04,05,06,07,11</a:t>
            </a:r>
            <a:endParaRPr lang="en-US" sz="900" dirty="0"/>
          </a:p>
        </p:txBody>
      </p:sp>
      <p:sp>
        <p:nvSpPr>
          <p:cNvPr id="71" name="SK-3-text-70"/>
          <p:cNvSpPr/>
          <p:nvPr/>
        </p:nvSpPr>
        <p:spPr>
          <a:xfrm>
            <a:off x="533400" y="4934843"/>
            <a:ext cx="272504" cy="89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10</a:t>
            </a:r>
            <a:endParaRPr lang="en-US" sz="1125" dirty="0"/>
          </a:p>
        </p:txBody>
      </p:sp>
      <p:sp>
        <p:nvSpPr>
          <p:cNvPr id="72" name="SK-3-text-71"/>
          <p:cNvSpPr/>
          <p:nvPr/>
        </p:nvSpPr>
        <p:spPr>
          <a:xfrm>
            <a:off x="1110704" y="4934843"/>
            <a:ext cx="1547366" cy="89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보고</a:t>
            </a:r>
            <a:endParaRPr lang="en-US" sz="1125" dirty="0"/>
          </a:p>
        </p:txBody>
      </p:sp>
      <p:sp>
        <p:nvSpPr>
          <p:cNvPr id="73" name="SK-3-text-72"/>
          <p:cNvSpPr/>
          <p:nvPr/>
        </p:nvSpPr>
        <p:spPr>
          <a:xfrm>
            <a:off x="2810470" y="5068193"/>
            <a:ext cx="1996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아젠다 미포함</a:t>
            </a:r>
            <a:endParaRPr lang="en-US" sz="1050" dirty="0"/>
          </a:p>
        </p:txBody>
      </p:sp>
      <p:sp>
        <p:nvSpPr>
          <p:cNvPr id="74" name="SK-3-text-73"/>
          <p:cNvSpPr/>
          <p:nvPr/>
        </p:nvSpPr>
        <p:spPr>
          <a:xfrm>
            <a:off x="5360194" y="5049143"/>
            <a:ext cx="2133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로봇 가동 중단</a:t>
            </a:r>
            <a:endParaRPr lang="en-US" sz="1125" dirty="0"/>
          </a:p>
        </p:txBody>
      </p:sp>
      <p:sp>
        <p:nvSpPr>
          <p:cNvPr id="75" name="SK-3-text-74"/>
          <p:cNvSpPr/>
          <p:nvPr/>
        </p:nvSpPr>
        <p:spPr>
          <a:xfrm>
            <a:off x="5360194" y="5282505"/>
            <a:ext cx="45034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임무시도 급감 (2,140건 → 573건)</a:t>
            </a:r>
            <a:endParaRPr lang="en-US" sz="1050" dirty="0"/>
          </a:p>
        </p:txBody>
      </p:sp>
      <p:sp>
        <p:nvSpPr>
          <p:cNvPr id="76" name="SK-3-textBg-75"/>
          <p:cNvSpPr/>
          <p:nvPr/>
        </p:nvSpPr>
        <p:spPr>
          <a:xfrm>
            <a:off x="9397305" y="5049143"/>
            <a:ext cx="11430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SK-3-text-76"/>
          <p:cNvSpPr/>
          <p:nvPr/>
        </p:nvSpPr>
        <p:spPr>
          <a:xfrm>
            <a:off x="9454455" y="5049143"/>
            <a:ext cx="20574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09_telemetry</a:t>
            </a:r>
            <a:endParaRPr lang="en-US" sz="1125" dirty="0"/>
          </a:p>
        </p:txBody>
      </p:sp>
      <p:sp>
        <p:nvSpPr>
          <p:cNvPr id="78" name="SK-3-textBg-77"/>
          <p:cNvSpPr/>
          <p:nvPr/>
        </p:nvSpPr>
        <p:spPr>
          <a:xfrm>
            <a:off x="9397305" y="5339655"/>
            <a:ext cx="122872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9" name="SK-3-text-78"/>
          <p:cNvSpPr/>
          <p:nvPr/>
        </p:nvSpPr>
        <p:spPr>
          <a:xfrm>
            <a:off x="9454455" y="5339655"/>
            <a:ext cx="22288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15_governance</a:t>
            </a:r>
            <a:endParaRPr lang="en-US" sz="1125" dirty="0"/>
          </a:p>
        </p:txBody>
      </p:sp>
      <p:sp>
        <p:nvSpPr>
          <p:cNvPr id="80" name="SK-3-text-79"/>
          <p:cNvSpPr/>
          <p:nvPr/>
        </p:nvSpPr>
        <p:spPr>
          <a:xfrm>
            <a:off x="952500" y="61341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결함: 공식 보고 채널 외부에서 발생하는 핵심 리스크와 실사업장 데이터가 철저히 격리됨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6825"/>
            <a:ext cx="11049000" cy="409575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800225"/>
            <a:ext cx="19050" cy="2773561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" y="1800225"/>
            <a:ext cx="381000" cy="381000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1800225"/>
            <a:ext cx="10639425" cy="598140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75" y="2493615"/>
            <a:ext cx="381000" cy="381000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2493615"/>
            <a:ext cx="10639425" cy="598140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475" y="3187005"/>
            <a:ext cx="381000" cy="381000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3187005"/>
            <a:ext cx="10639425" cy="598140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1475" y="3880396"/>
            <a:ext cx="381000" cy="381000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075" y="3880396"/>
            <a:ext cx="10639425" cy="598140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707136"/>
            <a:ext cx="11049000" cy="1643063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859536"/>
            <a:ext cx="285750" cy="228600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5631061"/>
            <a:ext cx="10668000" cy="304800"/>
          </a:xfrm>
          <a:prstGeom prst="rect">
            <a:avLst/>
          </a:prstGeom>
        </p:spPr>
      </p:pic>
      <p:sp>
        <p:nvSpPr>
          <p:cNvPr id="19" name="SK-4-text-18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0" name="SK-4-text-19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A-2. 근본원인 분석: 5-Why 인과 사슬</a:t>
            </a:r>
            <a:endParaRPr lang="en-US" sz="2550" dirty="0"/>
          </a:p>
        </p:txBody>
      </p:sp>
      <p:sp>
        <p:nvSpPr>
          <p:cNvPr id="21" name="SK-4-text-20"/>
          <p:cNvSpPr/>
          <p:nvPr/>
        </p:nvSpPr>
        <p:spPr>
          <a:xfrm>
            <a:off x="762000" y="1371600"/>
            <a:ext cx="1196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[표면 현상]</a:t>
            </a:r>
            <a:endParaRPr lang="en-US" sz="1050" dirty="0"/>
          </a:p>
        </p:txBody>
      </p:sp>
      <p:sp>
        <p:nvSpPr>
          <p:cNvPr id="22" name="SK-4-text-21"/>
          <p:cNvSpPr/>
          <p:nvPr/>
        </p:nvSpPr>
        <p:spPr>
          <a:xfrm>
            <a:off x="1676400" y="1343025"/>
            <a:ext cx="831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6주 연속 하락, 무개입완주율 6.1%, 사업장들이 로봇을 끔</a:t>
            </a:r>
            <a:endParaRPr lang="en-US" sz="1350" dirty="0"/>
          </a:p>
        </p:txBody>
      </p:sp>
      <p:sp>
        <p:nvSpPr>
          <p:cNvPr id="23" name="SK-4-text-22"/>
          <p:cNvSpPr/>
          <p:nvPr/>
        </p:nvSpPr>
        <p:spPr>
          <a:xfrm>
            <a:off x="523875" y="18002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K-4-text-23"/>
          <p:cNvSpPr/>
          <p:nvPr/>
        </p:nvSpPr>
        <p:spPr>
          <a:xfrm>
            <a:off x="1133475" y="1876425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실사업장 미학습 상황</a:t>
            </a:r>
            <a:endParaRPr lang="en-US" sz="1050" dirty="0"/>
          </a:p>
        </p:txBody>
      </p:sp>
      <p:sp>
        <p:nvSpPr>
          <p:cNvPr id="25" name="SK-4-text-24"/>
          <p:cNvSpPr/>
          <p:nvPr/>
        </p:nvSpPr>
        <p:spPr>
          <a:xfrm>
            <a:off x="1209675" y="2095500"/>
            <a:ext cx="10334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미학습 상황 36.9% 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양재 120개 시나리오에 없는 것들</a:t>
            </a:r>
            <a:endParaRPr lang="en-US" sz="1275" dirty="0"/>
          </a:p>
        </p:txBody>
      </p:sp>
      <p:sp>
        <p:nvSpPr>
          <p:cNvPr id="26" name="SK-4-text-25"/>
          <p:cNvSpPr/>
          <p:nvPr/>
        </p:nvSpPr>
        <p:spPr>
          <a:xfrm>
            <a:off x="504825" y="249361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K-4-text-26"/>
          <p:cNvSpPr/>
          <p:nvPr/>
        </p:nvSpPr>
        <p:spPr>
          <a:xfrm>
            <a:off x="1133475" y="2569815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성공기준 및 편익 측정 부재</a:t>
            </a:r>
            <a:endParaRPr lang="en-US" sz="1050" dirty="0"/>
          </a:p>
        </p:txBody>
      </p:sp>
      <p:sp>
        <p:nvSpPr>
          <p:cNvPr id="28" name="SK-4-text-27"/>
          <p:cNvSpPr/>
          <p:nvPr/>
        </p:nvSpPr>
        <p:spPr>
          <a:xfrm>
            <a:off x="1209675" y="2788890"/>
            <a:ext cx="1041558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성공기준(SC-03)이 정형 테스트베드만 측정 + 편익(BEN) 미측정</a:t>
            </a:r>
            <a:endParaRPr lang="en-US" sz="1275" dirty="0"/>
          </a:p>
        </p:txBody>
      </p:sp>
      <p:sp>
        <p:nvSpPr>
          <p:cNvPr id="29" name="SK-4-text-28"/>
          <p:cNvSpPr/>
          <p:nvPr/>
        </p:nvSpPr>
        <p:spPr>
          <a:xfrm>
            <a:off x="500063" y="318700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K-4-text-29"/>
          <p:cNvSpPr/>
          <p:nvPr/>
        </p:nvSpPr>
        <p:spPr>
          <a:xfrm>
            <a:off x="1133475" y="3263205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관리적 편의주의</a:t>
            </a:r>
            <a:endParaRPr lang="en-US" sz="1050" dirty="0"/>
          </a:p>
        </p:txBody>
      </p:sp>
      <p:sp>
        <p:nvSpPr>
          <p:cNvPr id="31" name="SK-4-text-30"/>
          <p:cNvSpPr/>
          <p:nvPr/>
        </p:nvSpPr>
        <p:spPr>
          <a:xfrm>
            <a:off x="1209675" y="3482280"/>
            <a:ext cx="1041558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"측정 가능한 것만 측정"하고 그것만 관리 → 불편한 신호 차단</a:t>
            </a:r>
            <a:endParaRPr lang="en-US" sz="1275" dirty="0"/>
          </a:p>
        </p:txBody>
      </p:sp>
      <p:sp>
        <p:nvSpPr>
          <p:cNvPr id="32" name="SK-4-text-31"/>
          <p:cNvSpPr/>
          <p:nvPr/>
        </p:nvSpPr>
        <p:spPr>
          <a:xfrm>
            <a:off x="500063" y="388039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K-4-text-32"/>
          <p:cNvSpPr/>
          <p:nvPr/>
        </p:nvSpPr>
        <p:spPr>
          <a:xfrm>
            <a:off x="1133475" y="3956596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의사결정 파편화 및 무검토</a:t>
            </a:r>
            <a:endParaRPr lang="en-US" sz="1050" dirty="0"/>
          </a:p>
        </p:txBody>
      </p:sp>
      <p:sp>
        <p:nvSpPr>
          <p:cNvPr id="34" name="SK-4-text-33"/>
          <p:cNvSpPr/>
          <p:nvPr/>
        </p:nvSpPr>
        <p:spPr>
          <a:xfrm>
            <a:off x="1209675" y="4175671"/>
            <a:ext cx="1041558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의사결정이 분산(메신저/구두/지역별 상이) + AI 자동보고를 무비판 수용</a:t>
            </a:r>
            <a:endParaRPr lang="en-US" sz="1275" dirty="0"/>
          </a:p>
        </p:txBody>
      </p:sp>
      <p:sp>
        <p:nvSpPr>
          <p:cNvPr id="35" name="SK-4-text-34"/>
          <p:cNvSpPr/>
          <p:nvPr/>
        </p:nvSpPr>
        <p:spPr>
          <a:xfrm>
            <a:off x="1162050" y="4830961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36" name="SK-4-text-35"/>
          <p:cNvSpPr/>
          <p:nvPr/>
        </p:nvSpPr>
        <p:spPr>
          <a:xfrm>
            <a:off x="762000" y="5192911"/>
            <a:ext cx="10782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spc="-1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측정이 관리를 대체했다 (Goodhart's Law)</a:t>
            </a:r>
            <a:endParaRPr lang="en-US" sz="1800" dirty="0"/>
          </a:p>
        </p:txBody>
      </p:sp>
      <p:sp>
        <p:nvSpPr>
          <p:cNvPr id="37" name="SK-4-text-36"/>
          <p:cNvSpPr/>
          <p:nvPr/>
        </p:nvSpPr>
        <p:spPr>
          <a:xfrm>
            <a:off x="762000" y="5631061"/>
            <a:ext cx="1074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"지표가 목표가 되면, 좋은 지표이기를 멈춘다"</a:t>
            </a:r>
            <a:endParaRPr lang="en-US" sz="1200" dirty="0"/>
          </a:p>
        </p:txBody>
      </p:sp>
      <p:sp>
        <p:nvSpPr>
          <p:cNvPr id="38" name="SK-4-text-37"/>
          <p:cNvSpPr/>
          <p:nvPr/>
        </p:nvSpPr>
        <p:spPr>
          <a:xfrm>
            <a:off x="762000" y="6012061"/>
            <a:ext cx="10744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진짜 목적(고객 가치 전달)이 아닌, 보고 체계 유지가 목적이 되었다.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8600"/>
            <a:ext cx="2122289" cy="276225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61950"/>
            <a:ext cx="8812411" cy="9525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81100"/>
            <a:ext cx="3555950" cy="2019300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247775"/>
            <a:ext cx="3327350" cy="304800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298377"/>
            <a:ext cx="190500" cy="155823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619250"/>
            <a:ext cx="3327350" cy="733425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00300"/>
            <a:ext cx="3327350" cy="733425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1181100"/>
            <a:ext cx="3555950" cy="2019300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2250" y="1247775"/>
            <a:ext cx="3327350" cy="304800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1298377"/>
            <a:ext cx="190500" cy="155823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2250" y="1619250"/>
            <a:ext cx="3327350" cy="733425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2250" y="2400300"/>
            <a:ext cx="3327350" cy="733425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4401" y="1181100"/>
            <a:ext cx="3556099" cy="2019300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8701" y="1247775"/>
            <a:ext cx="3327499" cy="304800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8701" y="1298377"/>
            <a:ext cx="190500" cy="155823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8701" y="1619250"/>
            <a:ext cx="3327499" cy="733425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78701" y="2400300"/>
            <a:ext cx="3327499" cy="733425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53125" y="3314700"/>
            <a:ext cx="285750" cy="228600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657600"/>
            <a:ext cx="11049000" cy="842963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33863" y="3724275"/>
            <a:ext cx="3724275" cy="709613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53125" y="4614863"/>
            <a:ext cx="285750" cy="228600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4957763"/>
            <a:ext cx="11049000" cy="1314450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5119688"/>
            <a:ext cx="190500" cy="152400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" y="5405438"/>
            <a:ext cx="2571750" cy="771525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48050" y="5405438"/>
            <a:ext cx="2571750" cy="771525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72200" y="5405438"/>
            <a:ext cx="2571750" cy="771525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96350" y="5405438"/>
            <a:ext cx="2571750" cy="771525"/>
          </a:xfrm>
          <a:prstGeom prst="rect">
            <a:avLst/>
          </a:prstGeom>
        </p:spPr>
      </p:pic>
      <p:sp>
        <p:nvSpPr>
          <p:cNvPr id="31" name="SK-5-text-30"/>
          <p:cNvSpPr/>
          <p:nvPr/>
        </p:nvSpPr>
        <p:spPr>
          <a:xfrm>
            <a:off x="647700" y="2286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2" name="SK-5-text-31"/>
          <p:cNvSpPr/>
          <p:nvPr/>
        </p:nvSpPr>
        <p:spPr>
          <a:xfrm>
            <a:off x="571500" y="581025"/>
            <a:ext cx="1130236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A-3. 인과관계 종합: 시스템 관점의 구조적 결함</a:t>
            </a:r>
            <a:endParaRPr lang="en-US" sz="2550" dirty="0"/>
          </a:p>
        </p:txBody>
      </p:sp>
      <p:sp>
        <p:nvSpPr>
          <p:cNvPr id="33" name="SK-5-text-32"/>
          <p:cNvSpPr/>
          <p:nvPr/>
        </p:nvSpPr>
        <p:spPr>
          <a:xfrm>
            <a:off x="952500" y="1247775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측정 체계의 왜곡</a:t>
            </a:r>
            <a:endParaRPr lang="en-US" sz="1350" dirty="0"/>
          </a:p>
        </p:txBody>
      </p:sp>
      <p:sp>
        <p:nvSpPr>
          <p:cNvPr id="34" name="SK-5-text-33"/>
          <p:cNvSpPr/>
          <p:nvPr/>
        </p:nvSpPr>
        <p:spPr>
          <a:xfrm>
            <a:off x="781050" y="161925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분리보고 / 범위 축소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제외, 양재 테스트베드(SC-03) 위주 측정</a:t>
            </a:r>
            <a:endParaRPr lang="en-US" sz="1125" dirty="0"/>
          </a:p>
        </p:txBody>
      </p:sp>
      <p:sp>
        <p:nvSpPr>
          <p:cNvPr id="35" name="SK-5-text-34"/>
          <p:cNvSpPr/>
          <p:nvPr/>
        </p:nvSpPr>
        <p:spPr>
          <a:xfrm>
            <a:off x="781050" y="240030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미측정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부재로 실사업장 가치 전달 여부 확인 불가</a:t>
            </a:r>
            <a:endParaRPr lang="en-US" sz="1125" dirty="0"/>
          </a:p>
        </p:txBody>
      </p:sp>
      <p:sp>
        <p:nvSpPr>
          <p:cNvPr id="36" name="SK-5-text-35"/>
          <p:cNvSpPr/>
          <p:nvPr/>
        </p:nvSpPr>
        <p:spPr>
          <a:xfrm>
            <a:off x="4698950" y="1247775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변경 통제의 붕괴</a:t>
            </a:r>
            <a:endParaRPr lang="en-US" sz="1350" dirty="0"/>
          </a:p>
        </p:txBody>
      </p:sp>
      <p:sp>
        <p:nvSpPr>
          <p:cNvPr id="37" name="SK-5-text-36"/>
          <p:cNvSpPr/>
          <p:nvPr/>
        </p:nvSpPr>
        <p:spPr>
          <a:xfrm>
            <a:off x="4527500" y="161925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조건 삭제 → '코드 머지=Done'으로 완료율 부풀림</a:t>
            </a:r>
            <a:endParaRPr lang="en-US" sz="1125" dirty="0"/>
          </a:p>
        </p:txBody>
      </p:sp>
      <p:sp>
        <p:nvSpPr>
          <p:cNvPr id="38" name="SK-5-text-37"/>
          <p:cNvSpPr/>
          <p:nvPr/>
        </p:nvSpPr>
        <p:spPr>
          <a:xfrm>
            <a:off x="4527500" y="240030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변경(35건) 누적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 및 영향평가 없이 Baseline 갱신 방치</a:t>
            </a:r>
            <a:endParaRPr lang="en-US" sz="1125" dirty="0"/>
          </a:p>
        </p:txBody>
      </p:sp>
      <p:sp>
        <p:nvSpPr>
          <p:cNvPr id="39" name="SK-5-text-38"/>
          <p:cNvSpPr/>
          <p:nvPr/>
        </p:nvSpPr>
        <p:spPr>
          <a:xfrm>
            <a:off x="8445401" y="1247775"/>
            <a:ext cx="33775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AI 자동화의 무비판 운영</a:t>
            </a:r>
            <a:endParaRPr lang="en-US" sz="1350" dirty="0"/>
          </a:p>
        </p:txBody>
      </p:sp>
      <p:sp>
        <p:nvSpPr>
          <p:cNvPr id="40" name="SK-5-text-39"/>
          <p:cNvSpPr/>
          <p:nvPr/>
        </p:nvSpPr>
        <p:spPr>
          <a:xfrm>
            <a:off x="8273951" y="1619250"/>
            <a:ext cx="313699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형식화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자동 하향</a:t>
            </a:r>
            <a:endParaRPr lang="en-US" sz="1125" dirty="0"/>
          </a:p>
        </p:txBody>
      </p:sp>
      <p:sp>
        <p:nvSpPr>
          <p:cNvPr id="41" name="SK-5-text-40"/>
          <p:cNvSpPr/>
          <p:nvPr/>
        </p:nvSpPr>
        <p:spPr>
          <a:xfrm>
            <a:off x="8273951" y="2400300"/>
            <a:ext cx="313699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무검토 승인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반복 보고의 기계적 수용</a:t>
            </a:r>
            <a:endParaRPr lang="en-US" sz="1125" dirty="0"/>
          </a:p>
        </p:txBody>
      </p:sp>
      <p:sp>
        <p:nvSpPr>
          <p:cNvPr id="42" name="SK-5-text-41"/>
          <p:cNvSpPr/>
          <p:nvPr/>
        </p:nvSpPr>
        <p:spPr>
          <a:xfrm>
            <a:off x="4567238" y="3819525"/>
            <a:ext cx="3057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보고의 항상성 유지</a:t>
            </a:r>
            <a:endParaRPr lang="en-US" sz="1500" dirty="0"/>
          </a:p>
        </p:txBody>
      </p:sp>
      <p:sp>
        <p:nvSpPr>
          <p:cNvPr id="43" name="SK-5-text-42"/>
          <p:cNvSpPr/>
          <p:nvPr/>
        </p:nvSpPr>
        <p:spPr>
          <a:xfrm>
            <a:off x="4576763" y="4124325"/>
            <a:ext cx="30384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(수박 프로젝트의 완성: 겉은 Green, 속은 Red)</a:t>
            </a:r>
            <a:endParaRPr lang="en-US" sz="1125" dirty="0"/>
          </a:p>
        </p:txBody>
      </p:sp>
      <p:sp>
        <p:nvSpPr>
          <p:cNvPr id="44" name="SK-5-text-43"/>
          <p:cNvSpPr/>
          <p:nvPr/>
        </p:nvSpPr>
        <p:spPr>
          <a:xfrm>
            <a:off x="1009650" y="5053013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고객 가치 전달 실패</a:t>
            </a:r>
            <a:endParaRPr lang="en-US" sz="1500" dirty="0"/>
          </a:p>
        </p:txBody>
      </p:sp>
      <p:sp>
        <p:nvSpPr>
          <p:cNvPr id="45" name="SK-5-text-44"/>
          <p:cNvSpPr/>
          <p:nvPr/>
        </p:nvSpPr>
        <p:spPr>
          <a:xfrm>
            <a:off x="83820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</a:t>
            </a:r>
            <a:endParaRPr lang="en-US" sz="975" dirty="0"/>
          </a:p>
        </p:txBody>
      </p:sp>
      <p:sp>
        <p:nvSpPr>
          <p:cNvPr id="46" name="SK-5-text-45"/>
          <p:cNvSpPr/>
          <p:nvPr/>
        </p:nvSpPr>
        <p:spPr>
          <a:xfrm>
            <a:off x="838200" y="56769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6.1%</a:t>
            </a:r>
            <a:endParaRPr lang="en-US" sz="1200" dirty="0"/>
          </a:p>
        </p:txBody>
      </p:sp>
      <p:sp>
        <p:nvSpPr>
          <p:cNvPr id="47" name="SK-5-text-46"/>
          <p:cNvSpPr/>
          <p:nvPr/>
        </p:nvSpPr>
        <p:spPr>
          <a:xfrm>
            <a:off x="83820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성능 급락</a:t>
            </a:r>
            <a:endParaRPr lang="en-US" sz="975" dirty="0"/>
          </a:p>
        </p:txBody>
      </p:sp>
      <p:sp>
        <p:nvSpPr>
          <p:cNvPr id="48" name="SK-5-text-47"/>
          <p:cNvSpPr/>
          <p:nvPr/>
        </p:nvSpPr>
        <p:spPr>
          <a:xfrm>
            <a:off x="356235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수용도</a:t>
            </a:r>
            <a:endParaRPr lang="en-US" sz="975" dirty="0"/>
          </a:p>
        </p:txBody>
      </p:sp>
      <p:sp>
        <p:nvSpPr>
          <p:cNvPr id="49" name="SK-5-text-48"/>
          <p:cNvSpPr/>
          <p:nvPr/>
        </p:nvSpPr>
        <p:spPr>
          <a:xfrm>
            <a:off x="3562350" y="56769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 시도 73% 감소</a:t>
            </a:r>
            <a:endParaRPr lang="en-US" sz="1200" dirty="0"/>
          </a:p>
        </p:txBody>
      </p:sp>
      <p:sp>
        <p:nvSpPr>
          <p:cNvPr id="50" name="SK-5-text-49"/>
          <p:cNvSpPr/>
          <p:nvPr/>
        </p:nvSpPr>
        <p:spPr>
          <a:xfrm>
            <a:off x="356235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 가속화</a:t>
            </a:r>
            <a:endParaRPr lang="en-US" sz="975" dirty="0"/>
          </a:p>
        </p:txBody>
      </p:sp>
      <p:sp>
        <p:nvSpPr>
          <p:cNvPr id="51" name="SK-5-text-50"/>
          <p:cNvSpPr/>
          <p:nvPr/>
        </p:nvSpPr>
        <p:spPr>
          <a:xfrm>
            <a:off x="628650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가치</a:t>
            </a:r>
            <a:endParaRPr lang="en-US" sz="975" dirty="0"/>
          </a:p>
        </p:txBody>
      </p:sp>
      <p:sp>
        <p:nvSpPr>
          <p:cNvPr id="52" name="SK-5-text-51"/>
          <p:cNvSpPr/>
          <p:nvPr/>
        </p:nvSpPr>
        <p:spPr>
          <a:xfrm>
            <a:off x="6286500" y="5676900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달성 불가</a:t>
            </a:r>
            <a:endParaRPr lang="en-US" sz="1200" dirty="0"/>
          </a:p>
        </p:txBody>
      </p:sp>
      <p:sp>
        <p:nvSpPr>
          <p:cNvPr id="53" name="SK-5-text-52"/>
          <p:cNvSpPr/>
          <p:nvPr/>
        </p:nvSpPr>
        <p:spPr>
          <a:xfrm>
            <a:off x="628650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근거 상실</a:t>
            </a:r>
            <a:endParaRPr lang="en-US" sz="975" dirty="0"/>
          </a:p>
        </p:txBody>
      </p:sp>
      <p:sp>
        <p:nvSpPr>
          <p:cNvPr id="54" name="SK-5-text-53"/>
          <p:cNvSpPr/>
          <p:nvPr/>
        </p:nvSpPr>
        <p:spPr>
          <a:xfrm>
            <a:off x="901065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</a:t>
            </a:r>
            <a:endParaRPr lang="en-US" sz="975" dirty="0"/>
          </a:p>
        </p:txBody>
      </p:sp>
      <p:sp>
        <p:nvSpPr>
          <p:cNvPr id="55" name="SK-5-text-54"/>
          <p:cNvSpPr/>
          <p:nvPr/>
        </p:nvSpPr>
        <p:spPr>
          <a:xfrm>
            <a:off x="9010650" y="5676900"/>
            <a:ext cx="3002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EOL 대응 불가</a:t>
            </a:r>
            <a:endParaRPr lang="en-US" sz="1200" dirty="0"/>
          </a:p>
        </p:txBody>
      </p:sp>
      <p:sp>
        <p:nvSpPr>
          <p:cNvPr id="56" name="SK-5-text-55"/>
          <p:cNvSpPr/>
          <p:nvPr/>
        </p:nvSpPr>
        <p:spPr>
          <a:xfrm>
            <a:off x="901065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D-37 배포 위기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11049000" cy="4011811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1657350" cy="404813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850" y="1371600"/>
            <a:ext cx="2762250" cy="404813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1100" y="1371600"/>
            <a:ext cx="4972050" cy="404813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3150" y="1371600"/>
            <a:ext cx="1657350" cy="404813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776413"/>
            <a:ext cx="11049000" cy="1157883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776413"/>
            <a:ext cx="1657350" cy="1157883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850" y="1776413"/>
            <a:ext cx="2762250" cy="1157883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1100" y="1776413"/>
            <a:ext cx="4972050" cy="1157883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3150" y="1776413"/>
            <a:ext cx="1657350" cy="1157883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934295"/>
            <a:ext cx="1657350" cy="916037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8850" y="2934295"/>
            <a:ext cx="2762250" cy="916037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91100" y="2934295"/>
            <a:ext cx="4972050" cy="916037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3150" y="2934295"/>
            <a:ext cx="1657350" cy="916037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850332"/>
            <a:ext cx="1657350" cy="674191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28850" y="3850332"/>
            <a:ext cx="2762250" cy="674191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91100" y="3850332"/>
            <a:ext cx="4972050" cy="674191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3150" y="3850332"/>
            <a:ext cx="1657350" cy="674191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524524"/>
            <a:ext cx="1657350" cy="858887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8850" y="4524524"/>
            <a:ext cx="2762250" cy="858887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91100" y="4524524"/>
            <a:ext cx="4972050" cy="858887"/>
          </a:xfrm>
          <a:prstGeom prst="rect">
            <a:avLst/>
          </a:prstGeom>
        </p:spPr>
      </p:pic>
      <p:pic>
        <p:nvPicPr>
          <p:cNvPr id="27" name="SK-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63150" y="4524524"/>
            <a:ext cx="1657350" cy="858887"/>
          </a:xfrm>
          <a:prstGeom prst="rect">
            <a:avLst/>
          </a:prstGeom>
        </p:spPr>
      </p:pic>
      <p:pic>
        <p:nvPicPr>
          <p:cNvPr id="28" name="SK-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564386"/>
            <a:ext cx="11049000" cy="990600"/>
          </a:xfrm>
          <a:prstGeom prst="rect">
            <a:avLst/>
          </a:prstGeom>
        </p:spPr>
      </p:pic>
      <p:pic>
        <p:nvPicPr>
          <p:cNvPr id="29" name="SK-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2000" y="5729139"/>
            <a:ext cx="214313" cy="175320"/>
          </a:xfrm>
          <a:prstGeom prst="rect">
            <a:avLst/>
          </a:prstGeom>
        </p:spPr>
      </p:pic>
      <p:sp>
        <p:nvSpPr>
          <p:cNvPr id="30" name="SK-6-text-29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6-text-30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용의자 책임 규명: 데이터 기반 판정</a:t>
            </a:r>
            <a:endParaRPr lang="en-US" sz="2550" dirty="0"/>
          </a:p>
        </p:txBody>
      </p:sp>
      <p:sp>
        <p:nvSpPr>
          <p:cNvPr id="32" name="SK-6-text-31"/>
          <p:cNvSpPr/>
          <p:nvPr/>
        </p:nvSpPr>
        <p:spPr>
          <a:xfrm>
            <a:off x="685800" y="1371600"/>
            <a:ext cx="15049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용의자</a:t>
            </a:r>
            <a:endParaRPr lang="en-US" sz="1125" dirty="0"/>
          </a:p>
        </p:txBody>
      </p:sp>
      <p:sp>
        <p:nvSpPr>
          <p:cNvPr id="33" name="SK-6-text-32"/>
          <p:cNvSpPr/>
          <p:nvPr/>
        </p:nvSpPr>
        <p:spPr>
          <a:xfrm>
            <a:off x="2343150" y="1371600"/>
            <a:ext cx="26098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</a:t>
            </a:r>
            <a:endParaRPr lang="en-US" sz="1125" dirty="0"/>
          </a:p>
        </p:txBody>
      </p:sp>
      <p:sp>
        <p:nvSpPr>
          <p:cNvPr id="34" name="SK-6-text-33"/>
          <p:cNvSpPr/>
          <p:nvPr/>
        </p:nvSpPr>
        <p:spPr>
          <a:xfrm>
            <a:off x="5105400" y="1371600"/>
            <a:ext cx="48196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증명하는 사실</a:t>
            </a:r>
            <a:endParaRPr lang="en-US" sz="1125" dirty="0"/>
          </a:p>
        </p:txBody>
      </p:sp>
      <p:sp>
        <p:nvSpPr>
          <p:cNvPr id="35" name="SK-6-text-34"/>
          <p:cNvSpPr/>
          <p:nvPr/>
        </p:nvSpPr>
        <p:spPr>
          <a:xfrm>
            <a:off x="10077450" y="1371600"/>
            <a:ext cx="15049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수준</a:t>
            </a:r>
            <a:endParaRPr lang="en-US" sz="1125" dirty="0"/>
          </a:p>
        </p:txBody>
      </p:sp>
      <p:sp>
        <p:nvSpPr>
          <p:cNvPr id="36" name="SK-6-text-35"/>
          <p:cNvSpPr/>
          <p:nvPr/>
        </p:nvSpPr>
        <p:spPr>
          <a:xfrm>
            <a:off x="685800" y="1871663"/>
            <a:ext cx="1504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685800" y="2151608"/>
            <a:ext cx="230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Manager</a:t>
            </a:r>
            <a:endParaRPr lang="en-US" sz="975" dirty="0"/>
          </a:p>
        </p:txBody>
      </p:sp>
      <p:sp>
        <p:nvSpPr>
          <p:cNvPr id="38" name="SK-6-text-37"/>
          <p:cNvSpPr/>
          <p:nvPr/>
        </p:nvSpPr>
        <p:spPr>
          <a:xfrm>
            <a:off x="2343150" y="1776413"/>
            <a:ext cx="2760122" cy="115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"EVM으로 철저히 관리했다"</a:t>
            </a:r>
            <a:endParaRPr lang="en-US" sz="1200" dirty="0"/>
          </a:p>
        </p:txBody>
      </p:sp>
      <p:sp>
        <p:nvSpPr>
          <p:cNvPr id="39" name="SK-6-text-38"/>
          <p:cNvSpPr/>
          <p:nvPr/>
        </p:nvSpPr>
        <p:spPr>
          <a:xfrm>
            <a:off x="5219700" y="1871663"/>
            <a:ext cx="63227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비용(21.4억)을 EVM 보고에서 의도적 분리</a:t>
            </a:r>
            <a:endParaRPr lang="en-US" sz="1200" dirty="0"/>
          </a:p>
        </p:txBody>
      </p:sp>
      <p:sp>
        <p:nvSpPr>
          <p:cNvPr id="40" name="SK-6-text-39"/>
          <p:cNvSpPr/>
          <p:nvPr/>
        </p:nvSpPr>
        <p:spPr>
          <a:xfrm>
            <a:off x="5219700" y="2113508"/>
            <a:ext cx="50734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변경을 통해 QA 미통과 건을 완료로 부풀림</a:t>
            </a:r>
            <a:endParaRPr lang="en-US" sz="1200" dirty="0"/>
          </a:p>
        </p:txBody>
      </p:sp>
      <p:sp>
        <p:nvSpPr>
          <p:cNvPr id="41" name="SK-6-text-40"/>
          <p:cNvSpPr/>
          <p:nvPr/>
        </p:nvSpPr>
        <p:spPr>
          <a:xfrm>
            <a:off x="5219700" y="2355354"/>
            <a:ext cx="55493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하향</a:t>
            </a:r>
            <a:endParaRPr lang="en-US" sz="1200" dirty="0"/>
          </a:p>
        </p:txBody>
      </p:sp>
      <p:sp>
        <p:nvSpPr>
          <p:cNvPr id="42" name="SK-6-text-41"/>
          <p:cNvSpPr/>
          <p:nvPr/>
        </p:nvSpPr>
        <p:spPr>
          <a:xfrm>
            <a:off x="5219700" y="2597200"/>
            <a:ext cx="50734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방기 및 Daniel Suh 메일 무회신</a:t>
            </a:r>
            <a:endParaRPr lang="en-US" sz="1200" dirty="0"/>
          </a:p>
        </p:txBody>
      </p:sp>
      <p:sp>
        <p:nvSpPr>
          <p:cNvPr id="43" name="SK-6-textBg-42"/>
          <p:cNvSpPr/>
          <p:nvPr/>
        </p:nvSpPr>
        <p:spPr>
          <a:xfrm>
            <a:off x="10077450" y="1871663"/>
            <a:ext cx="590550" cy="243780"/>
          </a:xfrm>
          <a:prstGeom prst="roundRect">
            <a:avLst>
              <a:gd name="adj" fmla="val 78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K-6-text-43"/>
          <p:cNvSpPr/>
          <p:nvPr/>
        </p:nvSpPr>
        <p:spPr>
          <a:xfrm>
            <a:off x="10153650" y="1871663"/>
            <a:ext cx="47489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주범</a:t>
            </a:r>
            <a:endParaRPr lang="en-US" sz="1050" dirty="0"/>
          </a:p>
        </p:txBody>
      </p:sp>
      <p:sp>
        <p:nvSpPr>
          <p:cNvPr id="45" name="SK-6-text-44"/>
          <p:cNvSpPr/>
          <p:nvPr/>
        </p:nvSpPr>
        <p:spPr>
          <a:xfrm>
            <a:off x="685800" y="3029545"/>
            <a:ext cx="1504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</a:t>
            </a:r>
            <a:endParaRPr lang="en-US" sz="1200" dirty="0"/>
          </a:p>
        </p:txBody>
      </p:sp>
      <p:sp>
        <p:nvSpPr>
          <p:cNvPr id="46" name="SK-6-text-45"/>
          <p:cNvSpPr/>
          <p:nvPr/>
        </p:nvSpPr>
        <p:spPr>
          <a:xfrm>
            <a:off x="685800" y="3309491"/>
            <a:ext cx="2007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Owner</a:t>
            </a:r>
            <a:endParaRPr lang="en-US" sz="975" dirty="0"/>
          </a:p>
        </p:txBody>
      </p:sp>
      <p:sp>
        <p:nvSpPr>
          <p:cNvPr id="47" name="SK-6-text-46"/>
          <p:cNvSpPr/>
          <p:nvPr/>
        </p:nvSpPr>
        <p:spPr>
          <a:xfrm>
            <a:off x="2343150" y="2934295"/>
            <a:ext cx="2609850" cy="91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"백로그 조정은 PO 권한"</a:t>
            </a:r>
            <a:endParaRPr lang="en-US" sz="1200" dirty="0"/>
          </a:p>
        </p:txBody>
      </p:sp>
      <p:sp>
        <p:nvSpPr>
          <p:cNvPr id="48" name="SK-6-text-47"/>
          <p:cNvSpPr/>
          <p:nvPr/>
        </p:nvSpPr>
        <p:spPr>
          <a:xfrm>
            <a:off x="5219700" y="3029545"/>
            <a:ext cx="58468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편익을 성공기준에 포함하자고 제안했으나 기각됨(M-01)</a:t>
            </a:r>
            <a:endParaRPr lang="en-US" sz="1200" dirty="0"/>
          </a:p>
        </p:txBody>
      </p:sp>
      <p:sp>
        <p:nvSpPr>
          <p:cNvPr id="49" name="SK-6-text-48"/>
          <p:cNvSpPr/>
          <p:nvPr/>
        </p:nvSpPr>
        <p:spPr>
          <a:xfrm>
            <a:off x="5219700" y="3271391"/>
            <a:ext cx="56683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착수 시 성공기준 불요에 동의한 실책(M-05)</a:t>
            </a:r>
            <a:endParaRPr lang="en-US" sz="1200" dirty="0"/>
          </a:p>
        </p:txBody>
      </p:sp>
      <p:sp>
        <p:nvSpPr>
          <p:cNvPr id="50" name="SK-6-text-49"/>
          <p:cNvSpPr/>
          <p:nvPr/>
        </p:nvSpPr>
        <p:spPr>
          <a:xfrm>
            <a:off x="5219700" y="3513237"/>
            <a:ext cx="56088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8/14 "계약유지율이 약속"이라며 뒤늦게 문제 제기</a:t>
            </a:r>
            <a:endParaRPr lang="en-US" sz="1200" dirty="0"/>
          </a:p>
        </p:txBody>
      </p:sp>
      <p:sp>
        <p:nvSpPr>
          <p:cNvPr id="51" name="SK-6-textBg-50"/>
          <p:cNvSpPr/>
          <p:nvPr/>
        </p:nvSpPr>
        <p:spPr>
          <a:xfrm>
            <a:off x="10077450" y="3029545"/>
            <a:ext cx="1047750" cy="243780"/>
          </a:xfrm>
          <a:prstGeom prst="roundRect">
            <a:avLst>
              <a:gd name="adj" fmla="val 781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K-6-text-51"/>
          <p:cNvSpPr/>
          <p:nvPr/>
        </p:nvSpPr>
        <p:spPr>
          <a:xfrm>
            <a:off x="10153650" y="3029545"/>
            <a:ext cx="109395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공동책임(일부)</a:t>
            </a:r>
            <a:endParaRPr lang="en-US" sz="1050" dirty="0"/>
          </a:p>
        </p:txBody>
      </p:sp>
      <p:sp>
        <p:nvSpPr>
          <p:cNvPr id="53" name="SK-6-text-52"/>
          <p:cNvSpPr/>
          <p:nvPr/>
        </p:nvSpPr>
        <p:spPr>
          <a:xfrm>
            <a:off x="685800" y="3945582"/>
            <a:ext cx="2453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 임태오</a:t>
            </a:r>
            <a:endParaRPr lang="en-US" sz="1200" dirty="0"/>
          </a:p>
        </p:txBody>
      </p:sp>
      <p:sp>
        <p:nvSpPr>
          <p:cNvPr id="54" name="SK-6-text-53"/>
          <p:cNvSpPr/>
          <p:nvPr/>
        </p:nvSpPr>
        <p:spPr>
          <a:xfrm>
            <a:off x="685800" y="4225528"/>
            <a:ext cx="2156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Lead</a:t>
            </a:r>
            <a:endParaRPr lang="en-US" sz="975" dirty="0"/>
          </a:p>
        </p:txBody>
      </p:sp>
      <p:sp>
        <p:nvSpPr>
          <p:cNvPr id="55" name="SK-6-text-54"/>
          <p:cNvSpPr/>
          <p:nvPr/>
        </p:nvSpPr>
        <p:spPr>
          <a:xfrm>
            <a:off x="2343150" y="3850332"/>
            <a:ext cx="2609850" cy="67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"Jira에 다 올렸다"</a:t>
            </a:r>
            <a:endParaRPr lang="en-US" sz="1200" dirty="0"/>
          </a:p>
        </p:txBody>
      </p:sp>
      <p:sp>
        <p:nvSpPr>
          <p:cNvPr id="56" name="SK-6-text-55"/>
          <p:cNvSpPr/>
          <p:nvPr/>
        </p:nvSpPr>
        <p:spPr>
          <a:xfrm>
            <a:off x="5219700" y="3945582"/>
            <a:ext cx="69723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리스크(HER-188) 및 Helion EOL(E-02) 등 기술 보고 수행</a:t>
            </a:r>
            <a:endParaRPr lang="en-US" sz="1200" dirty="0"/>
          </a:p>
        </p:txBody>
      </p:sp>
      <p:sp>
        <p:nvSpPr>
          <p:cNvPr id="57" name="SK-6-text-56"/>
          <p:cNvSpPr/>
          <p:nvPr/>
        </p:nvSpPr>
        <p:spPr>
          <a:xfrm>
            <a:off x="5219700" y="4187428"/>
            <a:ext cx="56088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비용 최적화 없이 VLM 최고티어 고정 결정에 동의</a:t>
            </a:r>
            <a:endParaRPr lang="en-US" sz="1200" dirty="0"/>
          </a:p>
        </p:txBody>
      </p:sp>
      <p:sp>
        <p:nvSpPr>
          <p:cNvPr id="58" name="SK-6-textBg-57"/>
          <p:cNvSpPr/>
          <p:nvPr/>
        </p:nvSpPr>
        <p:spPr>
          <a:xfrm>
            <a:off x="10077450" y="3945582"/>
            <a:ext cx="552450" cy="243780"/>
          </a:xfrm>
          <a:prstGeom prst="roundRect">
            <a:avLst>
              <a:gd name="adj" fmla="val 7814"/>
            </a:avLst>
          </a:prstGeom>
          <a:solidFill>
            <a:srgbClr val="4B5563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6-text-58"/>
          <p:cNvSpPr/>
          <p:nvPr/>
        </p:nvSpPr>
        <p:spPr>
          <a:xfrm>
            <a:off x="10153650" y="3945582"/>
            <a:ext cx="4000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</a:t>
            </a:r>
            <a:endParaRPr lang="en-US" sz="1050" dirty="0"/>
          </a:p>
        </p:txBody>
      </p:sp>
      <p:sp>
        <p:nvSpPr>
          <p:cNvPr id="60" name="SK-6-text-59"/>
          <p:cNvSpPr/>
          <p:nvPr/>
        </p:nvSpPr>
        <p:spPr>
          <a:xfrm>
            <a:off x="685800" y="4619774"/>
            <a:ext cx="14287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스크럼 마스터/스폰서</a:t>
            </a:r>
            <a:endParaRPr lang="en-US" sz="1200" dirty="0"/>
          </a:p>
        </p:txBody>
      </p:sp>
      <p:sp>
        <p:nvSpPr>
          <p:cNvPr id="61" name="SK-6-text-60"/>
          <p:cNvSpPr/>
          <p:nvPr/>
        </p:nvSpPr>
        <p:spPr>
          <a:xfrm>
            <a:off x="685800" y="5112990"/>
            <a:ext cx="2453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Group</a:t>
            </a:r>
            <a:endParaRPr lang="en-US" sz="975" dirty="0"/>
          </a:p>
        </p:txBody>
      </p:sp>
      <p:sp>
        <p:nvSpPr>
          <p:cNvPr id="62" name="SK-6-text-61"/>
          <p:cNvSpPr/>
          <p:nvPr/>
        </p:nvSpPr>
        <p:spPr>
          <a:xfrm>
            <a:off x="2343150" y="4524524"/>
            <a:ext cx="2609850" cy="8588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"스크럼 원칙에 충실"</a:t>
            </a:r>
            <a:endParaRPr lang="en-US" sz="1200" dirty="0"/>
          </a:p>
        </p:txBody>
      </p:sp>
      <p:sp>
        <p:nvSpPr>
          <p:cNvPr id="63" name="SK-6-text-62"/>
          <p:cNvSpPr/>
          <p:nvPr/>
        </p:nvSpPr>
        <p:spPr>
          <a:xfrm>
            <a:off x="5219700" y="4619774"/>
            <a:ext cx="5787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스폰서: 편익 측정 "추후 지정" 결정으로 관리 공백 초래</a:t>
            </a:r>
            <a:endParaRPr lang="en-US" sz="1200" dirty="0"/>
          </a:p>
        </p:txBody>
      </p:sp>
      <p:sp>
        <p:nvSpPr>
          <p:cNvPr id="64" name="SK-6-text-63"/>
          <p:cNvSpPr/>
          <p:nvPr/>
        </p:nvSpPr>
        <p:spPr>
          <a:xfrm>
            <a:off x="5219700" y="4861620"/>
            <a:ext cx="53709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조건부 통과 후 미해결 상태 방치 및 추적 부재</a:t>
            </a:r>
            <a:endParaRPr lang="en-US" sz="1200" dirty="0"/>
          </a:p>
        </p:txBody>
      </p:sp>
      <p:sp>
        <p:nvSpPr>
          <p:cNvPr id="65" name="SK-6-textBg-64"/>
          <p:cNvSpPr/>
          <p:nvPr/>
        </p:nvSpPr>
        <p:spPr>
          <a:xfrm>
            <a:off x="10077450" y="4619774"/>
            <a:ext cx="847725" cy="243780"/>
          </a:xfrm>
          <a:prstGeom prst="roundRect">
            <a:avLst>
              <a:gd name="adj" fmla="val 7814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K-6-text-65"/>
          <p:cNvSpPr/>
          <p:nvPr/>
        </p:nvSpPr>
        <p:spPr>
          <a:xfrm>
            <a:off x="10153650" y="4619774"/>
            <a:ext cx="7875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공모</a:t>
            </a:r>
            <a:endParaRPr lang="en-US" sz="1050" dirty="0"/>
          </a:p>
        </p:txBody>
      </p:sp>
      <p:sp>
        <p:nvSpPr>
          <p:cNvPr id="67" name="SK-6-text-66"/>
          <p:cNvSpPr/>
          <p:nvPr/>
        </p:nvSpPr>
        <p:spPr>
          <a:xfrm>
            <a:off x="1052513" y="5688211"/>
            <a:ext cx="10835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판결: PM 한도경 — 1차 책임 및 구조적 맹목(Structural Blindness)</a:t>
            </a:r>
            <a:endParaRPr lang="en-US" sz="1350" dirty="0"/>
          </a:p>
        </p:txBody>
      </p:sp>
      <p:sp>
        <p:nvSpPr>
          <p:cNvPr id="68" name="SK-6-text-67"/>
          <p:cNvSpPr/>
          <p:nvPr/>
        </p:nvSpPr>
        <p:spPr>
          <a:xfrm>
            <a:off x="762000" y="5973961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한도경 PM은 악의적 은폐보다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체계 자체를 잘못 설계"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시스템이 볼 수 없는 것을 방치한 책임이 큼. 편익 측정 체계 부재, AI 보고서 무비판 수용, 불편한 신호(Daniel Suh) 차단은 PM의 의사결정 결함임.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1049000" cy="862013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54956"/>
            <a:ext cx="1047750" cy="342900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309813"/>
            <a:ext cx="5429250" cy="1502866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00313"/>
            <a:ext cx="5048250" cy="371475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533650"/>
            <a:ext cx="238125" cy="190500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2309813"/>
            <a:ext cx="5429250" cy="1502866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0" y="2462213"/>
            <a:ext cx="5048250" cy="371475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2495550"/>
            <a:ext cx="238125" cy="190500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965079"/>
            <a:ext cx="3581400" cy="1093291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127004"/>
            <a:ext cx="190500" cy="152400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5300" y="3965079"/>
            <a:ext cx="3581400" cy="1093291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4127004"/>
            <a:ext cx="190500" cy="152400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9100" y="3965079"/>
            <a:ext cx="3581400" cy="906661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0" y="4127004"/>
            <a:ext cx="190500" cy="152400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5286970"/>
            <a:ext cx="11049000" cy="1059061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477470"/>
            <a:ext cx="285750" cy="285750"/>
          </a:xfrm>
          <a:prstGeom prst="rect">
            <a:avLst/>
          </a:prstGeom>
        </p:spPr>
      </p:pic>
      <p:sp>
        <p:nvSpPr>
          <p:cNvPr id="22" name="SK-7-text-21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3" name="SK-7-text-22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판결: PM 한도경의 구조적 맹목</a:t>
            </a:r>
            <a:endParaRPr lang="en-US" sz="2550" dirty="0"/>
          </a:p>
        </p:txBody>
      </p:sp>
      <p:sp>
        <p:nvSpPr>
          <p:cNvPr id="24" name="SK-7-text-23"/>
          <p:cNvSpPr/>
          <p:nvPr/>
        </p:nvSpPr>
        <p:spPr>
          <a:xfrm>
            <a:off x="876300" y="1554956"/>
            <a:ext cx="13463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500" dirty="0"/>
          </a:p>
        </p:txBody>
      </p:sp>
      <p:sp>
        <p:nvSpPr>
          <p:cNvPr id="25" name="SK-7-text-24"/>
          <p:cNvSpPr/>
          <p:nvPr/>
        </p:nvSpPr>
        <p:spPr>
          <a:xfrm>
            <a:off x="2000250" y="1419225"/>
            <a:ext cx="1019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 — 1차 책임, 본질은 </a:t>
            </a:r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맹목(Structural Blindness)</a:t>
            </a:r>
            <a:endParaRPr lang="en-US" sz="1800" dirty="0"/>
          </a:p>
        </p:txBody>
      </p:sp>
      <p:sp>
        <p:nvSpPr>
          <p:cNvPr id="26" name="SK-7-text-25"/>
          <p:cNvSpPr/>
          <p:nvPr/>
        </p:nvSpPr>
        <p:spPr>
          <a:xfrm>
            <a:off x="2000250" y="1790700"/>
            <a:ext cx="67770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볼 수 없는 것을 아무도 보지 못하는 상태를 방치</a:t>
            </a:r>
            <a:endParaRPr lang="en-US" sz="1275" dirty="0"/>
          </a:p>
        </p:txBody>
      </p:sp>
      <p:sp>
        <p:nvSpPr>
          <p:cNvPr id="27" name="SK-7-text-26"/>
          <p:cNvSpPr/>
          <p:nvPr/>
        </p:nvSpPr>
        <p:spPr>
          <a:xfrm>
            <a:off x="1095375" y="2500313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전형적 수박 프로젝트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762000" y="2986088"/>
            <a:ext cx="5048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의도적으로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실적을 위장하고 결함을 은폐함 (악의적 은폐). 주로 질책 문화나 성과 압박에 기인하여 데이터를 조작하거나 숨기는 행태를 보임.</a:t>
            </a:r>
            <a:endParaRPr lang="en-US" sz="1200" dirty="0"/>
          </a:p>
        </p:txBody>
      </p:sp>
      <p:sp>
        <p:nvSpPr>
          <p:cNvPr id="29" name="SK-7-text-28"/>
          <p:cNvSpPr/>
          <p:nvPr/>
        </p:nvSpPr>
        <p:spPr>
          <a:xfrm>
            <a:off x="6715125" y="2462213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</a:t>
            </a:r>
            <a:endParaRPr lang="en-US" sz="1350" dirty="0"/>
          </a:p>
        </p:txBody>
      </p:sp>
      <p:sp>
        <p:nvSpPr>
          <p:cNvPr id="30" name="SK-7-text-29"/>
          <p:cNvSpPr/>
          <p:nvPr/>
        </p:nvSpPr>
        <p:spPr>
          <a:xfrm>
            <a:off x="6381750" y="2928938"/>
            <a:ext cx="504825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자체를 잘못 설계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하여, 시스템이 볼 수 없는 것을 아무도 보지 못함. "속이려 한 것"이 아니라, </a:t>
            </a:r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"보이지 않는 것을 모르는 상태"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방치한 구조적 결함.</a:t>
            </a:r>
            <a:endParaRPr lang="en-US" sz="1200" dirty="0"/>
          </a:p>
        </p:txBody>
      </p:sp>
      <p:sp>
        <p:nvSpPr>
          <p:cNvPr id="31" name="SK-7-text-30"/>
          <p:cNvSpPr/>
          <p:nvPr/>
        </p:nvSpPr>
        <p:spPr>
          <a:xfrm>
            <a:off x="990600" y="4088904"/>
            <a:ext cx="263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보고 검증 부재</a:t>
            </a:r>
            <a:endParaRPr lang="en-US" sz="1200" dirty="0"/>
          </a:p>
        </p:txBody>
      </p:sp>
      <p:sp>
        <p:nvSpPr>
          <p:cNvPr id="32" name="SK-7-text-31"/>
          <p:cNvSpPr/>
          <p:nvPr/>
        </p:nvSpPr>
        <p:spPr>
          <a:xfrm>
            <a:off x="723900" y="4374654"/>
            <a:ext cx="32766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생성한 지표를 인간이 검토(Human-in-the-loop)하지 않고 무비판적으로 수용하여 16주간 허위 신호를 전파함.</a:t>
            </a:r>
            <a:endParaRPr lang="en-US" sz="1050" dirty="0"/>
          </a:p>
        </p:txBody>
      </p:sp>
      <p:sp>
        <p:nvSpPr>
          <p:cNvPr id="33" name="SK-7-text-32"/>
          <p:cNvSpPr/>
          <p:nvPr/>
        </p:nvSpPr>
        <p:spPr>
          <a:xfrm>
            <a:off x="4724400" y="4088904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할당 부재 (RACI)</a:t>
            </a:r>
            <a:endParaRPr lang="en-US" sz="1200" dirty="0"/>
          </a:p>
        </p:txBody>
      </p:sp>
      <p:sp>
        <p:nvSpPr>
          <p:cNvPr id="34" name="SK-7-text-33"/>
          <p:cNvSpPr/>
          <p:nvPr/>
        </p:nvSpPr>
        <p:spPr>
          <a:xfrm>
            <a:off x="4457700" y="4374654"/>
            <a:ext cx="32766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및 편익 측정(BEN)에 대한 Accountable 주체가 공란으로 방치되어 실패 지점에서 책임이 작동하지 않음.</a:t>
            </a:r>
            <a:endParaRPr lang="en-US" sz="1050" dirty="0"/>
          </a:p>
        </p:txBody>
      </p:sp>
      <p:sp>
        <p:nvSpPr>
          <p:cNvPr id="35" name="SK-7-text-34"/>
          <p:cNvSpPr/>
          <p:nvPr/>
        </p:nvSpPr>
        <p:spPr>
          <a:xfrm>
            <a:off x="8458200" y="4088904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의사결정 원천(SSOT) 부재</a:t>
            </a:r>
            <a:endParaRPr lang="en-US" sz="1200" dirty="0"/>
          </a:p>
        </p:txBody>
      </p:sp>
      <p:sp>
        <p:nvSpPr>
          <p:cNvPr id="36" name="SK-7-text-35"/>
          <p:cNvSpPr/>
          <p:nvPr/>
        </p:nvSpPr>
        <p:spPr>
          <a:xfrm>
            <a:off x="8191500" y="4374654"/>
            <a:ext cx="3276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리전의 의사결정이 파편화(메신저/구두/지역별 상이)되어 기록의 불일치와 중복 개발 등 비효율을 양산함.</a:t>
            </a:r>
            <a:endParaRPr lang="en-US" sz="1050" dirty="0"/>
          </a:p>
        </p:txBody>
      </p:sp>
      <p:sp>
        <p:nvSpPr>
          <p:cNvPr id="37" name="SK-7-text-36"/>
          <p:cNvSpPr/>
          <p:nvPr/>
        </p:nvSpPr>
        <p:spPr>
          <a:xfrm>
            <a:off x="1200150" y="5439370"/>
            <a:ext cx="10229850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425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자동으로 보고하니까 괜찮다"는 착각이 문제를 증폭시켰다. AI는 질문을 안 했을 뿐 거짓말을 한 적이 없다. 질문을 설계하는 것은 인간(PM)의 몫이다.</a:t>
            </a:r>
            <a:endParaRPr lang="en-US" sz="1425" dirty="0"/>
          </a:p>
        </p:txBody>
      </p:sp>
      <p:sp>
        <p:nvSpPr>
          <p:cNvPr id="38" name="SK-7-text-37"/>
          <p:cNvSpPr/>
          <p:nvPr/>
        </p:nvSpPr>
        <p:spPr>
          <a:xfrm>
            <a:off x="1200150" y="5993606"/>
            <a:ext cx="10306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Insight: 기술적 자동화가 PM의 본질적인 판단과 질문의 책임을 대체할 수 없음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410200" cy="497205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9250"/>
            <a:ext cx="5181600" cy="390525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81163"/>
            <a:ext cx="238125" cy="190500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124075"/>
            <a:ext cx="1295400" cy="352425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1200" y="2124075"/>
            <a:ext cx="3886200" cy="352425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476500"/>
            <a:ext cx="1295400" cy="573881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1200" y="2476500"/>
            <a:ext cx="3886200" cy="573881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050381"/>
            <a:ext cx="1295400" cy="573881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1200" y="3050381"/>
            <a:ext cx="3886200" cy="573881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624263"/>
            <a:ext cx="1295400" cy="884783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81200" y="3624263"/>
            <a:ext cx="3886200" cy="884783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09046"/>
            <a:ext cx="1295400" cy="885081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81200" y="4509046"/>
            <a:ext cx="3886200" cy="885081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508427"/>
            <a:ext cx="5181600" cy="854273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1504950"/>
            <a:ext cx="5410200" cy="4972050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1619250"/>
            <a:ext cx="5181600" cy="390525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1681163"/>
            <a:ext cx="238125" cy="190500"/>
          </a:xfrm>
          <a:prstGeom prst="rect">
            <a:avLst/>
          </a:prstGeom>
        </p:spPr>
      </p:pic>
      <p:pic>
        <p:nvPicPr>
          <p:cNvPr id="23" name="SK-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2124075"/>
            <a:ext cx="1813471" cy="352425"/>
          </a:xfrm>
          <a:prstGeom prst="rect">
            <a:avLst/>
          </a:prstGeom>
        </p:spPr>
      </p:pic>
      <p:pic>
        <p:nvPicPr>
          <p:cNvPr id="24" name="SK-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38071" y="2124075"/>
            <a:ext cx="3368129" cy="352425"/>
          </a:xfrm>
          <a:prstGeom prst="rect">
            <a:avLst/>
          </a:prstGeom>
        </p:spPr>
      </p:pic>
      <p:pic>
        <p:nvPicPr>
          <p:cNvPr id="25" name="SK-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2476500"/>
            <a:ext cx="1813471" cy="729407"/>
          </a:xfrm>
          <a:prstGeom prst="rect">
            <a:avLst/>
          </a:prstGeom>
        </p:spPr>
      </p:pic>
      <p:pic>
        <p:nvPicPr>
          <p:cNvPr id="26" name="SK-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38071" y="2476500"/>
            <a:ext cx="3368129" cy="729407"/>
          </a:xfrm>
          <a:prstGeom prst="rect">
            <a:avLst/>
          </a:prstGeom>
        </p:spPr>
      </p:pic>
      <p:pic>
        <p:nvPicPr>
          <p:cNvPr id="27" name="SK-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3205907"/>
            <a:ext cx="1813471" cy="729407"/>
          </a:xfrm>
          <a:prstGeom prst="rect">
            <a:avLst/>
          </a:prstGeom>
        </p:spPr>
      </p:pic>
      <p:pic>
        <p:nvPicPr>
          <p:cNvPr id="28" name="SK-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38071" y="3205907"/>
            <a:ext cx="3368129" cy="729407"/>
          </a:xfrm>
          <a:prstGeom prst="rect">
            <a:avLst/>
          </a:prstGeom>
        </p:spPr>
      </p:pic>
      <p:pic>
        <p:nvPicPr>
          <p:cNvPr id="29" name="SK-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3935313"/>
            <a:ext cx="1813471" cy="729407"/>
          </a:xfrm>
          <a:prstGeom prst="rect">
            <a:avLst/>
          </a:prstGeom>
        </p:spPr>
      </p:pic>
      <p:pic>
        <p:nvPicPr>
          <p:cNvPr id="30" name="SK-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38071" y="3935313"/>
            <a:ext cx="3368129" cy="729407"/>
          </a:xfrm>
          <a:prstGeom prst="rect">
            <a:avLst/>
          </a:prstGeom>
        </p:spPr>
      </p:pic>
      <p:pic>
        <p:nvPicPr>
          <p:cNvPr id="31" name="SK-8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24600" y="4664720"/>
            <a:ext cx="1813471" cy="729407"/>
          </a:xfrm>
          <a:prstGeom prst="rect">
            <a:avLst/>
          </a:prstGeom>
        </p:spPr>
      </p:pic>
      <p:pic>
        <p:nvPicPr>
          <p:cNvPr id="32" name="SK-8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38071" y="4664720"/>
            <a:ext cx="3368129" cy="729407"/>
          </a:xfrm>
          <a:prstGeom prst="rect">
            <a:avLst/>
          </a:prstGeom>
        </p:spPr>
      </p:pic>
      <p:pic>
        <p:nvPicPr>
          <p:cNvPr id="33" name="SK-8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24600" y="5508427"/>
            <a:ext cx="5181600" cy="854273"/>
          </a:xfrm>
          <a:prstGeom prst="rect">
            <a:avLst/>
          </a:prstGeom>
        </p:spPr>
      </p:pic>
      <p:sp>
        <p:nvSpPr>
          <p:cNvPr id="34" name="SK-8-text-3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5" name="SK-8-text-3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 Mindset 진단: Proactive 및 Ownership</a:t>
            </a:r>
            <a:endParaRPr lang="en-US" sz="2550" dirty="0"/>
          </a:p>
        </p:txBody>
      </p:sp>
      <p:sp>
        <p:nvSpPr>
          <p:cNvPr id="36" name="SK-8-text-35"/>
          <p:cNvSpPr/>
          <p:nvPr/>
        </p:nvSpPr>
        <p:spPr>
          <a:xfrm>
            <a:off x="1019175" y="1619250"/>
            <a:ext cx="84658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Proactive (선제적 행동) → </a:t>
            </a:r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Reactive</a:t>
            </a:r>
            <a:endParaRPr lang="en-US" sz="1650" dirty="0"/>
          </a:p>
        </p:txBody>
      </p:sp>
      <p:sp>
        <p:nvSpPr>
          <p:cNvPr id="37" name="SK-8-text-36"/>
          <p:cNvSpPr/>
          <p:nvPr/>
        </p:nvSpPr>
        <p:spPr>
          <a:xfrm>
            <a:off x="800100" y="2124075"/>
            <a:ext cx="1143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 지표</a:t>
            </a:r>
            <a:endParaRPr lang="en-US" sz="1050" dirty="0"/>
          </a:p>
        </p:txBody>
      </p:sp>
      <p:sp>
        <p:nvSpPr>
          <p:cNvPr id="38" name="SK-8-text-37"/>
          <p:cNvSpPr/>
          <p:nvPr/>
        </p:nvSpPr>
        <p:spPr>
          <a:xfrm>
            <a:off x="2095500" y="2124075"/>
            <a:ext cx="37338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내용</a:t>
            </a:r>
            <a:endParaRPr lang="en-US" sz="1050" dirty="0"/>
          </a:p>
        </p:txBody>
      </p:sp>
      <p:sp>
        <p:nvSpPr>
          <p:cNvPr id="39" name="SK-8-textBg-38"/>
          <p:cNvSpPr/>
          <p:nvPr/>
        </p:nvSpPr>
        <p:spPr>
          <a:xfrm>
            <a:off x="800100" y="2562225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K-8-text-39"/>
          <p:cNvSpPr/>
          <p:nvPr/>
        </p:nvSpPr>
        <p:spPr>
          <a:xfrm>
            <a:off x="857250" y="2562225"/>
            <a:ext cx="69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리스크 대장</a:t>
            </a:r>
            <a:endParaRPr lang="en-US" sz="900" dirty="0"/>
          </a:p>
        </p:txBody>
      </p:sp>
      <p:sp>
        <p:nvSpPr>
          <p:cNvPr id="41" name="SK-8-text-40"/>
          <p:cNvSpPr/>
          <p:nvPr/>
        </p:nvSpPr>
        <p:spPr>
          <a:xfrm>
            <a:off x="2095500" y="2476500"/>
            <a:ext cx="69539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0회. 신규 외부 리스크(Helion EOL) 미등록 방치</a:t>
            </a:r>
            <a:endParaRPr lang="en-US" sz="1050" dirty="0"/>
          </a:p>
        </p:txBody>
      </p:sp>
      <p:sp>
        <p:nvSpPr>
          <p:cNvPr id="42" name="SK-8-textBg-41"/>
          <p:cNvSpPr/>
          <p:nvPr/>
        </p:nvSpPr>
        <p:spPr>
          <a:xfrm>
            <a:off x="800100" y="3136106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8-text-42"/>
          <p:cNvSpPr/>
          <p:nvPr/>
        </p:nvSpPr>
        <p:spPr>
          <a:xfrm>
            <a:off x="857250" y="3136106"/>
            <a:ext cx="69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파일럿 지표</a:t>
            </a:r>
            <a:endParaRPr lang="en-US" sz="900" dirty="0"/>
          </a:p>
        </p:txBody>
      </p:sp>
      <p:sp>
        <p:nvSpPr>
          <p:cNvPr id="44" name="SK-8-text-43"/>
          <p:cNvSpPr/>
          <p:nvPr/>
        </p:nvSpPr>
        <p:spPr>
          <a:xfrm>
            <a:off x="2095500" y="3050381"/>
            <a:ext cx="5397649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 연속 하락 및 6.1% 도달 상황을 D-37까지 방치</a:t>
            </a:r>
            <a:endParaRPr lang="en-US" sz="1050" dirty="0"/>
          </a:p>
        </p:txBody>
      </p:sp>
      <p:sp>
        <p:nvSpPr>
          <p:cNvPr id="45" name="SK-8-textBg-44"/>
          <p:cNvSpPr/>
          <p:nvPr/>
        </p:nvSpPr>
        <p:spPr>
          <a:xfrm>
            <a:off x="800100" y="3709988"/>
            <a:ext cx="54292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K-8-text-45"/>
          <p:cNvSpPr/>
          <p:nvPr/>
        </p:nvSpPr>
        <p:spPr>
          <a:xfrm>
            <a:off x="857250" y="3709988"/>
            <a:ext cx="613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G3 조건</a:t>
            </a:r>
            <a:endParaRPr lang="en-US" sz="900" dirty="0"/>
          </a:p>
        </p:txBody>
      </p:sp>
      <p:sp>
        <p:nvSpPr>
          <p:cNvPr id="47" name="SK-8-text-46"/>
          <p:cNvSpPr/>
          <p:nvPr/>
        </p:nvSpPr>
        <p:spPr>
          <a:xfrm>
            <a:off x="2095500" y="3624263"/>
            <a:ext cx="3657600" cy="8847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3건에 대한 해소 추적 기록 없음. 엣지캐시 임의 무효화</a:t>
            </a:r>
            <a:endParaRPr lang="en-US" sz="1050" dirty="0"/>
          </a:p>
        </p:txBody>
      </p:sp>
      <p:sp>
        <p:nvSpPr>
          <p:cNvPr id="48" name="SK-8-textBg-47"/>
          <p:cNvSpPr/>
          <p:nvPr/>
        </p:nvSpPr>
        <p:spPr>
          <a:xfrm>
            <a:off x="800100" y="4594771"/>
            <a:ext cx="952500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K-8-text-48"/>
          <p:cNvSpPr/>
          <p:nvPr/>
        </p:nvSpPr>
        <p:spPr>
          <a:xfrm>
            <a:off x="857250" y="4594771"/>
            <a:ext cx="10863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AI 인프라 비용</a:t>
            </a:r>
            <a:endParaRPr lang="en-US" sz="900" dirty="0"/>
          </a:p>
        </p:txBody>
      </p:sp>
      <p:sp>
        <p:nvSpPr>
          <p:cNvPr id="50" name="SK-8-text-49"/>
          <p:cNvSpPr/>
          <p:nvPr/>
        </p:nvSpPr>
        <p:spPr>
          <a:xfrm>
            <a:off x="2095500" y="4509046"/>
            <a:ext cx="3657600" cy="88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"지금은 여유 있다"며 방관 → 예산 89% 소진(21.4억) 후에야 인지</a:t>
            </a:r>
            <a:endParaRPr lang="en-US" sz="1050" dirty="0"/>
          </a:p>
        </p:txBody>
      </p:sp>
      <p:sp>
        <p:nvSpPr>
          <p:cNvPr id="51" name="SK-8-text-50"/>
          <p:cNvSpPr/>
          <p:nvPr/>
        </p:nvSpPr>
        <p:spPr>
          <a:xfrm>
            <a:off x="800100" y="5622727"/>
            <a:ext cx="5029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리스크 예방이 아닌 사후 수습 모드</a:t>
            </a:r>
            <a:endParaRPr lang="en-US" sz="1125" dirty="0"/>
          </a:p>
        </p:txBody>
      </p:sp>
      <p:sp>
        <p:nvSpPr>
          <p:cNvPr id="52" name="SK-8-text-51"/>
          <p:cNvSpPr/>
          <p:nvPr/>
        </p:nvSpPr>
        <p:spPr>
          <a:xfrm>
            <a:off x="800100" y="5875139"/>
            <a:ext cx="4953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리스크를 선제적으로 관리하지 않고 문제가 터진 후 대응하는 Reactive 패턴. "일단 넘어갑시다"식의 의사결정이 반복됨.</a:t>
            </a:r>
            <a:endParaRPr lang="en-US" sz="1050" dirty="0"/>
          </a:p>
        </p:txBody>
      </p:sp>
      <p:sp>
        <p:nvSpPr>
          <p:cNvPr id="53" name="SK-8-text-52"/>
          <p:cNvSpPr/>
          <p:nvPr/>
        </p:nvSpPr>
        <p:spPr>
          <a:xfrm>
            <a:off x="6657975" y="1619250"/>
            <a:ext cx="5534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Ownership (소유권) → </a:t>
            </a:r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책임 공백</a:t>
            </a:r>
            <a:endParaRPr lang="en-US" sz="1650" dirty="0"/>
          </a:p>
        </p:txBody>
      </p:sp>
      <p:sp>
        <p:nvSpPr>
          <p:cNvPr id="54" name="SK-8-text-53"/>
          <p:cNvSpPr/>
          <p:nvPr/>
        </p:nvSpPr>
        <p:spPr>
          <a:xfrm>
            <a:off x="6438900" y="2124075"/>
            <a:ext cx="16610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분석 대상</a:t>
            </a:r>
            <a:endParaRPr lang="en-US" sz="1050" dirty="0"/>
          </a:p>
        </p:txBody>
      </p:sp>
      <p:sp>
        <p:nvSpPr>
          <p:cNvPr id="55" name="SK-8-text-54"/>
          <p:cNvSpPr/>
          <p:nvPr/>
        </p:nvSpPr>
        <p:spPr>
          <a:xfrm>
            <a:off x="8252371" y="2124075"/>
            <a:ext cx="32157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결함 내용</a:t>
            </a:r>
            <a:endParaRPr lang="en-US" sz="1050" dirty="0"/>
          </a:p>
        </p:txBody>
      </p:sp>
      <p:sp>
        <p:nvSpPr>
          <p:cNvPr id="56" name="SK-8-text-55"/>
          <p:cNvSpPr/>
          <p:nvPr/>
        </p:nvSpPr>
        <p:spPr>
          <a:xfrm>
            <a:off x="6438900" y="2476500"/>
            <a:ext cx="15848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(Accountable)</a:t>
            </a:r>
            <a:endParaRPr lang="en-US" sz="1050" dirty="0"/>
          </a:p>
        </p:txBody>
      </p:sp>
      <p:sp>
        <p:nvSpPr>
          <p:cNvPr id="57" name="SK-8-text-56"/>
          <p:cNvSpPr/>
          <p:nvPr/>
        </p:nvSpPr>
        <p:spPr>
          <a:xfrm>
            <a:off x="8252371" y="2476500"/>
            <a:ext cx="39396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118억 중 24억 집행에 대한 최종책임자 부재</a:t>
            </a:r>
            <a:endParaRPr lang="en-US" sz="1050" dirty="0"/>
          </a:p>
        </p:txBody>
      </p:sp>
      <p:sp>
        <p:nvSpPr>
          <p:cNvPr id="58" name="SK-8-text-57"/>
          <p:cNvSpPr/>
          <p:nvPr/>
        </p:nvSpPr>
        <p:spPr>
          <a:xfrm>
            <a:off x="6438900" y="3205907"/>
            <a:ext cx="15848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측정 Plan/Track</a:t>
            </a:r>
            <a:endParaRPr lang="en-US" sz="1050" dirty="0"/>
          </a:p>
        </p:txBody>
      </p:sp>
      <p:sp>
        <p:nvSpPr>
          <p:cNvPr id="59" name="SK-8-text-58"/>
          <p:cNvSpPr/>
          <p:nvPr/>
        </p:nvSpPr>
        <p:spPr>
          <a:xfrm>
            <a:off x="8252371" y="3205907"/>
            <a:ext cx="31395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R, A, C, I 전체 공란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가치 실현에 대한 책임 할당 전무</a:t>
            </a:r>
            <a:endParaRPr lang="en-US" sz="1050" dirty="0"/>
          </a:p>
        </p:txBody>
      </p:sp>
      <p:sp>
        <p:nvSpPr>
          <p:cNvPr id="60" name="SK-8-text-59"/>
          <p:cNvSpPr/>
          <p:nvPr/>
        </p:nvSpPr>
        <p:spPr>
          <a:xfrm>
            <a:off x="6438900" y="3935313"/>
            <a:ext cx="16610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사람 검토자</a:t>
            </a:r>
            <a:endParaRPr lang="en-US" sz="1050" dirty="0"/>
          </a:p>
        </p:txBody>
      </p:sp>
      <p:sp>
        <p:nvSpPr>
          <p:cNvPr id="61" name="SK-8-text-60"/>
          <p:cNvSpPr/>
          <p:nvPr/>
        </p:nvSpPr>
        <p:spPr>
          <a:xfrm>
            <a:off x="8252371" y="3935313"/>
            <a:ext cx="31395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봇이 생성한 보고서를 누구도 승인/검토하지 않음</a:t>
            </a:r>
            <a:endParaRPr lang="en-US" sz="1050" dirty="0"/>
          </a:p>
        </p:txBody>
      </p:sp>
      <p:sp>
        <p:nvSpPr>
          <p:cNvPr id="62" name="SK-8-text-61"/>
          <p:cNvSpPr/>
          <p:nvPr/>
        </p:nvSpPr>
        <p:spPr>
          <a:xfrm>
            <a:off x="6438900" y="4664720"/>
            <a:ext cx="15848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(Inform)</a:t>
            </a:r>
            <a:endParaRPr lang="en-US" sz="1050" dirty="0"/>
          </a:p>
        </p:txBody>
      </p:sp>
      <p:sp>
        <p:nvSpPr>
          <p:cNvPr id="63" name="SK-8-text-62"/>
          <p:cNvSpPr/>
          <p:nvPr/>
        </p:nvSpPr>
        <p:spPr>
          <a:xfrm>
            <a:off x="8252371" y="4664720"/>
            <a:ext cx="31395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리드만 공유 — 프로젝트 핵심 결정권자(PM/PO/스폰서) 미포함</a:t>
            </a:r>
            <a:endParaRPr lang="en-US" sz="1050" dirty="0"/>
          </a:p>
        </p:txBody>
      </p:sp>
      <p:sp>
        <p:nvSpPr>
          <p:cNvPr id="64" name="SK-8-text-63"/>
          <p:cNvSpPr/>
          <p:nvPr/>
        </p:nvSpPr>
        <p:spPr>
          <a:xfrm>
            <a:off x="6438900" y="5622727"/>
            <a:ext cx="53911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Accountability Void (책임 공백)</a:t>
            </a:r>
            <a:endParaRPr lang="en-US" sz="1125" dirty="0"/>
          </a:p>
        </p:txBody>
      </p:sp>
      <p:sp>
        <p:nvSpPr>
          <p:cNvPr id="65" name="SK-8-text-64"/>
          <p:cNvSpPr/>
          <p:nvPr/>
        </p:nvSpPr>
        <p:spPr>
          <a:xfrm>
            <a:off x="6438900" y="5875139"/>
            <a:ext cx="4953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"누구의 책임인지 모호한 영역"에서 정확히 실패가 발생함. 책임이 명시되지 않은 지점이 프로젝트의 치명적 사각지대로 전락.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16844"/>
            <a:ext cx="2154882" cy="228600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85938"/>
            <a:ext cx="1104900" cy="352425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400" y="1785938"/>
            <a:ext cx="4972050" cy="352425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1785938"/>
            <a:ext cx="4972050" cy="352425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138363"/>
            <a:ext cx="1104900" cy="1351359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6400" y="2138363"/>
            <a:ext cx="4972050" cy="1351359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8450" y="2138363"/>
            <a:ext cx="4972050" cy="1351359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489722"/>
            <a:ext cx="1104900" cy="829121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6400" y="3489722"/>
            <a:ext cx="4972050" cy="829121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3489722"/>
            <a:ext cx="4972050" cy="829121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318843"/>
            <a:ext cx="1104900" cy="829419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76400" y="4318843"/>
            <a:ext cx="4972050" cy="829419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8450" y="4318843"/>
            <a:ext cx="4972050" cy="829419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281613"/>
            <a:ext cx="5457825" cy="1385888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5427315"/>
            <a:ext cx="166688" cy="137220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2675" y="5281613"/>
            <a:ext cx="5457825" cy="1385888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76975" y="5432227"/>
            <a:ext cx="154781" cy="125760"/>
          </a:xfrm>
          <a:prstGeom prst="rect">
            <a:avLst/>
          </a:prstGeom>
        </p:spPr>
      </p:pic>
      <p:pic>
        <p:nvPicPr>
          <p:cNvPr id="23" name="SK-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76975" y="5657850"/>
            <a:ext cx="154781" cy="125760"/>
          </a:xfrm>
          <a:prstGeom prst="rect">
            <a:avLst/>
          </a:prstGeom>
        </p:spPr>
      </p:pic>
      <p:pic>
        <p:nvPicPr>
          <p:cNvPr id="24" name="SK-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76975" y="5915025"/>
            <a:ext cx="154781" cy="125760"/>
          </a:xfrm>
          <a:prstGeom prst="rect">
            <a:avLst/>
          </a:prstGeom>
        </p:spPr>
      </p:pic>
      <p:pic>
        <p:nvPicPr>
          <p:cNvPr id="25" name="SK-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76975" y="6172200"/>
            <a:ext cx="154781" cy="125760"/>
          </a:xfrm>
          <a:prstGeom prst="rect">
            <a:avLst/>
          </a:prstGeom>
        </p:spPr>
      </p:pic>
      <p:sp>
        <p:nvSpPr>
          <p:cNvPr id="26" name="SK-9-text-25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7" name="SK-9-text-26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 Mindset 진단: Value-driven 및 종합 결과</a:t>
            </a:r>
            <a:endParaRPr lang="en-US" sz="2550" dirty="0"/>
          </a:p>
        </p:txBody>
      </p:sp>
      <p:sp>
        <p:nvSpPr>
          <p:cNvPr id="28" name="SK-9-text-27"/>
          <p:cNvSpPr/>
          <p:nvPr/>
        </p:nvSpPr>
        <p:spPr>
          <a:xfrm>
            <a:off x="647700" y="1416844"/>
            <a:ext cx="39849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F4444"/>
                </a:solidFill>
              </a:rPr>
              <a:t>❌ Value-driven → Output-driven</a:t>
            </a:r>
            <a:endParaRPr lang="en-US" sz="900" dirty="0"/>
          </a:p>
        </p:txBody>
      </p:sp>
      <p:sp>
        <p:nvSpPr>
          <p:cNvPr id="29" name="SK-9-text-28"/>
          <p:cNvSpPr/>
          <p:nvPr/>
        </p:nvSpPr>
        <p:spPr>
          <a:xfrm>
            <a:off x="2821632" y="1409700"/>
            <a:ext cx="416147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가치 중심 → 산출물 중심 (방기)</a:t>
            </a:r>
            <a:endParaRPr lang="en-US" sz="1275" dirty="0"/>
          </a:p>
        </p:txBody>
      </p:sp>
      <p:sp>
        <p:nvSpPr>
          <p:cNvPr id="30" name="SK-9-text-29"/>
          <p:cNvSpPr/>
          <p:nvPr/>
        </p:nvSpPr>
        <p:spPr>
          <a:xfrm>
            <a:off x="685800" y="1785938"/>
            <a:ext cx="952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8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50" dirty="0"/>
          </a:p>
        </p:txBody>
      </p:sp>
      <p:sp>
        <p:nvSpPr>
          <p:cNvPr id="31" name="SK-9-text-30"/>
          <p:cNvSpPr/>
          <p:nvPr/>
        </p:nvSpPr>
        <p:spPr>
          <a:xfrm>
            <a:off x="1790700" y="1785938"/>
            <a:ext cx="48196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8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— PM이 관리한 것</a:t>
            </a:r>
            <a:endParaRPr lang="en-US" sz="1050" dirty="0"/>
          </a:p>
        </p:txBody>
      </p:sp>
      <p:sp>
        <p:nvSpPr>
          <p:cNvPr id="32" name="SK-9-text-31"/>
          <p:cNvSpPr/>
          <p:nvPr/>
        </p:nvSpPr>
        <p:spPr>
          <a:xfrm>
            <a:off x="6762750" y="1785938"/>
            <a:ext cx="48196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8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— 방기한 것</a:t>
            </a:r>
            <a:endParaRPr lang="en-US" sz="1050" dirty="0"/>
          </a:p>
        </p:txBody>
      </p:sp>
      <p:sp>
        <p:nvSpPr>
          <p:cNvPr id="33" name="SK-9-text-32"/>
          <p:cNvSpPr/>
          <p:nvPr/>
        </p:nvSpPr>
        <p:spPr>
          <a:xfrm>
            <a:off x="685800" y="2138363"/>
            <a:ext cx="952500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125" dirty="0"/>
          </a:p>
        </p:txBody>
      </p:sp>
      <p:sp>
        <p:nvSpPr>
          <p:cNvPr id="34" name="SK-9-text-33"/>
          <p:cNvSpPr/>
          <p:nvPr/>
        </p:nvSpPr>
        <p:spPr>
          <a:xfrm>
            <a:off x="1857375" y="2138363"/>
            <a:ext cx="4743450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OUTPUT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머지, 기능 수, 빌드 성공률</a:t>
            </a:r>
            <a:endParaRPr lang="en-US" sz="1125" dirty="0"/>
          </a:p>
        </p:txBody>
      </p:sp>
      <p:sp>
        <p:nvSpPr>
          <p:cNvPr id="35" name="SK-9-text-34"/>
          <p:cNvSpPr/>
          <p:nvPr/>
        </p:nvSpPr>
        <p:spPr>
          <a:xfrm>
            <a:off x="6829425" y="2138363"/>
            <a:ext cx="4743450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OUTCOME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계약유지율, 무개입완주율, A/S 절감</a:t>
            </a:r>
            <a:endParaRPr lang="en-US" sz="1125" dirty="0"/>
          </a:p>
        </p:txBody>
      </p:sp>
      <p:sp>
        <p:nvSpPr>
          <p:cNvPr id="36" name="SK-9-text-35"/>
          <p:cNvSpPr/>
          <p:nvPr/>
        </p:nvSpPr>
        <p:spPr>
          <a:xfrm>
            <a:off x="685800" y="3489722"/>
            <a:ext cx="952500" cy="82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endParaRPr lang="en-US" sz="1125" dirty="0"/>
          </a:p>
        </p:txBody>
      </p:sp>
      <p:sp>
        <p:nvSpPr>
          <p:cNvPr id="37" name="SK-9-text-36"/>
          <p:cNvSpPr/>
          <p:nvPr/>
        </p:nvSpPr>
        <p:spPr>
          <a:xfrm>
            <a:off x="1790700" y="3489722"/>
            <a:ext cx="4819650" cy="82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SC-01~08 전부 GREEN</a:t>
            </a:r>
            <a:endParaRPr lang="en-US" sz="1125" dirty="0"/>
          </a:p>
        </p:txBody>
      </p:sp>
      <p:sp>
        <p:nvSpPr>
          <p:cNvPr id="38" name="SK-9-text-37"/>
          <p:cNvSpPr/>
          <p:nvPr/>
        </p:nvSpPr>
        <p:spPr>
          <a:xfrm>
            <a:off x="6762750" y="3584972"/>
            <a:ext cx="32766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BEN-01~05 전부 미측정</a:t>
            </a:r>
            <a:endParaRPr lang="en-US" sz="1125" dirty="0"/>
          </a:p>
        </p:txBody>
      </p:sp>
      <p:sp>
        <p:nvSpPr>
          <p:cNvPr id="39" name="SK-9-text-38"/>
          <p:cNvSpPr/>
          <p:nvPr/>
        </p:nvSpPr>
        <p:spPr>
          <a:xfrm>
            <a:off x="685800" y="4318843"/>
            <a:ext cx="952500" cy="8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endParaRPr lang="en-US" sz="1125" dirty="0"/>
          </a:p>
        </p:txBody>
      </p:sp>
      <p:sp>
        <p:nvSpPr>
          <p:cNvPr id="40" name="SK-9-text-39"/>
          <p:cNvSpPr/>
          <p:nvPr/>
        </p:nvSpPr>
        <p:spPr>
          <a:xfrm>
            <a:off x="1790700" y="4318843"/>
            <a:ext cx="4819650" cy="8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"완료율 100%로 가야 합니다" (M-07)</a:t>
            </a:r>
            <a:endParaRPr lang="en-US" sz="1125" dirty="0"/>
          </a:p>
        </p:txBody>
      </p:sp>
      <p:sp>
        <p:nvSpPr>
          <p:cNvPr id="41" name="SK-9-text-40"/>
          <p:cNvSpPr/>
          <p:nvPr/>
        </p:nvSpPr>
        <p:spPr>
          <a:xfrm>
            <a:off x="6762750" y="4414093"/>
            <a:ext cx="3905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"계약유지율 45%였습니다" → 무시됨</a:t>
            </a:r>
            <a:endParaRPr lang="en-US" sz="1125" dirty="0"/>
          </a:p>
        </p:txBody>
      </p:sp>
      <p:sp>
        <p:nvSpPr>
          <p:cNvPr id="42" name="SK-9-text-41"/>
          <p:cNvSpPr/>
          <p:nvPr/>
        </p:nvSpPr>
        <p:spPr>
          <a:xfrm>
            <a:off x="928688" y="5395913"/>
            <a:ext cx="396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</a:t>
            </a:r>
            <a:endParaRPr lang="en-US" sz="1050" dirty="0"/>
          </a:p>
        </p:txBody>
      </p:sp>
      <p:sp>
        <p:nvSpPr>
          <p:cNvPr id="43" name="SK-9-text-42"/>
          <p:cNvSpPr/>
          <p:nvPr/>
        </p:nvSpPr>
        <p:spPr>
          <a:xfrm>
            <a:off x="685800" y="5653088"/>
            <a:ext cx="5229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존재 이유(Business Case: 118억 투자 근거)와 PM의 관리 초점이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완전히 분리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됨. SC-01~08은 전부 Output만 측정했고, BEN(Outcome)은 "프로젝트 기간 내 측정 불가"로 배제됨 (M-01).</a:t>
            </a:r>
            <a:endParaRPr lang="en-US" sz="1050" dirty="0"/>
          </a:p>
        </p:txBody>
      </p:sp>
      <p:sp>
        <p:nvSpPr>
          <p:cNvPr id="44" name="SK-9-text-43"/>
          <p:cNvSpPr/>
          <p:nvPr/>
        </p:nvSpPr>
        <p:spPr>
          <a:xfrm>
            <a:off x="6431756" y="5395913"/>
            <a:ext cx="52292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spc="39" kern="0" dirty="0">
                <a:solidFill>
                  <a:srgbClr val="F59E0B"/>
                </a:solidFill>
              </a:rPr>
              <a:t>  핵심 충돌 — 실제 대화 기록</a:t>
            </a:r>
            <a:endParaRPr lang="en-US" sz="975" dirty="0"/>
          </a:p>
        </p:txBody>
      </p:sp>
      <p:sp>
        <p:nvSpPr>
          <p:cNvPr id="45" name="SK-9-text-44"/>
          <p:cNvSpPr/>
          <p:nvPr/>
        </p:nvSpPr>
        <p:spPr>
          <a:xfrm>
            <a:off x="6488906" y="5638800"/>
            <a:ext cx="5173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(M-07):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"완료율 100%로 가야 합니다"</a:t>
            </a:r>
            <a:endParaRPr lang="en-US" sz="1050" dirty="0"/>
          </a:p>
        </p:txBody>
      </p:sp>
      <p:sp>
        <p:nvSpPr>
          <p:cNvPr id="46" name="SK-9-text-45"/>
          <p:cNvSpPr/>
          <p:nvPr/>
        </p:nvSpPr>
        <p:spPr>
          <a:xfrm>
            <a:off x="6488906" y="5895975"/>
            <a:ext cx="5440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 (8/14):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"계약유지율이 약속" →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무시됨</a:t>
            </a:r>
            <a:endParaRPr lang="en-US" sz="1050" dirty="0"/>
          </a:p>
        </p:txBody>
      </p:sp>
      <p:sp>
        <p:nvSpPr>
          <p:cNvPr id="47" name="SK-9-text-46"/>
          <p:cNvSpPr/>
          <p:nvPr/>
        </p:nvSpPr>
        <p:spPr>
          <a:xfrm>
            <a:off x="6488906" y="6153150"/>
            <a:ext cx="50172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완료 100% ≠ 고객 가치 전달. 프로젝트 목적(118억 투자 근거)과 관리 초점이 분리된 구조적 실패.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85913"/>
            <a:ext cx="6309420" cy="609600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0338" y="1778794"/>
            <a:ext cx="688181" cy="223838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4638" y="1827758"/>
            <a:ext cx="154781" cy="125760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252663"/>
            <a:ext cx="6309420" cy="609600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0338" y="2445544"/>
            <a:ext cx="688181" cy="223838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4638" y="2494508"/>
            <a:ext cx="154781" cy="125760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919413"/>
            <a:ext cx="6309420" cy="609600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2688" y="3112294"/>
            <a:ext cx="935831" cy="223838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6988" y="3161258"/>
            <a:ext cx="154781" cy="125760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586163"/>
            <a:ext cx="6309420" cy="609600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92688" y="3779044"/>
            <a:ext cx="935831" cy="223838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6988" y="3828008"/>
            <a:ext cx="154781" cy="125760"/>
          </a:xfrm>
          <a:prstGeom prst="rect">
            <a:avLst/>
          </a:prstGeom>
        </p:spPr>
      </p:pic>
      <p:pic>
        <p:nvPicPr>
          <p:cNvPr id="18" name="SK-1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252913"/>
            <a:ext cx="6309420" cy="609600"/>
          </a:xfrm>
          <a:prstGeom prst="rect">
            <a:avLst/>
          </a:prstGeom>
        </p:spPr>
      </p:pic>
      <p:pic>
        <p:nvPicPr>
          <p:cNvPr id="19" name="SK-1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92688" y="4445794"/>
            <a:ext cx="935831" cy="223838"/>
          </a:xfrm>
          <a:prstGeom prst="rect">
            <a:avLst/>
          </a:prstGeom>
        </p:spPr>
      </p:pic>
      <p:pic>
        <p:nvPicPr>
          <p:cNvPr id="20" name="SK-1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6988" y="4494758"/>
            <a:ext cx="154781" cy="125760"/>
          </a:xfrm>
          <a:prstGeom prst="rect">
            <a:avLst/>
          </a:prstGeom>
        </p:spPr>
      </p:pic>
      <p:pic>
        <p:nvPicPr>
          <p:cNvPr id="21" name="SK-1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919663"/>
            <a:ext cx="6309420" cy="609600"/>
          </a:xfrm>
          <a:prstGeom prst="rect">
            <a:avLst/>
          </a:prstGeom>
        </p:spPr>
      </p:pic>
      <p:pic>
        <p:nvPicPr>
          <p:cNvPr id="22" name="SK-1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92688" y="5112544"/>
            <a:ext cx="935831" cy="223838"/>
          </a:xfrm>
          <a:prstGeom prst="rect">
            <a:avLst/>
          </a:prstGeom>
        </p:spPr>
      </p:pic>
      <p:pic>
        <p:nvPicPr>
          <p:cNvPr id="23" name="SK-1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06988" y="5161508"/>
            <a:ext cx="154781" cy="125760"/>
          </a:xfrm>
          <a:prstGeom prst="rect">
            <a:avLst/>
          </a:prstGeom>
        </p:spPr>
      </p:pic>
      <p:pic>
        <p:nvPicPr>
          <p:cNvPr id="24" name="SK-1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5681663"/>
            <a:ext cx="6309420" cy="852488"/>
          </a:xfrm>
          <a:prstGeom prst="rect">
            <a:avLst/>
          </a:prstGeom>
        </p:spPr>
      </p:pic>
      <p:pic>
        <p:nvPicPr>
          <p:cNvPr id="25" name="SK-1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809655"/>
            <a:ext cx="178594" cy="148828"/>
          </a:xfrm>
          <a:prstGeom prst="rect">
            <a:avLst/>
          </a:prstGeom>
        </p:spPr>
      </p:pic>
      <p:pic>
        <p:nvPicPr>
          <p:cNvPr id="26" name="SK-1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85720" y="1585913"/>
            <a:ext cx="4434780" cy="5024438"/>
          </a:xfrm>
          <a:prstGeom prst="rect">
            <a:avLst/>
          </a:prstGeom>
        </p:spPr>
      </p:pic>
      <p:pic>
        <p:nvPicPr>
          <p:cNvPr id="27" name="SK-1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00020" y="1700213"/>
            <a:ext cx="4206180" cy="609600"/>
          </a:xfrm>
          <a:prstGeom prst="rect">
            <a:avLst/>
          </a:prstGeom>
        </p:spPr>
      </p:pic>
      <p:pic>
        <p:nvPicPr>
          <p:cNvPr id="28" name="SK-1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00020" y="2405063"/>
            <a:ext cx="4206180" cy="609600"/>
          </a:xfrm>
          <a:prstGeom prst="rect">
            <a:avLst/>
          </a:prstGeom>
        </p:spPr>
      </p:pic>
      <p:pic>
        <p:nvPicPr>
          <p:cNvPr id="29" name="SK-1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00020" y="3109913"/>
            <a:ext cx="4206180" cy="609600"/>
          </a:xfrm>
          <a:prstGeom prst="rect">
            <a:avLst/>
          </a:prstGeom>
        </p:spPr>
      </p:pic>
      <p:pic>
        <p:nvPicPr>
          <p:cNvPr id="30" name="SK-10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00020" y="3814763"/>
            <a:ext cx="4206180" cy="609600"/>
          </a:xfrm>
          <a:prstGeom prst="rect">
            <a:avLst/>
          </a:prstGeom>
        </p:spPr>
      </p:pic>
      <p:pic>
        <p:nvPicPr>
          <p:cNvPr id="31" name="SK-10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00020" y="4519613"/>
            <a:ext cx="4206180" cy="609600"/>
          </a:xfrm>
          <a:prstGeom prst="rect">
            <a:avLst/>
          </a:prstGeom>
        </p:spPr>
      </p:pic>
      <p:pic>
        <p:nvPicPr>
          <p:cNvPr id="32" name="SK-10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00020" y="5224463"/>
            <a:ext cx="4206180" cy="609600"/>
          </a:xfrm>
          <a:prstGeom prst="rect">
            <a:avLst/>
          </a:prstGeom>
        </p:spPr>
      </p:pic>
      <p:sp>
        <p:nvSpPr>
          <p:cNvPr id="33" name="SK-10-text-32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4" name="SK-10-text-33"/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B-1.5. PMBOK 8판 6대 원칙 위반 진단</a:t>
            </a:r>
            <a:endParaRPr lang="en-US" sz="2550" dirty="0"/>
          </a:p>
        </p:txBody>
      </p:sp>
      <p:sp>
        <p:nvSpPr>
          <p:cNvPr id="35" name="SK-10-text-34"/>
          <p:cNvSpPr/>
          <p:nvPr/>
        </p:nvSpPr>
        <p:spPr>
          <a:xfrm>
            <a:off x="571500" y="1200150"/>
            <a:ext cx="11620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관점, 가치 집중, 책임감 있는 리더 등 주요 원칙의 위반 사례를 HERMES 프로젝트의 증거와 함께 평가합니다.</a:t>
            </a:r>
            <a:endParaRPr lang="en-US" sz="1275" dirty="0"/>
          </a:p>
        </p:txBody>
      </p:sp>
      <p:sp>
        <p:nvSpPr>
          <p:cNvPr id="36" name="SK-10-text-35"/>
          <p:cNvSpPr/>
          <p:nvPr/>
        </p:nvSpPr>
        <p:spPr>
          <a:xfrm>
            <a:off x="723900" y="17621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01</a:t>
            </a:r>
            <a:endParaRPr lang="en-US" sz="1350" dirty="0"/>
          </a:p>
        </p:txBody>
      </p:sp>
      <p:sp>
        <p:nvSpPr>
          <p:cNvPr id="37" name="SK-10-text-36"/>
          <p:cNvSpPr/>
          <p:nvPr/>
        </p:nvSpPr>
        <p:spPr>
          <a:xfrm>
            <a:off x="1219200" y="1747838"/>
            <a:ext cx="7639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 채택 (Holistic Perspective)</a:t>
            </a:r>
            <a:endParaRPr lang="en-US" sz="1500" dirty="0"/>
          </a:p>
        </p:txBody>
      </p:sp>
      <p:sp>
        <p:nvSpPr>
          <p:cNvPr id="38" name="SK-10-text-37"/>
          <p:cNvSpPr/>
          <p:nvPr/>
        </p:nvSpPr>
        <p:spPr>
          <a:xfrm>
            <a:off x="6366570" y="1778794"/>
            <a:ext cx="45958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39" name="SK-10-text-38"/>
          <p:cNvSpPr/>
          <p:nvPr/>
        </p:nvSpPr>
        <p:spPr>
          <a:xfrm>
            <a:off x="723900" y="242887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02</a:t>
            </a:r>
            <a:endParaRPr lang="en-US" sz="1350" dirty="0"/>
          </a:p>
        </p:txBody>
      </p:sp>
      <p:sp>
        <p:nvSpPr>
          <p:cNvPr id="40" name="SK-10-text-39"/>
          <p:cNvSpPr/>
          <p:nvPr/>
        </p:nvSpPr>
        <p:spPr>
          <a:xfrm>
            <a:off x="1219200" y="2414588"/>
            <a:ext cx="603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가치에 대한 집중 (Focus on Value)</a:t>
            </a:r>
            <a:endParaRPr lang="en-US" sz="1500" dirty="0"/>
          </a:p>
        </p:txBody>
      </p:sp>
      <p:sp>
        <p:nvSpPr>
          <p:cNvPr id="41" name="SK-10-text-40"/>
          <p:cNvSpPr/>
          <p:nvPr/>
        </p:nvSpPr>
        <p:spPr>
          <a:xfrm>
            <a:off x="6366570" y="2445544"/>
            <a:ext cx="45958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42" name="SK-10-text-41"/>
          <p:cNvSpPr/>
          <p:nvPr/>
        </p:nvSpPr>
        <p:spPr>
          <a:xfrm>
            <a:off x="723900" y="30956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03</a:t>
            </a:r>
            <a:endParaRPr lang="en-US" sz="1350" dirty="0"/>
          </a:p>
        </p:txBody>
      </p:sp>
      <p:sp>
        <p:nvSpPr>
          <p:cNvPr id="43" name="SK-10-text-42"/>
          <p:cNvSpPr/>
          <p:nvPr/>
        </p:nvSpPr>
        <p:spPr>
          <a:xfrm>
            <a:off x="1219200" y="3081338"/>
            <a:ext cx="535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내재화 (Embody Quality)</a:t>
            </a:r>
            <a:endParaRPr lang="en-US" sz="1500" dirty="0"/>
          </a:p>
        </p:txBody>
      </p:sp>
      <p:sp>
        <p:nvSpPr>
          <p:cNvPr id="44" name="SK-10-text-43"/>
          <p:cNvSpPr/>
          <p:nvPr/>
        </p:nvSpPr>
        <p:spPr>
          <a:xfrm>
            <a:off x="6118920" y="311229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45" name="SK-10-text-44"/>
          <p:cNvSpPr/>
          <p:nvPr/>
        </p:nvSpPr>
        <p:spPr>
          <a:xfrm>
            <a:off x="723900" y="376237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04</a:t>
            </a:r>
            <a:endParaRPr lang="en-US" sz="1350" dirty="0"/>
          </a:p>
        </p:txBody>
      </p:sp>
      <p:sp>
        <p:nvSpPr>
          <p:cNvPr id="46" name="SK-10-text-45"/>
          <p:cNvSpPr/>
          <p:nvPr/>
        </p:nvSpPr>
        <p:spPr>
          <a:xfrm>
            <a:off x="1219200" y="3748087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있는 리더 (Be a Responsible Leader)</a:t>
            </a:r>
            <a:endParaRPr lang="en-US" sz="1500" dirty="0"/>
          </a:p>
        </p:txBody>
      </p:sp>
      <p:sp>
        <p:nvSpPr>
          <p:cNvPr id="47" name="SK-10-text-46"/>
          <p:cNvSpPr/>
          <p:nvPr/>
        </p:nvSpPr>
        <p:spPr>
          <a:xfrm>
            <a:off x="6118920" y="377904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핵심위반</a:t>
            </a:r>
            <a:endParaRPr lang="en-US" sz="975" dirty="0"/>
          </a:p>
        </p:txBody>
      </p:sp>
      <p:sp>
        <p:nvSpPr>
          <p:cNvPr id="48" name="SK-10-text-47"/>
          <p:cNvSpPr/>
          <p:nvPr/>
        </p:nvSpPr>
        <p:spPr>
          <a:xfrm>
            <a:off x="723900" y="44291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05</a:t>
            </a:r>
            <a:endParaRPr lang="en-US" sz="1350" dirty="0"/>
          </a:p>
        </p:txBody>
      </p:sp>
      <p:sp>
        <p:nvSpPr>
          <p:cNvPr id="49" name="SK-10-text-48"/>
          <p:cNvSpPr/>
          <p:nvPr/>
        </p:nvSpPr>
        <p:spPr>
          <a:xfrm>
            <a:off x="1219200" y="4414838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지속가능성 통합 (Integrate Sustainability)</a:t>
            </a:r>
            <a:endParaRPr lang="en-US" sz="1500" dirty="0"/>
          </a:p>
        </p:txBody>
      </p:sp>
      <p:sp>
        <p:nvSpPr>
          <p:cNvPr id="50" name="SK-10-text-49"/>
          <p:cNvSpPr/>
          <p:nvPr/>
        </p:nvSpPr>
        <p:spPr>
          <a:xfrm>
            <a:off x="6118920" y="444579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51" name="SK-10-text-50"/>
          <p:cNvSpPr/>
          <p:nvPr/>
        </p:nvSpPr>
        <p:spPr>
          <a:xfrm>
            <a:off x="723900" y="509587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06</a:t>
            </a:r>
            <a:endParaRPr lang="en-US" sz="1350" dirty="0"/>
          </a:p>
        </p:txBody>
      </p:sp>
      <p:sp>
        <p:nvSpPr>
          <p:cNvPr id="52" name="SK-10-text-51"/>
          <p:cNvSpPr/>
          <p:nvPr/>
        </p:nvSpPr>
        <p:spPr>
          <a:xfrm>
            <a:off x="1219200" y="5081588"/>
            <a:ext cx="581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자율성/권한 문화 (Enable Change)</a:t>
            </a:r>
            <a:endParaRPr lang="en-US" sz="1500" dirty="0"/>
          </a:p>
        </p:txBody>
      </p:sp>
      <p:sp>
        <p:nvSpPr>
          <p:cNvPr id="53" name="SK-10-text-52"/>
          <p:cNvSpPr/>
          <p:nvPr/>
        </p:nvSpPr>
        <p:spPr>
          <a:xfrm>
            <a:off x="6118920" y="511254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해당없음</a:t>
            </a:r>
            <a:endParaRPr lang="en-US" sz="975" dirty="0"/>
          </a:p>
        </p:txBody>
      </p:sp>
      <p:sp>
        <p:nvSpPr>
          <p:cNvPr id="54" name="SK-10-text-53"/>
          <p:cNvSpPr/>
          <p:nvPr/>
        </p:nvSpPr>
        <p:spPr>
          <a:xfrm>
            <a:off x="997744" y="5776913"/>
            <a:ext cx="2476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 위반 분석 결론</a:t>
            </a:r>
            <a:endParaRPr lang="en-US" sz="1125" dirty="0"/>
          </a:p>
        </p:txBody>
      </p:sp>
      <p:sp>
        <p:nvSpPr>
          <p:cNvPr id="55" name="SK-10-text-54"/>
          <p:cNvSpPr/>
          <p:nvPr/>
        </p:nvSpPr>
        <p:spPr>
          <a:xfrm>
            <a:off x="723900" y="6038850"/>
            <a:ext cx="60046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4(책임감 리더)와 원칙 2(가치 집중)의 동시 위반이 수박 프로젝트의 근본 구조를 형성함. 타 사례와 달리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은폐 동기(원칙 6)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아닌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공백(원칙 4)으로 인한 구조적 맹목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원인임.</a:t>
            </a:r>
            <a:endParaRPr lang="en-US" sz="1050" dirty="0"/>
          </a:p>
        </p:txBody>
      </p:sp>
      <p:sp>
        <p:nvSpPr>
          <p:cNvPr id="56" name="SK-10-text-55"/>
          <p:cNvSpPr/>
          <p:nvPr/>
        </p:nvSpPr>
        <p:spPr>
          <a:xfrm>
            <a:off x="7376220" y="173414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INTERACTION</a:t>
            </a:r>
            <a:endParaRPr lang="en-US" sz="825" dirty="0"/>
          </a:p>
        </p:txBody>
      </p:sp>
      <p:sp>
        <p:nvSpPr>
          <p:cNvPr id="57" name="SK-10-text-56"/>
          <p:cNvSpPr/>
          <p:nvPr/>
        </p:nvSpPr>
        <p:spPr>
          <a:xfrm>
            <a:off x="7376220" y="192940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부문만 보고, AI 인프라 비용 분리, 파일럿 데이터 단절 등 시스템 간 상호작용 무시</a:t>
            </a:r>
            <a:endParaRPr lang="en-US" sz="975" dirty="0"/>
          </a:p>
        </p:txBody>
      </p:sp>
      <p:sp>
        <p:nvSpPr>
          <p:cNvPr id="58" name="SK-10-text-57"/>
          <p:cNvSpPr/>
          <p:nvPr/>
        </p:nvSpPr>
        <p:spPr>
          <a:xfrm>
            <a:off x="7376220" y="243899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OUTCOME VS OUTPUT</a:t>
            </a:r>
            <a:endParaRPr lang="en-US" sz="825" dirty="0"/>
          </a:p>
        </p:txBody>
      </p:sp>
      <p:sp>
        <p:nvSpPr>
          <p:cNvPr id="59" name="SK-10-text-58"/>
          <p:cNvSpPr/>
          <p:nvPr/>
        </p:nvSpPr>
        <p:spPr>
          <a:xfrm>
            <a:off x="7376220" y="263425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Output(완료율) 집착, Outcome(편익) 방기. 계약유지율보다 코드 머지 우선시</a:t>
            </a:r>
            <a:endParaRPr lang="en-US" sz="975" dirty="0"/>
          </a:p>
        </p:txBody>
      </p:sp>
      <p:sp>
        <p:nvSpPr>
          <p:cNvPr id="60" name="SK-10-text-59"/>
          <p:cNvSpPr/>
          <p:nvPr/>
        </p:nvSpPr>
        <p:spPr>
          <a:xfrm>
            <a:off x="7376220" y="3230463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DOD MODIFICATION</a:t>
            </a:r>
            <a:endParaRPr lang="en-US" sz="825" dirty="0"/>
          </a:p>
        </p:txBody>
      </p:sp>
      <p:sp>
        <p:nvSpPr>
          <p:cNvPr id="61" name="SK-10-text-60"/>
          <p:cNvSpPr/>
          <p:nvPr/>
        </p:nvSpPr>
        <p:spPr>
          <a:xfrm>
            <a:off x="7376220" y="3425726"/>
            <a:ext cx="48157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v2에서 QA 통과 삭제. 안전 항목 별도 검증 트랙 신설 무산(M-03)</a:t>
            </a:r>
            <a:endParaRPr lang="en-US" sz="975" dirty="0"/>
          </a:p>
        </p:txBody>
      </p:sp>
      <p:sp>
        <p:nvSpPr>
          <p:cNvPr id="62" name="SK-10-text-61"/>
          <p:cNvSpPr/>
          <p:nvPr/>
        </p:nvSpPr>
        <p:spPr>
          <a:xfrm>
            <a:off x="7376220" y="384869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ACCOUNTABILITY</a:t>
            </a:r>
            <a:endParaRPr lang="en-US" sz="825" dirty="0"/>
          </a:p>
        </p:txBody>
      </p:sp>
      <p:sp>
        <p:nvSpPr>
          <p:cNvPr id="63" name="SK-10-text-62"/>
          <p:cNvSpPr/>
          <p:nvPr/>
        </p:nvSpPr>
        <p:spPr>
          <a:xfrm>
            <a:off x="7376220" y="404395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공란 4건, Daniel Suh 무회신, 리스크 근거 없는 하향 및 에스컬레이션 미수행</a:t>
            </a:r>
            <a:endParaRPr lang="en-US" sz="975" dirty="0"/>
          </a:p>
        </p:txBody>
      </p:sp>
      <p:sp>
        <p:nvSpPr>
          <p:cNvPr id="64" name="SK-10-text-63"/>
          <p:cNvSpPr/>
          <p:nvPr/>
        </p:nvSpPr>
        <p:spPr>
          <a:xfrm>
            <a:off x="7376220" y="455354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LONG-TERM VALUE</a:t>
            </a:r>
            <a:endParaRPr lang="en-US" sz="825" dirty="0"/>
          </a:p>
        </p:txBody>
      </p:sp>
      <p:sp>
        <p:nvSpPr>
          <p:cNvPr id="65" name="SK-10-text-64"/>
          <p:cNvSpPr/>
          <p:nvPr/>
        </p:nvSpPr>
        <p:spPr>
          <a:xfrm>
            <a:off x="7376220" y="474880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지표 유지를 위해 편익 측정 및 Helion 마이그레이션 등 장기 가치 희생</a:t>
            </a:r>
            <a:endParaRPr lang="en-US" sz="975" dirty="0"/>
          </a:p>
        </p:txBody>
      </p:sp>
      <p:sp>
        <p:nvSpPr>
          <p:cNvPr id="66" name="SK-10-text-65"/>
          <p:cNvSpPr/>
          <p:nvPr/>
        </p:nvSpPr>
        <p:spPr>
          <a:xfrm>
            <a:off x="7376220" y="525839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TEAM HEALTH</a:t>
            </a:r>
            <a:endParaRPr lang="en-US" sz="825" dirty="0"/>
          </a:p>
        </p:txBody>
      </p:sp>
      <p:sp>
        <p:nvSpPr>
          <p:cNvPr id="67" name="SK-10-text-66"/>
          <p:cNvSpPr/>
          <p:nvPr/>
        </p:nvSpPr>
        <p:spPr>
          <a:xfrm>
            <a:off x="7376220" y="545365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 3.9, 번아웃 7%. "질책 문화"가 아닌 "구조적 맹목"이 본질적 문제임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09700"/>
            <a:ext cx="11049000" cy="709613"/>
          </a:xfrm>
          <a:prstGeom prst="rect">
            <a:avLst/>
          </a:prstGeom>
        </p:spPr>
      </p:pic>
      <p:pic>
        <p:nvPicPr>
          <p:cNvPr id="7" name="SK-1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69988"/>
            <a:ext cx="202406" cy="163711"/>
          </a:xfrm>
          <a:prstGeom prst="rect">
            <a:avLst/>
          </a:prstGeom>
        </p:spPr>
      </p:pic>
      <p:pic>
        <p:nvPicPr>
          <p:cNvPr id="8" name="SK-1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309813"/>
            <a:ext cx="5429250" cy="4167188"/>
          </a:xfrm>
          <a:prstGeom prst="rect">
            <a:avLst/>
          </a:prstGeom>
        </p:spPr>
      </p:pic>
      <p:pic>
        <p:nvPicPr>
          <p:cNvPr id="9" name="SK-1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424113"/>
            <a:ext cx="5200650" cy="333375"/>
          </a:xfrm>
          <a:prstGeom prst="rect">
            <a:avLst/>
          </a:prstGeom>
        </p:spPr>
      </p:pic>
      <p:pic>
        <p:nvPicPr>
          <p:cNvPr id="10" name="SK-1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65040"/>
            <a:ext cx="214313" cy="175320"/>
          </a:xfrm>
          <a:prstGeom prst="rect">
            <a:avLst/>
          </a:prstGeom>
        </p:spPr>
      </p:pic>
      <p:pic>
        <p:nvPicPr>
          <p:cNvPr id="11" name="SK-1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871788"/>
            <a:ext cx="1820168" cy="323850"/>
          </a:xfrm>
          <a:prstGeom prst="rect">
            <a:avLst/>
          </a:prstGeom>
        </p:spPr>
      </p:pic>
      <p:pic>
        <p:nvPicPr>
          <p:cNvPr id="12" name="SK-1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5968" y="2871788"/>
            <a:ext cx="3380482" cy="323850"/>
          </a:xfrm>
          <a:prstGeom prst="rect">
            <a:avLst/>
          </a:prstGeom>
        </p:spPr>
      </p:pic>
      <p:pic>
        <p:nvPicPr>
          <p:cNvPr id="13" name="SK-1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195638"/>
            <a:ext cx="1820168" cy="738188"/>
          </a:xfrm>
          <a:prstGeom prst="rect">
            <a:avLst/>
          </a:prstGeom>
        </p:spPr>
      </p:pic>
      <p:pic>
        <p:nvPicPr>
          <p:cNvPr id="14" name="SK-1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5968" y="3195638"/>
            <a:ext cx="3380482" cy="738188"/>
          </a:xfrm>
          <a:prstGeom prst="rect">
            <a:avLst/>
          </a:prstGeom>
        </p:spPr>
      </p:pic>
      <p:pic>
        <p:nvPicPr>
          <p:cNvPr id="15" name="SK-1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933825"/>
            <a:ext cx="1820168" cy="738188"/>
          </a:xfrm>
          <a:prstGeom prst="rect">
            <a:avLst/>
          </a:prstGeom>
        </p:spPr>
      </p:pic>
      <p:pic>
        <p:nvPicPr>
          <p:cNvPr id="16" name="SK-1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05968" y="3933825"/>
            <a:ext cx="3380482" cy="738188"/>
          </a:xfrm>
          <a:prstGeom prst="rect">
            <a:avLst/>
          </a:prstGeom>
        </p:spPr>
      </p:pic>
      <p:pic>
        <p:nvPicPr>
          <p:cNvPr id="17" name="SK-1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672013"/>
            <a:ext cx="1820168" cy="738188"/>
          </a:xfrm>
          <a:prstGeom prst="rect">
            <a:avLst/>
          </a:prstGeom>
        </p:spPr>
      </p:pic>
      <p:pic>
        <p:nvPicPr>
          <p:cNvPr id="18" name="SK-1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05968" y="4672013"/>
            <a:ext cx="3380482" cy="738188"/>
          </a:xfrm>
          <a:prstGeom prst="rect">
            <a:avLst/>
          </a:prstGeom>
        </p:spPr>
      </p:pic>
      <p:pic>
        <p:nvPicPr>
          <p:cNvPr id="19" name="SK-1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82168" y="4963418"/>
            <a:ext cx="857250" cy="152400"/>
          </a:xfrm>
          <a:prstGeom prst="rect">
            <a:avLst/>
          </a:prstGeom>
        </p:spPr>
      </p:pic>
      <p:pic>
        <p:nvPicPr>
          <p:cNvPr id="20" name="SK-1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5410200"/>
            <a:ext cx="1820168" cy="476101"/>
          </a:xfrm>
          <a:prstGeom prst="rect">
            <a:avLst/>
          </a:prstGeom>
        </p:spPr>
      </p:pic>
      <p:pic>
        <p:nvPicPr>
          <p:cNvPr id="21" name="SK-1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05968" y="5410200"/>
            <a:ext cx="3380482" cy="476101"/>
          </a:xfrm>
          <a:prstGeom prst="rect">
            <a:avLst/>
          </a:prstGeom>
        </p:spPr>
      </p:pic>
      <p:pic>
        <p:nvPicPr>
          <p:cNvPr id="22" name="SK-1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4318" y="5514975"/>
            <a:ext cx="1190625" cy="152400"/>
          </a:xfrm>
          <a:prstGeom prst="rect">
            <a:avLst/>
          </a:prstGeom>
        </p:spPr>
      </p:pic>
      <p:pic>
        <p:nvPicPr>
          <p:cNvPr id="23" name="SK-1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5886301"/>
            <a:ext cx="1820168" cy="476399"/>
          </a:xfrm>
          <a:prstGeom prst="rect">
            <a:avLst/>
          </a:prstGeom>
        </p:spPr>
      </p:pic>
      <p:pic>
        <p:nvPicPr>
          <p:cNvPr id="24" name="SK-1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05968" y="5886301"/>
            <a:ext cx="3380482" cy="476399"/>
          </a:xfrm>
          <a:prstGeom prst="rect">
            <a:avLst/>
          </a:prstGeom>
        </p:spPr>
      </p:pic>
      <p:pic>
        <p:nvPicPr>
          <p:cNvPr id="25" name="SK-1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91250" y="2309813"/>
            <a:ext cx="5429250" cy="4167188"/>
          </a:xfrm>
          <a:prstGeom prst="rect">
            <a:avLst/>
          </a:prstGeom>
        </p:spPr>
      </p:pic>
      <p:pic>
        <p:nvPicPr>
          <p:cNvPr id="26" name="SK-1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05550" y="2424113"/>
            <a:ext cx="5200650" cy="333375"/>
          </a:xfrm>
          <a:prstGeom prst="rect">
            <a:avLst/>
          </a:prstGeom>
        </p:spPr>
      </p:pic>
      <p:pic>
        <p:nvPicPr>
          <p:cNvPr id="27" name="SK-1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05550" y="2465040"/>
            <a:ext cx="214313" cy="175320"/>
          </a:xfrm>
          <a:prstGeom prst="rect">
            <a:avLst/>
          </a:prstGeom>
        </p:spPr>
      </p:pic>
      <p:pic>
        <p:nvPicPr>
          <p:cNvPr id="28" name="SK-1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05550" y="2871788"/>
            <a:ext cx="1820168" cy="323850"/>
          </a:xfrm>
          <a:prstGeom prst="rect">
            <a:avLst/>
          </a:prstGeom>
        </p:spPr>
      </p:pic>
      <p:pic>
        <p:nvPicPr>
          <p:cNvPr id="29" name="SK-1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25718" y="2871788"/>
            <a:ext cx="3380482" cy="323850"/>
          </a:xfrm>
          <a:prstGeom prst="rect">
            <a:avLst/>
          </a:prstGeom>
        </p:spPr>
      </p:pic>
      <p:pic>
        <p:nvPicPr>
          <p:cNvPr id="30" name="SK-1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05550" y="3195638"/>
            <a:ext cx="1820168" cy="633413"/>
          </a:xfrm>
          <a:prstGeom prst="rect">
            <a:avLst/>
          </a:prstGeom>
        </p:spPr>
      </p:pic>
      <p:pic>
        <p:nvPicPr>
          <p:cNvPr id="31" name="SK-1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25718" y="3195638"/>
            <a:ext cx="3380482" cy="633413"/>
          </a:xfrm>
          <a:prstGeom prst="rect">
            <a:avLst/>
          </a:prstGeom>
        </p:spPr>
      </p:pic>
      <p:pic>
        <p:nvPicPr>
          <p:cNvPr id="32" name="SK-1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01918" y="3487043"/>
            <a:ext cx="1257300" cy="152400"/>
          </a:xfrm>
          <a:prstGeom prst="rect">
            <a:avLst/>
          </a:prstGeom>
        </p:spPr>
      </p:pic>
      <p:pic>
        <p:nvPicPr>
          <p:cNvPr id="33" name="SK-11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05550" y="3829050"/>
            <a:ext cx="1820168" cy="633413"/>
          </a:xfrm>
          <a:prstGeom prst="rect">
            <a:avLst/>
          </a:prstGeom>
        </p:spPr>
      </p:pic>
      <p:pic>
        <p:nvPicPr>
          <p:cNvPr id="34" name="SK-11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25718" y="3829050"/>
            <a:ext cx="3380482" cy="633413"/>
          </a:xfrm>
          <a:prstGeom prst="rect">
            <a:avLst/>
          </a:prstGeom>
        </p:spPr>
      </p:pic>
      <p:pic>
        <p:nvPicPr>
          <p:cNvPr id="35" name="SK-11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97193" y="4120455"/>
            <a:ext cx="323850" cy="152400"/>
          </a:xfrm>
          <a:prstGeom prst="rect">
            <a:avLst/>
          </a:prstGeom>
        </p:spPr>
      </p:pic>
      <p:pic>
        <p:nvPicPr>
          <p:cNvPr id="36" name="SK-11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305550" y="4462463"/>
            <a:ext cx="1820168" cy="633413"/>
          </a:xfrm>
          <a:prstGeom prst="rect">
            <a:avLst/>
          </a:prstGeom>
        </p:spPr>
      </p:pic>
      <p:pic>
        <p:nvPicPr>
          <p:cNvPr id="37" name="SK-11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25718" y="4462463"/>
            <a:ext cx="3380482" cy="633413"/>
          </a:xfrm>
          <a:prstGeom prst="rect">
            <a:avLst/>
          </a:prstGeom>
        </p:spPr>
      </p:pic>
      <p:pic>
        <p:nvPicPr>
          <p:cNvPr id="38" name="SK-11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05550" y="5095875"/>
            <a:ext cx="1820168" cy="633413"/>
          </a:xfrm>
          <a:prstGeom prst="rect">
            <a:avLst/>
          </a:prstGeom>
        </p:spPr>
      </p:pic>
      <p:pic>
        <p:nvPicPr>
          <p:cNvPr id="39" name="SK-11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25718" y="5095875"/>
            <a:ext cx="3380482" cy="633413"/>
          </a:xfrm>
          <a:prstGeom prst="rect">
            <a:avLst/>
          </a:prstGeom>
        </p:spPr>
      </p:pic>
      <p:pic>
        <p:nvPicPr>
          <p:cNvPr id="40" name="SK-11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363843" y="5387280"/>
            <a:ext cx="323850" cy="152400"/>
          </a:xfrm>
          <a:prstGeom prst="rect">
            <a:avLst/>
          </a:prstGeom>
        </p:spPr>
      </p:pic>
      <p:pic>
        <p:nvPicPr>
          <p:cNvPr id="41" name="SK-11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05550" y="5729288"/>
            <a:ext cx="1820168" cy="633413"/>
          </a:xfrm>
          <a:prstGeom prst="rect">
            <a:avLst/>
          </a:prstGeom>
        </p:spPr>
      </p:pic>
      <p:pic>
        <p:nvPicPr>
          <p:cNvPr id="42" name="SK-11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125718" y="5729288"/>
            <a:ext cx="3380482" cy="633413"/>
          </a:xfrm>
          <a:prstGeom prst="rect">
            <a:avLst/>
          </a:prstGeom>
        </p:spPr>
      </p:pic>
      <p:pic>
        <p:nvPicPr>
          <p:cNvPr id="43" name="SK-11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659118" y="6020693"/>
            <a:ext cx="457200" cy="152400"/>
          </a:xfrm>
          <a:prstGeom prst="rect">
            <a:avLst/>
          </a:prstGeom>
        </p:spPr>
      </p:pic>
      <p:sp>
        <p:nvSpPr>
          <p:cNvPr id="44" name="SK-11-text-4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5" name="SK-11-text-4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거버넌스(2.1)</a:t>
            </a:r>
            <a:endParaRPr lang="en-US" sz="2550" dirty="0"/>
          </a:p>
        </p:txBody>
      </p:sp>
      <p:sp>
        <p:nvSpPr>
          <p:cNvPr id="46" name="SK-11-text-45"/>
          <p:cNvSpPr/>
          <p:nvPr/>
        </p:nvSpPr>
        <p:spPr>
          <a:xfrm>
            <a:off x="964406" y="1524000"/>
            <a:ext cx="108204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거버넌스(Governance)는 HERMES 실패의 가장 치명적인 도메인입니다.</a:t>
            </a:r>
            <a:endParaRPr lang="en-US" sz="1275" dirty="0"/>
          </a:p>
        </p:txBody>
      </p:sp>
      <p:sp>
        <p:nvSpPr>
          <p:cNvPr id="47" name="SK-11-text-46"/>
          <p:cNvSpPr/>
          <p:nvPr/>
        </p:nvSpPr>
        <p:spPr>
          <a:xfrm>
            <a:off x="685800" y="1804988"/>
            <a:ext cx="1089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"거버넌스는 의사결정의 투명성과 추적성을 보장하는 체계이나, HERMES에서는 이를 왜곡·조작하는 도구로 전락함"</a:t>
            </a:r>
            <a:endParaRPr lang="en-US" sz="1050" dirty="0"/>
          </a:p>
        </p:txBody>
      </p:sp>
      <p:sp>
        <p:nvSpPr>
          <p:cNvPr id="48" name="SK-11-text-47"/>
          <p:cNvSpPr/>
          <p:nvPr/>
        </p:nvSpPr>
        <p:spPr>
          <a:xfrm>
            <a:off x="995363" y="2424113"/>
            <a:ext cx="25546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 및 추적성 실패</a:t>
            </a:r>
            <a:endParaRPr lang="en-US" sz="1350" dirty="0"/>
          </a:p>
        </p:txBody>
      </p:sp>
      <p:sp>
        <p:nvSpPr>
          <p:cNvPr id="49" name="SK-11-text-48"/>
          <p:cNvSpPr/>
          <p:nvPr/>
        </p:nvSpPr>
        <p:spPr>
          <a:xfrm>
            <a:off x="762000" y="2871788"/>
            <a:ext cx="1743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50" name="SK-11-text-49"/>
          <p:cNvSpPr/>
          <p:nvPr/>
        </p:nvSpPr>
        <p:spPr>
          <a:xfrm>
            <a:off x="2582168" y="2871788"/>
            <a:ext cx="33042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51" name="SK-11-text-50"/>
          <p:cNvSpPr/>
          <p:nvPr/>
        </p:nvSpPr>
        <p:spPr>
          <a:xfrm>
            <a:off x="762000" y="3195638"/>
            <a:ext cx="174396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부분 보고</a:t>
            </a:r>
            <a:endParaRPr lang="en-US" sz="1050" dirty="0"/>
          </a:p>
        </p:txBody>
      </p:sp>
      <p:sp>
        <p:nvSpPr>
          <p:cNvPr id="52" name="SK-11-text-51"/>
          <p:cNvSpPr/>
          <p:nvPr/>
        </p:nvSpPr>
        <p:spPr>
          <a:xfrm>
            <a:off x="2582168" y="3195638"/>
            <a:ext cx="32280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인프라(24억) 분리 보고 → CPI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(보고) vs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(실제)</a:t>
            </a:r>
            <a:endParaRPr lang="en-US" sz="1050" dirty="0"/>
          </a:p>
        </p:txBody>
      </p:sp>
      <p:sp>
        <p:nvSpPr>
          <p:cNvPr id="53" name="SK-11-text-52"/>
          <p:cNvSpPr/>
          <p:nvPr/>
        </p:nvSpPr>
        <p:spPr>
          <a:xfrm>
            <a:off x="762000" y="3933825"/>
            <a:ext cx="174396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</a:t>
            </a:r>
            <a:endParaRPr lang="en-US" sz="1050" dirty="0"/>
          </a:p>
        </p:txBody>
      </p:sp>
      <p:sp>
        <p:nvSpPr>
          <p:cNvPr id="54" name="SK-11-text-53"/>
          <p:cNvSpPr/>
          <p:nvPr/>
        </p:nvSpPr>
        <p:spPr>
          <a:xfrm>
            <a:off x="2582168" y="3933825"/>
            <a:ext cx="32280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DEC-04~11: 3개 리전 기록 상이.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SSOT(단일진실공급원) 부재</a:t>
            </a:r>
            <a:endParaRPr lang="en-US" sz="1050" dirty="0"/>
          </a:p>
        </p:txBody>
      </p:sp>
      <p:sp>
        <p:nvSpPr>
          <p:cNvPr id="55" name="SK-11-text-54"/>
          <p:cNvSpPr/>
          <p:nvPr/>
        </p:nvSpPr>
        <p:spPr>
          <a:xfrm>
            <a:off x="762000" y="4672013"/>
            <a:ext cx="174396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자동보고 무검토</a:t>
            </a:r>
            <a:endParaRPr lang="en-US" sz="1050" dirty="0"/>
          </a:p>
        </p:txBody>
      </p:sp>
      <p:sp>
        <p:nvSpPr>
          <p:cNvPr id="56" name="SK-11-text-55"/>
          <p:cNvSpPr/>
          <p:nvPr/>
        </p:nvSpPr>
        <p:spPr>
          <a:xfrm>
            <a:off x="2582168" y="4672013"/>
            <a:ext cx="32280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16주간 "전 지표 정상" 반복. 사람 검토자/서명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</a:t>
            </a:r>
            <a:endParaRPr lang="en-US" sz="1050" dirty="0"/>
          </a:p>
        </p:txBody>
      </p:sp>
      <p:sp>
        <p:nvSpPr>
          <p:cNvPr id="57" name="SK-11-text-56"/>
          <p:cNvSpPr/>
          <p:nvPr/>
        </p:nvSpPr>
        <p:spPr>
          <a:xfrm>
            <a:off x="762000" y="5410200"/>
            <a:ext cx="1743968" cy="47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운영 붕괴</a:t>
            </a:r>
            <a:endParaRPr lang="en-US" sz="1050" dirty="0"/>
          </a:p>
        </p:txBody>
      </p:sp>
      <p:sp>
        <p:nvSpPr>
          <p:cNvPr id="58" name="SK-11-text-57"/>
          <p:cNvSpPr/>
          <p:nvPr/>
        </p:nvSpPr>
        <p:spPr>
          <a:xfrm>
            <a:off x="2582168" y="5410200"/>
            <a:ext cx="3228082" cy="47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9회 중 3회 취소. 편익 아젠다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0회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50" dirty="0"/>
          </a:p>
        </p:txBody>
      </p:sp>
      <p:sp>
        <p:nvSpPr>
          <p:cNvPr id="59" name="SK-11-text-58"/>
          <p:cNvSpPr/>
          <p:nvPr/>
        </p:nvSpPr>
        <p:spPr>
          <a:xfrm>
            <a:off x="762000" y="5886301"/>
            <a:ext cx="1743968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 미추적</a:t>
            </a:r>
            <a:endParaRPr lang="en-US" sz="1050" dirty="0"/>
          </a:p>
        </p:txBody>
      </p:sp>
      <p:sp>
        <p:nvSpPr>
          <p:cNvPr id="60" name="SK-11-text-59"/>
          <p:cNvSpPr/>
          <p:nvPr/>
        </p:nvSpPr>
        <p:spPr>
          <a:xfrm>
            <a:off x="2582168" y="5886301"/>
            <a:ext cx="4686048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후 엣지캐시 등 3건 해소 확인 기록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</a:t>
            </a:r>
            <a:endParaRPr lang="en-US" sz="1050" dirty="0"/>
          </a:p>
        </p:txBody>
      </p:sp>
      <p:sp>
        <p:nvSpPr>
          <p:cNvPr id="61" name="SK-11-text-60"/>
          <p:cNvSpPr/>
          <p:nvPr/>
        </p:nvSpPr>
        <p:spPr>
          <a:xfrm>
            <a:off x="6615113" y="2424113"/>
            <a:ext cx="29660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 관리 왜곡 및 조작</a:t>
            </a:r>
            <a:endParaRPr lang="en-US" sz="1350" dirty="0"/>
          </a:p>
        </p:txBody>
      </p:sp>
      <p:sp>
        <p:nvSpPr>
          <p:cNvPr id="62" name="SK-11-text-61"/>
          <p:cNvSpPr/>
          <p:nvPr/>
        </p:nvSpPr>
        <p:spPr>
          <a:xfrm>
            <a:off x="6381750" y="2871788"/>
            <a:ext cx="1743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63" name="SK-11-text-62"/>
          <p:cNvSpPr/>
          <p:nvPr/>
        </p:nvSpPr>
        <p:spPr>
          <a:xfrm>
            <a:off x="8201918" y="2871788"/>
            <a:ext cx="33042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64" name="SK-11-text-63"/>
          <p:cNvSpPr/>
          <p:nvPr/>
        </p:nvSpPr>
        <p:spPr>
          <a:xfrm>
            <a:off x="6381750" y="3195638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변경통제 형식화</a:t>
            </a:r>
            <a:endParaRPr lang="en-US" sz="1050" dirty="0"/>
          </a:p>
        </p:txBody>
      </p:sp>
      <p:sp>
        <p:nvSpPr>
          <p:cNvPr id="65" name="SK-11-text-64"/>
          <p:cNvSpPr/>
          <p:nvPr/>
        </p:nvSpPr>
        <p:spPr>
          <a:xfrm>
            <a:off x="8201918" y="3195638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 vs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35건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(영향평가 0) </a:t>
            </a:r>
            <a:endParaRPr lang="en-US" sz="1050" dirty="0"/>
          </a:p>
        </p:txBody>
      </p:sp>
      <p:sp>
        <p:nvSpPr>
          <p:cNvPr id="66" name="SK-11-text-65"/>
          <p:cNvSpPr/>
          <p:nvPr/>
        </p:nvSpPr>
        <p:spPr>
          <a:xfrm>
            <a:off x="6381750" y="3829050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결함</a:t>
            </a:r>
            <a:endParaRPr lang="en-US" sz="1050" dirty="0"/>
          </a:p>
        </p:txBody>
      </p:sp>
      <p:sp>
        <p:nvSpPr>
          <p:cNvPr id="67" name="SK-11-text-66"/>
          <p:cNvSpPr/>
          <p:nvPr/>
        </p:nvSpPr>
        <p:spPr>
          <a:xfrm>
            <a:off x="8201918" y="3829050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SC는 Output 위주. BEN(Outcome)은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불가"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배제 </a:t>
            </a:r>
            <a:endParaRPr lang="en-US" sz="1050" dirty="0"/>
          </a:p>
        </p:txBody>
      </p:sp>
      <p:sp>
        <p:nvSpPr>
          <p:cNvPr id="68" name="SK-11-text-67"/>
          <p:cNvSpPr/>
          <p:nvPr/>
        </p:nvSpPr>
        <p:spPr>
          <a:xfrm>
            <a:off x="6381750" y="4462463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 범위 조작</a:t>
            </a:r>
            <a:endParaRPr lang="en-US" sz="1050" dirty="0"/>
          </a:p>
        </p:txBody>
      </p:sp>
      <p:sp>
        <p:nvSpPr>
          <p:cNvPr id="69" name="SK-11-text-68"/>
          <p:cNvSpPr/>
          <p:nvPr/>
        </p:nvSpPr>
        <p:spPr>
          <a:xfrm>
            <a:off x="8201918" y="4462463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SC-03 범위를 양재 정형 시나리오로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축소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실사업장 36.9% 제외</a:t>
            </a:r>
            <a:endParaRPr lang="en-US" sz="1050" dirty="0"/>
          </a:p>
        </p:txBody>
      </p:sp>
      <p:sp>
        <p:nvSpPr>
          <p:cNvPr id="70" name="SK-11-text-69"/>
          <p:cNvSpPr/>
          <p:nvPr/>
        </p:nvSpPr>
        <p:spPr>
          <a:xfrm>
            <a:off x="6381750" y="5095875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등급 조작</a:t>
            </a:r>
            <a:endParaRPr lang="en-US" sz="1050" dirty="0"/>
          </a:p>
        </p:txBody>
      </p:sp>
      <p:sp>
        <p:nvSpPr>
          <p:cNvPr id="71" name="SK-11-text-70"/>
          <p:cNvSpPr/>
          <p:nvPr/>
        </p:nvSpPr>
        <p:spPr>
          <a:xfrm>
            <a:off x="8201918" y="5095875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3건 → Medium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강등 (근거 공란)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SC-05 달성 목적 </a:t>
            </a:r>
            <a:endParaRPr lang="en-US" sz="1050" dirty="0"/>
          </a:p>
        </p:txBody>
      </p:sp>
      <p:sp>
        <p:nvSpPr>
          <p:cNvPr id="72" name="SK-11-text-71"/>
          <p:cNvSpPr/>
          <p:nvPr/>
        </p:nvSpPr>
        <p:spPr>
          <a:xfrm>
            <a:off x="6381750" y="5729288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완료율 부풀림</a:t>
            </a:r>
            <a:endParaRPr lang="en-US" sz="1050" dirty="0"/>
          </a:p>
        </p:txBody>
      </p:sp>
      <p:sp>
        <p:nvSpPr>
          <p:cNvPr id="73" name="SK-11-text-72"/>
          <p:cNvSpPr/>
          <p:nvPr/>
        </p:nvSpPr>
        <p:spPr>
          <a:xfrm>
            <a:off x="8201918" y="5729288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QA 삭제 →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머지=Done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실물 검증 없이 92.9% 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1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1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5410200" cy="4595813"/>
          </a:xfrm>
          <a:prstGeom prst="rect">
            <a:avLst/>
          </a:prstGeom>
        </p:spPr>
      </p:pic>
      <p:pic>
        <p:nvPicPr>
          <p:cNvPr id="7" name="SK-1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552575"/>
            <a:ext cx="4953000" cy="409575"/>
          </a:xfrm>
          <a:prstGeom prst="rect">
            <a:avLst/>
          </a:prstGeom>
        </p:spPr>
      </p:pic>
      <p:pic>
        <p:nvPicPr>
          <p:cNvPr id="8" name="SK-1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03028"/>
            <a:ext cx="261937" cy="213420"/>
          </a:xfrm>
          <a:prstGeom prst="rect">
            <a:avLst/>
          </a:prstGeom>
        </p:spPr>
      </p:pic>
      <p:pic>
        <p:nvPicPr>
          <p:cNvPr id="9" name="SK-1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0" y="1581150"/>
            <a:ext cx="457200" cy="257175"/>
          </a:xfrm>
          <a:prstGeom prst="rect">
            <a:avLst/>
          </a:prstGeom>
        </p:spPr>
      </p:pic>
      <p:pic>
        <p:nvPicPr>
          <p:cNvPr id="10" name="SK-1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152650"/>
            <a:ext cx="202406" cy="166688"/>
          </a:xfrm>
          <a:prstGeom prst="rect">
            <a:avLst/>
          </a:prstGeom>
        </p:spPr>
      </p:pic>
      <p:pic>
        <p:nvPicPr>
          <p:cNvPr id="11" name="SK-1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976563"/>
            <a:ext cx="202406" cy="166688"/>
          </a:xfrm>
          <a:prstGeom prst="rect">
            <a:avLst/>
          </a:prstGeom>
        </p:spPr>
      </p:pic>
      <p:pic>
        <p:nvPicPr>
          <p:cNvPr id="12" name="SK-1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800475"/>
            <a:ext cx="202406" cy="166688"/>
          </a:xfrm>
          <a:prstGeom prst="rect">
            <a:avLst/>
          </a:prstGeom>
        </p:spPr>
      </p:pic>
      <p:pic>
        <p:nvPicPr>
          <p:cNvPr id="13" name="SK-1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624388"/>
            <a:ext cx="202406" cy="166688"/>
          </a:xfrm>
          <a:prstGeom prst="rect">
            <a:avLst/>
          </a:prstGeom>
        </p:spPr>
      </p:pic>
      <p:pic>
        <p:nvPicPr>
          <p:cNvPr id="14" name="SK-1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371600"/>
            <a:ext cx="5410200" cy="4595813"/>
          </a:xfrm>
          <a:prstGeom prst="rect">
            <a:avLst/>
          </a:prstGeom>
        </p:spPr>
      </p:pic>
      <p:pic>
        <p:nvPicPr>
          <p:cNvPr id="15" name="SK-1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552575"/>
            <a:ext cx="4953000" cy="409575"/>
          </a:xfrm>
          <a:prstGeom prst="rect">
            <a:avLst/>
          </a:prstGeom>
        </p:spPr>
      </p:pic>
      <p:pic>
        <p:nvPicPr>
          <p:cNvPr id="16" name="SK-1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1603028"/>
            <a:ext cx="261937" cy="213420"/>
          </a:xfrm>
          <a:prstGeom prst="rect">
            <a:avLst/>
          </a:prstGeom>
        </p:spPr>
      </p:pic>
      <p:pic>
        <p:nvPicPr>
          <p:cNvPr id="17" name="SK-1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34700" y="1581150"/>
            <a:ext cx="457200" cy="257175"/>
          </a:xfrm>
          <a:prstGeom prst="rect">
            <a:avLst/>
          </a:prstGeom>
        </p:spPr>
      </p:pic>
      <p:pic>
        <p:nvPicPr>
          <p:cNvPr id="18" name="SK-1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152650"/>
            <a:ext cx="202406" cy="166688"/>
          </a:xfrm>
          <a:prstGeom prst="rect">
            <a:avLst/>
          </a:prstGeom>
        </p:spPr>
      </p:pic>
      <p:pic>
        <p:nvPicPr>
          <p:cNvPr id="19" name="SK-1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2976563"/>
            <a:ext cx="202406" cy="166688"/>
          </a:xfrm>
          <a:prstGeom prst="rect">
            <a:avLst/>
          </a:prstGeom>
        </p:spPr>
      </p:pic>
      <p:pic>
        <p:nvPicPr>
          <p:cNvPr id="20" name="SK-1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3800475"/>
            <a:ext cx="202406" cy="166688"/>
          </a:xfrm>
          <a:prstGeom prst="rect">
            <a:avLst/>
          </a:prstGeom>
        </p:spPr>
      </p:pic>
      <p:pic>
        <p:nvPicPr>
          <p:cNvPr id="21" name="SK-1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4624388"/>
            <a:ext cx="202406" cy="166688"/>
          </a:xfrm>
          <a:prstGeom prst="rect">
            <a:avLst/>
          </a:prstGeom>
        </p:spPr>
      </p:pic>
      <p:pic>
        <p:nvPicPr>
          <p:cNvPr id="22" name="SK-1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6148388"/>
            <a:ext cx="11049000" cy="404813"/>
          </a:xfrm>
          <a:prstGeom prst="rect">
            <a:avLst/>
          </a:prstGeom>
        </p:spPr>
      </p:pic>
      <p:pic>
        <p:nvPicPr>
          <p:cNvPr id="23" name="SK-1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6274594"/>
            <a:ext cx="190500" cy="152400"/>
          </a:xfrm>
          <a:prstGeom prst="rect">
            <a:avLst/>
          </a:prstGeom>
        </p:spPr>
      </p:pic>
      <p:sp>
        <p:nvSpPr>
          <p:cNvPr id="24" name="SK-12-text-23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5" name="SK-12-text-24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범위(2.2) 및 재무(2.4)</a:t>
            </a:r>
            <a:endParaRPr lang="en-US" sz="2550" dirty="0"/>
          </a:p>
        </p:txBody>
      </p:sp>
      <p:sp>
        <p:nvSpPr>
          <p:cNvPr id="26" name="SK-12-text-25"/>
          <p:cNvSpPr/>
          <p:nvPr/>
        </p:nvSpPr>
        <p:spPr>
          <a:xfrm>
            <a:off x="1157288" y="1552575"/>
            <a:ext cx="53644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2.2: 범위 (Scope)</a:t>
            </a:r>
            <a:endParaRPr lang="en-US" sz="1650" dirty="0"/>
          </a:p>
        </p:txBody>
      </p:sp>
      <p:sp>
        <p:nvSpPr>
          <p:cNvPr id="27" name="SK-12-text-26"/>
          <p:cNvSpPr/>
          <p:nvPr/>
        </p:nvSpPr>
        <p:spPr>
          <a:xfrm>
            <a:off x="5391150" y="1581150"/>
            <a:ext cx="342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1050" dirty="0"/>
          </a:p>
        </p:txBody>
      </p:sp>
      <p:sp>
        <p:nvSpPr>
          <p:cNvPr id="28" name="SK-12-text-27"/>
          <p:cNvSpPr/>
          <p:nvPr/>
        </p:nvSpPr>
        <p:spPr>
          <a:xfrm>
            <a:off x="1078706" y="2114550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및 베이스라인 미갱신</a:t>
            </a:r>
            <a:endParaRPr lang="en-US" sz="1275" dirty="0"/>
          </a:p>
        </p:txBody>
      </p:sp>
      <p:sp>
        <p:nvSpPr>
          <p:cNvPr id="29" name="SK-12-text-28"/>
          <p:cNvSpPr/>
          <p:nvPr/>
        </p:nvSpPr>
        <p:spPr>
          <a:xfrm>
            <a:off x="1009650" y="2386013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 외 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비공식 변경 35건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 (회의록 21건 + 메신저 14건). 영향평가 및 베이스라인 업데이트 전무.</a:t>
            </a:r>
            <a:endParaRPr lang="en-US" sz="1125" dirty="0"/>
          </a:p>
        </p:txBody>
      </p:sp>
      <p:sp>
        <p:nvSpPr>
          <p:cNvPr id="30" name="SK-12-text-29"/>
          <p:cNvSpPr/>
          <p:nvPr/>
        </p:nvSpPr>
        <p:spPr>
          <a:xfrm>
            <a:off x="1078706" y="2938463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변경을 통한 완료 기준 하향</a:t>
            </a:r>
            <a:endParaRPr lang="en-US" sz="1275" dirty="0"/>
          </a:p>
        </p:txBody>
      </p:sp>
      <p:sp>
        <p:nvSpPr>
          <p:cNvPr id="31" name="SK-12-text-30"/>
          <p:cNvSpPr/>
          <p:nvPr/>
        </p:nvSpPr>
        <p:spPr>
          <a:xfrm>
            <a:off x="1047750" y="3209925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CR-012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QA 통과 조건을 삭제하고 '코드 머지 = Done'으로 변경. 실물 검증 없는 허수 완료율 양산.</a:t>
            </a:r>
            <a:endParaRPr lang="en-US" sz="1125" dirty="0"/>
          </a:p>
        </p:txBody>
      </p:sp>
      <p:sp>
        <p:nvSpPr>
          <p:cNvPr id="32" name="SK-12-text-31"/>
          <p:cNvSpPr/>
          <p:nvPr/>
        </p:nvSpPr>
        <p:spPr>
          <a:xfrm>
            <a:off x="1078706" y="3762375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스코프 크립(Scope Creep) 미인지</a:t>
            </a:r>
            <a:endParaRPr lang="en-US" sz="1275" dirty="0"/>
          </a:p>
        </p:txBody>
      </p:sp>
      <p:sp>
        <p:nvSpPr>
          <p:cNvPr id="33" name="SK-12-text-32"/>
          <p:cNvSpPr/>
          <p:nvPr/>
        </p:nvSpPr>
        <p:spPr>
          <a:xfrm>
            <a:off x="1009650" y="4033837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기종 베이스라인 6종이나 실제 8종 운영. 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CR-005/006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예산 미반영 등 통제 밖의 범위 확장 지속.</a:t>
            </a:r>
            <a:endParaRPr lang="en-US" sz="1125" dirty="0"/>
          </a:p>
        </p:txBody>
      </p:sp>
      <p:sp>
        <p:nvSpPr>
          <p:cNvPr id="34" name="SK-12-text-33"/>
          <p:cNvSpPr/>
          <p:nvPr/>
        </p:nvSpPr>
        <p:spPr>
          <a:xfrm>
            <a:off x="1078706" y="4586288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범위 미정의</a:t>
            </a:r>
            <a:endParaRPr lang="en-US" sz="1275" dirty="0"/>
          </a:p>
        </p:txBody>
      </p:sp>
      <p:sp>
        <p:nvSpPr>
          <p:cNvPr id="35" name="SK-12-text-34"/>
          <p:cNvSpPr/>
          <p:nvPr/>
        </p:nvSpPr>
        <p:spPr>
          <a:xfrm>
            <a:off x="1047750" y="4857750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BEN-01~05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측정 방법, 주기, 책임자가 8개월간 '미정의' 상태로 방치되어 가치 중심 관리 부재.</a:t>
            </a:r>
            <a:endParaRPr lang="en-US" sz="1125" dirty="0"/>
          </a:p>
        </p:txBody>
      </p:sp>
      <p:sp>
        <p:nvSpPr>
          <p:cNvPr id="36" name="SK-12-text-35"/>
          <p:cNvSpPr/>
          <p:nvPr/>
        </p:nvSpPr>
        <p:spPr>
          <a:xfrm>
            <a:off x="6796088" y="1552575"/>
            <a:ext cx="5395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2.4: 재무 (Financial)</a:t>
            </a:r>
            <a:endParaRPr lang="en-US" sz="1650" dirty="0"/>
          </a:p>
        </p:txBody>
      </p:sp>
      <p:sp>
        <p:nvSpPr>
          <p:cNvPr id="37" name="SK-12-text-36"/>
          <p:cNvSpPr/>
          <p:nvPr/>
        </p:nvSpPr>
        <p:spPr>
          <a:xfrm>
            <a:off x="11029950" y="1581150"/>
            <a:ext cx="342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1050" dirty="0"/>
          </a:p>
        </p:txBody>
      </p:sp>
      <p:sp>
        <p:nvSpPr>
          <p:cNvPr id="38" name="SK-12-text-37"/>
          <p:cNvSpPr/>
          <p:nvPr/>
        </p:nvSpPr>
        <p:spPr>
          <a:xfrm>
            <a:off x="6717506" y="2114550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통제 실패</a:t>
            </a:r>
            <a:endParaRPr lang="en-US" sz="1275" dirty="0"/>
          </a:p>
        </p:txBody>
      </p:sp>
      <p:sp>
        <p:nvSpPr>
          <p:cNvPr id="39" name="SK-12-text-38"/>
          <p:cNvSpPr/>
          <p:nvPr/>
        </p:nvSpPr>
        <p:spPr>
          <a:xfrm>
            <a:off x="6648450" y="2386013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24억 중 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21.4억(89%)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소진. 엣지캐시 미적용 및 VLM 최고티어 단일 고정으로 인한 비효율적 집행.</a:t>
            </a:r>
            <a:endParaRPr lang="en-US" sz="1125" dirty="0"/>
          </a:p>
        </p:txBody>
      </p:sp>
      <p:sp>
        <p:nvSpPr>
          <p:cNvPr id="40" name="SK-12-text-39"/>
          <p:cNvSpPr/>
          <p:nvPr/>
        </p:nvSpPr>
        <p:spPr>
          <a:xfrm>
            <a:off x="6717506" y="2938463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CPI 악화 은폐 및 분리 보고</a:t>
            </a:r>
            <a:endParaRPr lang="en-US" sz="1275" dirty="0"/>
          </a:p>
        </p:txBody>
      </p:sp>
      <p:sp>
        <p:nvSpPr>
          <p:cNvPr id="41" name="SK-12-text-40"/>
          <p:cNvSpPr/>
          <p:nvPr/>
        </p:nvSpPr>
        <p:spPr>
          <a:xfrm>
            <a:off x="6648450" y="3209925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총 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CPI 0.944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이나, AI 인프라 비용을 제외한 '개발 부문(CPI 0.98)'만 선별 게시하여 지표 왜곡.</a:t>
            </a:r>
            <a:endParaRPr lang="en-US" sz="1125" dirty="0"/>
          </a:p>
        </p:txBody>
      </p:sp>
      <p:sp>
        <p:nvSpPr>
          <p:cNvPr id="42" name="SK-12-text-41"/>
          <p:cNvSpPr/>
          <p:nvPr/>
        </p:nvSpPr>
        <p:spPr>
          <a:xfrm>
            <a:off x="6717506" y="3762375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책임성(Accountability) 부재</a:t>
            </a:r>
            <a:endParaRPr lang="en-US" sz="1275" dirty="0"/>
          </a:p>
        </p:txBody>
      </p:sp>
      <p:sp>
        <p:nvSpPr>
          <p:cNvPr id="43" name="SK-12-text-42"/>
          <p:cNvSpPr/>
          <p:nvPr/>
        </p:nvSpPr>
        <p:spPr>
          <a:xfrm>
            <a:off x="6686550" y="4033837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16_org_raci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AI 인프라 예산의 최종 책임자(Accountable) 항목이 공란으로 방치됨.</a:t>
            </a:r>
            <a:endParaRPr lang="en-US" sz="1125" dirty="0"/>
          </a:p>
        </p:txBody>
      </p:sp>
      <p:sp>
        <p:nvSpPr>
          <p:cNvPr id="44" name="SK-12-text-43"/>
          <p:cNvSpPr/>
          <p:nvPr/>
        </p:nvSpPr>
        <p:spPr>
          <a:xfrm>
            <a:off x="6717506" y="4586288"/>
            <a:ext cx="495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예산 베이스라인 미반영</a:t>
            </a:r>
            <a:endParaRPr lang="en-US" sz="1275" dirty="0"/>
          </a:p>
        </p:txBody>
      </p:sp>
      <p:sp>
        <p:nvSpPr>
          <p:cNvPr id="45" name="SK-12-text-44"/>
          <p:cNvSpPr/>
          <p:nvPr/>
        </p:nvSpPr>
        <p:spPr>
          <a:xfrm>
            <a:off x="6648450" y="4857750"/>
            <a:ext cx="4743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승인된 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+5억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규모의 예산이 베이스라인에 갱신되지 않아 정확한 재무 성과 측정이 불가능한 상태.</a:t>
            </a:r>
            <a:endParaRPr lang="en-US" sz="1125" dirty="0"/>
          </a:p>
        </p:txBody>
      </p:sp>
      <p:sp>
        <p:nvSpPr>
          <p:cNvPr id="46" name="SK-12-text-45"/>
          <p:cNvSpPr/>
          <p:nvPr/>
        </p:nvSpPr>
        <p:spPr>
          <a:xfrm>
            <a:off x="1066800" y="6243638"/>
            <a:ext cx="10801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범위와 재무의 유기적 연결이 끊어지면서,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통제되지 않는 변경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않는 비용 폭발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이어지는 악순환 구조 형성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410200" cy="4972050"/>
          </a:xfrm>
          <a:prstGeom prst="rect">
            <a:avLst/>
          </a:prstGeom>
        </p:spPr>
      </p:pic>
      <p:pic>
        <p:nvPicPr>
          <p:cNvPr id="7" name="SK-1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695450"/>
            <a:ext cx="5029200" cy="400050"/>
          </a:xfrm>
          <a:prstGeom prst="rect">
            <a:avLst/>
          </a:prstGeom>
        </p:spPr>
      </p:pic>
      <p:pic>
        <p:nvPicPr>
          <p:cNvPr id="8" name="SK-1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724025"/>
            <a:ext cx="285750" cy="228600"/>
          </a:xfrm>
          <a:prstGeom prst="rect">
            <a:avLst/>
          </a:prstGeom>
        </p:spPr>
      </p:pic>
      <p:pic>
        <p:nvPicPr>
          <p:cNvPr id="9" name="SK-1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2950" y="1714500"/>
            <a:ext cx="1238250" cy="247650"/>
          </a:xfrm>
          <a:prstGeom prst="rect">
            <a:avLst/>
          </a:prstGeom>
        </p:spPr>
      </p:pic>
      <p:pic>
        <p:nvPicPr>
          <p:cNvPr id="10" name="SK-1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333625"/>
            <a:ext cx="57150" cy="57150"/>
          </a:xfrm>
          <a:prstGeom prst="rect">
            <a:avLst/>
          </a:prstGeom>
        </p:spPr>
      </p:pic>
      <p:pic>
        <p:nvPicPr>
          <p:cNvPr id="11" name="SK-1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2264569"/>
            <a:ext cx="714375" cy="195263"/>
          </a:xfrm>
          <a:prstGeom prst="rect">
            <a:avLst/>
          </a:prstGeom>
        </p:spPr>
      </p:pic>
      <p:pic>
        <p:nvPicPr>
          <p:cNvPr id="12" name="SK-1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114675"/>
            <a:ext cx="57150" cy="57150"/>
          </a:xfrm>
          <a:prstGeom prst="rect">
            <a:avLst/>
          </a:prstGeom>
        </p:spPr>
      </p:pic>
      <p:pic>
        <p:nvPicPr>
          <p:cNvPr id="13" name="SK-1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4275" y="3045619"/>
            <a:ext cx="381000" cy="195263"/>
          </a:xfrm>
          <a:prstGeom prst="rect">
            <a:avLst/>
          </a:prstGeom>
        </p:spPr>
      </p:pic>
      <p:pic>
        <p:nvPicPr>
          <p:cNvPr id="14" name="SK-1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895725"/>
            <a:ext cx="57150" cy="57150"/>
          </a:xfrm>
          <a:prstGeom prst="rect">
            <a:avLst/>
          </a:prstGeom>
        </p:spPr>
      </p:pic>
      <p:pic>
        <p:nvPicPr>
          <p:cNvPr id="15" name="SK-1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5675" y="3826669"/>
            <a:ext cx="847725" cy="195263"/>
          </a:xfrm>
          <a:prstGeom prst="rect">
            <a:avLst/>
          </a:prstGeom>
        </p:spPr>
      </p:pic>
      <p:pic>
        <p:nvPicPr>
          <p:cNvPr id="16" name="SK-1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676775"/>
            <a:ext cx="57150" cy="57150"/>
          </a:xfrm>
          <a:prstGeom prst="rect">
            <a:avLst/>
          </a:prstGeom>
        </p:spPr>
      </p:pic>
      <p:pic>
        <p:nvPicPr>
          <p:cNvPr id="17" name="SK-1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81350" y="4607719"/>
            <a:ext cx="381000" cy="195263"/>
          </a:xfrm>
          <a:prstGeom prst="rect">
            <a:avLst/>
          </a:prstGeom>
        </p:spPr>
      </p:pic>
      <p:pic>
        <p:nvPicPr>
          <p:cNvPr id="18" name="SK-1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1504950"/>
            <a:ext cx="5410200" cy="4972050"/>
          </a:xfrm>
          <a:prstGeom prst="rect">
            <a:avLst/>
          </a:prstGeom>
        </p:spPr>
      </p:pic>
      <p:pic>
        <p:nvPicPr>
          <p:cNvPr id="19" name="SK-1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1695450"/>
            <a:ext cx="5029200" cy="400050"/>
          </a:xfrm>
          <a:prstGeom prst="rect">
            <a:avLst/>
          </a:prstGeom>
        </p:spPr>
      </p:pic>
      <p:pic>
        <p:nvPicPr>
          <p:cNvPr id="20" name="SK-1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1724025"/>
            <a:ext cx="285750" cy="228600"/>
          </a:xfrm>
          <a:prstGeom prst="rect">
            <a:avLst/>
          </a:prstGeom>
        </p:spPr>
      </p:pic>
      <p:pic>
        <p:nvPicPr>
          <p:cNvPr id="21" name="SK-1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91750" y="1714500"/>
            <a:ext cx="1238250" cy="247650"/>
          </a:xfrm>
          <a:prstGeom prst="rect">
            <a:avLst/>
          </a:prstGeom>
        </p:spPr>
      </p:pic>
      <p:pic>
        <p:nvPicPr>
          <p:cNvPr id="22" name="SK-1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2247900"/>
            <a:ext cx="5029200" cy="800100"/>
          </a:xfrm>
          <a:prstGeom prst="rect">
            <a:avLst/>
          </a:prstGeom>
        </p:spPr>
      </p:pic>
      <p:pic>
        <p:nvPicPr>
          <p:cNvPr id="23" name="SK-1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2362200"/>
            <a:ext cx="838200" cy="571500"/>
          </a:xfrm>
          <a:prstGeom prst="rect">
            <a:avLst/>
          </a:prstGeom>
        </p:spPr>
      </p:pic>
      <p:pic>
        <p:nvPicPr>
          <p:cNvPr id="24" name="SK-1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286125"/>
            <a:ext cx="57150" cy="57150"/>
          </a:xfrm>
          <a:prstGeom prst="rect">
            <a:avLst/>
          </a:prstGeom>
        </p:spPr>
      </p:pic>
      <p:pic>
        <p:nvPicPr>
          <p:cNvPr id="25" name="SK-1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20150" y="3217069"/>
            <a:ext cx="381000" cy="195263"/>
          </a:xfrm>
          <a:prstGeom prst="rect">
            <a:avLst/>
          </a:prstGeom>
        </p:spPr>
      </p:pic>
      <p:pic>
        <p:nvPicPr>
          <p:cNvPr id="26" name="SK-1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67175"/>
            <a:ext cx="57150" cy="57150"/>
          </a:xfrm>
          <a:prstGeom prst="rect">
            <a:avLst/>
          </a:prstGeom>
        </p:spPr>
      </p:pic>
      <p:pic>
        <p:nvPicPr>
          <p:cNvPr id="27" name="SK-1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86850" y="3998119"/>
            <a:ext cx="381000" cy="195263"/>
          </a:xfrm>
          <a:prstGeom prst="rect">
            <a:avLst/>
          </a:prstGeom>
        </p:spPr>
      </p:pic>
      <p:pic>
        <p:nvPicPr>
          <p:cNvPr id="28" name="SK-1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4848225"/>
            <a:ext cx="57150" cy="57150"/>
          </a:xfrm>
          <a:prstGeom prst="rect">
            <a:avLst/>
          </a:prstGeom>
        </p:spPr>
      </p:pic>
      <p:pic>
        <p:nvPicPr>
          <p:cNvPr id="29" name="SK-1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77300" y="4779169"/>
            <a:ext cx="1181100" cy="195263"/>
          </a:xfrm>
          <a:prstGeom prst="rect">
            <a:avLst/>
          </a:prstGeom>
        </p:spPr>
      </p:pic>
      <p:pic>
        <p:nvPicPr>
          <p:cNvPr id="30" name="SK-1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00800" y="5629275"/>
            <a:ext cx="57150" cy="57150"/>
          </a:xfrm>
          <a:prstGeom prst="rect">
            <a:avLst/>
          </a:prstGeom>
        </p:spPr>
      </p:pic>
      <p:pic>
        <p:nvPicPr>
          <p:cNvPr id="31" name="SK-1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915400" y="5560219"/>
            <a:ext cx="381000" cy="195263"/>
          </a:xfrm>
          <a:prstGeom prst="rect">
            <a:avLst/>
          </a:prstGeom>
        </p:spPr>
      </p:pic>
      <p:sp>
        <p:nvSpPr>
          <p:cNvPr id="32" name="SK-13-text-31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3" name="SK-13-text-32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이해관계자(2.5) 및 리스크(2.7)</a:t>
            </a:r>
            <a:endParaRPr lang="en-US" sz="2550" dirty="0"/>
          </a:p>
        </p:txBody>
      </p:sp>
      <p:sp>
        <p:nvSpPr>
          <p:cNvPr id="34" name="SK-13-text-33"/>
          <p:cNvSpPr/>
          <p:nvPr/>
        </p:nvSpPr>
        <p:spPr>
          <a:xfrm>
            <a:off x="1162050" y="1695450"/>
            <a:ext cx="5124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 관리 (Stakeholder)</a:t>
            </a:r>
            <a:endParaRPr lang="en-US" sz="1500" dirty="0"/>
          </a:p>
        </p:txBody>
      </p:sp>
      <p:sp>
        <p:nvSpPr>
          <p:cNvPr id="35" name="SK-13-text-34"/>
          <p:cNvSpPr/>
          <p:nvPr/>
        </p:nvSpPr>
        <p:spPr>
          <a:xfrm>
            <a:off x="4629150" y="1714500"/>
            <a:ext cx="21209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CRITICALLY FAILED</a:t>
            </a:r>
            <a:endParaRPr lang="en-US" sz="900" dirty="0"/>
          </a:p>
        </p:txBody>
      </p:sp>
      <p:sp>
        <p:nvSpPr>
          <p:cNvPr id="36" name="SK-13-text-35"/>
          <p:cNvSpPr/>
          <p:nvPr/>
        </p:nvSpPr>
        <p:spPr>
          <a:xfrm>
            <a:off x="895350" y="2247900"/>
            <a:ext cx="422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소통 단절 및 의사결정 불일치</a:t>
            </a:r>
            <a:endParaRPr lang="en-US" sz="1200" dirty="0"/>
          </a:p>
        </p:txBody>
      </p:sp>
      <p:sp>
        <p:nvSpPr>
          <p:cNvPr id="37" name="SK-13-text-36"/>
          <p:cNvSpPr/>
          <p:nvPr/>
        </p:nvSpPr>
        <p:spPr>
          <a:xfrm>
            <a:off x="3714750" y="2264569"/>
            <a:ext cx="1308354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DEC-04~11</a:t>
            </a:r>
            <a:endParaRPr lang="en-US" sz="825" dirty="0"/>
          </a:p>
        </p:txBody>
      </p:sp>
      <p:sp>
        <p:nvSpPr>
          <p:cNvPr id="38" name="SK-13-text-37"/>
          <p:cNvSpPr/>
          <p:nvPr/>
        </p:nvSpPr>
        <p:spPr>
          <a:xfrm>
            <a:off x="895350" y="251460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한국·미국·인도 리전별 기록 상이로 인한 의사결정 불일치 5건 발생. 결과적으로 2.3MM의 중복 개발 비용 낭비 초래.</a:t>
            </a:r>
            <a:endParaRPr lang="en-US" sz="1050" dirty="0"/>
          </a:p>
        </p:txBody>
      </p:sp>
      <p:sp>
        <p:nvSpPr>
          <p:cNvPr id="39" name="SK-13-text-38"/>
          <p:cNvSpPr/>
          <p:nvPr/>
        </p:nvSpPr>
        <p:spPr>
          <a:xfrm>
            <a:off x="895350" y="3028950"/>
            <a:ext cx="483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이해관계자(Daniel Suh) 신호 차단</a:t>
            </a:r>
            <a:endParaRPr lang="en-US" sz="1200" dirty="0"/>
          </a:p>
        </p:txBody>
      </p:sp>
      <p:sp>
        <p:nvSpPr>
          <p:cNvPr id="40" name="SK-13-text-39"/>
          <p:cNvSpPr/>
          <p:nvPr/>
        </p:nvSpPr>
        <p:spPr>
          <a:xfrm>
            <a:off x="3781425" y="3045619"/>
            <a:ext cx="5455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E-03</a:t>
            </a:r>
            <a:endParaRPr lang="en-US" sz="825" dirty="0"/>
          </a:p>
        </p:txBody>
      </p:sp>
      <p:sp>
        <p:nvSpPr>
          <p:cNvPr id="41" name="SK-13-text-40"/>
          <p:cNvSpPr/>
          <p:nvPr/>
        </p:nvSpPr>
        <p:spPr>
          <a:xfrm>
            <a:off x="895350" y="329565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8/10, 8/17, 8/21 발송된 3차례의 전략적 우려 메일에 대해 PM의 회신 기록 전무. 고객 가치 관련 조기 경고 무시.</a:t>
            </a:r>
            <a:endParaRPr lang="en-US" sz="1050" dirty="0"/>
          </a:p>
        </p:txBody>
      </p:sp>
      <p:sp>
        <p:nvSpPr>
          <p:cNvPr id="42" name="SK-13-text-41"/>
          <p:cNvSpPr/>
          <p:nvPr/>
        </p:nvSpPr>
        <p:spPr>
          <a:xfrm>
            <a:off x="895350" y="3810000"/>
            <a:ext cx="409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공유 체계(RACI)의 구조적 결함</a:t>
            </a:r>
            <a:endParaRPr lang="en-US" sz="1200" dirty="0"/>
          </a:p>
        </p:txBody>
      </p:sp>
      <p:sp>
        <p:nvSpPr>
          <p:cNvPr id="43" name="SK-13-text-42"/>
          <p:cNvSpPr/>
          <p:nvPr/>
        </p:nvSpPr>
        <p:spPr>
          <a:xfrm>
            <a:off x="3552825" y="3826669"/>
            <a:ext cx="1417791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16_org_raci</a:t>
            </a:r>
            <a:endParaRPr lang="en-US" sz="825" dirty="0"/>
          </a:p>
        </p:txBody>
      </p:sp>
      <p:sp>
        <p:nvSpPr>
          <p:cNvPr id="44" name="SK-13-text-43"/>
          <p:cNvSpPr/>
          <p:nvPr/>
        </p:nvSpPr>
        <p:spPr>
          <a:xfrm>
            <a:off x="895350" y="407670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정보 공유(Informed) 대상에서 PM, PO, 스폰서가 누락됨. 현장의 위기 상황이 의사결정권자에게 전달되지 않음.</a:t>
            </a:r>
            <a:endParaRPr lang="en-US" sz="1050" dirty="0"/>
          </a:p>
        </p:txBody>
      </p:sp>
      <p:sp>
        <p:nvSpPr>
          <p:cNvPr id="45" name="SK-13-text-44"/>
          <p:cNvSpPr/>
          <p:nvPr/>
        </p:nvSpPr>
        <p:spPr>
          <a:xfrm>
            <a:off x="895350" y="4591050"/>
            <a:ext cx="318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스폰서의 비공식 변경 지시 방치</a:t>
            </a:r>
            <a:endParaRPr lang="en-US" sz="1200" dirty="0"/>
          </a:p>
        </p:txBody>
      </p:sp>
      <p:sp>
        <p:nvSpPr>
          <p:cNvPr id="46" name="SK-13-text-45"/>
          <p:cNvSpPr/>
          <p:nvPr/>
        </p:nvSpPr>
        <p:spPr>
          <a:xfrm>
            <a:off x="3238500" y="4607719"/>
            <a:ext cx="5455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M-06</a:t>
            </a:r>
            <a:endParaRPr lang="en-US" sz="825" dirty="0"/>
          </a:p>
        </p:txBody>
      </p:sp>
      <p:sp>
        <p:nvSpPr>
          <p:cNvPr id="47" name="SK-13-text-46"/>
          <p:cNvSpPr/>
          <p:nvPr/>
        </p:nvSpPr>
        <p:spPr>
          <a:xfrm>
            <a:off x="895350" y="485775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"큰 것도 아닌데 그냥 넣읍시다" 식의 비공식 변경을 정식 CR 등록 없이 수용하여 변경 통제 거버넌스 붕괴.</a:t>
            </a:r>
            <a:endParaRPr lang="en-US" sz="1050" dirty="0"/>
          </a:p>
        </p:txBody>
      </p:sp>
      <p:sp>
        <p:nvSpPr>
          <p:cNvPr id="48" name="SK-13-text-47"/>
          <p:cNvSpPr/>
          <p:nvPr/>
        </p:nvSpPr>
        <p:spPr>
          <a:xfrm>
            <a:off x="6800850" y="1695450"/>
            <a:ext cx="3371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(Risk)</a:t>
            </a:r>
            <a:endParaRPr lang="en-US" sz="1500" dirty="0"/>
          </a:p>
        </p:txBody>
      </p:sp>
      <p:sp>
        <p:nvSpPr>
          <p:cNvPr id="49" name="SK-13-text-48"/>
          <p:cNvSpPr/>
          <p:nvPr/>
        </p:nvSpPr>
        <p:spPr>
          <a:xfrm>
            <a:off x="10267950" y="1714500"/>
            <a:ext cx="1924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CRITICALLY FAILED</a:t>
            </a:r>
            <a:endParaRPr lang="en-US" sz="900" dirty="0"/>
          </a:p>
        </p:txBody>
      </p:sp>
      <p:sp>
        <p:nvSpPr>
          <p:cNvPr id="50" name="SK-13-text-49"/>
          <p:cNvSpPr/>
          <p:nvPr/>
        </p:nvSpPr>
        <p:spPr>
          <a:xfrm>
            <a:off x="6457950" y="236220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F4444"/>
                </a:solidFill>
              </a:rPr>
              <a:t>137일</a:t>
            </a:r>
            <a:endParaRPr lang="en-US" sz="1800" dirty="0"/>
          </a:p>
        </p:txBody>
      </p:sp>
      <p:sp>
        <p:nvSpPr>
          <p:cNvPr id="51" name="SK-13-text-50"/>
          <p:cNvSpPr/>
          <p:nvPr/>
        </p:nvSpPr>
        <p:spPr>
          <a:xfrm>
            <a:off x="6477000" y="2771775"/>
            <a:ext cx="762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중단 기간</a:t>
            </a:r>
            <a:endParaRPr lang="en-US" sz="825" dirty="0"/>
          </a:p>
        </p:txBody>
      </p:sp>
      <p:sp>
        <p:nvSpPr>
          <p:cNvPr id="52" name="SK-13-text-51"/>
          <p:cNvSpPr/>
          <p:nvPr/>
        </p:nvSpPr>
        <p:spPr>
          <a:xfrm>
            <a:off x="7505700" y="2447925"/>
            <a:ext cx="2790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 최종 갱신일: 2026-04-11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후반부 4개월간 리스크 관리 기능 마비</a:t>
            </a:r>
            <a:endParaRPr lang="en-US" sz="1050" dirty="0"/>
          </a:p>
        </p:txBody>
      </p:sp>
      <p:sp>
        <p:nvSpPr>
          <p:cNvPr id="53" name="SK-13-text-52"/>
          <p:cNvSpPr/>
          <p:nvPr/>
        </p:nvSpPr>
        <p:spPr>
          <a:xfrm>
            <a:off x="6534150" y="3200400"/>
            <a:ext cx="318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등급의 임의적 하향 조정</a:t>
            </a:r>
            <a:endParaRPr lang="en-US" sz="1200" dirty="0"/>
          </a:p>
        </p:txBody>
      </p:sp>
      <p:sp>
        <p:nvSpPr>
          <p:cNvPr id="54" name="SK-13-text-53"/>
          <p:cNvSpPr/>
          <p:nvPr/>
        </p:nvSpPr>
        <p:spPr>
          <a:xfrm>
            <a:off x="8877300" y="3217069"/>
            <a:ext cx="5455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M-02</a:t>
            </a:r>
            <a:endParaRPr lang="en-US" sz="825" dirty="0"/>
          </a:p>
        </p:txBody>
      </p:sp>
      <p:sp>
        <p:nvSpPr>
          <p:cNvPr id="55" name="SK-13-text-54"/>
          <p:cNvSpPr/>
          <p:nvPr/>
        </p:nvSpPr>
        <p:spPr>
          <a:xfrm>
            <a:off x="6534150" y="346710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하향. "근거는 나중에 정리하자"며 보고상 지표 유지(SC-05)에만 집중.</a:t>
            </a:r>
            <a:endParaRPr lang="en-US" sz="1050" dirty="0"/>
          </a:p>
        </p:txBody>
      </p:sp>
      <p:sp>
        <p:nvSpPr>
          <p:cNvPr id="56" name="SK-13-text-55"/>
          <p:cNvSpPr/>
          <p:nvPr/>
        </p:nvSpPr>
        <p:spPr>
          <a:xfrm>
            <a:off x="6534150" y="3981450"/>
            <a:ext cx="446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환경 리스크(Helion EOL) 방치</a:t>
            </a:r>
            <a:endParaRPr lang="en-US" sz="1200" dirty="0"/>
          </a:p>
        </p:txBody>
      </p:sp>
      <p:sp>
        <p:nvSpPr>
          <p:cNvPr id="57" name="SK-13-text-56"/>
          <p:cNvSpPr/>
          <p:nvPr/>
        </p:nvSpPr>
        <p:spPr>
          <a:xfrm>
            <a:off x="9144000" y="3998119"/>
            <a:ext cx="5455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E-02</a:t>
            </a:r>
            <a:endParaRPr lang="en-US" sz="825" dirty="0"/>
          </a:p>
        </p:txBody>
      </p:sp>
      <p:sp>
        <p:nvSpPr>
          <p:cNvPr id="58" name="SK-13-text-57"/>
          <p:cNvSpPr/>
          <p:nvPr/>
        </p:nvSpPr>
        <p:spPr>
          <a:xfrm>
            <a:off x="6534150" y="424815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7/28 수신된 Helion v3 EOL 정보 미등록. 배포일과 EOL이 겹치는 치명적 상황임에도 대응 계획 수립 전무.</a:t>
            </a:r>
            <a:endParaRPr lang="en-US" sz="1050" dirty="0"/>
          </a:p>
        </p:txBody>
      </p:sp>
      <p:sp>
        <p:nvSpPr>
          <p:cNvPr id="59" name="SK-13-text-58"/>
          <p:cNvSpPr/>
          <p:nvPr/>
        </p:nvSpPr>
        <p:spPr>
          <a:xfrm>
            <a:off x="6534150" y="4762500"/>
            <a:ext cx="428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계획(Mitigation) 수립 부재</a:t>
            </a:r>
            <a:endParaRPr lang="en-US" sz="1200" dirty="0"/>
          </a:p>
        </p:txBody>
      </p:sp>
      <p:sp>
        <p:nvSpPr>
          <p:cNvPr id="60" name="SK-13-text-59"/>
          <p:cNvSpPr/>
          <p:nvPr/>
        </p:nvSpPr>
        <p:spPr>
          <a:xfrm>
            <a:off x="8934450" y="4779169"/>
            <a:ext cx="2044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11_risk_register</a:t>
            </a:r>
            <a:endParaRPr lang="en-US" sz="825" dirty="0"/>
          </a:p>
        </p:txBody>
      </p:sp>
      <p:sp>
        <p:nvSpPr>
          <p:cNvPr id="61" name="SK-13-text-60"/>
          <p:cNvSpPr/>
          <p:nvPr/>
        </p:nvSpPr>
        <p:spPr>
          <a:xfrm>
            <a:off x="6534150" y="502920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등록된 리스크(RSK-01~03)조차 대응 계획란이 공란으로 방치됨. 식별만 하고 관리는 하지 않는 형식적 행정.</a:t>
            </a:r>
            <a:endParaRPr lang="en-US" sz="1050" dirty="0"/>
          </a:p>
        </p:txBody>
      </p:sp>
      <p:sp>
        <p:nvSpPr>
          <p:cNvPr id="62" name="SK-13-text-61"/>
          <p:cNvSpPr/>
          <p:nvPr/>
        </p:nvSpPr>
        <p:spPr>
          <a:xfrm>
            <a:off x="6534150" y="554355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조건부 통과 리스크 추적 실패</a:t>
            </a:r>
            <a:endParaRPr lang="en-US" sz="1200" dirty="0"/>
          </a:p>
        </p:txBody>
      </p:sp>
      <p:sp>
        <p:nvSpPr>
          <p:cNvPr id="63" name="SK-13-text-62"/>
          <p:cNvSpPr/>
          <p:nvPr/>
        </p:nvSpPr>
        <p:spPr>
          <a:xfrm>
            <a:off x="8972550" y="5560219"/>
            <a:ext cx="5455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M-02</a:t>
            </a:r>
            <a:endParaRPr lang="en-US" sz="825" dirty="0"/>
          </a:p>
        </p:txBody>
      </p:sp>
      <p:sp>
        <p:nvSpPr>
          <p:cNvPr id="64" name="SK-13-text-63"/>
          <p:cNvSpPr/>
          <p:nvPr/>
        </p:nvSpPr>
        <p:spPr>
          <a:xfrm>
            <a:off x="6534150" y="5810250"/>
            <a:ext cx="4895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게이트 통과 조건인 3건의 리스크 해소 여부 미추적. 특히 엣지캐시는 메신저상에서 임의로 무효화됨.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1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1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28725"/>
            <a:ext cx="5410200" cy="2228850"/>
          </a:xfrm>
          <a:prstGeom prst="rect">
            <a:avLst/>
          </a:prstGeom>
        </p:spPr>
      </p:pic>
      <p:pic>
        <p:nvPicPr>
          <p:cNvPr id="7" name="SK-1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81125"/>
            <a:ext cx="5029200" cy="381000"/>
          </a:xfrm>
          <a:prstGeom prst="rect">
            <a:avLst/>
          </a:prstGeom>
        </p:spPr>
      </p:pic>
      <p:pic>
        <p:nvPicPr>
          <p:cNvPr id="8" name="SK-1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09700"/>
            <a:ext cx="285750" cy="228600"/>
          </a:xfrm>
          <a:prstGeom prst="rect">
            <a:avLst/>
          </a:prstGeom>
        </p:spPr>
      </p:pic>
      <p:pic>
        <p:nvPicPr>
          <p:cNvPr id="9" name="SK-1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885950"/>
            <a:ext cx="2457450" cy="661988"/>
          </a:xfrm>
          <a:prstGeom prst="rect">
            <a:avLst/>
          </a:prstGeom>
        </p:spPr>
      </p:pic>
      <p:pic>
        <p:nvPicPr>
          <p:cNvPr id="10" name="SK-1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1885950"/>
            <a:ext cx="2457450" cy="661988"/>
          </a:xfrm>
          <a:prstGeom prst="rect">
            <a:avLst/>
          </a:prstGeom>
        </p:spPr>
      </p:pic>
      <p:pic>
        <p:nvPicPr>
          <p:cNvPr id="11" name="SK-1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643188"/>
            <a:ext cx="2457450" cy="661988"/>
          </a:xfrm>
          <a:prstGeom prst="rect">
            <a:avLst/>
          </a:prstGeom>
        </p:spPr>
      </p:pic>
      <p:pic>
        <p:nvPicPr>
          <p:cNvPr id="12" name="SK-1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3750" y="2643188"/>
            <a:ext cx="2457450" cy="661988"/>
          </a:xfrm>
          <a:prstGeom prst="rect">
            <a:avLst/>
          </a:prstGeom>
        </p:spPr>
      </p:pic>
      <p:pic>
        <p:nvPicPr>
          <p:cNvPr id="13" name="SK-1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581400"/>
            <a:ext cx="5410200" cy="2228850"/>
          </a:xfrm>
          <a:prstGeom prst="rect">
            <a:avLst/>
          </a:prstGeom>
        </p:spPr>
      </p:pic>
      <p:pic>
        <p:nvPicPr>
          <p:cNvPr id="14" name="SK-1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733800"/>
            <a:ext cx="5029200" cy="381000"/>
          </a:xfrm>
          <a:prstGeom prst="rect">
            <a:avLst/>
          </a:prstGeom>
        </p:spPr>
      </p:pic>
      <p:pic>
        <p:nvPicPr>
          <p:cNvPr id="15" name="SK-1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762375"/>
            <a:ext cx="285750" cy="228600"/>
          </a:xfrm>
          <a:prstGeom prst="rect">
            <a:avLst/>
          </a:prstGeom>
        </p:spPr>
      </p:pic>
      <p:pic>
        <p:nvPicPr>
          <p:cNvPr id="16" name="SK-1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238625"/>
            <a:ext cx="2457450" cy="661988"/>
          </a:xfrm>
          <a:prstGeom prst="rect">
            <a:avLst/>
          </a:prstGeom>
        </p:spPr>
      </p:pic>
      <p:pic>
        <p:nvPicPr>
          <p:cNvPr id="17" name="SK-1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33750" y="4238625"/>
            <a:ext cx="2457450" cy="661988"/>
          </a:xfrm>
          <a:prstGeom prst="rect">
            <a:avLst/>
          </a:prstGeom>
        </p:spPr>
      </p:pic>
      <p:pic>
        <p:nvPicPr>
          <p:cNvPr id="18" name="SK-1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995863"/>
            <a:ext cx="2457450" cy="661988"/>
          </a:xfrm>
          <a:prstGeom prst="rect">
            <a:avLst/>
          </a:prstGeom>
        </p:spPr>
      </p:pic>
      <p:pic>
        <p:nvPicPr>
          <p:cNvPr id="19" name="SK-1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33750" y="4995863"/>
            <a:ext cx="2457450" cy="661988"/>
          </a:xfrm>
          <a:prstGeom prst="rect">
            <a:avLst/>
          </a:prstGeom>
        </p:spPr>
      </p:pic>
      <p:pic>
        <p:nvPicPr>
          <p:cNvPr id="20" name="SK-1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1228725"/>
            <a:ext cx="5410200" cy="4581525"/>
          </a:xfrm>
          <a:prstGeom prst="rect">
            <a:avLst/>
          </a:prstGeom>
        </p:spPr>
      </p:pic>
      <p:pic>
        <p:nvPicPr>
          <p:cNvPr id="21" name="SK-1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1323975"/>
            <a:ext cx="2590800" cy="404813"/>
          </a:xfrm>
          <a:prstGeom prst="rect">
            <a:avLst/>
          </a:prstGeom>
        </p:spPr>
      </p:pic>
      <p:pic>
        <p:nvPicPr>
          <p:cNvPr id="22" name="SK-1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15400" y="1323975"/>
            <a:ext cx="2590800" cy="404813"/>
          </a:xfrm>
          <a:prstGeom prst="rect">
            <a:avLst/>
          </a:prstGeom>
        </p:spPr>
      </p:pic>
      <p:pic>
        <p:nvPicPr>
          <p:cNvPr id="23" name="SK-1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1728788"/>
            <a:ext cx="2590800" cy="569416"/>
          </a:xfrm>
          <a:prstGeom prst="rect">
            <a:avLst/>
          </a:prstGeom>
        </p:spPr>
      </p:pic>
      <p:pic>
        <p:nvPicPr>
          <p:cNvPr id="24" name="SK-1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15400" y="1728788"/>
            <a:ext cx="2590800" cy="569416"/>
          </a:xfrm>
          <a:prstGeom prst="rect">
            <a:avLst/>
          </a:prstGeom>
        </p:spPr>
      </p:pic>
      <p:pic>
        <p:nvPicPr>
          <p:cNvPr id="25" name="SK-1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29700" y="1890415"/>
            <a:ext cx="1012031" cy="242888"/>
          </a:xfrm>
          <a:prstGeom prst="rect">
            <a:avLst/>
          </a:prstGeom>
        </p:spPr>
      </p:pic>
      <p:pic>
        <p:nvPicPr>
          <p:cNvPr id="26" name="SK-1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05900" y="1948904"/>
            <a:ext cx="154781" cy="125760"/>
          </a:xfrm>
          <a:prstGeom prst="rect">
            <a:avLst/>
          </a:prstGeom>
        </p:spPr>
      </p:pic>
      <p:pic>
        <p:nvPicPr>
          <p:cNvPr id="27" name="SK-1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2298204"/>
            <a:ext cx="2590800" cy="569416"/>
          </a:xfrm>
          <a:prstGeom prst="rect">
            <a:avLst/>
          </a:prstGeom>
        </p:spPr>
      </p:pic>
      <p:pic>
        <p:nvPicPr>
          <p:cNvPr id="28" name="SK-1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15400" y="2298204"/>
            <a:ext cx="2590800" cy="569416"/>
          </a:xfrm>
          <a:prstGeom prst="rect">
            <a:avLst/>
          </a:prstGeom>
        </p:spPr>
      </p:pic>
      <p:pic>
        <p:nvPicPr>
          <p:cNvPr id="29" name="SK-1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29700" y="2459831"/>
            <a:ext cx="1012031" cy="242888"/>
          </a:xfrm>
          <a:prstGeom prst="rect">
            <a:avLst/>
          </a:prstGeom>
        </p:spPr>
      </p:pic>
      <p:pic>
        <p:nvPicPr>
          <p:cNvPr id="30" name="SK-1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05900" y="2518321"/>
            <a:ext cx="154781" cy="125760"/>
          </a:xfrm>
          <a:prstGeom prst="rect">
            <a:avLst/>
          </a:prstGeom>
        </p:spPr>
      </p:pic>
      <p:pic>
        <p:nvPicPr>
          <p:cNvPr id="31" name="SK-1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24600" y="2867620"/>
            <a:ext cx="2590800" cy="569416"/>
          </a:xfrm>
          <a:prstGeom prst="rect">
            <a:avLst/>
          </a:prstGeom>
        </p:spPr>
      </p:pic>
      <p:pic>
        <p:nvPicPr>
          <p:cNvPr id="32" name="SK-1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915400" y="2867620"/>
            <a:ext cx="2590800" cy="569416"/>
          </a:xfrm>
          <a:prstGeom prst="rect">
            <a:avLst/>
          </a:prstGeom>
        </p:spPr>
      </p:pic>
      <p:pic>
        <p:nvPicPr>
          <p:cNvPr id="33" name="SK-1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29700" y="3029248"/>
            <a:ext cx="735806" cy="242888"/>
          </a:xfrm>
          <a:prstGeom prst="rect">
            <a:avLst/>
          </a:prstGeom>
        </p:spPr>
      </p:pic>
      <p:pic>
        <p:nvPicPr>
          <p:cNvPr id="34" name="SK-1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05900" y="3087737"/>
            <a:ext cx="154781" cy="125760"/>
          </a:xfrm>
          <a:prstGeom prst="rect">
            <a:avLst/>
          </a:prstGeom>
        </p:spPr>
      </p:pic>
      <p:pic>
        <p:nvPicPr>
          <p:cNvPr id="35" name="SK-1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24600" y="3437037"/>
            <a:ext cx="2590800" cy="569416"/>
          </a:xfrm>
          <a:prstGeom prst="rect">
            <a:avLst/>
          </a:prstGeom>
        </p:spPr>
      </p:pic>
      <p:pic>
        <p:nvPicPr>
          <p:cNvPr id="36" name="SK-14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915400" y="3437037"/>
            <a:ext cx="2590800" cy="569416"/>
          </a:xfrm>
          <a:prstGeom prst="rect">
            <a:avLst/>
          </a:prstGeom>
        </p:spPr>
      </p:pic>
      <p:pic>
        <p:nvPicPr>
          <p:cNvPr id="37" name="SK-14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029700" y="3598664"/>
            <a:ext cx="1012031" cy="242888"/>
          </a:xfrm>
          <a:prstGeom prst="rect">
            <a:avLst/>
          </a:prstGeom>
        </p:spPr>
      </p:pic>
      <p:pic>
        <p:nvPicPr>
          <p:cNvPr id="38" name="SK-14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05900" y="3657154"/>
            <a:ext cx="154781" cy="125760"/>
          </a:xfrm>
          <a:prstGeom prst="rect">
            <a:avLst/>
          </a:prstGeom>
        </p:spPr>
      </p:pic>
      <p:pic>
        <p:nvPicPr>
          <p:cNvPr id="39" name="SK-14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24600" y="4006453"/>
            <a:ext cx="2590800" cy="569416"/>
          </a:xfrm>
          <a:prstGeom prst="rect">
            <a:avLst/>
          </a:prstGeom>
        </p:spPr>
      </p:pic>
      <p:pic>
        <p:nvPicPr>
          <p:cNvPr id="40" name="SK-14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915400" y="4006453"/>
            <a:ext cx="2590800" cy="569416"/>
          </a:xfrm>
          <a:prstGeom prst="rect">
            <a:avLst/>
          </a:prstGeom>
        </p:spPr>
      </p:pic>
      <p:pic>
        <p:nvPicPr>
          <p:cNvPr id="41" name="SK-14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029700" y="4168080"/>
            <a:ext cx="888206" cy="242888"/>
          </a:xfrm>
          <a:prstGeom prst="rect">
            <a:avLst/>
          </a:prstGeom>
        </p:spPr>
      </p:pic>
      <p:pic>
        <p:nvPicPr>
          <p:cNvPr id="42" name="SK-14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105900" y="4226570"/>
            <a:ext cx="154781" cy="125760"/>
          </a:xfrm>
          <a:prstGeom prst="rect">
            <a:avLst/>
          </a:prstGeom>
        </p:spPr>
      </p:pic>
      <p:pic>
        <p:nvPicPr>
          <p:cNvPr id="43" name="SK-14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324600" y="4575870"/>
            <a:ext cx="2590800" cy="569416"/>
          </a:xfrm>
          <a:prstGeom prst="rect">
            <a:avLst/>
          </a:prstGeom>
        </p:spPr>
      </p:pic>
      <p:pic>
        <p:nvPicPr>
          <p:cNvPr id="44" name="SK-14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915400" y="4575870"/>
            <a:ext cx="2590800" cy="569416"/>
          </a:xfrm>
          <a:prstGeom prst="rect">
            <a:avLst/>
          </a:prstGeom>
        </p:spPr>
      </p:pic>
      <p:pic>
        <p:nvPicPr>
          <p:cNvPr id="45" name="SK-14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029700" y="4737497"/>
            <a:ext cx="735806" cy="242888"/>
          </a:xfrm>
          <a:prstGeom prst="rect">
            <a:avLst/>
          </a:prstGeom>
        </p:spPr>
      </p:pic>
      <p:pic>
        <p:nvPicPr>
          <p:cNvPr id="46" name="SK-14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105900" y="4795986"/>
            <a:ext cx="154781" cy="125760"/>
          </a:xfrm>
          <a:prstGeom prst="rect">
            <a:avLst/>
          </a:prstGeom>
        </p:spPr>
      </p:pic>
      <p:pic>
        <p:nvPicPr>
          <p:cNvPr id="47" name="SK-14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324600" y="5145286"/>
            <a:ext cx="2590800" cy="569714"/>
          </a:xfrm>
          <a:prstGeom prst="rect">
            <a:avLst/>
          </a:prstGeom>
        </p:spPr>
      </p:pic>
      <p:pic>
        <p:nvPicPr>
          <p:cNvPr id="48" name="SK-14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915400" y="5145286"/>
            <a:ext cx="2590800" cy="569714"/>
          </a:xfrm>
          <a:prstGeom prst="rect">
            <a:avLst/>
          </a:prstGeom>
        </p:spPr>
      </p:pic>
      <p:pic>
        <p:nvPicPr>
          <p:cNvPr id="49" name="SK-14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29700" y="5307062"/>
            <a:ext cx="1012031" cy="242888"/>
          </a:xfrm>
          <a:prstGeom prst="rect">
            <a:avLst/>
          </a:prstGeom>
        </p:spPr>
      </p:pic>
      <p:pic>
        <p:nvPicPr>
          <p:cNvPr id="50" name="SK-14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105900" y="5365552"/>
            <a:ext cx="154781" cy="125760"/>
          </a:xfrm>
          <a:prstGeom prst="rect">
            <a:avLst/>
          </a:prstGeom>
        </p:spPr>
      </p:pic>
      <p:pic>
        <p:nvPicPr>
          <p:cNvPr id="51" name="SK-14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71500" y="5991225"/>
            <a:ext cx="11049000" cy="676275"/>
          </a:xfrm>
          <a:prstGeom prst="rect">
            <a:avLst/>
          </a:prstGeom>
        </p:spPr>
      </p:pic>
      <p:pic>
        <p:nvPicPr>
          <p:cNvPr id="52" name="SK-14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00100" y="6162675"/>
            <a:ext cx="333375" cy="333375"/>
          </a:xfrm>
          <a:prstGeom prst="rect">
            <a:avLst/>
          </a:prstGeom>
        </p:spPr>
      </p:pic>
      <p:sp>
        <p:nvSpPr>
          <p:cNvPr id="53" name="SK-14-text-52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4" name="SK-14-text-53"/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건강한 영역 및 요약</a:t>
            </a:r>
            <a:endParaRPr lang="en-US" sz="2550" dirty="0"/>
          </a:p>
        </p:txBody>
      </p:sp>
      <p:sp>
        <p:nvSpPr>
          <p:cNvPr id="55" name="SK-14-text-54"/>
          <p:cNvSpPr/>
          <p:nvPr/>
        </p:nvSpPr>
        <p:spPr>
          <a:xfrm>
            <a:off x="1162050" y="1381125"/>
            <a:ext cx="5657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2.3: 일정 (Schedule)</a:t>
            </a:r>
            <a:endParaRPr lang="en-US" sz="1500" dirty="0"/>
          </a:p>
        </p:txBody>
      </p:sp>
      <p:sp>
        <p:nvSpPr>
          <p:cNvPr id="56" name="SK-14-text-55"/>
          <p:cNvSpPr/>
          <p:nvPr/>
        </p:nvSpPr>
        <p:spPr>
          <a:xfrm>
            <a:off x="876300" y="1981200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(개발 부문)</a:t>
            </a:r>
            <a:endParaRPr lang="en-US" sz="975" dirty="0"/>
          </a:p>
        </p:txBody>
      </p:sp>
      <p:sp>
        <p:nvSpPr>
          <p:cNvPr id="57" name="SK-14-text-56"/>
          <p:cNvSpPr/>
          <p:nvPr/>
        </p:nvSpPr>
        <p:spPr>
          <a:xfrm>
            <a:off x="876300" y="2195513"/>
            <a:ext cx="2314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1.02</a:t>
            </a:r>
            <a:endParaRPr lang="en-US" sz="1350" dirty="0"/>
          </a:p>
        </p:txBody>
      </p:sp>
      <p:sp>
        <p:nvSpPr>
          <p:cNvPr id="58" name="SK-14-text-57"/>
          <p:cNvSpPr/>
          <p:nvPr/>
        </p:nvSpPr>
        <p:spPr>
          <a:xfrm>
            <a:off x="3448050" y="1981200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스프린트 커밋율</a:t>
            </a:r>
            <a:endParaRPr lang="en-US" sz="975" dirty="0"/>
          </a:p>
        </p:txBody>
      </p:sp>
      <p:sp>
        <p:nvSpPr>
          <p:cNvPr id="59" name="SK-14-text-58"/>
          <p:cNvSpPr/>
          <p:nvPr/>
        </p:nvSpPr>
        <p:spPr>
          <a:xfrm>
            <a:off x="3448050" y="2195513"/>
            <a:ext cx="2314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87%</a:t>
            </a:r>
            <a:endParaRPr lang="en-US" sz="1350" dirty="0"/>
          </a:p>
        </p:txBody>
      </p:sp>
      <p:sp>
        <p:nvSpPr>
          <p:cNvPr id="60" name="SK-14-text-59"/>
          <p:cNvSpPr/>
          <p:nvPr/>
        </p:nvSpPr>
        <p:spPr>
          <a:xfrm>
            <a:off x="876300" y="2738438"/>
            <a:ext cx="25031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G1~G4 Milestone</a:t>
            </a:r>
            <a:endParaRPr lang="en-US" sz="975" dirty="0"/>
          </a:p>
        </p:txBody>
      </p:sp>
      <p:sp>
        <p:nvSpPr>
          <p:cNvPr id="61" name="SK-14-text-60"/>
          <p:cNvSpPr/>
          <p:nvPr/>
        </p:nvSpPr>
        <p:spPr>
          <a:xfrm>
            <a:off x="876300" y="2952750"/>
            <a:ext cx="2314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정시 통과</a:t>
            </a:r>
            <a:endParaRPr lang="en-US" sz="1350" dirty="0"/>
          </a:p>
        </p:txBody>
      </p:sp>
      <p:sp>
        <p:nvSpPr>
          <p:cNvPr id="62" name="SK-14-text-61"/>
          <p:cNvSpPr/>
          <p:nvPr/>
        </p:nvSpPr>
        <p:spPr>
          <a:xfrm>
            <a:off x="3448050" y="2738438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빌드 성공률</a:t>
            </a:r>
            <a:endParaRPr lang="en-US" sz="975" dirty="0"/>
          </a:p>
        </p:txBody>
      </p:sp>
      <p:sp>
        <p:nvSpPr>
          <p:cNvPr id="63" name="SK-14-text-62"/>
          <p:cNvSpPr/>
          <p:nvPr/>
        </p:nvSpPr>
        <p:spPr>
          <a:xfrm>
            <a:off x="3448050" y="2952750"/>
            <a:ext cx="2314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89%</a:t>
            </a:r>
            <a:endParaRPr lang="en-US" sz="1350" dirty="0"/>
          </a:p>
        </p:txBody>
      </p:sp>
      <p:sp>
        <p:nvSpPr>
          <p:cNvPr id="64" name="SK-14-text-63"/>
          <p:cNvSpPr/>
          <p:nvPr/>
        </p:nvSpPr>
        <p:spPr>
          <a:xfrm>
            <a:off x="1162050" y="3733800"/>
            <a:ext cx="5657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2.6: 자원 (Resource)</a:t>
            </a:r>
            <a:endParaRPr lang="en-US" sz="1500" dirty="0"/>
          </a:p>
        </p:txBody>
      </p:sp>
      <p:sp>
        <p:nvSpPr>
          <p:cNvPr id="65" name="SK-14-text-64"/>
          <p:cNvSpPr/>
          <p:nvPr/>
        </p:nvSpPr>
        <p:spPr>
          <a:xfrm>
            <a:off x="876300" y="4333875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충원율</a:t>
            </a:r>
            <a:endParaRPr lang="en-US" sz="975" dirty="0"/>
          </a:p>
        </p:txBody>
      </p:sp>
      <p:sp>
        <p:nvSpPr>
          <p:cNvPr id="66" name="SK-14-text-65"/>
          <p:cNvSpPr/>
          <p:nvPr/>
        </p:nvSpPr>
        <p:spPr>
          <a:xfrm>
            <a:off x="876300" y="4548188"/>
            <a:ext cx="2828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100% (96명)</a:t>
            </a:r>
            <a:endParaRPr lang="en-US" sz="1350" dirty="0"/>
          </a:p>
        </p:txBody>
      </p:sp>
      <p:sp>
        <p:nvSpPr>
          <p:cNvPr id="67" name="SK-14-text-66"/>
          <p:cNvSpPr/>
          <p:nvPr/>
        </p:nvSpPr>
        <p:spPr>
          <a:xfrm>
            <a:off x="3448050" y="4333875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만족도</a:t>
            </a:r>
            <a:endParaRPr lang="en-US" sz="975" dirty="0"/>
          </a:p>
        </p:txBody>
      </p:sp>
      <p:sp>
        <p:nvSpPr>
          <p:cNvPr id="68" name="SK-14-text-67"/>
          <p:cNvSpPr/>
          <p:nvPr/>
        </p:nvSpPr>
        <p:spPr>
          <a:xfrm>
            <a:off x="3448050" y="4548188"/>
            <a:ext cx="24860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3.9 / 5.0</a:t>
            </a:r>
            <a:endParaRPr lang="en-US" sz="1350" dirty="0"/>
          </a:p>
        </p:txBody>
      </p:sp>
      <p:sp>
        <p:nvSpPr>
          <p:cNvPr id="69" name="SK-14-text-68"/>
          <p:cNvSpPr/>
          <p:nvPr/>
        </p:nvSpPr>
        <p:spPr>
          <a:xfrm>
            <a:off x="876300" y="5091113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번아웃 / 초과근무</a:t>
            </a:r>
            <a:endParaRPr lang="en-US" sz="975" dirty="0"/>
          </a:p>
        </p:txBody>
      </p:sp>
      <p:sp>
        <p:nvSpPr>
          <p:cNvPr id="70" name="SK-14-text-69"/>
          <p:cNvSpPr/>
          <p:nvPr/>
        </p:nvSpPr>
        <p:spPr>
          <a:xfrm>
            <a:off x="876300" y="5305425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7% / 8.2h</a:t>
            </a:r>
            <a:endParaRPr lang="en-US" sz="1350" dirty="0"/>
          </a:p>
        </p:txBody>
      </p:sp>
      <p:sp>
        <p:nvSpPr>
          <p:cNvPr id="71" name="SK-14-text-70"/>
          <p:cNvSpPr/>
          <p:nvPr/>
        </p:nvSpPr>
        <p:spPr>
          <a:xfrm>
            <a:off x="3448050" y="5091113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가동률</a:t>
            </a:r>
            <a:endParaRPr lang="en-US" sz="975" dirty="0"/>
          </a:p>
        </p:txBody>
      </p:sp>
      <p:sp>
        <p:nvSpPr>
          <p:cNvPr id="72" name="SK-14-text-71"/>
          <p:cNvSpPr/>
          <p:nvPr/>
        </p:nvSpPr>
        <p:spPr>
          <a:xfrm>
            <a:off x="3448050" y="5305425"/>
            <a:ext cx="2314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61%</a:t>
            </a:r>
            <a:endParaRPr lang="en-US" sz="1350" dirty="0"/>
          </a:p>
        </p:txBody>
      </p:sp>
      <p:sp>
        <p:nvSpPr>
          <p:cNvPr id="73" name="SK-14-text-72"/>
          <p:cNvSpPr/>
          <p:nvPr/>
        </p:nvSpPr>
        <p:spPr>
          <a:xfrm>
            <a:off x="6438900" y="1323975"/>
            <a:ext cx="4088466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Domain (§2.x)</a:t>
            </a:r>
            <a:endParaRPr lang="en-US" sz="1125" dirty="0"/>
          </a:p>
        </p:txBody>
      </p:sp>
      <p:sp>
        <p:nvSpPr>
          <p:cNvPr id="74" name="SK-14-text-73"/>
          <p:cNvSpPr/>
          <p:nvPr/>
        </p:nvSpPr>
        <p:spPr>
          <a:xfrm>
            <a:off x="9029700" y="1323975"/>
            <a:ext cx="243840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및 상태</a:t>
            </a:r>
            <a:endParaRPr lang="en-US" sz="1125" dirty="0"/>
          </a:p>
        </p:txBody>
      </p:sp>
      <p:sp>
        <p:nvSpPr>
          <p:cNvPr id="75" name="SK-14-text-74"/>
          <p:cNvSpPr/>
          <p:nvPr/>
        </p:nvSpPr>
        <p:spPr>
          <a:xfrm>
            <a:off x="6438900" y="1728788"/>
            <a:ext cx="3567393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거버넌스 (Governance)</a:t>
            </a:r>
            <a:endParaRPr lang="en-US" sz="1125" dirty="0"/>
          </a:p>
        </p:txBody>
      </p:sp>
      <p:sp>
        <p:nvSpPr>
          <p:cNvPr id="76" name="SK-14-text-75"/>
          <p:cNvSpPr/>
          <p:nvPr/>
        </p:nvSpPr>
        <p:spPr>
          <a:xfrm>
            <a:off x="9317831" y="1890415"/>
            <a:ext cx="8596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실패</a:t>
            </a:r>
            <a:endParaRPr lang="en-US" sz="975" dirty="0"/>
          </a:p>
        </p:txBody>
      </p:sp>
      <p:sp>
        <p:nvSpPr>
          <p:cNvPr id="77" name="SK-14-text-76"/>
          <p:cNvSpPr/>
          <p:nvPr/>
        </p:nvSpPr>
        <p:spPr>
          <a:xfrm>
            <a:off x="6438900" y="2298204"/>
            <a:ext cx="2473138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범위 (Scope)</a:t>
            </a:r>
            <a:endParaRPr lang="en-US" sz="1125" dirty="0"/>
          </a:p>
        </p:txBody>
      </p:sp>
      <p:sp>
        <p:nvSpPr>
          <p:cNvPr id="78" name="SK-14-text-77"/>
          <p:cNvSpPr/>
          <p:nvPr/>
        </p:nvSpPr>
        <p:spPr>
          <a:xfrm>
            <a:off x="9317831" y="2459831"/>
            <a:ext cx="8596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결함</a:t>
            </a:r>
            <a:endParaRPr lang="en-US" sz="975" dirty="0"/>
          </a:p>
        </p:txBody>
      </p:sp>
      <p:sp>
        <p:nvSpPr>
          <p:cNvPr id="79" name="SK-14-text-78"/>
          <p:cNvSpPr/>
          <p:nvPr/>
        </p:nvSpPr>
        <p:spPr>
          <a:xfrm>
            <a:off x="6438900" y="2867620"/>
            <a:ext cx="2942104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일정 (Schedule)</a:t>
            </a:r>
            <a:endParaRPr lang="en-US" sz="1125" dirty="0"/>
          </a:p>
        </p:txBody>
      </p:sp>
      <p:sp>
        <p:nvSpPr>
          <p:cNvPr id="80" name="SK-14-text-79"/>
          <p:cNvSpPr/>
          <p:nvPr/>
        </p:nvSpPr>
        <p:spPr>
          <a:xfrm>
            <a:off x="9317831" y="3029248"/>
            <a:ext cx="5834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건강함</a:t>
            </a:r>
            <a:endParaRPr lang="en-US" sz="975" dirty="0"/>
          </a:p>
        </p:txBody>
      </p:sp>
      <p:sp>
        <p:nvSpPr>
          <p:cNvPr id="81" name="SK-14-text-80"/>
          <p:cNvSpPr/>
          <p:nvPr/>
        </p:nvSpPr>
        <p:spPr>
          <a:xfrm>
            <a:off x="6438900" y="3437037"/>
            <a:ext cx="3098426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2.4 재무 (Financial)</a:t>
            </a:r>
            <a:endParaRPr lang="en-US" sz="1125" dirty="0"/>
          </a:p>
        </p:txBody>
      </p:sp>
      <p:sp>
        <p:nvSpPr>
          <p:cNvPr id="82" name="SK-14-text-81"/>
          <p:cNvSpPr/>
          <p:nvPr/>
        </p:nvSpPr>
        <p:spPr>
          <a:xfrm>
            <a:off x="9317831" y="3598664"/>
            <a:ext cx="8596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결함</a:t>
            </a:r>
            <a:endParaRPr lang="en-US" sz="975" dirty="0"/>
          </a:p>
        </p:txBody>
      </p:sp>
      <p:sp>
        <p:nvSpPr>
          <p:cNvPr id="83" name="SK-14-text-82"/>
          <p:cNvSpPr/>
          <p:nvPr/>
        </p:nvSpPr>
        <p:spPr>
          <a:xfrm>
            <a:off x="6438900" y="4006453"/>
            <a:ext cx="3880037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 이해관계자 (Stakeholder)</a:t>
            </a:r>
            <a:endParaRPr lang="en-US" sz="1125" dirty="0"/>
          </a:p>
        </p:txBody>
      </p:sp>
      <p:sp>
        <p:nvSpPr>
          <p:cNvPr id="84" name="SK-14-text-83"/>
          <p:cNvSpPr/>
          <p:nvPr/>
        </p:nvSpPr>
        <p:spPr>
          <a:xfrm>
            <a:off x="9317831" y="4168080"/>
            <a:ext cx="7358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발생</a:t>
            </a:r>
            <a:endParaRPr lang="en-US" sz="975" dirty="0"/>
          </a:p>
        </p:txBody>
      </p:sp>
      <p:sp>
        <p:nvSpPr>
          <p:cNvPr id="85" name="SK-14-text-84"/>
          <p:cNvSpPr/>
          <p:nvPr/>
        </p:nvSpPr>
        <p:spPr>
          <a:xfrm>
            <a:off x="6438900" y="4575870"/>
            <a:ext cx="2942104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 자원 (Resource)</a:t>
            </a:r>
            <a:endParaRPr lang="en-US" sz="1125" dirty="0"/>
          </a:p>
        </p:txBody>
      </p:sp>
      <p:sp>
        <p:nvSpPr>
          <p:cNvPr id="86" name="SK-14-text-85"/>
          <p:cNvSpPr/>
          <p:nvPr/>
        </p:nvSpPr>
        <p:spPr>
          <a:xfrm>
            <a:off x="9317831" y="4737497"/>
            <a:ext cx="5834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건강함</a:t>
            </a:r>
            <a:endParaRPr lang="en-US" sz="975" dirty="0"/>
          </a:p>
        </p:txBody>
      </p:sp>
      <p:sp>
        <p:nvSpPr>
          <p:cNvPr id="87" name="SK-14-text-86"/>
          <p:cNvSpPr/>
          <p:nvPr/>
        </p:nvSpPr>
        <p:spPr>
          <a:xfrm>
            <a:off x="6438900" y="5145286"/>
            <a:ext cx="2473138" cy="5697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 리스크 (Risk)</a:t>
            </a:r>
            <a:endParaRPr lang="en-US" sz="1125" dirty="0"/>
          </a:p>
        </p:txBody>
      </p:sp>
      <p:sp>
        <p:nvSpPr>
          <p:cNvPr id="88" name="SK-14-text-87"/>
          <p:cNvSpPr/>
          <p:nvPr/>
        </p:nvSpPr>
        <p:spPr>
          <a:xfrm>
            <a:off x="9317831" y="5307062"/>
            <a:ext cx="8596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방치</a:t>
            </a:r>
            <a:endParaRPr lang="en-US" sz="975" dirty="0"/>
          </a:p>
        </p:txBody>
      </p:sp>
      <p:sp>
        <p:nvSpPr>
          <p:cNvPr id="89" name="SK-14-text-88"/>
          <p:cNvSpPr/>
          <p:nvPr/>
        </p:nvSpPr>
        <p:spPr>
          <a:xfrm>
            <a:off x="1323975" y="6086475"/>
            <a:ext cx="10067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요약: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일정(2.3)과 자원(2.6)은 지표상 건강하며 개발 프로세스는 작동하고 있으나,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거버넌스(2.1)의 붕괴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인해 프로젝트가 올바른 방향(고객 가치)으로 가고 있는지 확인하는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나침반을 상실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것이 본질입니다.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90650"/>
            <a:ext cx="4935736" cy="209550"/>
          </a:xfrm>
          <a:prstGeom prst="rect">
            <a:avLst/>
          </a:prstGeom>
        </p:spPr>
      </p:pic>
      <p:pic>
        <p:nvPicPr>
          <p:cNvPr id="7" name="SK-1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95450"/>
            <a:ext cx="4935736" cy="4705350"/>
          </a:xfrm>
          <a:prstGeom prst="rect">
            <a:avLst/>
          </a:prstGeom>
        </p:spPr>
      </p:pic>
      <p:pic>
        <p:nvPicPr>
          <p:cNvPr id="8" name="SK-1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695450"/>
            <a:ext cx="4935736" cy="304800"/>
          </a:xfrm>
          <a:prstGeom prst="rect">
            <a:avLst/>
          </a:prstGeom>
        </p:spPr>
      </p:pic>
      <p:pic>
        <p:nvPicPr>
          <p:cNvPr id="9" name="SK-1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695450"/>
            <a:ext cx="1646188" cy="304800"/>
          </a:xfrm>
          <a:prstGeom prst="rect">
            <a:avLst/>
          </a:prstGeom>
        </p:spPr>
      </p:pic>
      <p:pic>
        <p:nvPicPr>
          <p:cNvPr id="10" name="SK-1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7688" y="1695450"/>
            <a:ext cx="1268611" cy="304800"/>
          </a:xfrm>
          <a:prstGeom prst="rect">
            <a:avLst/>
          </a:prstGeom>
        </p:spPr>
      </p:pic>
      <p:pic>
        <p:nvPicPr>
          <p:cNvPr id="11" name="SK-1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6299" y="1695450"/>
            <a:ext cx="762000" cy="304800"/>
          </a:xfrm>
          <a:prstGeom prst="rect">
            <a:avLst/>
          </a:prstGeom>
        </p:spPr>
      </p:pic>
      <p:pic>
        <p:nvPicPr>
          <p:cNvPr id="12" name="SK-1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8299" y="1695450"/>
            <a:ext cx="1258937" cy="304800"/>
          </a:xfrm>
          <a:prstGeom prst="rect">
            <a:avLst/>
          </a:prstGeom>
        </p:spPr>
      </p:pic>
      <p:pic>
        <p:nvPicPr>
          <p:cNvPr id="13" name="SK-1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000250"/>
            <a:ext cx="1646188" cy="965746"/>
          </a:xfrm>
          <a:prstGeom prst="rect">
            <a:avLst/>
          </a:prstGeom>
        </p:spPr>
      </p:pic>
      <p:pic>
        <p:nvPicPr>
          <p:cNvPr id="14" name="SK-1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17688" y="2000250"/>
            <a:ext cx="1268611" cy="965746"/>
          </a:xfrm>
          <a:prstGeom prst="rect">
            <a:avLst/>
          </a:prstGeom>
        </p:spPr>
      </p:pic>
      <p:pic>
        <p:nvPicPr>
          <p:cNvPr id="15" name="SK-1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6299" y="2000250"/>
            <a:ext cx="762000" cy="965746"/>
          </a:xfrm>
          <a:prstGeom prst="rect">
            <a:avLst/>
          </a:prstGeom>
        </p:spPr>
      </p:pic>
      <p:pic>
        <p:nvPicPr>
          <p:cNvPr id="16" name="SK-1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81549" y="2449711"/>
            <a:ext cx="571500" cy="66675"/>
          </a:xfrm>
          <a:prstGeom prst="rect">
            <a:avLst/>
          </a:prstGeom>
        </p:spPr>
      </p:pic>
      <p:pic>
        <p:nvPicPr>
          <p:cNvPr id="17" name="SK-1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1549" y="2449711"/>
            <a:ext cx="262830" cy="66675"/>
          </a:xfrm>
          <a:prstGeom prst="rect">
            <a:avLst/>
          </a:prstGeom>
        </p:spPr>
      </p:pic>
      <p:pic>
        <p:nvPicPr>
          <p:cNvPr id="18" name="SK-1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8299" y="2000250"/>
            <a:ext cx="1258937" cy="965746"/>
          </a:xfrm>
          <a:prstGeom prst="rect">
            <a:avLst/>
          </a:prstGeom>
        </p:spPr>
      </p:pic>
      <p:pic>
        <p:nvPicPr>
          <p:cNvPr id="19" name="SK-1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2965996"/>
            <a:ext cx="1646188" cy="965746"/>
          </a:xfrm>
          <a:prstGeom prst="rect">
            <a:avLst/>
          </a:prstGeom>
        </p:spPr>
      </p:pic>
      <p:pic>
        <p:nvPicPr>
          <p:cNvPr id="20" name="SK-1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17688" y="2965996"/>
            <a:ext cx="1268611" cy="965746"/>
          </a:xfrm>
          <a:prstGeom prst="rect">
            <a:avLst/>
          </a:prstGeom>
        </p:spPr>
      </p:pic>
      <p:pic>
        <p:nvPicPr>
          <p:cNvPr id="21" name="SK-1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86299" y="2965996"/>
            <a:ext cx="762000" cy="965746"/>
          </a:xfrm>
          <a:prstGeom prst="rect">
            <a:avLst/>
          </a:prstGeom>
        </p:spPr>
      </p:pic>
      <p:pic>
        <p:nvPicPr>
          <p:cNvPr id="22" name="SK-1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81549" y="3415457"/>
            <a:ext cx="571500" cy="66675"/>
          </a:xfrm>
          <a:prstGeom prst="rect">
            <a:avLst/>
          </a:prstGeom>
        </p:spPr>
      </p:pic>
      <p:pic>
        <p:nvPicPr>
          <p:cNvPr id="23" name="SK-1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1549" y="3415457"/>
            <a:ext cx="148530" cy="66675"/>
          </a:xfrm>
          <a:prstGeom prst="rect">
            <a:avLst/>
          </a:prstGeom>
        </p:spPr>
      </p:pic>
      <p:pic>
        <p:nvPicPr>
          <p:cNvPr id="24" name="SK-1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48299" y="2965996"/>
            <a:ext cx="1258937" cy="965746"/>
          </a:xfrm>
          <a:prstGeom prst="rect">
            <a:avLst/>
          </a:prstGeom>
        </p:spPr>
      </p:pic>
      <p:pic>
        <p:nvPicPr>
          <p:cNvPr id="25" name="SK-1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3931741"/>
            <a:ext cx="1646188" cy="892820"/>
          </a:xfrm>
          <a:prstGeom prst="rect">
            <a:avLst/>
          </a:prstGeom>
        </p:spPr>
      </p:pic>
      <p:pic>
        <p:nvPicPr>
          <p:cNvPr id="26" name="SK-1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17688" y="3931741"/>
            <a:ext cx="1268611" cy="892820"/>
          </a:xfrm>
          <a:prstGeom prst="rect">
            <a:avLst/>
          </a:prstGeom>
        </p:spPr>
      </p:pic>
      <p:pic>
        <p:nvPicPr>
          <p:cNvPr id="27" name="SK-1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86299" y="3931741"/>
            <a:ext cx="762000" cy="892820"/>
          </a:xfrm>
          <a:prstGeom prst="rect">
            <a:avLst/>
          </a:prstGeom>
        </p:spPr>
      </p:pic>
      <p:pic>
        <p:nvPicPr>
          <p:cNvPr id="28" name="SK-1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81549" y="4344739"/>
            <a:ext cx="571500" cy="66675"/>
          </a:xfrm>
          <a:prstGeom prst="rect">
            <a:avLst/>
          </a:prstGeom>
        </p:spPr>
      </p:pic>
      <p:pic>
        <p:nvPicPr>
          <p:cNvPr id="29" name="SK-1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81549" y="4344739"/>
            <a:ext cx="119955" cy="66675"/>
          </a:xfrm>
          <a:prstGeom prst="rect">
            <a:avLst/>
          </a:prstGeom>
        </p:spPr>
      </p:pic>
      <p:pic>
        <p:nvPicPr>
          <p:cNvPr id="30" name="SK-1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48299" y="3931741"/>
            <a:ext cx="1258937" cy="892820"/>
          </a:xfrm>
          <a:prstGeom prst="rect">
            <a:avLst/>
          </a:prstGeom>
        </p:spPr>
      </p:pic>
      <p:pic>
        <p:nvPicPr>
          <p:cNvPr id="31" name="SK-15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4824561"/>
            <a:ext cx="1646188" cy="610344"/>
          </a:xfrm>
          <a:prstGeom prst="rect">
            <a:avLst/>
          </a:prstGeom>
        </p:spPr>
      </p:pic>
      <p:pic>
        <p:nvPicPr>
          <p:cNvPr id="32" name="SK-15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17688" y="4824561"/>
            <a:ext cx="1268611" cy="610344"/>
          </a:xfrm>
          <a:prstGeom prst="rect">
            <a:avLst/>
          </a:prstGeom>
        </p:spPr>
      </p:pic>
      <p:pic>
        <p:nvPicPr>
          <p:cNvPr id="33" name="SK-15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86299" y="4824561"/>
            <a:ext cx="762000" cy="610344"/>
          </a:xfrm>
          <a:prstGeom prst="rect">
            <a:avLst/>
          </a:prstGeom>
        </p:spPr>
      </p:pic>
      <p:pic>
        <p:nvPicPr>
          <p:cNvPr id="34" name="SK-15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81549" y="5096321"/>
            <a:ext cx="571500" cy="66675"/>
          </a:xfrm>
          <a:prstGeom prst="rect">
            <a:avLst/>
          </a:prstGeom>
        </p:spPr>
      </p:pic>
      <p:pic>
        <p:nvPicPr>
          <p:cNvPr id="35" name="SK-15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581549" y="5096321"/>
            <a:ext cx="39886" cy="66675"/>
          </a:xfrm>
          <a:prstGeom prst="rect">
            <a:avLst/>
          </a:prstGeom>
        </p:spPr>
      </p:pic>
      <p:pic>
        <p:nvPicPr>
          <p:cNvPr id="36" name="SK-15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48299" y="4824561"/>
            <a:ext cx="1258937" cy="610344"/>
          </a:xfrm>
          <a:prstGeom prst="rect">
            <a:avLst/>
          </a:prstGeom>
        </p:spPr>
      </p:pic>
      <p:pic>
        <p:nvPicPr>
          <p:cNvPr id="37" name="SK-15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5434905"/>
            <a:ext cx="1646188" cy="965895"/>
          </a:xfrm>
          <a:prstGeom prst="rect">
            <a:avLst/>
          </a:prstGeom>
        </p:spPr>
      </p:pic>
      <p:pic>
        <p:nvPicPr>
          <p:cNvPr id="38" name="SK-15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17688" y="5434905"/>
            <a:ext cx="1268611" cy="965895"/>
          </a:xfrm>
          <a:prstGeom prst="rect">
            <a:avLst/>
          </a:prstGeom>
        </p:spPr>
      </p:pic>
      <p:pic>
        <p:nvPicPr>
          <p:cNvPr id="39" name="SK-15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486299" y="5434905"/>
            <a:ext cx="762000" cy="965895"/>
          </a:xfrm>
          <a:prstGeom prst="rect">
            <a:avLst/>
          </a:prstGeom>
        </p:spPr>
      </p:pic>
      <p:pic>
        <p:nvPicPr>
          <p:cNvPr id="40" name="SK-15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81549" y="5884515"/>
            <a:ext cx="571500" cy="66675"/>
          </a:xfrm>
          <a:prstGeom prst="rect">
            <a:avLst/>
          </a:prstGeom>
        </p:spPr>
      </p:pic>
      <p:pic>
        <p:nvPicPr>
          <p:cNvPr id="41" name="SK-15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581549" y="5884515"/>
            <a:ext cx="571500" cy="66675"/>
          </a:xfrm>
          <a:prstGeom prst="rect">
            <a:avLst/>
          </a:prstGeom>
        </p:spPr>
      </p:pic>
      <p:pic>
        <p:nvPicPr>
          <p:cNvPr id="42" name="SK-15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248299" y="5434905"/>
            <a:ext cx="1258937" cy="965895"/>
          </a:xfrm>
          <a:prstGeom prst="rect">
            <a:avLst/>
          </a:prstGeom>
        </p:spPr>
      </p:pic>
      <p:pic>
        <p:nvPicPr>
          <p:cNvPr id="43" name="SK-15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697736" y="1390650"/>
            <a:ext cx="5922764" cy="209550"/>
          </a:xfrm>
          <a:prstGeom prst="rect">
            <a:avLst/>
          </a:prstGeom>
        </p:spPr>
      </p:pic>
      <p:pic>
        <p:nvPicPr>
          <p:cNvPr id="44" name="SK-15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97736" y="1695450"/>
            <a:ext cx="5922764" cy="811411"/>
          </a:xfrm>
          <a:prstGeom prst="rect">
            <a:avLst/>
          </a:prstGeom>
        </p:spPr>
      </p:pic>
      <p:pic>
        <p:nvPicPr>
          <p:cNvPr id="45" name="SK-15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812036" y="1790700"/>
            <a:ext cx="266700" cy="266700"/>
          </a:xfrm>
          <a:prstGeom prst="rect">
            <a:avLst/>
          </a:prstGeom>
        </p:spPr>
      </p:pic>
      <p:pic>
        <p:nvPicPr>
          <p:cNvPr id="46" name="SK-15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50136" y="1846659"/>
            <a:ext cx="190500" cy="154781"/>
          </a:xfrm>
          <a:prstGeom prst="rect">
            <a:avLst/>
          </a:prstGeom>
        </p:spPr>
      </p:pic>
      <p:pic>
        <p:nvPicPr>
          <p:cNvPr id="47" name="SK-15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173986" y="2230636"/>
            <a:ext cx="1596628" cy="176213"/>
          </a:xfrm>
          <a:prstGeom prst="rect">
            <a:avLst/>
          </a:prstGeom>
        </p:spPr>
      </p:pic>
      <p:pic>
        <p:nvPicPr>
          <p:cNvPr id="48" name="SK-15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697736" y="2583061"/>
            <a:ext cx="5922764" cy="811411"/>
          </a:xfrm>
          <a:prstGeom prst="rect">
            <a:avLst/>
          </a:prstGeom>
        </p:spPr>
      </p:pic>
      <p:pic>
        <p:nvPicPr>
          <p:cNvPr id="49" name="SK-15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12036" y="2678311"/>
            <a:ext cx="266700" cy="266700"/>
          </a:xfrm>
          <a:prstGeom prst="rect">
            <a:avLst/>
          </a:prstGeom>
        </p:spPr>
      </p:pic>
      <p:pic>
        <p:nvPicPr>
          <p:cNvPr id="50" name="SK-15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0136" y="2734270"/>
            <a:ext cx="190500" cy="154781"/>
          </a:xfrm>
          <a:prstGeom prst="rect">
            <a:avLst/>
          </a:prstGeom>
        </p:spPr>
      </p:pic>
      <p:pic>
        <p:nvPicPr>
          <p:cNvPr id="51" name="SK-15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73986" y="3118247"/>
            <a:ext cx="2263378" cy="176213"/>
          </a:xfrm>
          <a:prstGeom prst="rect">
            <a:avLst/>
          </a:prstGeom>
        </p:spPr>
      </p:pic>
      <p:pic>
        <p:nvPicPr>
          <p:cNvPr id="52" name="SK-15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697736" y="3470672"/>
            <a:ext cx="5922764" cy="811411"/>
          </a:xfrm>
          <a:prstGeom prst="rect">
            <a:avLst/>
          </a:prstGeom>
        </p:spPr>
      </p:pic>
      <p:pic>
        <p:nvPicPr>
          <p:cNvPr id="53" name="SK-15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812036" y="3565922"/>
            <a:ext cx="266700" cy="266700"/>
          </a:xfrm>
          <a:prstGeom prst="rect">
            <a:avLst/>
          </a:prstGeom>
        </p:spPr>
      </p:pic>
      <p:pic>
        <p:nvPicPr>
          <p:cNvPr id="54" name="SK-15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850136" y="3621881"/>
            <a:ext cx="190500" cy="154781"/>
          </a:xfrm>
          <a:prstGeom prst="rect">
            <a:avLst/>
          </a:prstGeom>
        </p:spPr>
      </p:pic>
      <p:pic>
        <p:nvPicPr>
          <p:cNvPr id="55" name="SK-15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173986" y="4005858"/>
            <a:ext cx="1472803" cy="176213"/>
          </a:xfrm>
          <a:prstGeom prst="rect">
            <a:avLst/>
          </a:prstGeom>
        </p:spPr>
      </p:pic>
      <p:pic>
        <p:nvPicPr>
          <p:cNvPr id="56" name="SK-15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697736" y="4358283"/>
            <a:ext cx="5922764" cy="811411"/>
          </a:xfrm>
          <a:prstGeom prst="rect">
            <a:avLst/>
          </a:prstGeom>
        </p:spPr>
      </p:pic>
      <p:pic>
        <p:nvPicPr>
          <p:cNvPr id="57" name="SK-15-img-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812036" y="4453533"/>
            <a:ext cx="266700" cy="266700"/>
          </a:xfrm>
          <a:prstGeom prst="rect">
            <a:avLst/>
          </a:prstGeom>
        </p:spPr>
      </p:pic>
      <p:pic>
        <p:nvPicPr>
          <p:cNvPr id="58" name="SK-15-img-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850136" y="4509492"/>
            <a:ext cx="190500" cy="154781"/>
          </a:xfrm>
          <a:prstGeom prst="rect">
            <a:avLst/>
          </a:prstGeom>
        </p:spPr>
      </p:pic>
      <p:pic>
        <p:nvPicPr>
          <p:cNvPr id="59" name="SK-15-img-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173986" y="4893469"/>
            <a:ext cx="1749028" cy="176213"/>
          </a:xfrm>
          <a:prstGeom prst="rect">
            <a:avLst/>
          </a:prstGeom>
        </p:spPr>
      </p:pic>
      <p:pic>
        <p:nvPicPr>
          <p:cNvPr id="60" name="SK-15-img-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697736" y="5245894"/>
            <a:ext cx="5922764" cy="811411"/>
          </a:xfrm>
          <a:prstGeom prst="rect">
            <a:avLst/>
          </a:prstGeom>
        </p:spPr>
      </p:pic>
      <p:pic>
        <p:nvPicPr>
          <p:cNvPr id="61" name="SK-15-img-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812036" y="5341144"/>
            <a:ext cx="266700" cy="266700"/>
          </a:xfrm>
          <a:prstGeom prst="rect">
            <a:avLst/>
          </a:prstGeom>
        </p:spPr>
      </p:pic>
      <p:pic>
        <p:nvPicPr>
          <p:cNvPr id="62" name="SK-15-img-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850136" y="5397103"/>
            <a:ext cx="190500" cy="154781"/>
          </a:xfrm>
          <a:prstGeom prst="rect">
            <a:avLst/>
          </a:prstGeom>
        </p:spPr>
      </p:pic>
      <p:pic>
        <p:nvPicPr>
          <p:cNvPr id="63" name="SK-15-img-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173986" y="5781080"/>
            <a:ext cx="2491978" cy="176213"/>
          </a:xfrm>
          <a:prstGeom prst="rect">
            <a:avLst/>
          </a:prstGeom>
        </p:spPr>
      </p:pic>
      <p:sp>
        <p:nvSpPr>
          <p:cNvPr id="64" name="SK-15-text-6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65" name="SK-15-text-6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B-3. AI Use Case 분석: 현재 활용과 구조적 문제</a:t>
            </a:r>
            <a:endParaRPr lang="en-US" sz="2550" dirty="0"/>
          </a:p>
        </p:txBody>
      </p:sp>
      <p:sp>
        <p:nvSpPr>
          <p:cNvPr id="66" name="SK-15-text-65"/>
          <p:cNvSpPr/>
          <p:nvPr/>
        </p:nvSpPr>
        <p:spPr>
          <a:xfrm>
            <a:off x="571500" y="1390650"/>
            <a:ext cx="50119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58" kern="0" dirty="0">
                <a:solidFill>
                  <a:srgbClr val="9CA3AF"/>
                </a:solidFill>
              </a:rPr>
              <a:t>현재 AI 활용 현황 (07_AI_INFRA_COST)</a:t>
            </a:r>
            <a:endParaRPr lang="en-US" sz="900" dirty="0"/>
          </a:p>
        </p:txBody>
      </p:sp>
      <p:sp>
        <p:nvSpPr>
          <p:cNvPr id="67" name="SK-15-text-66"/>
          <p:cNvSpPr/>
          <p:nvPr/>
        </p:nvSpPr>
        <p:spPr>
          <a:xfrm>
            <a:off x="666750" y="1695450"/>
            <a:ext cx="15318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</a:t>
            </a:r>
            <a:endParaRPr lang="en-US" sz="900" dirty="0"/>
          </a:p>
        </p:txBody>
      </p:sp>
      <p:sp>
        <p:nvSpPr>
          <p:cNvPr id="68" name="SK-15-text-67"/>
          <p:cNvSpPr/>
          <p:nvPr/>
        </p:nvSpPr>
        <p:spPr>
          <a:xfrm>
            <a:off x="2312938" y="1695450"/>
            <a:ext cx="15138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비용 (W33)</a:t>
            </a:r>
            <a:endParaRPr lang="en-US" sz="900" dirty="0"/>
          </a:p>
        </p:txBody>
      </p:sp>
      <p:sp>
        <p:nvSpPr>
          <p:cNvPr id="69" name="SK-15-text-68"/>
          <p:cNvSpPr/>
          <p:nvPr/>
        </p:nvSpPr>
        <p:spPr>
          <a:xfrm>
            <a:off x="3581549" y="169545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비중</a:t>
            </a:r>
            <a:endParaRPr lang="en-US" sz="900" dirty="0"/>
          </a:p>
        </p:txBody>
      </p:sp>
      <p:sp>
        <p:nvSpPr>
          <p:cNvPr id="70" name="SK-15-text-69"/>
          <p:cNvSpPr/>
          <p:nvPr/>
        </p:nvSpPr>
        <p:spPr>
          <a:xfrm>
            <a:off x="4343549" y="1695450"/>
            <a:ext cx="11446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900" dirty="0"/>
          </a:p>
        </p:txBody>
      </p:sp>
      <p:sp>
        <p:nvSpPr>
          <p:cNvPr id="71" name="SK-15-text-70"/>
          <p:cNvSpPr/>
          <p:nvPr/>
        </p:nvSpPr>
        <p:spPr>
          <a:xfrm>
            <a:off x="666750" y="2000250"/>
            <a:ext cx="1455688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에이전트 (코드생성·리뷰)</a:t>
            </a:r>
            <a:endParaRPr lang="en-US" sz="975" dirty="0"/>
          </a:p>
        </p:txBody>
      </p:sp>
      <p:sp>
        <p:nvSpPr>
          <p:cNvPr id="72" name="SK-15-text-71"/>
          <p:cNvSpPr/>
          <p:nvPr/>
        </p:nvSpPr>
        <p:spPr>
          <a:xfrm>
            <a:off x="2312938" y="2000250"/>
            <a:ext cx="1154311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54.5백만</a:t>
            </a:r>
            <a:endParaRPr lang="en-US" sz="975" dirty="0"/>
          </a:p>
        </p:txBody>
      </p:sp>
      <p:sp>
        <p:nvSpPr>
          <p:cNvPr id="73" name="SK-15-textBg-72"/>
          <p:cNvSpPr/>
          <p:nvPr/>
        </p:nvSpPr>
        <p:spPr>
          <a:xfrm>
            <a:off x="4343549" y="2399705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4" name="SK-15-text-73"/>
          <p:cNvSpPr/>
          <p:nvPr/>
        </p:nvSpPr>
        <p:spPr>
          <a:xfrm>
            <a:off x="4391174" y="2399705"/>
            <a:ext cx="89408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코드 자동 생성</a:t>
            </a:r>
            <a:endParaRPr lang="en-US" sz="825" dirty="0"/>
          </a:p>
        </p:txBody>
      </p:sp>
      <p:sp>
        <p:nvSpPr>
          <p:cNvPr id="75" name="SK-15-text-74"/>
          <p:cNvSpPr/>
          <p:nvPr/>
        </p:nvSpPr>
        <p:spPr>
          <a:xfrm>
            <a:off x="666750" y="2965996"/>
            <a:ext cx="1455688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 (자동보고·회귀시뮬)</a:t>
            </a:r>
            <a:endParaRPr lang="en-US" sz="975" dirty="0"/>
          </a:p>
        </p:txBody>
      </p:sp>
      <p:sp>
        <p:nvSpPr>
          <p:cNvPr id="76" name="SK-15-text-75"/>
          <p:cNvSpPr/>
          <p:nvPr/>
        </p:nvSpPr>
        <p:spPr>
          <a:xfrm>
            <a:off x="2312938" y="2965996"/>
            <a:ext cx="1154311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30.8백만</a:t>
            </a:r>
            <a:endParaRPr lang="en-US" sz="975" dirty="0"/>
          </a:p>
        </p:txBody>
      </p:sp>
      <p:sp>
        <p:nvSpPr>
          <p:cNvPr id="77" name="SK-15-text-76"/>
          <p:cNvSpPr/>
          <p:nvPr/>
        </p:nvSpPr>
        <p:spPr>
          <a:xfrm>
            <a:off x="4391174" y="3282107"/>
            <a:ext cx="9731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주간보고·회귀테스트</a:t>
            </a:r>
            <a:endParaRPr lang="en-US" sz="825" dirty="0"/>
          </a:p>
        </p:txBody>
      </p:sp>
      <p:sp>
        <p:nvSpPr>
          <p:cNvPr id="78" name="SK-15-text-77"/>
          <p:cNvSpPr/>
          <p:nvPr/>
        </p:nvSpPr>
        <p:spPr>
          <a:xfrm>
            <a:off x="666750" y="3931741"/>
            <a:ext cx="1531888" cy="8928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원격 인식 추론</a:t>
            </a:r>
            <a:endParaRPr lang="en-US" sz="975" dirty="0"/>
          </a:p>
        </p:txBody>
      </p:sp>
      <p:sp>
        <p:nvSpPr>
          <p:cNvPr id="79" name="SK-15-text-78"/>
          <p:cNvSpPr/>
          <p:nvPr/>
        </p:nvSpPr>
        <p:spPr>
          <a:xfrm>
            <a:off x="2312938" y="3931741"/>
            <a:ext cx="1154311" cy="8928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24.9백만</a:t>
            </a:r>
            <a:endParaRPr lang="en-US" sz="975" dirty="0"/>
          </a:p>
        </p:txBody>
      </p:sp>
      <p:sp>
        <p:nvSpPr>
          <p:cNvPr id="80" name="SK-15-text-79"/>
          <p:cNvSpPr/>
          <p:nvPr/>
        </p:nvSpPr>
        <p:spPr>
          <a:xfrm>
            <a:off x="4391174" y="4211389"/>
            <a:ext cx="9731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VLM 객체 인식 (클라우드)</a:t>
            </a:r>
            <a:endParaRPr lang="en-US" sz="825" dirty="0"/>
          </a:p>
        </p:txBody>
      </p:sp>
      <p:sp>
        <p:nvSpPr>
          <p:cNvPr id="81" name="SK-15-text-80"/>
          <p:cNvSpPr/>
          <p:nvPr/>
        </p:nvSpPr>
        <p:spPr>
          <a:xfrm>
            <a:off x="666750" y="4824561"/>
            <a:ext cx="2309913" cy="6103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Assistance (문서초안)</a:t>
            </a:r>
            <a:endParaRPr lang="en-US" sz="975" dirty="0"/>
          </a:p>
        </p:txBody>
      </p:sp>
      <p:sp>
        <p:nvSpPr>
          <p:cNvPr id="82" name="SK-15-text-81"/>
          <p:cNvSpPr/>
          <p:nvPr/>
        </p:nvSpPr>
        <p:spPr>
          <a:xfrm>
            <a:off x="2312938" y="4824561"/>
            <a:ext cx="1154311" cy="6103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8.2백만</a:t>
            </a:r>
            <a:endParaRPr lang="en-US" sz="975" dirty="0"/>
          </a:p>
        </p:txBody>
      </p:sp>
      <p:sp>
        <p:nvSpPr>
          <p:cNvPr id="83" name="SK-15-textBg-82"/>
          <p:cNvSpPr/>
          <p:nvPr/>
        </p:nvSpPr>
        <p:spPr>
          <a:xfrm>
            <a:off x="4343549" y="5046315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4" name="SK-15-text-83"/>
          <p:cNvSpPr/>
          <p:nvPr/>
        </p:nvSpPr>
        <p:spPr>
          <a:xfrm>
            <a:off x="4391174" y="5046315"/>
            <a:ext cx="89408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문서 초안 작성</a:t>
            </a:r>
            <a:endParaRPr lang="en-US" sz="825" dirty="0"/>
          </a:p>
        </p:txBody>
      </p:sp>
      <p:sp>
        <p:nvSpPr>
          <p:cNvPr id="85" name="SK-15-text-84"/>
          <p:cNvSpPr/>
          <p:nvPr/>
        </p:nvSpPr>
        <p:spPr>
          <a:xfrm>
            <a:off x="666750" y="5834509"/>
            <a:ext cx="373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총계</a:t>
            </a:r>
            <a:endParaRPr lang="en-US" sz="975" dirty="0"/>
          </a:p>
        </p:txBody>
      </p:sp>
      <p:sp>
        <p:nvSpPr>
          <p:cNvPr id="86" name="SK-15-text-85"/>
          <p:cNvSpPr/>
          <p:nvPr/>
        </p:nvSpPr>
        <p:spPr>
          <a:xfrm>
            <a:off x="2312938" y="5741640"/>
            <a:ext cx="1057275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118.4백만/주 · 누적 21.4억</a:t>
            </a:r>
            <a:endParaRPr lang="en-US" sz="975" dirty="0"/>
          </a:p>
        </p:txBody>
      </p:sp>
      <p:sp>
        <p:nvSpPr>
          <p:cNvPr id="87" name="SK-15-textBg-86"/>
          <p:cNvSpPr/>
          <p:nvPr/>
        </p:nvSpPr>
        <p:spPr>
          <a:xfrm>
            <a:off x="4343549" y="5834509"/>
            <a:ext cx="847725" cy="176213"/>
          </a:xfrm>
          <a:prstGeom prst="roundRect">
            <a:avLst>
              <a:gd name="adj" fmla="val 10811"/>
            </a:avLst>
          </a:prstGeom>
          <a:solidFill>
            <a:srgbClr val="FEF2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8" name="SK-15-text-87"/>
          <p:cNvSpPr/>
          <p:nvPr/>
        </p:nvSpPr>
        <p:spPr>
          <a:xfrm>
            <a:off x="4391174" y="5834509"/>
            <a:ext cx="11532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예산 89% 소진</a:t>
            </a:r>
            <a:endParaRPr lang="en-US" sz="825" dirty="0"/>
          </a:p>
        </p:txBody>
      </p:sp>
      <p:sp>
        <p:nvSpPr>
          <p:cNvPr id="89" name="SK-15-text-88"/>
          <p:cNvSpPr/>
          <p:nvPr/>
        </p:nvSpPr>
        <p:spPr>
          <a:xfrm>
            <a:off x="495300" y="6496050"/>
            <a:ext cx="5011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출처: `07_ai_infra_cost`</a:t>
            </a:r>
            <a:endParaRPr lang="en-US" sz="900" dirty="0"/>
          </a:p>
        </p:txBody>
      </p:sp>
      <p:sp>
        <p:nvSpPr>
          <p:cNvPr id="90" name="SK-15-text-89"/>
          <p:cNvSpPr/>
          <p:nvPr/>
        </p:nvSpPr>
        <p:spPr>
          <a:xfrm>
            <a:off x="5697736" y="1390650"/>
            <a:ext cx="59989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58" kern="0" dirty="0">
                <a:solidFill>
                  <a:srgbClr val="9CA3AF"/>
                </a:solidFill>
              </a:rPr>
              <a:t>AI 활용의 구조적 문제</a:t>
            </a:r>
            <a:endParaRPr lang="en-US" sz="900" dirty="0"/>
          </a:p>
        </p:txBody>
      </p:sp>
      <p:sp>
        <p:nvSpPr>
          <p:cNvPr id="91" name="SK-15-text-90"/>
          <p:cNvSpPr/>
          <p:nvPr/>
        </p:nvSpPr>
        <p:spPr>
          <a:xfrm>
            <a:off x="6173986" y="1790700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"자동화"만 있고 "판단"이 없다</a:t>
            </a:r>
            <a:endParaRPr lang="en-US" sz="1050" dirty="0"/>
          </a:p>
        </p:txBody>
      </p:sp>
      <p:sp>
        <p:nvSpPr>
          <p:cNvPr id="92" name="SK-15-text-91"/>
          <p:cNvSpPr/>
          <p:nvPr/>
        </p:nvSpPr>
        <p:spPr>
          <a:xfrm>
            <a:off x="6173986" y="2009775"/>
            <a:ext cx="54084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보고서를 생성하지만, 내용의 타당성을 검증하지 않음</a:t>
            </a:r>
            <a:endParaRPr lang="en-US" sz="975" dirty="0"/>
          </a:p>
        </p:txBody>
      </p:sp>
      <p:sp>
        <p:nvSpPr>
          <p:cNvPr id="93" name="SK-15-text-92"/>
          <p:cNvSpPr/>
          <p:nvPr/>
        </p:nvSpPr>
        <p:spPr>
          <a:xfrm>
            <a:off x="6221611" y="2230636"/>
            <a:ext cx="2361967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16주 "전 지표 정상" 반복</a:t>
            </a:r>
            <a:endParaRPr lang="en-US" sz="825" dirty="0"/>
          </a:p>
        </p:txBody>
      </p:sp>
      <p:sp>
        <p:nvSpPr>
          <p:cNvPr id="94" name="SK-15-text-93"/>
          <p:cNvSpPr/>
          <p:nvPr/>
        </p:nvSpPr>
        <p:spPr>
          <a:xfrm>
            <a:off x="6173986" y="2678311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범위가 제한적</a:t>
            </a:r>
            <a:endParaRPr lang="en-US" sz="1050" dirty="0"/>
          </a:p>
        </p:txBody>
      </p:sp>
      <p:sp>
        <p:nvSpPr>
          <p:cNvPr id="95" name="SK-15-text-94"/>
          <p:cNvSpPr/>
          <p:nvPr/>
        </p:nvSpPr>
        <p:spPr>
          <a:xfrm>
            <a:off x="6173986" y="2897386"/>
            <a:ext cx="60180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pm-assistant가 SC-01~08만 참조. 파일럿·편익 미참조</a:t>
            </a:r>
            <a:endParaRPr lang="en-US" sz="975" dirty="0"/>
          </a:p>
        </p:txBody>
      </p:sp>
      <p:sp>
        <p:nvSpPr>
          <p:cNvPr id="96" name="SK-15-text-95"/>
          <p:cNvSpPr/>
          <p:nvPr/>
        </p:nvSpPr>
        <p:spPr>
          <a:xfrm>
            <a:off x="6221611" y="3118247"/>
            <a:ext cx="2966733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"해당 지표는 제 참조 목록에 없습니다"</a:t>
            </a:r>
            <a:endParaRPr lang="en-US" sz="825" dirty="0"/>
          </a:p>
        </p:txBody>
      </p:sp>
      <p:sp>
        <p:nvSpPr>
          <p:cNvPr id="97" name="SK-15-text-96"/>
          <p:cNvSpPr/>
          <p:nvPr/>
        </p:nvSpPr>
        <p:spPr>
          <a:xfrm>
            <a:off x="6173986" y="3565922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 루프 부재</a:t>
            </a:r>
            <a:endParaRPr lang="en-US" sz="1050" dirty="0"/>
          </a:p>
        </p:txBody>
      </p:sp>
      <p:sp>
        <p:nvSpPr>
          <p:cNvPr id="98" name="SK-15-text-97"/>
          <p:cNvSpPr/>
          <p:nvPr/>
        </p:nvSpPr>
        <p:spPr>
          <a:xfrm>
            <a:off x="6173986" y="3784997"/>
            <a:ext cx="54084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→ 자동 배포. 검토자·서명자 없음</a:t>
            </a:r>
            <a:endParaRPr lang="en-US" sz="975" dirty="0"/>
          </a:p>
        </p:txBody>
      </p:sp>
      <p:sp>
        <p:nvSpPr>
          <p:cNvPr id="99" name="SK-15-text-98"/>
          <p:cNvSpPr/>
          <p:nvPr/>
        </p:nvSpPr>
        <p:spPr>
          <a:xfrm>
            <a:off x="6221611" y="4005858"/>
            <a:ext cx="184018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잘못된 정보가 무한 전파</a:t>
            </a:r>
            <a:endParaRPr lang="en-US" sz="825" dirty="0"/>
          </a:p>
        </p:txBody>
      </p:sp>
      <p:sp>
        <p:nvSpPr>
          <p:cNvPr id="100" name="SK-15-text-99"/>
          <p:cNvSpPr/>
          <p:nvPr/>
        </p:nvSpPr>
        <p:spPr>
          <a:xfrm>
            <a:off x="6173986" y="4453533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관리 없는 운영</a:t>
            </a:r>
            <a:endParaRPr lang="en-US" sz="1050" dirty="0"/>
          </a:p>
        </p:txBody>
      </p:sp>
      <p:sp>
        <p:nvSpPr>
          <p:cNvPr id="101" name="SK-15-text-100"/>
          <p:cNvSpPr/>
          <p:nvPr/>
        </p:nvSpPr>
        <p:spPr>
          <a:xfrm>
            <a:off x="6173986" y="4672608"/>
            <a:ext cx="60180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VLM 최고티어 단일 고정, 엣지캐시 미적용, 프레임 전량 업로드</a:t>
            </a:r>
            <a:endParaRPr lang="en-US" sz="975" dirty="0"/>
          </a:p>
        </p:txBody>
      </p:sp>
      <p:sp>
        <p:nvSpPr>
          <p:cNvPr id="102" name="SK-15-text-101"/>
          <p:cNvSpPr/>
          <p:nvPr/>
        </p:nvSpPr>
        <p:spPr>
          <a:xfrm>
            <a:off x="6221611" y="4893469"/>
            <a:ext cx="324641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예산 89% 소진 (21.4/24억)</a:t>
            </a:r>
            <a:endParaRPr lang="en-US" sz="825" dirty="0"/>
          </a:p>
        </p:txBody>
      </p:sp>
      <p:sp>
        <p:nvSpPr>
          <p:cNvPr id="103" name="SK-15-text-102"/>
          <p:cNvSpPr/>
          <p:nvPr/>
        </p:nvSpPr>
        <p:spPr>
          <a:xfrm>
            <a:off x="6173986" y="5341144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크로스체크 부재</a:t>
            </a:r>
            <a:endParaRPr lang="en-US" sz="1050" dirty="0"/>
          </a:p>
        </p:txBody>
      </p:sp>
      <p:sp>
        <p:nvSpPr>
          <p:cNvPr id="104" name="SK-15-text-103"/>
          <p:cNvSpPr/>
          <p:nvPr/>
        </p:nvSpPr>
        <p:spPr>
          <a:xfrm>
            <a:off x="6173986" y="5560219"/>
            <a:ext cx="54084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지표와 원자료를 대조하지 않음</a:t>
            </a:r>
            <a:endParaRPr lang="en-US" sz="975" dirty="0"/>
          </a:p>
        </p:txBody>
      </p:sp>
      <p:sp>
        <p:nvSpPr>
          <p:cNvPr id="105" name="SK-15-text-104"/>
          <p:cNvSpPr/>
          <p:nvPr/>
        </p:nvSpPr>
        <p:spPr>
          <a:xfrm>
            <a:off x="6221611" y="5781080"/>
            <a:ext cx="4590706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SC-03 93.4% vs 실제 58.6% 괴리 미감지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1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1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6825"/>
            <a:ext cx="11049000" cy="881955"/>
          </a:xfrm>
          <a:prstGeom prst="rect">
            <a:avLst/>
          </a:prstGeom>
        </p:spPr>
      </p:pic>
      <p:pic>
        <p:nvPicPr>
          <p:cNvPr id="7" name="SK-1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91655"/>
            <a:ext cx="5410200" cy="1357313"/>
          </a:xfrm>
          <a:prstGeom prst="rect">
            <a:avLst/>
          </a:prstGeom>
        </p:spPr>
      </p:pic>
      <p:pic>
        <p:nvPicPr>
          <p:cNvPr id="8" name="SK-1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386905"/>
            <a:ext cx="5181600" cy="314325"/>
          </a:xfrm>
          <a:prstGeom prst="rect">
            <a:avLst/>
          </a:prstGeom>
        </p:spPr>
      </p:pic>
      <p:pic>
        <p:nvPicPr>
          <p:cNvPr id="9" name="SK-1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427833"/>
            <a:ext cx="214313" cy="175320"/>
          </a:xfrm>
          <a:prstGeom prst="rect">
            <a:avLst/>
          </a:prstGeom>
        </p:spPr>
      </p:pic>
      <p:pic>
        <p:nvPicPr>
          <p:cNvPr id="10" name="SK-1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786955"/>
            <a:ext cx="142875" cy="185738"/>
          </a:xfrm>
          <a:prstGeom prst="rect">
            <a:avLst/>
          </a:prstGeom>
        </p:spPr>
      </p:pic>
      <p:pic>
        <p:nvPicPr>
          <p:cNvPr id="11" name="SK-1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077468"/>
            <a:ext cx="142875" cy="185738"/>
          </a:xfrm>
          <a:prstGeom prst="rect">
            <a:avLst/>
          </a:prstGeom>
        </p:spPr>
      </p:pic>
      <p:pic>
        <p:nvPicPr>
          <p:cNvPr id="12" name="SK-1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367980"/>
            <a:ext cx="142875" cy="185738"/>
          </a:xfrm>
          <a:prstGeom prst="rect">
            <a:avLst/>
          </a:prstGeom>
        </p:spPr>
      </p:pic>
      <p:pic>
        <p:nvPicPr>
          <p:cNvPr id="13" name="SK-1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772793"/>
            <a:ext cx="5410200" cy="2184648"/>
          </a:xfrm>
          <a:prstGeom prst="rect">
            <a:avLst/>
          </a:prstGeom>
        </p:spPr>
      </p:pic>
      <p:pic>
        <p:nvPicPr>
          <p:cNvPr id="14" name="SK-1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868043"/>
            <a:ext cx="5181600" cy="314325"/>
          </a:xfrm>
          <a:prstGeom prst="rect">
            <a:avLst/>
          </a:prstGeom>
        </p:spPr>
      </p:pic>
      <p:pic>
        <p:nvPicPr>
          <p:cNvPr id="15" name="SK-1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908971"/>
            <a:ext cx="214313" cy="175320"/>
          </a:xfrm>
          <a:prstGeom prst="rect">
            <a:avLst/>
          </a:prstGeom>
        </p:spPr>
      </p:pic>
      <p:pic>
        <p:nvPicPr>
          <p:cNvPr id="16" name="SK-1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268093"/>
            <a:ext cx="142875" cy="461516"/>
          </a:xfrm>
          <a:prstGeom prst="rect">
            <a:avLst/>
          </a:prstGeom>
        </p:spPr>
      </p:pic>
      <p:pic>
        <p:nvPicPr>
          <p:cNvPr id="17" name="SK-1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834384"/>
            <a:ext cx="142875" cy="461516"/>
          </a:xfrm>
          <a:prstGeom prst="rect">
            <a:avLst/>
          </a:prstGeom>
        </p:spPr>
      </p:pic>
      <p:pic>
        <p:nvPicPr>
          <p:cNvPr id="18" name="SK-1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5400675"/>
            <a:ext cx="142875" cy="461516"/>
          </a:xfrm>
          <a:prstGeom prst="rect">
            <a:avLst/>
          </a:prstGeom>
        </p:spPr>
      </p:pic>
      <p:pic>
        <p:nvPicPr>
          <p:cNvPr id="19" name="SK-1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2291655"/>
            <a:ext cx="5410200" cy="3665786"/>
          </a:xfrm>
          <a:prstGeom prst="rect">
            <a:avLst/>
          </a:prstGeom>
        </p:spPr>
      </p:pic>
      <p:pic>
        <p:nvPicPr>
          <p:cNvPr id="20" name="SK-1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2386905"/>
            <a:ext cx="5181600" cy="314325"/>
          </a:xfrm>
          <a:prstGeom prst="rect">
            <a:avLst/>
          </a:prstGeom>
        </p:spPr>
      </p:pic>
      <p:pic>
        <p:nvPicPr>
          <p:cNvPr id="21" name="SK-1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2427833"/>
            <a:ext cx="214313" cy="175320"/>
          </a:xfrm>
          <a:prstGeom prst="rect">
            <a:avLst/>
          </a:prstGeom>
        </p:spPr>
      </p:pic>
      <p:pic>
        <p:nvPicPr>
          <p:cNvPr id="22" name="SK-1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2786955"/>
            <a:ext cx="142875" cy="185738"/>
          </a:xfrm>
          <a:prstGeom prst="rect">
            <a:avLst/>
          </a:prstGeom>
        </p:spPr>
      </p:pic>
      <p:pic>
        <p:nvPicPr>
          <p:cNvPr id="23" name="SK-1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3077468"/>
            <a:ext cx="142875" cy="428625"/>
          </a:xfrm>
          <a:prstGeom prst="rect">
            <a:avLst/>
          </a:prstGeom>
        </p:spPr>
      </p:pic>
      <p:pic>
        <p:nvPicPr>
          <p:cNvPr id="24" name="SK-1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610868"/>
            <a:ext cx="142875" cy="461516"/>
          </a:xfrm>
          <a:prstGeom prst="rect">
            <a:avLst/>
          </a:prstGeom>
        </p:spPr>
      </p:pic>
      <p:pic>
        <p:nvPicPr>
          <p:cNvPr id="25" name="SK-1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4177159"/>
            <a:ext cx="142875" cy="428625"/>
          </a:xfrm>
          <a:prstGeom prst="rect">
            <a:avLst/>
          </a:prstGeom>
        </p:spPr>
      </p:pic>
      <p:pic>
        <p:nvPicPr>
          <p:cNvPr id="26" name="SK-1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4710559"/>
            <a:ext cx="142875" cy="185738"/>
          </a:xfrm>
          <a:prstGeom prst="rect">
            <a:avLst/>
          </a:prstGeom>
        </p:spPr>
      </p:pic>
      <p:pic>
        <p:nvPicPr>
          <p:cNvPr id="27" name="SK-1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6100316"/>
            <a:ext cx="11049000" cy="617041"/>
          </a:xfrm>
          <a:prstGeom prst="rect">
            <a:avLst/>
          </a:prstGeom>
        </p:spPr>
      </p:pic>
      <p:pic>
        <p:nvPicPr>
          <p:cNvPr id="28" name="SK-1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0100" y="6294537"/>
            <a:ext cx="285750" cy="228600"/>
          </a:xfrm>
          <a:prstGeom prst="rect">
            <a:avLst/>
          </a:prstGeom>
        </p:spPr>
      </p:pic>
      <p:sp>
        <p:nvSpPr>
          <p:cNvPr id="29" name="SK-16-text-28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0" name="SK-16-text-29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B-3. AI Use Case 분석: 핵심 교훈</a:t>
            </a:r>
            <a:endParaRPr lang="en-US" sz="2550" dirty="0"/>
          </a:p>
        </p:txBody>
      </p:sp>
      <p:sp>
        <p:nvSpPr>
          <p:cNvPr id="31" name="SK-16-text-30"/>
          <p:cNvSpPr/>
          <p:nvPr/>
        </p:nvSpPr>
        <p:spPr>
          <a:xfrm>
            <a:off x="876300" y="1409700"/>
            <a:ext cx="113157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11827"/>
                </a:solidFill>
              </a:rPr>
              <a:t>"AI는 거짓말을 하지 않았다. 한 번도. 그리고 진실도 말하지 않았다."</a:t>
            </a:r>
            <a:endParaRPr lang="en-US" sz="1800" dirty="0"/>
          </a:p>
        </p:txBody>
      </p:sp>
      <p:sp>
        <p:nvSpPr>
          <p:cNvPr id="32" name="SK-16-text-31"/>
          <p:cNvSpPr/>
          <p:nvPr/>
        </p:nvSpPr>
        <p:spPr>
          <a:xfrm>
            <a:off x="876300" y="1777305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데이터 기반의 집계는 정확했으나, 현실의 맥락을 묻는 '인간의 질문'이 부재했다.</a:t>
            </a:r>
            <a:endParaRPr lang="en-US" sz="1200" dirty="0"/>
          </a:p>
        </p:txBody>
      </p:sp>
      <p:sp>
        <p:nvSpPr>
          <p:cNvPr id="33" name="SK-16-text-32"/>
          <p:cNvSpPr/>
          <p:nvPr/>
        </p:nvSpPr>
        <p:spPr>
          <a:xfrm>
            <a:off x="995363" y="2386905"/>
            <a:ext cx="48177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수행한 것 (What AI Did)</a:t>
            </a:r>
            <a:endParaRPr lang="en-US" sz="1350" dirty="0"/>
          </a:p>
        </p:txBody>
      </p:sp>
      <p:sp>
        <p:nvSpPr>
          <p:cNvPr id="34" name="SK-16-text-33"/>
          <p:cNvSpPr/>
          <p:nvPr/>
        </p:nvSpPr>
        <p:spPr>
          <a:xfrm>
            <a:off x="923925" y="2758380"/>
            <a:ext cx="7486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주어진 지표(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</a:rPr>
              <a:t>SC-01~08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)에 대한 기계적인 데이터 집계 및 보고서 생성</a:t>
            </a:r>
            <a:endParaRPr lang="en-US" sz="1125" dirty="0"/>
          </a:p>
        </p:txBody>
      </p:sp>
      <p:sp>
        <p:nvSpPr>
          <p:cNvPr id="35" name="SK-16-text-34"/>
          <p:cNvSpPr/>
          <p:nvPr/>
        </p:nvSpPr>
        <p:spPr>
          <a:xfrm>
            <a:off x="923925" y="3048893"/>
            <a:ext cx="8477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및 GitHub 연동을 통한 개발 진척도(코드 머지, 빌드 성공률) 실시간 추적</a:t>
            </a:r>
            <a:endParaRPr lang="en-US" sz="1125" dirty="0"/>
          </a:p>
        </p:txBody>
      </p:sp>
      <p:sp>
        <p:nvSpPr>
          <p:cNvPr id="36" name="SK-16-text-35"/>
          <p:cNvSpPr/>
          <p:nvPr/>
        </p:nvSpPr>
        <p:spPr>
          <a:xfrm>
            <a:off x="923925" y="3339405"/>
            <a:ext cx="5562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정해진 템플릿에 따른 주간 보고서의 자동화된 배포 및 공유</a:t>
            </a:r>
            <a:endParaRPr lang="en-US" sz="1125" dirty="0"/>
          </a:p>
        </p:txBody>
      </p:sp>
      <p:sp>
        <p:nvSpPr>
          <p:cNvPr id="37" name="SK-16-text-36"/>
          <p:cNvSpPr/>
          <p:nvPr/>
        </p:nvSpPr>
        <p:spPr>
          <a:xfrm>
            <a:off x="995363" y="3868043"/>
            <a:ext cx="54349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실패한 것 (What AI Failed)</a:t>
            </a:r>
            <a:endParaRPr lang="en-US" sz="1350" dirty="0"/>
          </a:p>
        </p:txBody>
      </p:sp>
      <p:sp>
        <p:nvSpPr>
          <p:cNvPr id="38" name="SK-16-text-37"/>
          <p:cNvSpPr/>
          <p:nvPr/>
        </p:nvSpPr>
        <p:spPr>
          <a:xfrm>
            <a:off x="923925" y="4239518"/>
            <a:ext cx="1196727" cy="49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 반영 여부 검증:</a:t>
            </a:r>
            <a:endParaRPr lang="en-US" sz="1125" dirty="0"/>
          </a:p>
        </p:txBody>
      </p:sp>
      <p:sp>
        <p:nvSpPr>
          <p:cNvPr id="39" name="SK-16-text-38"/>
          <p:cNvSpPr/>
          <p:nvPr/>
        </p:nvSpPr>
        <p:spPr>
          <a:xfrm>
            <a:off x="2215902" y="4239518"/>
            <a:ext cx="3651498" cy="49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수치화된 지표가 실제 현장의 상황을 대변하는지 의심하지 않음</a:t>
            </a:r>
            <a:endParaRPr lang="en-US" sz="1125" dirty="0"/>
          </a:p>
        </p:txBody>
      </p:sp>
      <p:sp>
        <p:nvSpPr>
          <p:cNvPr id="40" name="SK-16-text-39"/>
          <p:cNvSpPr/>
          <p:nvPr/>
        </p:nvSpPr>
        <p:spPr>
          <a:xfrm>
            <a:off x="923925" y="4805809"/>
            <a:ext cx="979587" cy="49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 데이터 인지:</a:t>
            </a:r>
            <a:endParaRPr lang="en-US" sz="1125" dirty="0"/>
          </a:p>
        </p:txBody>
      </p:sp>
      <p:sp>
        <p:nvSpPr>
          <p:cNvPr id="41" name="SK-16-text-40"/>
          <p:cNvSpPr/>
          <p:nvPr/>
        </p:nvSpPr>
        <p:spPr>
          <a:xfrm>
            <a:off x="1998762" y="4805809"/>
            <a:ext cx="3868638" cy="49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목록에 없는 편익(BEN) 및 파일럿 데이터의 부재를 경고하지 않음</a:t>
            </a:r>
            <a:endParaRPr lang="en-US" sz="1125" dirty="0"/>
          </a:p>
        </p:txBody>
      </p:sp>
      <p:sp>
        <p:nvSpPr>
          <p:cNvPr id="42" name="SK-16-text-41"/>
          <p:cNvSpPr/>
          <p:nvPr/>
        </p:nvSpPr>
        <p:spPr>
          <a:xfrm>
            <a:off x="923925" y="5372100"/>
            <a:ext cx="977950" cy="49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 감지:</a:t>
            </a:r>
            <a:endParaRPr lang="en-US" sz="1125" dirty="0"/>
          </a:p>
        </p:txBody>
      </p:sp>
      <p:sp>
        <p:nvSpPr>
          <p:cNvPr id="43" name="SK-16-text-42"/>
          <p:cNvSpPr/>
          <p:nvPr/>
        </p:nvSpPr>
        <p:spPr>
          <a:xfrm>
            <a:off x="1997125" y="5372100"/>
            <a:ext cx="3870275" cy="49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보고서상의 성공률과 원시 텔레메트리 데이터 간의 심각한 불일치 간과</a:t>
            </a:r>
            <a:endParaRPr lang="en-US" sz="1125" dirty="0"/>
          </a:p>
        </p:txBody>
      </p:sp>
      <p:sp>
        <p:nvSpPr>
          <p:cNvPr id="44" name="SK-16-text-43"/>
          <p:cNvSpPr/>
          <p:nvPr/>
        </p:nvSpPr>
        <p:spPr>
          <a:xfrm>
            <a:off x="6634163" y="2386905"/>
            <a:ext cx="55578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문제점 (Structural Problems)</a:t>
            </a:r>
            <a:endParaRPr lang="en-US" sz="1350" dirty="0"/>
          </a:p>
        </p:txBody>
      </p:sp>
      <p:sp>
        <p:nvSpPr>
          <p:cNvPr id="45" name="SK-16-text-44"/>
          <p:cNvSpPr/>
          <p:nvPr/>
        </p:nvSpPr>
        <p:spPr>
          <a:xfrm>
            <a:off x="6562725" y="2758380"/>
            <a:ext cx="56292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"자동화"만 있고 "판단"이 없다: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타당성 검증 없이 16주간 "전 지표 정상" 반복</a:t>
            </a:r>
            <a:endParaRPr lang="en-US" sz="1125" dirty="0"/>
          </a:p>
        </p:txBody>
      </p:sp>
      <p:sp>
        <p:nvSpPr>
          <p:cNvPr id="46" name="SK-16-text-45"/>
          <p:cNvSpPr/>
          <p:nvPr/>
        </p:nvSpPr>
        <p:spPr>
          <a:xfrm>
            <a:off x="6562725" y="3048893"/>
            <a:ext cx="4943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범위의 제한성: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정형 데이터만 참조, 파일럿·고객 피드백 등 비정형 신호 차단</a:t>
            </a:r>
            <a:endParaRPr lang="en-US" sz="1125" dirty="0"/>
          </a:p>
        </p:txBody>
      </p:sp>
      <p:sp>
        <p:nvSpPr>
          <p:cNvPr id="47" name="SK-16-text-46"/>
          <p:cNvSpPr/>
          <p:nvPr/>
        </p:nvSpPr>
        <p:spPr>
          <a:xfrm>
            <a:off x="6562725" y="3582293"/>
            <a:ext cx="4943475" cy="4900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 루프 부재: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생성 → 자동 배포 프로세스에서 인간 PM의 승인 단계 생략</a:t>
            </a:r>
            <a:endParaRPr lang="en-US" sz="1125" dirty="0"/>
          </a:p>
        </p:txBody>
      </p:sp>
      <p:sp>
        <p:nvSpPr>
          <p:cNvPr id="48" name="SK-16-text-47"/>
          <p:cNvSpPr/>
          <p:nvPr/>
        </p:nvSpPr>
        <p:spPr>
          <a:xfrm>
            <a:off x="6562725" y="4148584"/>
            <a:ext cx="4943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관리 없는 운영: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VLM 티어 고정 등 효율성 최적화 없는 무비판적 리소스 소모</a:t>
            </a:r>
            <a:endParaRPr lang="en-US" sz="1125" dirty="0"/>
          </a:p>
        </p:txBody>
      </p:sp>
      <p:sp>
        <p:nvSpPr>
          <p:cNvPr id="49" name="SK-16-text-48"/>
          <p:cNvSpPr/>
          <p:nvPr/>
        </p:nvSpPr>
        <p:spPr>
          <a:xfrm>
            <a:off x="6562725" y="4681984"/>
            <a:ext cx="56292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크로스체크 부재: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보고서 지표와 원자료를 대조하는 상호 감시 메커니즘 결여</a:t>
            </a:r>
            <a:endParaRPr lang="en-US" sz="1125" dirty="0"/>
          </a:p>
        </p:txBody>
      </p:sp>
      <p:sp>
        <p:nvSpPr>
          <p:cNvPr id="50" name="SK-16-text-49"/>
          <p:cNvSpPr/>
          <p:nvPr/>
        </p:nvSpPr>
        <p:spPr>
          <a:xfrm>
            <a:off x="1276350" y="6195566"/>
            <a:ext cx="74866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AI PM Assistant는 지표를 정확히 집계했으나,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설계하는 것은 인간(PM)의 몫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임을 간과했습니다.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문제를 만든 것이 아니라,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Mindset이 AI를 '수박 프로젝트'의 은폐 도구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전락시켰습니다.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4" name="SK-1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5" name="SK-1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95400"/>
            <a:ext cx="11049000" cy="1149548"/>
          </a:xfrm>
          <a:prstGeom prst="rect">
            <a:avLst/>
          </a:prstGeom>
        </p:spPr>
      </p:pic>
      <p:pic>
        <p:nvPicPr>
          <p:cNvPr id="6" name="SK-1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00175"/>
            <a:ext cx="1028700" cy="238125"/>
          </a:xfrm>
          <a:prstGeom prst="rect">
            <a:avLst/>
          </a:prstGeom>
        </p:spPr>
      </p:pic>
      <p:pic>
        <p:nvPicPr>
          <p:cNvPr id="7" name="SK-1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33550"/>
            <a:ext cx="3530501" cy="616148"/>
          </a:xfrm>
          <a:prstGeom prst="rect">
            <a:avLst/>
          </a:prstGeom>
        </p:spPr>
      </p:pic>
      <p:pic>
        <p:nvPicPr>
          <p:cNvPr id="8" name="SK-1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766292"/>
            <a:ext cx="178594" cy="148828"/>
          </a:xfrm>
          <a:prstGeom prst="rect">
            <a:avLst/>
          </a:prstGeom>
        </p:spPr>
      </p:pic>
      <p:pic>
        <p:nvPicPr>
          <p:cNvPr id="9" name="SK-1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601" y="1733550"/>
            <a:ext cx="3530650" cy="616148"/>
          </a:xfrm>
          <a:prstGeom prst="rect">
            <a:avLst/>
          </a:prstGeom>
        </p:spPr>
      </p:pic>
      <p:pic>
        <p:nvPicPr>
          <p:cNvPr id="10" name="SK-1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901" y="1766292"/>
            <a:ext cx="178594" cy="148828"/>
          </a:xfrm>
          <a:prstGeom prst="rect">
            <a:avLst/>
          </a:prstGeom>
        </p:spPr>
      </p:pic>
      <p:pic>
        <p:nvPicPr>
          <p:cNvPr id="11" name="SK-1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5550" y="1733550"/>
            <a:ext cx="3530501" cy="616148"/>
          </a:xfrm>
          <a:prstGeom prst="rect">
            <a:avLst/>
          </a:prstGeom>
        </p:spPr>
      </p:pic>
      <p:pic>
        <p:nvPicPr>
          <p:cNvPr id="12" name="SK-1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850" y="1766292"/>
            <a:ext cx="178594" cy="148828"/>
          </a:xfrm>
          <a:prstGeom prst="rect">
            <a:avLst/>
          </a:prstGeom>
        </p:spPr>
      </p:pic>
      <p:pic>
        <p:nvPicPr>
          <p:cNvPr id="13" name="SK-1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0750" y="2559248"/>
            <a:ext cx="190500" cy="152400"/>
          </a:xfrm>
          <a:prstGeom prst="rect">
            <a:avLst/>
          </a:prstGeom>
        </p:spPr>
      </p:pic>
      <p:pic>
        <p:nvPicPr>
          <p:cNvPr id="14" name="SK-1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825948"/>
            <a:ext cx="11049000" cy="1666875"/>
          </a:xfrm>
          <a:prstGeom prst="rect">
            <a:avLst/>
          </a:prstGeom>
        </p:spPr>
      </p:pic>
      <p:pic>
        <p:nvPicPr>
          <p:cNvPr id="15" name="SK-1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2930723"/>
            <a:ext cx="1943100" cy="238125"/>
          </a:xfrm>
          <a:prstGeom prst="rect">
            <a:avLst/>
          </a:prstGeom>
        </p:spPr>
      </p:pic>
      <p:pic>
        <p:nvPicPr>
          <p:cNvPr id="16" name="SK-1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3264098"/>
            <a:ext cx="5353050" cy="519113"/>
          </a:xfrm>
          <a:prstGeom prst="rect">
            <a:avLst/>
          </a:prstGeom>
        </p:spPr>
      </p:pic>
      <p:pic>
        <p:nvPicPr>
          <p:cNvPr id="17" name="SK-1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340298"/>
            <a:ext cx="190500" cy="385763"/>
          </a:xfrm>
          <a:prstGeom prst="rect">
            <a:avLst/>
          </a:prstGeom>
        </p:spPr>
      </p:pic>
      <p:pic>
        <p:nvPicPr>
          <p:cNvPr id="18" name="SK-1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53150" y="3264098"/>
            <a:ext cx="5353050" cy="519113"/>
          </a:xfrm>
          <a:prstGeom prst="rect">
            <a:avLst/>
          </a:prstGeom>
        </p:spPr>
      </p:pic>
      <p:pic>
        <p:nvPicPr>
          <p:cNvPr id="19" name="SK-1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7450" y="3340298"/>
            <a:ext cx="190500" cy="385763"/>
          </a:xfrm>
          <a:prstGeom prst="rect">
            <a:avLst/>
          </a:prstGeom>
        </p:spPr>
      </p:pic>
      <p:pic>
        <p:nvPicPr>
          <p:cNvPr id="20" name="SK-1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3878461"/>
            <a:ext cx="5353050" cy="519113"/>
          </a:xfrm>
          <a:prstGeom prst="rect">
            <a:avLst/>
          </a:prstGeom>
        </p:spPr>
      </p:pic>
      <p:pic>
        <p:nvPicPr>
          <p:cNvPr id="21" name="SK-1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3954661"/>
            <a:ext cx="190500" cy="385763"/>
          </a:xfrm>
          <a:prstGeom prst="rect">
            <a:avLst/>
          </a:prstGeom>
        </p:spPr>
      </p:pic>
      <p:pic>
        <p:nvPicPr>
          <p:cNvPr id="22" name="SK-1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53150" y="3878461"/>
            <a:ext cx="5353050" cy="519113"/>
          </a:xfrm>
          <a:prstGeom prst="rect">
            <a:avLst/>
          </a:prstGeom>
        </p:spPr>
      </p:pic>
      <p:pic>
        <p:nvPicPr>
          <p:cNvPr id="23" name="SK-1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67450" y="3954661"/>
            <a:ext cx="190500" cy="385763"/>
          </a:xfrm>
          <a:prstGeom prst="rect">
            <a:avLst/>
          </a:prstGeom>
        </p:spPr>
      </p:pic>
      <p:pic>
        <p:nvPicPr>
          <p:cNvPr id="24" name="SK-1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00750" y="4607123"/>
            <a:ext cx="190500" cy="152400"/>
          </a:xfrm>
          <a:prstGeom prst="rect">
            <a:avLst/>
          </a:prstGeom>
        </p:spPr>
      </p:pic>
      <p:pic>
        <p:nvPicPr>
          <p:cNvPr id="25" name="SK-1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4873823"/>
            <a:ext cx="11049000" cy="1187648"/>
          </a:xfrm>
          <a:prstGeom prst="rect">
            <a:avLst/>
          </a:prstGeom>
        </p:spPr>
      </p:pic>
      <p:pic>
        <p:nvPicPr>
          <p:cNvPr id="26" name="SK-1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4997648"/>
            <a:ext cx="10744200" cy="271463"/>
          </a:xfrm>
          <a:prstGeom prst="rect">
            <a:avLst/>
          </a:prstGeom>
        </p:spPr>
      </p:pic>
      <p:pic>
        <p:nvPicPr>
          <p:cNvPr id="27" name="SK-1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6213872"/>
            <a:ext cx="11049000" cy="504825"/>
          </a:xfrm>
          <a:prstGeom prst="rect">
            <a:avLst/>
          </a:prstGeom>
        </p:spPr>
      </p:pic>
      <p:pic>
        <p:nvPicPr>
          <p:cNvPr id="28" name="SK-1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43625" y="6344841"/>
            <a:ext cx="1543050" cy="242888"/>
          </a:xfrm>
          <a:prstGeom prst="rect">
            <a:avLst/>
          </a:prstGeom>
        </p:spPr>
      </p:pic>
      <p:pic>
        <p:nvPicPr>
          <p:cNvPr id="29" name="SK-1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00975" y="6409134"/>
            <a:ext cx="142875" cy="114300"/>
          </a:xfrm>
          <a:prstGeom prst="rect">
            <a:avLst/>
          </a:prstGeom>
        </p:spPr>
      </p:pic>
      <p:pic>
        <p:nvPicPr>
          <p:cNvPr id="30" name="SK-1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58150" y="6344841"/>
            <a:ext cx="1581150" cy="242888"/>
          </a:xfrm>
          <a:prstGeom prst="rect">
            <a:avLst/>
          </a:prstGeom>
        </p:spPr>
      </p:pic>
      <p:pic>
        <p:nvPicPr>
          <p:cNvPr id="31" name="SK-1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53600" y="6409134"/>
            <a:ext cx="142875" cy="114300"/>
          </a:xfrm>
          <a:prstGeom prst="rect">
            <a:avLst/>
          </a:prstGeom>
        </p:spPr>
      </p:pic>
      <p:pic>
        <p:nvPicPr>
          <p:cNvPr id="32" name="SK-17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10775" y="6344841"/>
            <a:ext cx="1457325" cy="242888"/>
          </a:xfrm>
          <a:prstGeom prst="rect">
            <a:avLst/>
          </a:prstGeom>
        </p:spPr>
      </p:pic>
      <p:sp>
        <p:nvSpPr>
          <p:cNvPr id="33" name="SK-17-text-32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4" name="SK-17-text-33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B-4. 3개 관점의 종합 연결: PMBOK 8판 구조</a:t>
            </a:r>
            <a:endParaRPr lang="en-US" sz="2550" dirty="0"/>
          </a:p>
        </p:txBody>
      </p:sp>
      <p:sp>
        <p:nvSpPr>
          <p:cNvPr id="35" name="SK-17-text-34"/>
          <p:cNvSpPr/>
          <p:nvPr/>
        </p:nvSpPr>
        <p:spPr>
          <a:xfrm>
            <a:off x="742950" y="1400175"/>
            <a:ext cx="19727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§3.1 MINDSET</a:t>
            </a:r>
            <a:endParaRPr lang="en-US" sz="1050" dirty="0"/>
          </a:p>
        </p:txBody>
      </p:sp>
      <p:sp>
        <p:nvSpPr>
          <p:cNvPr id="36" name="SK-17-text-35"/>
          <p:cNvSpPr/>
          <p:nvPr/>
        </p:nvSpPr>
        <p:spPr>
          <a:xfrm>
            <a:off x="1790700" y="1390650"/>
            <a:ext cx="4200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원칙이 메커니즘을 안내 (기초 결핍)</a:t>
            </a:r>
            <a:endParaRPr lang="en-US" sz="1350" dirty="0"/>
          </a:p>
        </p:txBody>
      </p:sp>
      <p:sp>
        <p:nvSpPr>
          <p:cNvPr id="37" name="SK-17-text-36"/>
          <p:cNvSpPr/>
          <p:nvPr/>
        </p:nvSpPr>
        <p:spPr>
          <a:xfrm>
            <a:off x="1035844" y="1733550"/>
            <a:ext cx="341620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Proactive</a:t>
            </a:r>
            <a:endParaRPr lang="en-US" sz="1125" dirty="0"/>
          </a:p>
        </p:txBody>
      </p:sp>
      <p:sp>
        <p:nvSpPr>
          <p:cNvPr id="38" name="SK-17-text-37"/>
          <p:cNvSpPr/>
          <p:nvPr/>
        </p:nvSpPr>
        <p:spPr>
          <a:xfrm>
            <a:off x="800100" y="1976438"/>
            <a:ext cx="34162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리스크 예방 대신 사후 수습. "일단 넘어갑시다"의 반복 패턴.</a:t>
            </a:r>
            <a:endParaRPr lang="en-US" sz="1050" dirty="0"/>
          </a:p>
        </p:txBody>
      </p:sp>
      <p:sp>
        <p:nvSpPr>
          <p:cNvPr id="39" name="SK-17-text-38"/>
          <p:cNvSpPr/>
          <p:nvPr/>
        </p:nvSpPr>
        <p:spPr>
          <a:xfrm>
            <a:off x="4680645" y="1733550"/>
            <a:ext cx="3416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Ownership</a:t>
            </a:r>
            <a:endParaRPr lang="en-US" sz="1125" dirty="0"/>
          </a:p>
        </p:txBody>
      </p:sp>
      <p:sp>
        <p:nvSpPr>
          <p:cNvPr id="40" name="SK-17-text-39"/>
          <p:cNvSpPr/>
          <p:nvPr/>
        </p:nvSpPr>
        <p:spPr>
          <a:xfrm>
            <a:off x="4444901" y="1976438"/>
            <a:ext cx="34163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영역(재무·편익) RACI 공란. 책임 공백이 실패 지점과 일치.</a:t>
            </a:r>
            <a:endParaRPr lang="en-US" sz="1050" dirty="0"/>
          </a:p>
        </p:txBody>
      </p:sp>
      <p:sp>
        <p:nvSpPr>
          <p:cNvPr id="41" name="SK-17-text-40"/>
          <p:cNvSpPr/>
          <p:nvPr/>
        </p:nvSpPr>
        <p:spPr>
          <a:xfrm>
            <a:off x="8325594" y="1733550"/>
            <a:ext cx="341620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Value-driven</a:t>
            </a:r>
            <a:endParaRPr lang="en-US" sz="1125" dirty="0"/>
          </a:p>
        </p:txBody>
      </p:sp>
      <p:sp>
        <p:nvSpPr>
          <p:cNvPr id="42" name="SK-17-text-41"/>
          <p:cNvSpPr/>
          <p:nvPr/>
        </p:nvSpPr>
        <p:spPr>
          <a:xfrm>
            <a:off x="8089850" y="1976438"/>
            <a:ext cx="34162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Case(투자 근거)와 PM의 관리 초점이 완전히 분리됨.</a:t>
            </a:r>
            <a:endParaRPr lang="en-US" sz="1050" dirty="0"/>
          </a:p>
        </p:txBody>
      </p:sp>
      <p:sp>
        <p:nvSpPr>
          <p:cNvPr id="43" name="SK-17-text-42"/>
          <p:cNvSpPr/>
          <p:nvPr/>
        </p:nvSpPr>
        <p:spPr>
          <a:xfrm>
            <a:off x="742950" y="2930723"/>
            <a:ext cx="37911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§2.x PERFORMANCE DOMAINS</a:t>
            </a:r>
            <a:endParaRPr lang="en-US" sz="1050" dirty="0"/>
          </a:p>
        </p:txBody>
      </p:sp>
      <p:sp>
        <p:nvSpPr>
          <p:cNvPr id="44" name="SK-17-text-43"/>
          <p:cNvSpPr/>
          <p:nvPr/>
        </p:nvSpPr>
        <p:spPr>
          <a:xfrm>
            <a:off x="2705100" y="2921198"/>
            <a:ext cx="39947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 메커니즘 실패 (실행 붕괴)</a:t>
            </a:r>
            <a:endParaRPr lang="en-US" sz="1350" dirty="0"/>
          </a:p>
        </p:txBody>
      </p:sp>
      <p:sp>
        <p:nvSpPr>
          <p:cNvPr id="45" name="SK-17-text-44"/>
          <p:cNvSpPr/>
          <p:nvPr/>
        </p:nvSpPr>
        <p:spPr>
          <a:xfrm>
            <a:off x="1104900" y="3321248"/>
            <a:ext cx="3703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§2.7 리스크 &amp; §2.1 거버넌스</a:t>
            </a:r>
            <a:endParaRPr lang="en-US" sz="1050" dirty="0"/>
          </a:p>
        </p:txBody>
      </p:sp>
      <p:sp>
        <p:nvSpPr>
          <p:cNvPr id="46" name="SK-17-text-45"/>
          <p:cNvSpPr/>
          <p:nvPr/>
        </p:nvSpPr>
        <p:spPr>
          <a:xfrm>
            <a:off x="1104900" y="3540323"/>
            <a:ext cx="611886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0, EOL 미등록, 조기경보 부재 및 사후 반응</a:t>
            </a:r>
            <a:endParaRPr lang="en-US" sz="975" dirty="0"/>
          </a:p>
        </p:txBody>
      </p:sp>
      <p:sp>
        <p:nvSpPr>
          <p:cNvPr id="47" name="SK-17-text-46"/>
          <p:cNvSpPr/>
          <p:nvPr/>
        </p:nvSpPr>
        <p:spPr>
          <a:xfrm>
            <a:off x="6572250" y="3321248"/>
            <a:ext cx="354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§2.1 거버넌스 &amp; §2.4 재무</a:t>
            </a:r>
            <a:endParaRPr lang="en-US" sz="1050" dirty="0"/>
          </a:p>
        </p:txBody>
      </p:sp>
      <p:sp>
        <p:nvSpPr>
          <p:cNvPr id="48" name="SK-17-text-47"/>
          <p:cNvSpPr/>
          <p:nvPr/>
        </p:nvSpPr>
        <p:spPr>
          <a:xfrm>
            <a:off x="6572250" y="3540323"/>
            <a:ext cx="512826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공란, 보고 검토자 부재, AI 인프라 책임자 미지정</a:t>
            </a:r>
            <a:endParaRPr lang="en-US" sz="975" dirty="0"/>
          </a:p>
        </p:txBody>
      </p:sp>
      <p:sp>
        <p:nvSpPr>
          <p:cNvPr id="49" name="SK-17-text-48"/>
          <p:cNvSpPr/>
          <p:nvPr/>
        </p:nvSpPr>
        <p:spPr>
          <a:xfrm>
            <a:off x="1104900" y="3935611"/>
            <a:ext cx="3703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§2.2 범위 &amp; §2.5 이해관계자</a:t>
            </a:r>
            <a:endParaRPr lang="en-US" sz="1050" dirty="0"/>
          </a:p>
        </p:txBody>
      </p:sp>
      <p:sp>
        <p:nvSpPr>
          <p:cNvPr id="50" name="SK-17-text-49"/>
          <p:cNvSpPr/>
          <p:nvPr/>
        </p:nvSpPr>
        <p:spPr>
          <a:xfrm>
            <a:off x="1104900" y="4154686"/>
            <a:ext cx="63169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 관리로 Outcome 배제, 고객 가치 신호(파일럿) 차단</a:t>
            </a:r>
            <a:endParaRPr lang="en-US" sz="975" dirty="0"/>
          </a:p>
        </p:txBody>
      </p:sp>
      <p:sp>
        <p:nvSpPr>
          <p:cNvPr id="51" name="SK-17-text-50"/>
          <p:cNvSpPr/>
          <p:nvPr/>
        </p:nvSpPr>
        <p:spPr>
          <a:xfrm>
            <a:off x="6572250" y="3935611"/>
            <a:ext cx="3076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결과: 수박 프로젝트 완성</a:t>
            </a:r>
            <a:endParaRPr lang="en-US" sz="1050" dirty="0"/>
          </a:p>
        </p:txBody>
      </p:sp>
      <p:sp>
        <p:nvSpPr>
          <p:cNvPr id="52" name="SK-17-text-51"/>
          <p:cNvSpPr/>
          <p:nvPr/>
        </p:nvSpPr>
        <p:spPr>
          <a:xfrm>
            <a:off x="6572250" y="4154686"/>
            <a:ext cx="512826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보고의 항상성 유지 및 고객 가치 전달 실패</a:t>
            </a:r>
            <a:endParaRPr lang="en-US" sz="975" dirty="0"/>
          </a:p>
        </p:txBody>
      </p:sp>
      <p:sp>
        <p:nvSpPr>
          <p:cNvPr id="53" name="SK-17-text-52"/>
          <p:cNvSpPr/>
          <p:nvPr/>
        </p:nvSpPr>
        <p:spPr>
          <a:xfrm>
            <a:off x="723900" y="4997648"/>
            <a:ext cx="108204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X3 AI USE CASE — 실패의 효율적 자동화</a:t>
            </a:r>
            <a:endParaRPr lang="en-US" sz="1125" dirty="0"/>
          </a:p>
        </p:txBody>
      </p:sp>
      <p:sp>
        <p:nvSpPr>
          <p:cNvPr id="54" name="SK-17-text-53"/>
          <p:cNvSpPr/>
          <p:nvPr/>
        </p:nvSpPr>
        <p:spPr>
          <a:xfrm>
            <a:off x="723900" y="5364361"/>
            <a:ext cx="35305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AI</a:t>
            </a:r>
            <a:endParaRPr lang="en-US" sz="900" dirty="0"/>
          </a:p>
        </p:txBody>
      </p:sp>
      <p:sp>
        <p:nvSpPr>
          <p:cNvPr id="55" name="SK-17-text-54"/>
          <p:cNvSpPr/>
          <p:nvPr/>
        </p:nvSpPr>
        <p:spPr>
          <a:xfrm>
            <a:off x="723900" y="5564386"/>
            <a:ext cx="34543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FA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왜곡된 지표를 자동 보고하여 "수박 프로젝트" 양산기로 전락</a:t>
            </a:r>
            <a:endParaRPr lang="en-US" sz="1050" dirty="0"/>
          </a:p>
        </p:txBody>
      </p:sp>
      <p:sp>
        <p:nvSpPr>
          <p:cNvPr id="56" name="SK-17-text-55"/>
          <p:cNvSpPr/>
          <p:nvPr/>
        </p:nvSpPr>
        <p:spPr>
          <a:xfrm>
            <a:off x="4368701" y="5364361"/>
            <a:ext cx="3530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AI</a:t>
            </a:r>
            <a:endParaRPr lang="en-US" sz="900" dirty="0"/>
          </a:p>
        </p:txBody>
      </p:sp>
      <p:sp>
        <p:nvSpPr>
          <p:cNvPr id="57" name="SK-17-text-56"/>
          <p:cNvSpPr/>
          <p:nvPr/>
        </p:nvSpPr>
        <p:spPr>
          <a:xfrm>
            <a:off x="4368701" y="5564386"/>
            <a:ext cx="5036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FA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범위 제한 및 선제 감지 기능 부재로 사실상 미작동</a:t>
            </a:r>
            <a:endParaRPr lang="en-US" sz="1050" dirty="0"/>
          </a:p>
        </p:txBody>
      </p:sp>
      <p:sp>
        <p:nvSpPr>
          <p:cNvPr id="58" name="SK-17-text-57"/>
          <p:cNvSpPr/>
          <p:nvPr/>
        </p:nvSpPr>
        <p:spPr>
          <a:xfrm>
            <a:off x="8013650" y="5364361"/>
            <a:ext cx="35305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 AI</a:t>
            </a:r>
            <a:endParaRPr lang="en-US" sz="900" dirty="0"/>
          </a:p>
        </p:txBody>
      </p:sp>
      <p:sp>
        <p:nvSpPr>
          <p:cNvPr id="59" name="SK-17-text-58"/>
          <p:cNvSpPr/>
          <p:nvPr/>
        </p:nvSpPr>
        <p:spPr>
          <a:xfrm>
            <a:off x="8013650" y="5564386"/>
            <a:ext cx="41783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FA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데이터 등 부정적 신호의 배포 누락 및 단절 방치</a:t>
            </a:r>
            <a:endParaRPr lang="en-US" sz="1050" dirty="0"/>
          </a:p>
        </p:txBody>
      </p:sp>
      <p:sp>
        <p:nvSpPr>
          <p:cNvPr id="60" name="SK-17-text-59"/>
          <p:cNvSpPr/>
          <p:nvPr/>
        </p:nvSpPr>
        <p:spPr>
          <a:xfrm>
            <a:off x="723900" y="6337697"/>
            <a:ext cx="6257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"Mindset이 무너지면 모든 메커니즘이 형식화된다"</a:t>
            </a:r>
            <a:endParaRPr lang="en-US" sz="1350" dirty="0"/>
          </a:p>
        </p:txBody>
      </p:sp>
      <p:sp>
        <p:nvSpPr>
          <p:cNvPr id="61" name="SK-17-text-60"/>
          <p:cNvSpPr/>
          <p:nvPr/>
        </p:nvSpPr>
        <p:spPr>
          <a:xfrm>
            <a:off x="6219825" y="6344841"/>
            <a:ext cx="25312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</a:rPr>
              <a:t>Mindset 복원 (§3.1)</a:t>
            </a:r>
            <a:endParaRPr lang="en-US" sz="975" dirty="0"/>
          </a:p>
        </p:txBody>
      </p:sp>
      <p:sp>
        <p:nvSpPr>
          <p:cNvPr id="62" name="SK-17-text-61"/>
          <p:cNvSpPr/>
          <p:nvPr/>
        </p:nvSpPr>
        <p:spPr>
          <a:xfrm>
            <a:off x="8134350" y="6344841"/>
            <a:ext cx="21797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</a:rPr>
              <a:t>PD 메커니즘 정비 (§2)</a:t>
            </a:r>
            <a:endParaRPr lang="en-US" sz="975" dirty="0"/>
          </a:p>
        </p:txBody>
      </p:sp>
      <p:sp>
        <p:nvSpPr>
          <p:cNvPr id="63" name="SK-17-text-62"/>
          <p:cNvSpPr/>
          <p:nvPr/>
        </p:nvSpPr>
        <p:spPr>
          <a:xfrm>
            <a:off x="10086975" y="6344841"/>
            <a:ext cx="202761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</a:rPr>
              <a:t>AI 올바른 강화 (X3)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133850"/>
          </a:xfrm>
          <a:prstGeom prst="rect">
            <a:avLst/>
          </a:prstGeom>
        </p:spPr>
      </p:pic>
      <p:pic>
        <p:nvPicPr>
          <p:cNvPr id="7" name="SK-1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3682901" cy="533400"/>
          </a:xfrm>
          <a:prstGeom prst="rect">
            <a:avLst/>
          </a:prstGeom>
        </p:spPr>
      </p:pic>
      <p:pic>
        <p:nvPicPr>
          <p:cNvPr id="8" name="SK-1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401" y="1504950"/>
            <a:ext cx="3682901" cy="533400"/>
          </a:xfrm>
          <a:prstGeom prst="rect">
            <a:avLst/>
          </a:prstGeom>
        </p:spPr>
      </p:pic>
      <p:pic>
        <p:nvPicPr>
          <p:cNvPr id="9" name="SK-1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1504950"/>
            <a:ext cx="3683198" cy="533400"/>
          </a:xfrm>
          <a:prstGeom prst="rect">
            <a:avLst/>
          </a:prstGeom>
        </p:spPr>
      </p:pic>
      <p:pic>
        <p:nvPicPr>
          <p:cNvPr id="10" name="SK-1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038350"/>
            <a:ext cx="3682901" cy="720030"/>
          </a:xfrm>
          <a:prstGeom prst="rect">
            <a:avLst/>
          </a:prstGeom>
        </p:spPr>
      </p:pic>
      <p:pic>
        <p:nvPicPr>
          <p:cNvPr id="11" name="SK-1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401" y="2038350"/>
            <a:ext cx="3682901" cy="720030"/>
          </a:xfrm>
          <a:prstGeom prst="rect">
            <a:avLst/>
          </a:prstGeom>
        </p:spPr>
      </p:pic>
      <p:pic>
        <p:nvPicPr>
          <p:cNvPr id="12" name="SK-1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7302" y="2038350"/>
            <a:ext cx="3683198" cy="720030"/>
          </a:xfrm>
          <a:prstGeom prst="rect">
            <a:avLst/>
          </a:prstGeom>
        </p:spPr>
      </p:pic>
      <p:pic>
        <p:nvPicPr>
          <p:cNvPr id="13" name="SK-1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2798" y="2322909"/>
            <a:ext cx="202406" cy="163711"/>
          </a:xfrm>
          <a:prstGeom prst="rect">
            <a:avLst/>
          </a:prstGeom>
        </p:spPr>
      </p:pic>
      <p:pic>
        <p:nvPicPr>
          <p:cNvPr id="14" name="SK-1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758380"/>
            <a:ext cx="3682901" cy="720030"/>
          </a:xfrm>
          <a:prstGeom prst="rect">
            <a:avLst/>
          </a:prstGeom>
        </p:spPr>
      </p:pic>
      <p:pic>
        <p:nvPicPr>
          <p:cNvPr id="15" name="SK-1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4401" y="2758380"/>
            <a:ext cx="3682901" cy="720030"/>
          </a:xfrm>
          <a:prstGeom prst="rect">
            <a:avLst/>
          </a:prstGeom>
        </p:spPr>
      </p:pic>
      <p:pic>
        <p:nvPicPr>
          <p:cNvPr id="16" name="SK-1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37302" y="2758380"/>
            <a:ext cx="3683198" cy="720030"/>
          </a:xfrm>
          <a:prstGeom prst="rect">
            <a:avLst/>
          </a:prstGeom>
        </p:spPr>
      </p:pic>
      <p:pic>
        <p:nvPicPr>
          <p:cNvPr id="17" name="SK-1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2798" y="3042940"/>
            <a:ext cx="202406" cy="163711"/>
          </a:xfrm>
          <a:prstGeom prst="rect">
            <a:avLst/>
          </a:prstGeom>
        </p:spPr>
      </p:pic>
      <p:pic>
        <p:nvPicPr>
          <p:cNvPr id="18" name="SK-1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478411"/>
            <a:ext cx="3682901" cy="720030"/>
          </a:xfrm>
          <a:prstGeom prst="rect">
            <a:avLst/>
          </a:prstGeom>
        </p:spPr>
      </p:pic>
      <p:pic>
        <p:nvPicPr>
          <p:cNvPr id="19" name="SK-1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4401" y="3478411"/>
            <a:ext cx="3682901" cy="720030"/>
          </a:xfrm>
          <a:prstGeom prst="rect">
            <a:avLst/>
          </a:prstGeom>
        </p:spPr>
      </p:pic>
      <p:pic>
        <p:nvPicPr>
          <p:cNvPr id="20" name="SK-1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37302" y="3478411"/>
            <a:ext cx="3683198" cy="720030"/>
          </a:xfrm>
          <a:prstGeom prst="rect">
            <a:avLst/>
          </a:prstGeom>
        </p:spPr>
      </p:pic>
      <p:pic>
        <p:nvPicPr>
          <p:cNvPr id="21" name="SK-1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02798" y="3762970"/>
            <a:ext cx="202406" cy="163711"/>
          </a:xfrm>
          <a:prstGeom prst="rect">
            <a:avLst/>
          </a:prstGeom>
        </p:spPr>
      </p:pic>
      <p:pic>
        <p:nvPicPr>
          <p:cNvPr id="22" name="SK-1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4198441"/>
            <a:ext cx="3682901" cy="720030"/>
          </a:xfrm>
          <a:prstGeom prst="rect">
            <a:avLst/>
          </a:prstGeom>
        </p:spPr>
      </p:pic>
      <p:pic>
        <p:nvPicPr>
          <p:cNvPr id="23" name="SK-1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54401" y="4198441"/>
            <a:ext cx="3682901" cy="720030"/>
          </a:xfrm>
          <a:prstGeom prst="rect">
            <a:avLst/>
          </a:prstGeom>
        </p:spPr>
      </p:pic>
      <p:pic>
        <p:nvPicPr>
          <p:cNvPr id="24" name="SK-1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37302" y="4198441"/>
            <a:ext cx="3683198" cy="720030"/>
          </a:xfrm>
          <a:prstGeom prst="rect">
            <a:avLst/>
          </a:prstGeom>
        </p:spPr>
      </p:pic>
      <p:pic>
        <p:nvPicPr>
          <p:cNvPr id="25" name="SK-1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02798" y="4483001"/>
            <a:ext cx="202406" cy="163711"/>
          </a:xfrm>
          <a:prstGeom prst="rect">
            <a:avLst/>
          </a:prstGeom>
        </p:spPr>
      </p:pic>
      <p:pic>
        <p:nvPicPr>
          <p:cNvPr id="26" name="SK-1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37302" y="4918472"/>
            <a:ext cx="3683198" cy="720328"/>
          </a:xfrm>
          <a:prstGeom prst="rect">
            <a:avLst/>
          </a:prstGeom>
        </p:spPr>
      </p:pic>
      <p:pic>
        <p:nvPicPr>
          <p:cNvPr id="27" name="SK-1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02798" y="5203180"/>
            <a:ext cx="202406" cy="163711"/>
          </a:xfrm>
          <a:prstGeom prst="rect">
            <a:avLst/>
          </a:prstGeom>
        </p:spPr>
      </p:pic>
      <p:pic>
        <p:nvPicPr>
          <p:cNvPr id="28" name="SK-1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867400"/>
            <a:ext cx="11049000" cy="609600"/>
          </a:xfrm>
          <a:prstGeom prst="rect">
            <a:avLst/>
          </a:prstGeom>
        </p:spPr>
      </p:pic>
      <p:pic>
        <p:nvPicPr>
          <p:cNvPr id="29" name="SK-1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0100" y="6057900"/>
            <a:ext cx="285750" cy="228600"/>
          </a:xfrm>
          <a:prstGeom prst="rect">
            <a:avLst/>
          </a:prstGeom>
        </p:spPr>
      </p:pic>
      <p:sp>
        <p:nvSpPr>
          <p:cNvPr id="30" name="SK-18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18-text-30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C-1. 문제-원인-해결 연결 맵</a:t>
            </a:r>
            <a:endParaRPr lang="en-US" sz="2550" dirty="0"/>
          </a:p>
        </p:txBody>
      </p:sp>
      <p:sp>
        <p:nvSpPr>
          <p:cNvPr id="32" name="SK-18-text-31"/>
          <p:cNvSpPr/>
          <p:nvPr/>
        </p:nvSpPr>
        <p:spPr>
          <a:xfrm>
            <a:off x="723900" y="1504950"/>
            <a:ext cx="34543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(Root Cause)</a:t>
            </a:r>
            <a:endParaRPr lang="en-US" sz="1200" dirty="0"/>
          </a:p>
        </p:txBody>
      </p:sp>
      <p:sp>
        <p:nvSpPr>
          <p:cNvPr id="33" name="SK-18-text-32"/>
          <p:cNvSpPr/>
          <p:nvPr/>
        </p:nvSpPr>
        <p:spPr>
          <a:xfrm>
            <a:off x="4406801" y="1504950"/>
            <a:ext cx="44375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(Solution Direction)</a:t>
            </a:r>
            <a:endParaRPr lang="en-US" sz="1200" dirty="0"/>
          </a:p>
        </p:txBody>
      </p:sp>
      <p:sp>
        <p:nvSpPr>
          <p:cNvPr id="34" name="SK-18-text-33"/>
          <p:cNvSpPr/>
          <p:nvPr/>
        </p:nvSpPr>
        <p:spPr>
          <a:xfrm>
            <a:off x="8089702" y="1504950"/>
            <a:ext cx="41022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AI Agent (AI Agent Role)</a:t>
            </a:r>
            <a:endParaRPr lang="en-US" sz="1200" dirty="0"/>
          </a:p>
        </p:txBody>
      </p:sp>
      <p:sp>
        <p:nvSpPr>
          <p:cNvPr id="35" name="SK-18-text-34"/>
          <p:cNvSpPr/>
          <p:nvPr/>
        </p:nvSpPr>
        <p:spPr>
          <a:xfrm>
            <a:off x="723900" y="203835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체계가 Output만 측정</a:t>
            </a:r>
            <a:endParaRPr lang="en-US" sz="1275" dirty="0"/>
          </a:p>
        </p:txBody>
      </p:sp>
      <p:sp>
        <p:nvSpPr>
          <p:cNvPr id="36" name="SK-18-text-35"/>
          <p:cNvSpPr/>
          <p:nvPr/>
        </p:nvSpPr>
        <p:spPr>
          <a:xfrm>
            <a:off x="4406801" y="203835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Outcome(편익) 실시간 추적</a:t>
            </a:r>
            <a:endParaRPr lang="en-US" sz="1275" dirty="0"/>
          </a:p>
        </p:txBody>
      </p:sp>
      <p:sp>
        <p:nvSpPr>
          <p:cNvPr id="37" name="SK-18-text-36"/>
          <p:cNvSpPr/>
          <p:nvPr/>
        </p:nvSpPr>
        <p:spPr>
          <a:xfrm>
            <a:off x="8432602" y="2276921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Tracker Agent</a:t>
            </a:r>
            <a:endParaRPr lang="en-US" sz="1275" dirty="0"/>
          </a:p>
        </p:txBody>
      </p:sp>
      <p:sp>
        <p:nvSpPr>
          <p:cNvPr id="38" name="SK-18-text-37"/>
          <p:cNvSpPr/>
          <p:nvPr/>
        </p:nvSpPr>
        <p:spPr>
          <a:xfrm>
            <a:off x="723900" y="275838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보고서와 원자료의 괴리 미감지</a:t>
            </a:r>
            <a:endParaRPr lang="en-US" sz="1275" dirty="0"/>
          </a:p>
        </p:txBody>
      </p:sp>
      <p:sp>
        <p:nvSpPr>
          <p:cNvPr id="39" name="SK-18-text-38"/>
          <p:cNvSpPr/>
          <p:nvPr/>
        </p:nvSpPr>
        <p:spPr>
          <a:xfrm>
            <a:off x="4406801" y="275838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크로스체크 + 이상 탐지</a:t>
            </a:r>
            <a:endParaRPr lang="en-US" sz="1275" dirty="0"/>
          </a:p>
        </p:txBody>
      </p:sp>
      <p:sp>
        <p:nvSpPr>
          <p:cNvPr id="40" name="SK-18-text-39"/>
          <p:cNvSpPr/>
          <p:nvPr/>
        </p:nvSpPr>
        <p:spPr>
          <a:xfrm>
            <a:off x="8432602" y="2996952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 Agent</a:t>
            </a:r>
            <a:endParaRPr lang="en-US" sz="1275" dirty="0"/>
          </a:p>
        </p:txBody>
      </p:sp>
      <p:sp>
        <p:nvSpPr>
          <p:cNvPr id="41" name="SK-18-text-40"/>
          <p:cNvSpPr/>
          <p:nvPr/>
        </p:nvSpPr>
        <p:spPr>
          <a:xfrm>
            <a:off x="723900" y="3478411"/>
            <a:ext cx="352671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붕괴 (35건 비공식)</a:t>
            </a:r>
            <a:endParaRPr lang="en-US" sz="1275" dirty="0"/>
          </a:p>
        </p:txBody>
      </p:sp>
      <p:sp>
        <p:nvSpPr>
          <p:cNvPr id="42" name="SK-18-text-41"/>
          <p:cNvSpPr/>
          <p:nvPr/>
        </p:nvSpPr>
        <p:spPr>
          <a:xfrm>
            <a:off x="4406801" y="3478411"/>
            <a:ext cx="3645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+ CR 자동 생성</a:t>
            </a:r>
            <a:endParaRPr lang="en-US" sz="1275" dirty="0"/>
          </a:p>
        </p:txBody>
      </p:sp>
      <p:sp>
        <p:nvSpPr>
          <p:cNvPr id="43" name="SK-18-text-42"/>
          <p:cNvSpPr/>
          <p:nvPr/>
        </p:nvSpPr>
        <p:spPr>
          <a:xfrm>
            <a:off x="8432602" y="3716982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Sentinel Agent</a:t>
            </a:r>
            <a:endParaRPr lang="en-US" sz="1275" dirty="0"/>
          </a:p>
        </p:txBody>
      </p:sp>
      <p:sp>
        <p:nvSpPr>
          <p:cNvPr id="44" name="SK-18-text-43"/>
          <p:cNvSpPr/>
          <p:nvPr/>
        </p:nvSpPr>
        <p:spPr>
          <a:xfrm>
            <a:off x="723900" y="4198441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의사결정 불일치</a:t>
            </a:r>
            <a:endParaRPr lang="en-US" sz="1275" dirty="0"/>
          </a:p>
        </p:txBody>
      </p:sp>
      <p:sp>
        <p:nvSpPr>
          <p:cNvPr id="45" name="SK-18-text-44"/>
          <p:cNvSpPr/>
          <p:nvPr/>
        </p:nvSpPr>
        <p:spPr>
          <a:xfrm>
            <a:off x="4406801" y="4198441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기록 대조 + 불일치 알림</a:t>
            </a:r>
            <a:endParaRPr lang="en-US" sz="1275" dirty="0"/>
          </a:p>
        </p:txBody>
      </p:sp>
      <p:sp>
        <p:nvSpPr>
          <p:cNvPr id="46" name="SK-18-text-45"/>
          <p:cNvSpPr/>
          <p:nvPr/>
        </p:nvSpPr>
        <p:spPr>
          <a:xfrm>
            <a:off x="8432602" y="4437013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Agent</a:t>
            </a:r>
            <a:endParaRPr lang="en-US" sz="1275" dirty="0"/>
          </a:p>
        </p:txBody>
      </p:sp>
      <p:sp>
        <p:nvSpPr>
          <p:cNvPr id="47" name="SK-18-text-46"/>
          <p:cNvSpPr/>
          <p:nvPr/>
        </p:nvSpPr>
        <p:spPr>
          <a:xfrm>
            <a:off x="723900" y="4918472"/>
            <a:ext cx="345906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방치 + 외부 변경 미대응</a:t>
            </a:r>
            <a:endParaRPr lang="en-US" sz="1275" dirty="0"/>
          </a:p>
        </p:txBody>
      </p:sp>
      <p:sp>
        <p:nvSpPr>
          <p:cNvPr id="48" name="SK-18-text-47"/>
          <p:cNvSpPr/>
          <p:nvPr/>
        </p:nvSpPr>
        <p:spPr>
          <a:xfrm>
            <a:off x="4406801" y="4918472"/>
            <a:ext cx="3645537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+ 리스크 자동 등록</a:t>
            </a:r>
            <a:endParaRPr lang="en-US" sz="1275" dirty="0"/>
          </a:p>
        </p:txBody>
      </p:sp>
      <p:sp>
        <p:nvSpPr>
          <p:cNvPr id="49" name="SK-18-text-48"/>
          <p:cNvSpPr/>
          <p:nvPr/>
        </p:nvSpPr>
        <p:spPr>
          <a:xfrm>
            <a:off x="8432602" y="5157192"/>
            <a:ext cx="31899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 Agent</a:t>
            </a:r>
            <a:endParaRPr lang="en-US" sz="1275" dirty="0"/>
          </a:p>
        </p:txBody>
      </p:sp>
      <p:sp>
        <p:nvSpPr>
          <p:cNvPr id="50" name="SK-18-text-49"/>
          <p:cNvSpPr/>
          <p:nvPr/>
        </p:nvSpPr>
        <p:spPr>
          <a:xfrm>
            <a:off x="1276350" y="6058793"/>
            <a:ext cx="1091565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식별된 근본 원인을 해결하기 위해 각 관리 도메인별로 특화된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5종의 AI Agent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배치하여 프로젝트의 투명성과 가치 중심 관리를 복원합니다.</a:t>
            </a:r>
            <a:endParaRPr lang="en-US" sz="12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1181100"/>
          </a:xfrm>
          <a:prstGeom prst="rect">
            <a:avLst/>
          </a:prstGeom>
        </p:spPr>
      </p:pic>
      <p:pic>
        <p:nvPicPr>
          <p:cNvPr id="7" name="SK-1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14650"/>
            <a:ext cx="3555950" cy="1962150"/>
          </a:xfrm>
          <a:prstGeom prst="rect">
            <a:avLst/>
          </a:prstGeom>
        </p:spPr>
      </p:pic>
      <p:pic>
        <p:nvPicPr>
          <p:cNvPr id="8" name="SK-1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171825"/>
            <a:ext cx="457200" cy="457200"/>
          </a:xfrm>
          <a:prstGeom prst="rect">
            <a:avLst/>
          </a:prstGeom>
        </p:spPr>
      </p:pic>
      <p:pic>
        <p:nvPicPr>
          <p:cNvPr id="9" name="SK-1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25" y="3286125"/>
            <a:ext cx="285750" cy="228600"/>
          </a:xfrm>
          <a:prstGeom prst="rect">
            <a:avLst/>
          </a:prstGeom>
        </p:spPr>
      </p:pic>
      <p:pic>
        <p:nvPicPr>
          <p:cNvPr id="10" name="SK-1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810000"/>
            <a:ext cx="190500" cy="152400"/>
          </a:xfrm>
          <a:prstGeom prst="rect">
            <a:avLst/>
          </a:prstGeom>
        </p:spPr>
      </p:pic>
      <p:pic>
        <p:nvPicPr>
          <p:cNvPr id="11" name="SK-1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114800"/>
            <a:ext cx="190500" cy="152400"/>
          </a:xfrm>
          <a:prstGeom prst="rect">
            <a:avLst/>
          </a:prstGeom>
        </p:spPr>
      </p:pic>
      <p:pic>
        <p:nvPicPr>
          <p:cNvPr id="12" name="SK-1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419600"/>
            <a:ext cx="190500" cy="152400"/>
          </a:xfrm>
          <a:prstGeom prst="rect">
            <a:avLst/>
          </a:prstGeom>
        </p:spPr>
      </p:pic>
      <p:pic>
        <p:nvPicPr>
          <p:cNvPr id="13" name="SK-1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7950" y="2914650"/>
            <a:ext cx="3555950" cy="1962150"/>
          </a:xfrm>
          <a:prstGeom prst="rect">
            <a:avLst/>
          </a:prstGeom>
        </p:spPr>
      </p:pic>
      <p:pic>
        <p:nvPicPr>
          <p:cNvPr id="14" name="SK-1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6550" y="3171825"/>
            <a:ext cx="457200" cy="457200"/>
          </a:xfrm>
          <a:prstGeom prst="rect">
            <a:avLst/>
          </a:prstGeom>
        </p:spPr>
      </p:pic>
      <p:pic>
        <p:nvPicPr>
          <p:cNvPr id="15" name="SK-1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2275" y="3286125"/>
            <a:ext cx="285750" cy="228600"/>
          </a:xfrm>
          <a:prstGeom prst="rect">
            <a:avLst/>
          </a:prstGeom>
        </p:spPr>
      </p:pic>
      <p:pic>
        <p:nvPicPr>
          <p:cNvPr id="16" name="SK-1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6550" y="3810000"/>
            <a:ext cx="190500" cy="152400"/>
          </a:xfrm>
          <a:prstGeom prst="rect">
            <a:avLst/>
          </a:prstGeom>
        </p:spPr>
      </p:pic>
      <p:pic>
        <p:nvPicPr>
          <p:cNvPr id="17" name="SK-1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6550" y="4114800"/>
            <a:ext cx="190500" cy="152400"/>
          </a:xfrm>
          <a:prstGeom prst="rect">
            <a:avLst/>
          </a:prstGeom>
        </p:spPr>
      </p:pic>
      <p:pic>
        <p:nvPicPr>
          <p:cNvPr id="18" name="SK-1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6550" y="4419600"/>
            <a:ext cx="190500" cy="152400"/>
          </a:xfrm>
          <a:prstGeom prst="rect">
            <a:avLst/>
          </a:prstGeom>
        </p:spPr>
      </p:pic>
      <p:pic>
        <p:nvPicPr>
          <p:cNvPr id="19" name="SK-1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64401" y="2914650"/>
            <a:ext cx="3555950" cy="1962150"/>
          </a:xfrm>
          <a:prstGeom prst="rect">
            <a:avLst/>
          </a:prstGeom>
        </p:spPr>
      </p:pic>
      <p:pic>
        <p:nvPicPr>
          <p:cNvPr id="20" name="SK-1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93001" y="3171825"/>
            <a:ext cx="457200" cy="457200"/>
          </a:xfrm>
          <a:prstGeom prst="rect">
            <a:avLst/>
          </a:prstGeom>
        </p:spPr>
      </p:pic>
      <p:pic>
        <p:nvPicPr>
          <p:cNvPr id="21" name="SK-1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78726" y="3286125"/>
            <a:ext cx="285750" cy="228600"/>
          </a:xfrm>
          <a:prstGeom prst="rect">
            <a:avLst/>
          </a:prstGeom>
        </p:spPr>
      </p:pic>
      <p:pic>
        <p:nvPicPr>
          <p:cNvPr id="22" name="SK-1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93001" y="3810000"/>
            <a:ext cx="190500" cy="152400"/>
          </a:xfrm>
          <a:prstGeom prst="rect">
            <a:avLst/>
          </a:prstGeom>
        </p:spPr>
      </p:pic>
      <p:pic>
        <p:nvPicPr>
          <p:cNvPr id="23" name="SK-1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93001" y="4114800"/>
            <a:ext cx="190500" cy="152400"/>
          </a:xfrm>
          <a:prstGeom prst="rect">
            <a:avLst/>
          </a:prstGeom>
        </p:spPr>
      </p:pic>
      <p:pic>
        <p:nvPicPr>
          <p:cNvPr id="24" name="SK-1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93001" y="4419600"/>
            <a:ext cx="190500" cy="152400"/>
          </a:xfrm>
          <a:prstGeom prst="rect">
            <a:avLst/>
          </a:prstGeom>
        </p:spPr>
      </p:pic>
      <p:pic>
        <p:nvPicPr>
          <p:cNvPr id="25" name="SK-1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5105400"/>
            <a:ext cx="11049000" cy="866775"/>
          </a:xfrm>
          <a:prstGeom prst="rect">
            <a:avLst/>
          </a:prstGeom>
        </p:spPr>
      </p:pic>
      <p:pic>
        <p:nvPicPr>
          <p:cNvPr id="26" name="SK-1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2000" y="5400675"/>
            <a:ext cx="1371600" cy="276225"/>
          </a:xfrm>
          <a:prstGeom prst="rect">
            <a:avLst/>
          </a:prstGeom>
        </p:spPr>
      </p:pic>
      <p:sp>
        <p:nvSpPr>
          <p:cNvPr id="27" name="SK-19-text-26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8" name="SK-19-text-27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C-2. 핵심 AI Agent 설계: PM Transformers 철학</a:t>
            </a:r>
            <a:endParaRPr lang="en-US" sz="2550" dirty="0"/>
          </a:p>
        </p:txBody>
      </p:sp>
      <p:sp>
        <p:nvSpPr>
          <p:cNvPr id="29" name="SK-19-text-28"/>
          <p:cNvSpPr/>
          <p:nvPr/>
        </p:nvSpPr>
        <p:spPr>
          <a:xfrm>
            <a:off x="762000" y="169545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Transformers: PMBOK 8판의 모든 관리 차원에 대응하는 통합적 해결 도구</a:t>
            </a:r>
            <a:endParaRPr lang="en-US" sz="1500" dirty="0"/>
          </a:p>
        </p:txBody>
      </p:sp>
      <p:sp>
        <p:nvSpPr>
          <p:cNvPr id="30" name="SK-19-text-29"/>
          <p:cNvSpPr/>
          <p:nvPr/>
        </p:nvSpPr>
        <p:spPr>
          <a:xfrm>
            <a:off x="762000" y="203835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PMBOK 8판의 관리 차원(성과 영역, 마인드셋, 원칙)을 AI Agent의 가치 조합으로 변환하여, 어떠한 PM 문제든 해결 가능한 확장적·통합적 아키텍처를 지향합니다.</a:t>
            </a:r>
            <a:endParaRPr lang="en-US" sz="1200" dirty="0"/>
          </a:p>
        </p:txBody>
      </p:sp>
      <p:sp>
        <p:nvSpPr>
          <p:cNvPr id="31" name="SK-19-text-30"/>
          <p:cNvSpPr/>
          <p:nvPr/>
        </p:nvSpPr>
        <p:spPr>
          <a:xfrm>
            <a:off x="1371600" y="3143250"/>
            <a:ext cx="18649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Mindset</a:t>
            </a:r>
            <a:endParaRPr lang="en-US" sz="1650" dirty="0"/>
          </a:p>
        </p:txBody>
      </p:sp>
      <p:sp>
        <p:nvSpPr>
          <p:cNvPr id="32" name="SK-19-text-31"/>
          <p:cNvSpPr/>
          <p:nvPr/>
        </p:nvSpPr>
        <p:spPr>
          <a:xfrm>
            <a:off x="1371600" y="3457575"/>
            <a:ext cx="2316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</a:rPr>
              <a:t>PMBOK 8 §3.1</a:t>
            </a:r>
            <a:endParaRPr lang="en-US" sz="1050" dirty="0"/>
          </a:p>
        </p:txBody>
      </p:sp>
      <p:sp>
        <p:nvSpPr>
          <p:cNvPr id="33" name="SK-19-text-32"/>
          <p:cNvSpPr/>
          <p:nvPr/>
        </p:nvSpPr>
        <p:spPr>
          <a:xfrm>
            <a:off x="1066800" y="3810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Proactive (선제적 행동 역량)</a:t>
            </a:r>
            <a:endParaRPr lang="en-US" sz="1200" dirty="0"/>
          </a:p>
        </p:txBody>
      </p:sp>
      <p:sp>
        <p:nvSpPr>
          <p:cNvPr id="34" name="SK-19-text-33"/>
          <p:cNvSpPr/>
          <p:nvPr/>
        </p:nvSpPr>
        <p:spPr>
          <a:xfrm>
            <a:off x="1066800" y="4114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Ownership (책임 및 소유 의식)</a:t>
            </a:r>
            <a:endParaRPr lang="en-US" sz="1200" dirty="0"/>
          </a:p>
        </p:txBody>
      </p:sp>
      <p:sp>
        <p:nvSpPr>
          <p:cNvPr id="35" name="SK-19-text-34"/>
          <p:cNvSpPr/>
          <p:nvPr/>
        </p:nvSpPr>
        <p:spPr>
          <a:xfrm>
            <a:off x="1066800" y="4419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Value-driven (가치 중심 사고)</a:t>
            </a:r>
            <a:endParaRPr lang="en-US" sz="1200" dirty="0"/>
          </a:p>
        </p:txBody>
      </p:sp>
      <p:sp>
        <p:nvSpPr>
          <p:cNvPr id="36" name="SK-19-text-35"/>
          <p:cNvSpPr/>
          <p:nvPr/>
        </p:nvSpPr>
        <p:spPr>
          <a:xfrm>
            <a:off x="5118050" y="3143250"/>
            <a:ext cx="2619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Principles</a:t>
            </a:r>
            <a:endParaRPr lang="en-US" sz="1650" dirty="0"/>
          </a:p>
        </p:txBody>
      </p:sp>
      <p:sp>
        <p:nvSpPr>
          <p:cNvPr id="37" name="SK-19-text-36"/>
          <p:cNvSpPr/>
          <p:nvPr/>
        </p:nvSpPr>
        <p:spPr>
          <a:xfrm>
            <a:off x="5118050" y="3457575"/>
            <a:ext cx="3169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</a:rPr>
              <a:t>PMBOK 8 §3.3~3.8</a:t>
            </a:r>
            <a:endParaRPr lang="en-US" sz="1050" dirty="0"/>
          </a:p>
        </p:txBody>
      </p:sp>
      <p:sp>
        <p:nvSpPr>
          <p:cNvPr id="38" name="SK-19-text-37"/>
          <p:cNvSpPr/>
          <p:nvPr/>
        </p:nvSpPr>
        <p:spPr>
          <a:xfrm>
            <a:off x="4813250" y="3810000"/>
            <a:ext cx="309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 및 가치 집중</a:t>
            </a:r>
            <a:endParaRPr lang="en-US" sz="1200" dirty="0"/>
          </a:p>
        </p:txBody>
      </p:sp>
      <p:sp>
        <p:nvSpPr>
          <p:cNvPr id="39" name="SK-19-text-38"/>
          <p:cNvSpPr/>
          <p:nvPr/>
        </p:nvSpPr>
        <p:spPr>
          <a:xfrm>
            <a:off x="4813250" y="4114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내재화 및 책임감 있는 리더</a:t>
            </a:r>
            <a:endParaRPr lang="en-US" sz="1200" dirty="0"/>
          </a:p>
        </p:txBody>
      </p:sp>
      <p:sp>
        <p:nvSpPr>
          <p:cNvPr id="40" name="SK-19-text-39"/>
          <p:cNvSpPr/>
          <p:nvPr/>
        </p:nvSpPr>
        <p:spPr>
          <a:xfrm>
            <a:off x="4813250" y="4419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복잡성 대응 및 지속가능성 통합</a:t>
            </a:r>
            <a:endParaRPr lang="en-US" sz="1200" dirty="0"/>
          </a:p>
        </p:txBody>
      </p:sp>
      <p:sp>
        <p:nvSpPr>
          <p:cNvPr id="41" name="SK-19-text-40"/>
          <p:cNvSpPr/>
          <p:nvPr/>
        </p:nvSpPr>
        <p:spPr>
          <a:xfrm>
            <a:off x="8864501" y="3143250"/>
            <a:ext cx="18649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Domains</a:t>
            </a:r>
            <a:endParaRPr lang="en-US" sz="1650" dirty="0"/>
          </a:p>
        </p:txBody>
      </p:sp>
      <p:sp>
        <p:nvSpPr>
          <p:cNvPr id="42" name="SK-19-text-41"/>
          <p:cNvSpPr/>
          <p:nvPr/>
        </p:nvSpPr>
        <p:spPr>
          <a:xfrm>
            <a:off x="8864501" y="3457575"/>
            <a:ext cx="3169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B6D4"/>
                </a:solidFill>
              </a:rPr>
              <a:t>PMBOK 8 §2.1~2.7</a:t>
            </a:r>
            <a:endParaRPr lang="en-US" sz="1050" dirty="0"/>
          </a:p>
        </p:txBody>
      </p:sp>
      <p:sp>
        <p:nvSpPr>
          <p:cNvPr id="43" name="SK-19-text-42"/>
          <p:cNvSpPr/>
          <p:nvPr/>
        </p:nvSpPr>
        <p:spPr>
          <a:xfrm>
            <a:off x="8559701" y="3810000"/>
            <a:ext cx="309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거버넌스, 범위, 일정 관리</a:t>
            </a:r>
            <a:endParaRPr lang="en-US" sz="1200" dirty="0"/>
          </a:p>
        </p:txBody>
      </p:sp>
      <p:sp>
        <p:nvSpPr>
          <p:cNvPr id="44" name="SK-19-text-43"/>
          <p:cNvSpPr/>
          <p:nvPr/>
        </p:nvSpPr>
        <p:spPr>
          <a:xfrm>
            <a:off x="8559701" y="4114800"/>
            <a:ext cx="309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재무, 이해관계자, 자원 관리</a:t>
            </a:r>
            <a:endParaRPr lang="en-US" sz="1200" dirty="0"/>
          </a:p>
        </p:txBody>
      </p:sp>
      <p:sp>
        <p:nvSpPr>
          <p:cNvPr id="45" name="SK-19-text-44"/>
          <p:cNvSpPr/>
          <p:nvPr/>
        </p:nvSpPr>
        <p:spPr>
          <a:xfrm>
            <a:off x="8559701" y="4419600"/>
            <a:ext cx="309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및 성과 측정</a:t>
            </a:r>
            <a:endParaRPr lang="en-US" sz="1200" dirty="0"/>
          </a:p>
        </p:txBody>
      </p:sp>
      <p:sp>
        <p:nvSpPr>
          <p:cNvPr id="46" name="SK-19-text-45"/>
          <p:cNvSpPr/>
          <p:nvPr/>
        </p:nvSpPr>
        <p:spPr>
          <a:xfrm>
            <a:off x="876300" y="5400675"/>
            <a:ext cx="20764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HERMES STRATEGY</a:t>
            </a:r>
            <a:endParaRPr lang="en-US" sz="1050" dirty="0"/>
          </a:p>
        </p:txBody>
      </p:sp>
      <p:sp>
        <p:nvSpPr>
          <p:cNvPr id="47" name="SK-19-text-46"/>
          <p:cNvSpPr/>
          <p:nvPr/>
        </p:nvSpPr>
        <p:spPr>
          <a:xfrm>
            <a:off x="2362200" y="5295900"/>
            <a:ext cx="90678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케이스에서는 수박 프로젝트의 근본 원인을 해결하기 위해 </a:t>
            </a:r>
            <a:pPr indent="0" marL="0">
              <a:lnSpc>
                <a:spcPts val="1913"/>
              </a:lnSpc>
              <a:buNone/>
            </a:pPr>
            <a:r>
              <a:rPr lang="en-US" sz="1275" b="1" u="sng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거버넌스(§2.1), 재무(§2.4), 리스크(§2.7)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도메인에 에이전트를 집중 배치하여 관리 체계를 복원합니다.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90675"/>
            <a:ext cx="2676525" cy="404813"/>
          </a:xfrm>
          <a:prstGeom prst="rect">
            <a:avLst/>
          </a:prstGeom>
        </p:spPr>
      </p:pic>
      <p:pic>
        <p:nvPicPr>
          <p:cNvPr id="7" name="SK-2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05421"/>
            <a:ext cx="214313" cy="175320"/>
          </a:xfrm>
          <a:prstGeom prst="rect">
            <a:avLst/>
          </a:prstGeom>
        </p:spPr>
      </p:pic>
      <p:pic>
        <p:nvPicPr>
          <p:cNvPr id="8" name="SK-2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2325" y="1590675"/>
            <a:ext cx="2676525" cy="404813"/>
          </a:xfrm>
          <a:prstGeom prst="rect">
            <a:avLst/>
          </a:prstGeom>
        </p:spPr>
      </p:pic>
      <p:pic>
        <p:nvPicPr>
          <p:cNvPr id="9" name="SK-2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1705421"/>
            <a:ext cx="214313" cy="175320"/>
          </a:xfrm>
          <a:prstGeom prst="rect">
            <a:avLst/>
          </a:prstGeom>
        </p:spPr>
      </p:pic>
      <p:pic>
        <p:nvPicPr>
          <p:cNvPr id="10" name="SK-2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150" y="1590675"/>
            <a:ext cx="2676525" cy="404813"/>
          </a:xfrm>
          <a:prstGeom prst="rect">
            <a:avLst/>
          </a:prstGeom>
        </p:spPr>
      </p:pic>
      <p:pic>
        <p:nvPicPr>
          <p:cNvPr id="11" name="SK-2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450" y="1705421"/>
            <a:ext cx="214313" cy="175320"/>
          </a:xfrm>
          <a:prstGeom prst="rect">
            <a:avLst/>
          </a:prstGeom>
        </p:spPr>
      </p:pic>
      <p:pic>
        <p:nvPicPr>
          <p:cNvPr id="12" name="SK-2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43975" y="1590675"/>
            <a:ext cx="2676525" cy="404813"/>
          </a:xfrm>
          <a:prstGeom prst="rect">
            <a:avLst/>
          </a:prstGeom>
        </p:spPr>
      </p:pic>
      <p:pic>
        <p:nvPicPr>
          <p:cNvPr id="13" name="SK-2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8275" y="1705421"/>
            <a:ext cx="214313" cy="175320"/>
          </a:xfrm>
          <a:prstGeom prst="rect">
            <a:avLst/>
          </a:prstGeom>
        </p:spPr>
      </p:pic>
      <p:pic>
        <p:nvPicPr>
          <p:cNvPr id="14" name="SK-2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6938" y="2052637"/>
            <a:ext cx="238125" cy="190500"/>
          </a:xfrm>
          <a:prstGeom prst="rect">
            <a:avLst/>
          </a:prstGeom>
        </p:spPr>
      </p:pic>
      <p:pic>
        <p:nvPicPr>
          <p:cNvPr id="15" name="SK-2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595563"/>
            <a:ext cx="11049000" cy="1125736"/>
          </a:xfrm>
          <a:prstGeom prst="rect">
            <a:avLst/>
          </a:prstGeom>
        </p:spPr>
      </p:pic>
      <p:pic>
        <p:nvPicPr>
          <p:cNvPr id="16" name="SK-2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2719388"/>
            <a:ext cx="3479750" cy="878086"/>
          </a:xfrm>
          <a:prstGeom prst="rect">
            <a:avLst/>
          </a:prstGeom>
        </p:spPr>
      </p:pic>
      <p:pic>
        <p:nvPicPr>
          <p:cNvPr id="17" name="SK-2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2867025"/>
            <a:ext cx="190500" cy="152400"/>
          </a:xfrm>
          <a:prstGeom prst="rect">
            <a:avLst/>
          </a:prstGeom>
        </p:spPr>
      </p:pic>
      <p:pic>
        <p:nvPicPr>
          <p:cNvPr id="18" name="SK-2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6050" y="2719388"/>
            <a:ext cx="3479750" cy="878086"/>
          </a:xfrm>
          <a:prstGeom prst="rect">
            <a:avLst/>
          </a:prstGeom>
        </p:spPr>
      </p:pic>
      <p:pic>
        <p:nvPicPr>
          <p:cNvPr id="19" name="SK-2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70350" y="2867025"/>
            <a:ext cx="190500" cy="152400"/>
          </a:xfrm>
          <a:prstGeom prst="rect">
            <a:avLst/>
          </a:prstGeom>
        </p:spPr>
      </p:pic>
      <p:pic>
        <p:nvPicPr>
          <p:cNvPr id="20" name="SK-2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88201" y="2719388"/>
            <a:ext cx="3479899" cy="878086"/>
          </a:xfrm>
          <a:prstGeom prst="rect">
            <a:avLst/>
          </a:prstGeom>
        </p:spPr>
      </p:pic>
      <p:pic>
        <p:nvPicPr>
          <p:cNvPr id="21" name="SK-2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02501" y="2867025"/>
            <a:ext cx="190500" cy="152400"/>
          </a:xfrm>
          <a:prstGeom prst="rect">
            <a:avLst/>
          </a:prstGeom>
        </p:spPr>
      </p:pic>
      <p:pic>
        <p:nvPicPr>
          <p:cNvPr id="22" name="SK-2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6938" y="3778448"/>
            <a:ext cx="238125" cy="190500"/>
          </a:xfrm>
          <a:prstGeom prst="rect">
            <a:avLst/>
          </a:prstGeom>
        </p:spPr>
      </p:pic>
      <p:pic>
        <p:nvPicPr>
          <p:cNvPr id="23" name="SK-2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321373"/>
            <a:ext cx="6538020" cy="738188"/>
          </a:xfrm>
          <a:prstGeom prst="rect">
            <a:avLst/>
          </a:prstGeom>
        </p:spPr>
      </p:pic>
      <p:pic>
        <p:nvPicPr>
          <p:cNvPr id="24" name="SK-2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4416623"/>
            <a:ext cx="6309420" cy="228600"/>
          </a:xfrm>
          <a:prstGeom prst="rect">
            <a:avLst/>
          </a:prstGeom>
        </p:spPr>
      </p:pic>
      <p:pic>
        <p:nvPicPr>
          <p:cNvPr id="25" name="SK-2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4721423"/>
            <a:ext cx="1457325" cy="242888"/>
          </a:xfrm>
          <a:prstGeom prst="rect">
            <a:avLst/>
          </a:prstGeom>
        </p:spPr>
      </p:pic>
      <p:pic>
        <p:nvPicPr>
          <p:cNvPr id="26" name="SK-2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19325" y="4721423"/>
            <a:ext cx="1676400" cy="242888"/>
          </a:xfrm>
          <a:prstGeom prst="rect">
            <a:avLst/>
          </a:prstGeom>
        </p:spPr>
      </p:pic>
      <p:pic>
        <p:nvPicPr>
          <p:cNvPr id="27" name="SK-2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71925" y="4721423"/>
            <a:ext cx="1390650" cy="242888"/>
          </a:xfrm>
          <a:prstGeom prst="rect">
            <a:avLst/>
          </a:prstGeom>
        </p:spPr>
      </p:pic>
      <p:pic>
        <p:nvPicPr>
          <p:cNvPr id="28" name="SK-2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61920" y="4321373"/>
            <a:ext cx="4358580" cy="314325"/>
          </a:xfrm>
          <a:prstGeom prst="rect">
            <a:avLst/>
          </a:prstGeom>
        </p:spPr>
      </p:pic>
      <p:pic>
        <p:nvPicPr>
          <p:cNvPr id="29" name="SK-2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76220" y="4409926"/>
            <a:ext cx="166688" cy="137220"/>
          </a:xfrm>
          <a:prstGeom prst="rect">
            <a:avLst/>
          </a:prstGeom>
        </p:spPr>
      </p:pic>
      <p:pic>
        <p:nvPicPr>
          <p:cNvPr id="30" name="SK-20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61920" y="4664273"/>
            <a:ext cx="4358580" cy="314325"/>
          </a:xfrm>
          <a:prstGeom prst="rect">
            <a:avLst/>
          </a:prstGeom>
        </p:spPr>
      </p:pic>
      <p:pic>
        <p:nvPicPr>
          <p:cNvPr id="31" name="SK-20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76220" y="4752826"/>
            <a:ext cx="166688" cy="137220"/>
          </a:xfrm>
          <a:prstGeom prst="rect">
            <a:avLst/>
          </a:prstGeom>
        </p:spPr>
      </p:pic>
      <p:pic>
        <p:nvPicPr>
          <p:cNvPr id="32" name="SK-20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1920" y="5007173"/>
            <a:ext cx="4358580" cy="314325"/>
          </a:xfrm>
          <a:prstGeom prst="rect">
            <a:avLst/>
          </a:prstGeom>
        </p:spPr>
      </p:pic>
      <p:pic>
        <p:nvPicPr>
          <p:cNvPr id="33" name="SK-20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76220" y="5095726"/>
            <a:ext cx="166688" cy="137220"/>
          </a:xfrm>
          <a:prstGeom prst="rect">
            <a:avLst/>
          </a:prstGeom>
        </p:spPr>
      </p:pic>
      <p:pic>
        <p:nvPicPr>
          <p:cNvPr id="34" name="SK-20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500" y="5502473"/>
            <a:ext cx="11049000" cy="404813"/>
          </a:xfrm>
          <a:prstGeom prst="rect">
            <a:avLst/>
          </a:prstGeom>
        </p:spPr>
      </p:pic>
      <p:pic>
        <p:nvPicPr>
          <p:cNvPr id="35" name="SK-20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62000" y="5607248"/>
            <a:ext cx="885825" cy="195263"/>
          </a:xfrm>
          <a:prstGeom prst="rect">
            <a:avLst/>
          </a:prstGeom>
        </p:spPr>
      </p:pic>
      <p:sp>
        <p:nvSpPr>
          <p:cNvPr id="36" name="SK-20-text-35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7" name="SK-20-text-36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C-2. 핵심 AI Agent 설계: 아키텍처 및 프로세스</a:t>
            </a:r>
            <a:endParaRPr lang="en-US" sz="2550" dirty="0"/>
          </a:p>
        </p:txBody>
      </p:sp>
      <p:sp>
        <p:nvSpPr>
          <p:cNvPr id="38" name="SK-20-text-37"/>
          <p:cNvSpPr/>
          <p:nvPr/>
        </p:nvSpPr>
        <p:spPr>
          <a:xfrm>
            <a:off x="571500" y="1295400"/>
            <a:ext cx="1112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INPUT LAYER — 데이터 수집</a:t>
            </a:r>
            <a:endParaRPr lang="en-US" sz="900" dirty="0"/>
          </a:p>
        </p:txBody>
      </p:sp>
      <p:sp>
        <p:nvSpPr>
          <p:cNvPr id="39" name="SK-20-text-38"/>
          <p:cNvSpPr/>
          <p:nvPr/>
        </p:nvSpPr>
        <p:spPr>
          <a:xfrm>
            <a:off x="995363" y="1685925"/>
            <a:ext cx="31623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/ EVM (전체 부문)</a:t>
            </a:r>
            <a:endParaRPr lang="en-US" sz="1125" dirty="0"/>
          </a:p>
        </p:txBody>
      </p:sp>
      <p:sp>
        <p:nvSpPr>
          <p:cNvPr id="40" name="SK-20-text-39"/>
          <p:cNvSpPr/>
          <p:nvPr/>
        </p:nvSpPr>
        <p:spPr>
          <a:xfrm>
            <a:off x="3786188" y="1685925"/>
            <a:ext cx="19621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텔레메트리 (파일럿)</a:t>
            </a:r>
            <a:endParaRPr lang="en-US" sz="1125" dirty="0"/>
          </a:p>
        </p:txBody>
      </p:sp>
      <p:sp>
        <p:nvSpPr>
          <p:cNvPr id="41" name="SK-20-text-40"/>
          <p:cNvSpPr/>
          <p:nvPr/>
        </p:nvSpPr>
        <p:spPr>
          <a:xfrm>
            <a:off x="6577013" y="1685925"/>
            <a:ext cx="2476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로그 (메신저 포함)</a:t>
            </a:r>
            <a:endParaRPr lang="en-US" sz="1125" dirty="0"/>
          </a:p>
        </p:txBody>
      </p:sp>
      <p:sp>
        <p:nvSpPr>
          <p:cNvPr id="42" name="SK-20-text-41"/>
          <p:cNvSpPr/>
          <p:nvPr/>
        </p:nvSpPr>
        <p:spPr>
          <a:xfrm>
            <a:off x="9367838" y="1685925"/>
            <a:ext cx="282416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파트너 (Helion 등)</a:t>
            </a:r>
            <a:endParaRPr lang="en-US" sz="1125" dirty="0"/>
          </a:p>
        </p:txBody>
      </p:sp>
      <p:sp>
        <p:nvSpPr>
          <p:cNvPr id="43" name="SK-20-text-42"/>
          <p:cNvSpPr/>
          <p:nvPr/>
        </p:nvSpPr>
        <p:spPr>
          <a:xfrm>
            <a:off x="571500" y="2300288"/>
            <a:ext cx="1112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PROCESSING LAYER — 3중 검증 엔진</a:t>
            </a:r>
            <a:endParaRPr lang="en-US" sz="900" dirty="0"/>
          </a:p>
        </p:txBody>
      </p:sp>
      <p:sp>
        <p:nvSpPr>
          <p:cNvPr id="44" name="SK-20-text-43"/>
          <p:cNvSpPr/>
          <p:nvPr/>
        </p:nvSpPr>
        <p:spPr>
          <a:xfrm>
            <a:off x="1104900" y="2814638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Cross-Check Engine</a:t>
            </a:r>
            <a:endParaRPr lang="en-US" sz="1350" dirty="0"/>
          </a:p>
        </p:txBody>
      </p:sp>
      <p:sp>
        <p:nvSpPr>
          <p:cNvPr id="45" name="SK-20-text-44"/>
          <p:cNvSpPr/>
          <p:nvPr/>
        </p:nvSpPr>
        <p:spPr>
          <a:xfrm>
            <a:off x="838200" y="3128963"/>
            <a:ext cx="32511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지표와 실제 원자료를 대조하여 괴리 감지 (예: SC-03 93% vs 58%)</a:t>
            </a:r>
            <a:endParaRPr lang="en-US" sz="1050" dirty="0"/>
          </a:p>
        </p:txBody>
      </p:sp>
      <p:sp>
        <p:nvSpPr>
          <p:cNvPr id="46" name="SK-20-text-45"/>
          <p:cNvSpPr/>
          <p:nvPr/>
        </p:nvSpPr>
        <p:spPr>
          <a:xfrm>
            <a:off x="4737050" y="2814638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Tracker</a:t>
            </a:r>
            <a:endParaRPr lang="en-US" sz="1350" dirty="0"/>
          </a:p>
        </p:txBody>
      </p:sp>
      <p:sp>
        <p:nvSpPr>
          <p:cNvPr id="47" name="SK-20-text-46"/>
          <p:cNvSpPr/>
          <p:nvPr/>
        </p:nvSpPr>
        <p:spPr>
          <a:xfrm>
            <a:off x="4470350" y="3128963"/>
            <a:ext cx="32511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선행지표 실시간 추적 및 임계치 이탈 경고</a:t>
            </a:r>
            <a:endParaRPr lang="en-US" sz="1050" dirty="0"/>
          </a:p>
        </p:txBody>
      </p:sp>
      <p:sp>
        <p:nvSpPr>
          <p:cNvPr id="48" name="SK-20-text-47"/>
          <p:cNvSpPr/>
          <p:nvPr/>
        </p:nvSpPr>
        <p:spPr>
          <a:xfrm>
            <a:off x="8369201" y="2814638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</a:t>
            </a:r>
            <a:endParaRPr lang="en-US" sz="1350" dirty="0"/>
          </a:p>
        </p:txBody>
      </p:sp>
      <p:sp>
        <p:nvSpPr>
          <p:cNvPr id="49" name="SK-20-text-48"/>
          <p:cNvSpPr/>
          <p:nvPr/>
        </p:nvSpPr>
        <p:spPr>
          <a:xfrm>
            <a:off x="8102501" y="3128963"/>
            <a:ext cx="32512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기록 대조 및 비공식 채널의 결정 사항 자동 추출</a:t>
            </a:r>
            <a:endParaRPr lang="en-US" sz="1050" dirty="0"/>
          </a:p>
        </p:txBody>
      </p:sp>
      <p:sp>
        <p:nvSpPr>
          <p:cNvPr id="50" name="SK-20-text-49"/>
          <p:cNvSpPr/>
          <p:nvPr/>
        </p:nvSpPr>
        <p:spPr>
          <a:xfrm>
            <a:off x="571500" y="4026098"/>
            <a:ext cx="6614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OUTPUT LAYER — 투명한 보고</a:t>
            </a:r>
            <a:endParaRPr lang="en-US" sz="900" dirty="0"/>
          </a:p>
        </p:txBody>
      </p:sp>
      <p:sp>
        <p:nvSpPr>
          <p:cNvPr id="51" name="SK-20-text-50"/>
          <p:cNvSpPr/>
          <p:nvPr/>
        </p:nvSpPr>
        <p:spPr>
          <a:xfrm>
            <a:off x="762000" y="4416623"/>
            <a:ext cx="6309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Integrated Health Report</a:t>
            </a:r>
            <a:endParaRPr lang="en-US" sz="1200" dirty="0"/>
          </a:p>
        </p:txBody>
      </p:sp>
      <p:sp>
        <p:nvSpPr>
          <p:cNvPr id="52" name="SK-20-text-51"/>
          <p:cNvSpPr/>
          <p:nvPr/>
        </p:nvSpPr>
        <p:spPr>
          <a:xfrm>
            <a:off x="781050" y="4721423"/>
            <a:ext cx="22720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지표 (기존 SC)</a:t>
            </a:r>
            <a:endParaRPr lang="en-US" sz="975" dirty="0"/>
          </a:p>
        </p:txBody>
      </p:sp>
      <p:sp>
        <p:nvSpPr>
          <p:cNvPr id="53" name="SK-20-text-52"/>
          <p:cNvSpPr/>
          <p:nvPr/>
        </p:nvSpPr>
        <p:spPr>
          <a:xfrm>
            <a:off x="2314575" y="4721423"/>
            <a:ext cx="257859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지표 (BEN 선행)</a:t>
            </a:r>
            <a:endParaRPr lang="en-US" sz="975" dirty="0"/>
          </a:p>
        </p:txBody>
      </p:sp>
      <p:sp>
        <p:nvSpPr>
          <p:cNvPr id="54" name="SK-20-text-53"/>
          <p:cNvSpPr/>
          <p:nvPr/>
        </p:nvSpPr>
        <p:spPr>
          <a:xfrm>
            <a:off x="4067175" y="4721423"/>
            <a:ext cx="161502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 및 리스크</a:t>
            </a:r>
            <a:endParaRPr lang="en-US" sz="975" dirty="0"/>
          </a:p>
        </p:txBody>
      </p:sp>
      <p:sp>
        <p:nvSpPr>
          <p:cNvPr id="55" name="SK-20-text-54"/>
          <p:cNvSpPr/>
          <p:nvPr/>
        </p:nvSpPr>
        <p:spPr>
          <a:xfrm>
            <a:off x="7261920" y="4026098"/>
            <a:ext cx="4434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ACTION LAYER — 자동 에스컬레이션</a:t>
            </a:r>
            <a:endParaRPr lang="en-US" sz="900" dirty="0"/>
          </a:p>
        </p:txBody>
      </p:sp>
      <p:sp>
        <p:nvSpPr>
          <p:cNvPr id="56" name="SK-20-text-55"/>
          <p:cNvSpPr/>
          <p:nvPr/>
        </p:nvSpPr>
        <p:spPr>
          <a:xfrm>
            <a:off x="7638157" y="4378523"/>
            <a:ext cx="327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괴리 발견 시 PM/스폰서 즉시 알림</a:t>
            </a:r>
            <a:endParaRPr lang="en-US" sz="1050" dirty="0"/>
          </a:p>
        </p:txBody>
      </p:sp>
      <p:sp>
        <p:nvSpPr>
          <p:cNvPr id="57" name="SK-20-text-56"/>
          <p:cNvSpPr/>
          <p:nvPr/>
        </p:nvSpPr>
        <p:spPr>
          <a:xfrm>
            <a:off x="7638157" y="4721423"/>
            <a:ext cx="327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감지 시 CR 초안 생성</a:t>
            </a:r>
            <a:endParaRPr lang="en-US" sz="1050" dirty="0"/>
          </a:p>
        </p:txBody>
      </p:sp>
      <p:sp>
        <p:nvSpPr>
          <p:cNvPr id="58" name="SK-20-text-57"/>
          <p:cNvSpPr/>
          <p:nvPr/>
        </p:nvSpPr>
        <p:spPr>
          <a:xfrm>
            <a:off x="7638157" y="5064323"/>
            <a:ext cx="34366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임계치 초과 시 자동 등록 제안</a:t>
            </a:r>
            <a:endParaRPr lang="en-US" sz="1050" dirty="0"/>
          </a:p>
        </p:txBody>
      </p:sp>
      <p:sp>
        <p:nvSpPr>
          <p:cNvPr id="59" name="SK-20-text-58"/>
          <p:cNvSpPr/>
          <p:nvPr/>
        </p:nvSpPr>
        <p:spPr>
          <a:xfrm>
            <a:off x="838200" y="5597723"/>
            <a:ext cx="39909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제안만 수행, 최종 의사결정은 인간의 영역</a:t>
            </a:r>
            <a:endParaRPr lang="en-US" sz="1125" dirty="0"/>
          </a:p>
        </p:txBody>
      </p:sp>
      <p:sp>
        <p:nvSpPr>
          <p:cNvPr id="60" name="SK-20-text-59"/>
          <p:cNvSpPr/>
          <p:nvPr/>
        </p:nvSpPr>
        <p:spPr>
          <a:xfrm>
            <a:off x="9286875" y="5604867"/>
            <a:ext cx="2905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보고서에 사람 검토자 서명 필수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3879205" cy="4972050"/>
          </a:xfrm>
          <a:prstGeom prst="rect">
            <a:avLst/>
          </a:prstGeom>
        </p:spPr>
      </p:pic>
      <p:pic>
        <p:nvPicPr>
          <p:cNvPr id="7" name="SK-2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00575"/>
            <a:ext cx="2971800" cy="381000"/>
          </a:xfrm>
          <a:prstGeom prst="rect">
            <a:avLst/>
          </a:prstGeom>
        </p:spPr>
      </p:pic>
      <p:pic>
        <p:nvPicPr>
          <p:cNvPr id="8" name="SK-2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730055"/>
            <a:ext cx="190500" cy="152400"/>
          </a:xfrm>
          <a:prstGeom prst="rect">
            <a:avLst/>
          </a:prstGeom>
        </p:spPr>
      </p:pic>
      <p:pic>
        <p:nvPicPr>
          <p:cNvPr id="9" name="SK-2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1705" y="1504950"/>
            <a:ext cx="6788795" cy="950416"/>
          </a:xfrm>
          <a:prstGeom prst="rect">
            <a:avLst/>
          </a:prstGeom>
        </p:spPr>
      </p:pic>
      <p:pic>
        <p:nvPicPr>
          <p:cNvPr id="10" name="SK-2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005" y="1660178"/>
            <a:ext cx="214313" cy="175320"/>
          </a:xfrm>
          <a:prstGeom prst="rect">
            <a:avLst/>
          </a:prstGeom>
        </p:spPr>
      </p:pic>
      <p:pic>
        <p:nvPicPr>
          <p:cNvPr id="11" name="SK-2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1705" y="2645866"/>
            <a:ext cx="6788795" cy="3154859"/>
          </a:xfrm>
          <a:prstGeom prst="rect">
            <a:avLst/>
          </a:prstGeom>
        </p:spPr>
      </p:pic>
      <p:pic>
        <p:nvPicPr>
          <p:cNvPr id="12" name="SK-2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1705" y="2645866"/>
            <a:ext cx="1697087" cy="428625"/>
          </a:xfrm>
          <a:prstGeom prst="rect">
            <a:avLst/>
          </a:prstGeom>
        </p:spPr>
      </p:pic>
      <p:pic>
        <p:nvPicPr>
          <p:cNvPr id="13" name="SK-2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8792" y="2645866"/>
            <a:ext cx="2376041" cy="428625"/>
          </a:xfrm>
          <a:prstGeom prst="rect">
            <a:avLst/>
          </a:prstGeom>
        </p:spPr>
      </p:pic>
      <p:pic>
        <p:nvPicPr>
          <p:cNvPr id="14" name="SK-2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4833" y="2645866"/>
            <a:ext cx="1018282" cy="428625"/>
          </a:xfrm>
          <a:prstGeom prst="rect">
            <a:avLst/>
          </a:prstGeom>
        </p:spPr>
      </p:pic>
      <p:pic>
        <p:nvPicPr>
          <p:cNvPr id="15" name="SK-2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23115" y="2645866"/>
            <a:ext cx="1697385" cy="428625"/>
          </a:xfrm>
          <a:prstGeom prst="rect">
            <a:avLst/>
          </a:prstGeom>
        </p:spPr>
      </p:pic>
      <p:pic>
        <p:nvPicPr>
          <p:cNvPr id="16" name="SK-2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31705" y="3074491"/>
            <a:ext cx="1697087" cy="908745"/>
          </a:xfrm>
          <a:prstGeom prst="rect">
            <a:avLst/>
          </a:prstGeom>
        </p:spPr>
      </p:pic>
      <p:pic>
        <p:nvPicPr>
          <p:cNvPr id="17" name="SK-2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8792" y="3074491"/>
            <a:ext cx="2376041" cy="908745"/>
          </a:xfrm>
          <a:prstGeom prst="rect">
            <a:avLst/>
          </a:prstGeom>
        </p:spPr>
      </p:pic>
      <p:pic>
        <p:nvPicPr>
          <p:cNvPr id="18" name="SK-2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4833" y="3074491"/>
            <a:ext cx="1018282" cy="908745"/>
          </a:xfrm>
          <a:prstGeom prst="rect">
            <a:avLst/>
          </a:prstGeom>
        </p:spPr>
      </p:pic>
      <p:pic>
        <p:nvPicPr>
          <p:cNvPr id="19" name="SK-2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23115" y="3074491"/>
            <a:ext cx="1697385" cy="908745"/>
          </a:xfrm>
          <a:prstGeom prst="rect">
            <a:avLst/>
          </a:prstGeom>
        </p:spPr>
      </p:pic>
      <p:pic>
        <p:nvPicPr>
          <p:cNvPr id="20" name="SK-2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1705" y="3983236"/>
            <a:ext cx="1697087" cy="908745"/>
          </a:xfrm>
          <a:prstGeom prst="rect">
            <a:avLst/>
          </a:prstGeom>
        </p:spPr>
      </p:pic>
      <p:pic>
        <p:nvPicPr>
          <p:cNvPr id="21" name="SK-2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8792" y="3983236"/>
            <a:ext cx="2376041" cy="908745"/>
          </a:xfrm>
          <a:prstGeom prst="rect">
            <a:avLst/>
          </a:prstGeom>
        </p:spPr>
      </p:pic>
      <p:pic>
        <p:nvPicPr>
          <p:cNvPr id="22" name="SK-2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04833" y="3983236"/>
            <a:ext cx="1018282" cy="908745"/>
          </a:xfrm>
          <a:prstGeom prst="rect">
            <a:avLst/>
          </a:prstGeom>
        </p:spPr>
      </p:pic>
      <p:pic>
        <p:nvPicPr>
          <p:cNvPr id="23" name="SK-2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23115" y="3983236"/>
            <a:ext cx="1697385" cy="908745"/>
          </a:xfrm>
          <a:prstGeom prst="rect">
            <a:avLst/>
          </a:prstGeom>
        </p:spPr>
      </p:pic>
      <p:pic>
        <p:nvPicPr>
          <p:cNvPr id="24" name="SK-2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31705" y="4891980"/>
            <a:ext cx="1697087" cy="908745"/>
          </a:xfrm>
          <a:prstGeom prst="rect">
            <a:avLst/>
          </a:prstGeom>
        </p:spPr>
      </p:pic>
      <p:pic>
        <p:nvPicPr>
          <p:cNvPr id="25" name="SK-2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28792" y="4891980"/>
            <a:ext cx="2376041" cy="908745"/>
          </a:xfrm>
          <a:prstGeom prst="rect">
            <a:avLst/>
          </a:prstGeom>
        </p:spPr>
      </p:pic>
      <p:pic>
        <p:nvPicPr>
          <p:cNvPr id="26" name="SK-2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04833" y="4891980"/>
            <a:ext cx="1018282" cy="908745"/>
          </a:xfrm>
          <a:prstGeom prst="rect">
            <a:avLst/>
          </a:prstGeom>
        </p:spPr>
      </p:pic>
      <p:pic>
        <p:nvPicPr>
          <p:cNvPr id="27" name="SK-2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23115" y="4891980"/>
            <a:ext cx="1697385" cy="908745"/>
          </a:xfrm>
          <a:prstGeom prst="rect">
            <a:avLst/>
          </a:prstGeom>
        </p:spPr>
      </p:pic>
      <p:pic>
        <p:nvPicPr>
          <p:cNvPr id="28" name="SK-2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31705" y="5991225"/>
            <a:ext cx="3318123" cy="485775"/>
          </a:xfrm>
          <a:prstGeom prst="rect">
            <a:avLst/>
          </a:prstGeom>
        </p:spPr>
      </p:pic>
      <p:pic>
        <p:nvPicPr>
          <p:cNvPr id="29" name="SK-2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02228" y="5991225"/>
            <a:ext cx="3318272" cy="485775"/>
          </a:xfrm>
          <a:prstGeom prst="rect">
            <a:avLst/>
          </a:prstGeom>
        </p:spPr>
      </p:pic>
      <p:sp>
        <p:nvSpPr>
          <p:cNvPr id="30" name="SK-21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21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C-3. Agent 1: Value Tracker 상세 설계</a:t>
            </a:r>
            <a:endParaRPr lang="en-US" sz="2550" dirty="0"/>
          </a:p>
        </p:txBody>
      </p:sp>
      <p:sp>
        <p:nvSpPr>
          <p:cNvPr id="32" name="SK-21-text-31"/>
          <p:cNvSpPr/>
          <p:nvPr/>
        </p:nvSpPr>
        <p:spPr>
          <a:xfrm>
            <a:off x="571500" y="3000375"/>
            <a:ext cx="3295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400"/>
              </a:lnSpc>
              <a:buNone/>
            </a:pPr>
            <a:r>
              <a:rPr lang="en-US" sz="6000" b="1" spc="-240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</a:t>
            </a:r>
            <a:endParaRPr lang="en-US" sz="6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6000" b="1" spc="-240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TRACKER</a:t>
            </a:r>
            <a:endParaRPr lang="en-US" sz="6000" dirty="0"/>
          </a:p>
        </p:txBody>
      </p:sp>
      <p:sp>
        <p:nvSpPr>
          <p:cNvPr id="33" name="SK-21-text-32"/>
          <p:cNvSpPr/>
          <p:nvPr/>
        </p:nvSpPr>
        <p:spPr>
          <a:xfrm>
            <a:off x="914400" y="4600575"/>
            <a:ext cx="426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 Value Attainment Guardian</a:t>
            </a:r>
            <a:endParaRPr lang="en-US" sz="1200" dirty="0"/>
          </a:p>
        </p:txBody>
      </p:sp>
      <p:sp>
        <p:nvSpPr>
          <p:cNvPr id="34" name="SK-21-text-33"/>
          <p:cNvSpPr/>
          <p:nvPr/>
        </p:nvSpPr>
        <p:spPr>
          <a:xfrm>
            <a:off x="5236518" y="1619250"/>
            <a:ext cx="65601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역할 및 로직</a:t>
            </a:r>
            <a:endParaRPr lang="en-US" sz="1350" dirty="0"/>
          </a:p>
        </p:txBody>
      </p:sp>
      <p:sp>
        <p:nvSpPr>
          <p:cNvPr id="35" name="SK-21-text-34"/>
          <p:cNvSpPr/>
          <p:nvPr/>
        </p:nvSpPr>
        <p:spPr>
          <a:xfrm>
            <a:off x="4946005" y="1914525"/>
            <a:ext cx="656019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산출물(Output)과 편익(Outcome)의 괴리를 감시합니다. "기능은 완성됐으나 고객이 사용하지 않는 상황"을 실시간 탐지하여 가치 달성 위험을 경고합니다.</a:t>
            </a:r>
            <a:endParaRPr lang="en-US" sz="1200" dirty="0"/>
          </a:p>
        </p:txBody>
      </p:sp>
      <p:sp>
        <p:nvSpPr>
          <p:cNvPr id="36" name="SK-21-text-35"/>
          <p:cNvSpPr/>
          <p:nvPr/>
        </p:nvSpPr>
        <p:spPr>
          <a:xfrm>
            <a:off x="4946005" y="2645866"/>
            <a:ext cx="201471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편익(Outcome)</a:t>
            </a:r>
            <a:endParaRPr lang="en-US" sz="1050" dirty="0"/>
          </a:p>
        </p:txBody>
      </p:sp>
      <p:sp>
        <p:nvSpPr>
          <p:cNvPr id="37" name="SK-21-text-36"/>
          <p:cNvSpPr/>
          <p:nvPr/>
        </p:nvSpPr>
        <p:spPr>
          <a:xfrm>
            <a:off x="6643092" y="2645866"/>
            <a:ext cx="34025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선행지표(Leading Indicator)</a:t>
            </a:r>
            <a:endParaRPr lang="en-US" sz="1050" dirty="0"/>
          </a:p>
        </p:txBody>
      </p:sp>
      <p:sp>
        <p:nvSpPr>
          <p:cNvPr id="38" name="SK-21-text-37"/>
          <p:cNvSpPr/>
          <p:nvPr/>
        </p:nvSpPr>
        <p:spPr>
          <a:xfrm>
            <a:off x="9019133" y="2645866"/>
            <a:ext cx="8658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</a:t>
            </a:r>
            <a:endParaRPr lang="en-US" sz="1050" dirty="0"/>
          </a:p>
        </p:txBody>
      </p:sp>
      <p:sp>
        <p:nvSpPr>
          <p:cNvPr id="39" name="SK-21-text-38"/>
          <p:cNvSpPr/>
          <p:nvPr/>
        </p:nvSpPr>
        <p:spPr>
          <a:xfrm>
            <a:off x="10037415" y="2645866"/>
            <a:ext cx="17378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실패 사례</a:t>
            </a:r>
            <a:endParaRPr lang="en-US" sz="1050" dirty="0"/>
          </a:p>
        </p:txBody>
      </p:sp>
      <p:sp>
        <p:nvSpPr>
          <p:cNvPr id="40" name="SK-21-text-39"/>
          <p:cNvSpPr/>
          <p:nvPr/>
        </p:nvSpPr>
        <p:spPr>
          <a:xfrm>
            <a:off x="4946005" y="3074491"/>
            <a:ext cx="1468487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BEN-01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45%</a:t>
            </a:r>
            <a:endParaRPr lang="en-US" sz="1050" dirty="0"/>
          </a:p>
        </p:txBody>
      </p:sp>
      <p:sp>
        <p:nvSpPr>
          <p:cNvPr id="41" name="SK-21-text-40"/>
          <p:cNvSpPr/>
          <p:nvPr/>
        </p:nvSpPr>
        <p:spPr>
          <a:xfrm>
            <a:off x="6643092" y="3074491"/>
            <a:ext cx="2631231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연속 자율운영 사업장 비율</a:t>
            </a:r>
            <a:endParaRPr lang="en-US" sz="1050" dirty="0"/>
          </a:p>
        </p:txBody>
      </p:sp>
      <p:sp>
        <p:nvSpPr>
          <p:cNvPr id="42" name="SK-21-text-41"/>
          <p:cNvSpPr/>
          <p:nvPr/>
        </p:nvSpPr>
        <p:spPr>
          <a:xfrm>
            <a:off x="9019133" y="3074491"/>
            <a:ext cx="865882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≥ 50%</a:t>
            </a:r>
            <a:endParaRPr lang="en-US" sz="1050" dirty="0"/>
          </a:p>
        </p:txBody>
      </p:sp>
      <p:sp>
        <p:nvSpPr>
          <p:cNvPr id="43" name="SK-21-textBg-42"/>
          <p:cNvSpPr/>
          <p:nvPr/>
        </p:nvSpPr>
        <p:spPr>
          <a:xfrm>
            <a:off x="10037415" y="3428851"/>
            <a:ext cx="838200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K-21-text-43"/>
          <p:cNvSpPr/>
          <p:nvPr/>
        </p:nvSpPr>
        <p:spPr>
          <a:xfrm>
            <a:off x="10094565" y="3428851"/>
            <a:ext cx="13425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1.8% (적신호)</a:t>
            </a:r>
            <a:endParaRPr lang="en-US" sz="900" dirty="0"/>
          </a:p>
        </p:txBody>
      </p:sp>
      <p:sp>
        <p:nvSpPr>
          <p:cNvPr id="45" name="SK-21-text-44"/>
          <p:cNvSpPr/>
          <p:nvPr/>
        </p:nvSpPr>
        <p:spPr>
          <a:xfrm>
            <a:off x="4946005" y="3983236"/>
            <a:ext cx="1468487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BEN-02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A/S 절감 30%</a:t>
            </a:r>
            <a:endParaRPr lang="en-US" sz="1050" dirty="0"/>
          </a:p>
        </p:txBody>
      </p:sp>
      <p:sp>
        <p:nvSpPr>
          <p:cNvPr id="46" name="SK-21-text-45"/>
          <p:cNvSpPr/>
          <p:nvPr/>
        </p:nvSpPr>
        <p:spPr>
          <a:xfrm>
            <a:off x="6643092" y="3983236"/>
            <a:ext cx="2223641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무개입 완주율</a:t>
            </a:r>
            <a:endParaRPr lang="en-US" sz="1050" dirty="0"/>
          </a:p>
        </p:txBody>
      </p:sp>
      <p:sp>
        <p:nvSpPr>
          <p:cNvPr id="47" name="SK-21-text-46"/>
          <p:cNvSpPr/>
          <p:nvPr/>
        </p:nvSpPr>
        <p:spPr>
          <a:xfrm>
            <a:off x="9019133" y="3983236"/>
            <a:ext cx="865882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≥ 70%</a:t>
            </a:r>
            <a:endParaRPr lang="en-US" sz="1050" dirty="0"/>
          </a:p>
        </p:txBody>
      </p:sp>
      <p:sp>
        <p:nvSpPr>
          <p:cNvPr id="48" name="SK-21-textBg-47"/>
          <p:cNvSpPr/>
          <p:nvPr/>
        </p:nvSpPr>
        <p:spPr>
          <a:xfrm>
            <a:off x="10037415" y="4337596"/>
            <a:ext cx="828675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K-21-text-48"/>
          <p:cNvSpPr/>
          <p:nvPr/>
        </p:nvSpPr>
        <p:spPr>
          <a:xfrm>
            <a:off x="10094565" y="4337596"/>
            <a:ext cx="1340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(적신호)</a:t>
            </a:r>
            <a:endParaRPr lang="en-US" sz="900" dirty="0"/>
          </a:p>
        </p:txBody>
      </p:sp>
      <p:sp>
        <p:nvSpPr>
          <p:cNvPr id="50" name="SK-21-text-49"/>
          <p:cNvSpPr/>
          <p:nvPr/>
        </p:nvSpPr>
        <p:spPr>
          <a:xfrm>
            <a:off x="4946005" y="4891980"/>
            <a:ext cx="1468487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BEN-03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구독전환 8%</a:t>
            </a:r>
            <a:endParaRPr lang="en-US" sz="1050" dirty="0"/>
          </a:p>
        </p:txBody>
      </p:sp>
      <p:sp>
        <p:nvSpPr>
          <p:cNvPr id="51" name="SK-21-text-50"/>
          <p:cNvSpPr/>
          <p:nvPr/>
        </p:nvSpPr>
        <p:spPr>
          <a:xfrm>
            <a:off x="6643092" y="4891980"/>
            <a:ext cx="2679439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관제 콘솔 일일활성사용자(DAU)</a:t>
            </a:r>
            <a:endParaRPr lang="en-US" sz="1050" dirty="0"/>
          </a:p>
        </p:txBody>
      </p:sp>
      <p:sp>
        <p:nvSpPr>
          <p:cNvPr id="52" name="SK-21-text-51"/>
          <p:cNvSpPr/>
          <p:nvPr/>
        </p:nvSpPr>
        <p:spPr>
          <a:xfrm>
            <a:off x="9019133" y="4891980"/>
            <a:ext cx="865882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증가 추세</a:t>
            </a:r>
            <a:endParaRPr lang="en-US" sz="1050" dirty="0"/>
          </a:p>
        </p:txBody>
      </p:sp>
      <p:sp>
        <p:nvSpPr>
          <p:cNvPr id="53" name="SK-21-textBg-52"/>
          <p:cNvSpPr/>
          <p:nvPr/>
        </p:nvSpPr>
        <p:spPr>
          <a:xfrm>
            <a:off x="10037415" y="5246340"/>
            <a:ext cx="828675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K-21-text-53"/>
          <p:cNvSpPr/>
          <p:nvPr/>
        </p:nvSpPr>
        <p:spPr>
          <a:xfrm>
            <a:off x="10094565" y="5246340"/>
            <a:ext cx="827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미측정</a:t>
            </a:r>
            <a:endParaRPr lang="en-US" sz="900" dirty="0"/>
          </a:p>
        </p:txBody>
      </p:sp>
      <p:sp>
        <p:nvSpPr>
          <p:cNvPr id="55" name="SK-21-text-54"/>
          <p:cNvSpPr/>
          <p:nvPr/>
        </p:nvSpPr>
        <p:spPr>
          <a:xfrm>
            <a:off x="4946005" y="6134100"/>
            <a:ext cx="1036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산출물</a:t>
            </a:r>
            <a:endParaRPr lang="en-US" sz="1050" dirty="0"/>
          </a:p>
        </p:txBody>
      </p:sp>
      <p:sp>
        <p:nvSpPr>
          <p:cNvPr id="56" name="SK-21-text-55"/>
          <p:cNvSpPr/>
          <p:nvPr/>
        </p:nvSpPr>
        <p:spPr>
          <a:xfrm>
            <a:off x="6149578" y="6105525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</a:rPr>
              <a:t>Value Health Score</a:t>
            </a:r>
            <a:endParaRPr lang="en-US" sz="1350" dirty="0"/>
          </a:p>
        </p:txBody>
      </p:sp>
      <p:sp>
        <p:nvSpPr>
          <p:cNvPr id="57" name="SK-21-text-56"/>
          <p:cNvSpPr/>
          <p:nvPr/>
        </p:nvSpPr>
        <p:spPr>
          <a:xfrm>
            <a:off x="8416528" y="6134100"/>
            <a:ext cx="1036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KPI</a:t>
            </a:r>
            <a:endParaRPr lang="en-US" sz="1050" dirty="0"/>
          </a:p>
        </p:txBody>
      </p:sp>
      <p:sp>
        <p:nvSpPr>
          <p:cNvPr id="58" name="SK-21-text-57"/>
          <p:cNvSpPr/>
          <p:nvPr/>
        </p:nvSpPr>
        <p:spPr>
          <a:xfrm>
            <a:off x="9305925" y="6105525"/>
            <a:ext cx="28860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</a:rPr>
              <a:t>Benefit Forecast Acc.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381625" cy="4972050"/>
          </a:xfrm>
          <a:prstGeom prst="rect">
            <a:avLst/>
          </a:prstGeom>
        </p:spPr>
      </p:pic>
      <p:pic>
        <p:nvPicPr>
          <p:cNvPr id="7" name="SK-2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5381625" cy="895350"/>
          </a:xfrm>
          <a:prstGeom prst="rect">
            <a:avLst/>
          </a:prstGeom>
        </p:spPr>
      </p:pic>
      <p:pic>
        <p:nvPicPr>
          <p:cNvPr id="8" name="SK-2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724025"/>
            <a:ext cx="457200" cy="457200"/>
          </a:xfrm>
          <a:prstGeom prst="rect">
            <a:avLst/>
          </a:prstGeom>
        </p:spPr>
      </p:pic>
      <p:pic>
        <p:nvPicPr>
          <p:cNvPr id="9" name="SK-2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1838325"/>
            <a:ext cx="285750" cy="228600"/>
          </a:xfrm>
          <a:prstGeom prst="rect">
            <a:avLst/>
          </a:prstGeom>
        </p:spPr>
      </p:pic>
      <p:pic>
        <p:nvPicPr>
          <p:cNvPr id="10" name="SK-2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990975"/>
            <a:ext cx="5000625" cy="1157288"/>
          </a:xfrm>
          <a:prstGeom prst="rect">
            <a:avLst/>
          </a:prstGeom>
        </p:spPr>
      </p:pic>
      <p:pic>
        <p:nvPicPr>
          <p:cNvPr id="11" name="SK-2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395913"/>
            <a:ext cx="5000625" cy="852488"/>
          </a:xfrm>
          <a:prstGeom prst="rect">
            <a:avLst/>
          </a:prstGeom>
        </p:spPr>
      </p:pic>
      <p:pic>
        <p:nvPicPr>
          <p:cNvPr id="12" name="SK-2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5540127"/>
            <a:ext cx="154781" cy="125760"/>
          </a:xfrm>
          <a:prstGeom prst="rect">
            <a:avLst/>
          </a:prstGeom>
        </p:spPr>
      </p:pic>
      <p:pic>
        <p:nvPicPr>
          <p:cNvPr id="13" name="SK-2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875" y="1504950"/>
            <a:ext cx="5381625" cy="4972050"/>
          </a:xfrm>
          <a:prstGeom prst="rect">
            <a:avLst/>
          </a:prstGeom>
        </p:spPr>
      </p:pic>
      <p:pic>
        <p:nvPicPr>
          <p:cNvPr id="14" name="SK-2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8875" y="1504950"/>
            <a:ext cx="5381625" cy="895350"/>
          </a:xfrm>
          <a:prstGeom prst="rect">
            <a:avLst/>
          </a:prstGeom>
        </p:spPr>
      </p:pic>
      <p:pic>
        <p:nvPicPr>
          <p:cNvPr id="15" name="SK-2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9375" y="1724025"/>
            <a:ext cx="457200" cy="457200"/>
          </a:xfrm>
          <a:prstGeom prst="rect">
            <a:avLst/>
          </a:prstGeom>
        </p:spPr>
      </p:pic>
      <p:pic>
        <p:nvPicPr>
          <p:cNvPr id="16" name="SK-2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1838325"/>
            <a:ext cx="285750" cy="228600"/>
          </a:xfrm>
          <a:prstGeom prst="rect">
            <a:avLst/>
          </a:prstGeom>
        </p:spPr>
      </p:pic>
      <p:pic>
        <p:nvPicPr>
          <p:cNvPr id="17" name="SK-2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9375" y="4657725"/>
            <a:ext cx="5000625" cy="852488"/>
          </a:xfrm>
          <a:prstGeom prst="rect">
            <a:avLst/>
          </a:prstGeom>
        </p:spPr>
      </p:pic>
      <p:pic>
        <p:nvPicPr>
          <p:cNvPr id="18" name="SK-2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3675" y="4801939"/>
            <a:ext cx="154781" cy="125760"/>
          </a:xfrm>
          <a:prstGeom prst="rect">
            <a:avLst/>
          </a:prstGeom>
        </p:spPr>
      </p:pic>
      <p:sp>
        <p:nvSpPr>
          <p:cNvPr id="19" name="SK-22-text-18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0" name="SK-22-text-19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C-3. Agent 2 &amp; 3: Integrity Checker 및 Change Sentinel</a:t>
            </a:r>
            <a:endParaRPr lang="en-US" sz="2550" dirty="0"/>
          </a:p>
        </p:txBody>
      </p:sp>
      <p:sp>
        <p:nvSpPr>
          <p:cNvPr id="21" name="SK-22-text-20"/>
          <p:cNvSpPr/>
          <p:nvPr/>
        </p:nvSpPr>
        <p:spPr>
          <a:xfrm>
            <a:off x="1371600" y="1695450"/>
            <a:ext cx="6810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2: Integrity Checker</a:t>
            </a:r>
            <a:endParaRPr lang="en-US" sz="1650" dirty="0"/>
          </a:p>
        </p:txBody>
      </p:sp>
      <p:sp>
        <p:nvSpPr>
          <p:cNvPr id="22" name="SK-22-text-21"/>
          <p:cNvSpPr/>
          <p:nvPr/>
        </p:nvSpPr>
        <p:spPr>
          <a:xfrm>
            <a:off x="1371600" y="2009775"/>
            <a:ext cx="34366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정합성 및 일관성 검증 에이전트</a:t>
            </a:r>
            <a:endParaRPr lang="en-US" sz="1050" dirty="0"/>
          </a:p>
        </p:txBody>
      </p:sp>
      <p:sp>
        <p:nvSpPr>
          <p:cNvPr id="23" name="SK-22-text-22"/>
          <p:cNvSpPr/>
          <p:nvPr/>
        </p:nvSpPr>
        <p:spPr>
          <a:xfrm>
            <a:off x="762000" y="2590800"/>
            <a:ext cx="5076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05AEE"/>
                </a:solidFill>
              </a:rPr>
              <a:t>CORE LOGIC</a:t>
            </a:r>
            <a:endParaRPr lang="en-US" sz="900" dirty="0"/>
          </a:p>
        </p:txBody>
      </p:sp>
      <p:sp>
        <p:nvSpPr>
          <p:cNvPr id="24" name="SK-22-text-23"/>
          <p:cNvSpPr/>
          <p:nvPr/>
        </p:nvSpPr>
        <p:spPr>
          <a:xfrm>
            <a:off x="904875" y="2838450"/>
            <a:ext cx="5734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전체(AI인프라 포함) vs 부분보고 괴리 자동 감지</a:t>
            </a:r>
            <a:endParaRPr lang="en-US" sz="1125" dirty="0"/>
          </a:p>
        </p:txBody>
      </p:sp>
      <p:sp>
        <p:nvSpPr>
          <p:cNvPr id="25" name="SK-22-text-24"/>
          <p:cNvSpPr/>
          <p:nvPr/>
        </p:nvSpPr>
        <p:spPr>
          <a:xfrm>
            <a:off x="904875" y="3095625"/>
            <a:ext cx="5791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SC-03 측정범위(테스트베드) vs 실운영범위 비교 검증</a:t>
            </a:r>
            <a:endParaRPr lang="en-US" sz="1125" dirty="0"/>
          </a:p>
        </p:txBody>
      </p:sp>
      <p:sp>
        <p:nvSpPr>
          <p:cNvPr id="26" name="SK-22-text-25"/>
          <p:cNvSpPr/>
          <p:nvPr/>
        </p:nvSpPr>
        <p:spPr>
          <a:xfrm>
            <a:off x="904875" y="3352800"/>
            <a:ext cx="5076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버전 변경에 따른 완료율 이중 집계 및 추적</a:t>
            </a:r>
            <a:endParaRPr lang="en-US" sz="1125" dirty="0"/>
          </a:p>
        </p:txBody>
      </p:sp>
      <p:sp>
        <p:nvSpPr>
          <p:cNvPr id="27" name="SK-22-text-26"/>
          <p:cNvSpPr/>
          <p:nvPr/>
        </p:nvSpPr>
        <p:spPr>
          <a:xfrm>
            <a:off x="762000" y="3705225"/>
            <a:ext cx="5076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05AEE"/>
                </a:solidFill>
              </a:rPr>
              <a:t>OUTPUT FORMAT</a:t>
            </a:r>
            <a:endParaRPr lang="en-US" sz="900" dirty="0"/>
          </a:p>
        </p:txBody>
      </p:sp>
      <p:sp>
        <p:nvSpPr>
          <p:cNvPr id="28" name="SK-22-text-27"/>
          <p:cNvSpPr/>
          <p:nvPr/>
        </p:nvSpPr>
        <p:spPr>
          <a:xfrm>
            <a:off x="876300" y="3990975"/>
            <a:ext cx="477202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[Integrity Alert]</a:t>
            </a:r>
            <a:endParaRPr lang="en-US" sz="975" dirty="0"/>
          </a:p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Metric: CPI Variance</a:t>
            </a:r>
            <a:endParaRPr lang="en-US" sz="975" dirty="0"/>
          </a:p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Reported: 0.98 (Dev Only)</a:t>
            </a:r>
            <a:endParaRPr lang="en-US" sz="975" dirty="0"/>
          </a:p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Actual: 0.944 (Incl. Infra)</a:t>
            </a:r>
            <a:endParaRPr lang="en-US" sz="975" dirty="0"/>
          </a:p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D4D4D4"/>
                </a:solidFill>
              </a:rPr>
              <a:t>- Impact: Budget depletion D-30</a:t>
            </a:r>
            <a:endParaRPr lang="en-US" sz="975" dirty="0"/>
          </a:p>
        </p:txBody>
      </p:sp>
      <p:sp>
        <p:nvSpPr>
          <p:cNvPr id="29" name="SK-22-text-28"/>
          <p:cNvSpPr/>
          <p:nvPr/>
        </p:nvSpPr>
        <p:spPr>
          <a:xfrm>
            <a:off x="1088231" y="5510213"/>
            <a:ext cx="47720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예시</a:t>
            </a:r>
            <a:endParaRPr lang="en-US" sz="975" dirty="0"/>
          </a:p>
        </p:txBody>
      </p:sp>
      <p:sp>
        <p:nvSpPr>
          <p:cNvPr id="30" name="SK-22-text-29"/>
          <p:cNvSpPr/>
          <p:nvPr/>
        </p:nvSpPr>
        <p:spPr>
          <a:xfrm>
            <a:off x="876300" y="5734050"/>
            <a:ext cx="4772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부문 CPI 0.98이나, AI인프라 포함 시 CPI 0.944입니다. 차이 3.6%p 발생." — 보고서 왜곡 차단</a:t>
            </a:r>
            <a:endParaRPr lang="en-US" sz="1050" dirty="0"/>
          </a:p>
        </p:txBody>
      </p:sp>
      <p:sp>
        <p:nvSpPr>
          <p:cNvPr id="31" name="SK-22-text-30"/>
          <p:cNvSpPr/>
          <p:nvPr/>
        </p:nvSpPr>
        <p:spPr>
          <a:xfrm>
            <a:off x="7038975" y="1695450"/>
            <a:ext cx="5153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3: Change Sentinel</a:t>
            </a:r>
            <a:endParaRPr lang="en-US" sz="1650" dirty="0"/>
          </a:p>
        </p:txBody>
      </p:sp>
      <p:sp>
        <p:nvSpPr>
          <p:cNvPr id="32" name="SK-22-text-31"/>
          <p:cNvSpPr/>
          <p:nvPr/>
        </p:nvSpPr>
        <p:spPr>
          <a:xfrm>
            <a:off x="7038975" y="2009775"/>
            <a:ext cx="3916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감지 및 거버넌스 준수 에이전트</a:t>
            </a:r>
            <a:endParaRPr lang="en-US" sz="1050" dirty="0"/>
          </a:p>
        </p:txBody>
      </p:sp>
      <p:sp>
        <p:nvSpPr>
          <p:cNvPr id="33" name="SK-22-text-32"/>
          <p:cNvSpPr/>
          <p:nvPr/>
        </p:nvSpPr>
        <p:spPr>
          <a:xfrm>
            <a:off x="6429375" y="2590800"/>
            <a:ext cx="5076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05AEE"/>
                </a:solidFill>
              </a:rPr>
              <a:t>DETECTION LOGIC</a:t>
            </a:r>
            <a:endParaRPr lang="en-US" sz="900" dirty="0"/>
          </a:p>
        </p:txBody>
      </p:sp>
      <p:sp>
        <p:nvSpPr>
          <p:cNvPr id="34" name="SK-22-text-33"/>
          <p:cNvSpPr/>
          <p:nvPr/>
        </p:nvSpPr>
        <p:spPr>
          <a:xfrm>
            <a:off x="6572250" y="2838450"/>
            <a:ext cx="5619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메신저/이메일 내 "넣읍시다", "변경", "추가" 키워드 패턴 감지</a:t>
            </a:r>
            <a:endParaRPr lang="en-US" sz="1125" dirty="0"/>
          </a:p>
        </p:txBody>
      </p:sp>
      <p:sp>
        <p:nvSpPr>
          <p:cNvPr id="35" name="SK-22-text-34"/>
          <p:cNvSpPr/>
          <p:nvPr/>
        </p:nvSpPr>
        <p:spPr>
          <a:xfrm>
            <a:off x="6572250" y="3095625"/>
            <a:ext cx="5076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채널의 Scope 변경 의사결정 실시간 포착</a:t>
            </a:r>
            <a:endParaRPr lang="en-US" sz="1125" dirty="0"/>
          </a:p>
        </p:txBody>
      </p:sp>
      <p:sp>
        <p:nvSpPr>
          <p:cNvPr id="36" name="SK-22-text-35"/>
          <p:cNvSpPr/>
          <p:nvPr/>
        </p:nvSpPr>
        <p:spPr>
          <a:xfrm>
            <a:off x="6572250" y="3352800"/>
            <a:ext cx="5619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CR(Change Request) 프로세스 누락 여부 판단</a:t>
            </a:r>
            <a:endParaRPr lang="en-US" sz="1125" dirty="0"/>
          </a:p>
        </p:txBody>
      </p:sp>
      <p:sp>
        <p:nvSpPr>
          <p:cNvPr id="37" name="SK-22-text-36"/>
          <p:cNvSpPr/>
          <p:nvPr/>
        </p:nvSpPr>
        <p:spPr>
          <a:xfrm>
            <a:off x="6429375" y="3705225"/>
            <a:ext cx="5076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05AEE"/>
                </a:solidFill>
              </a:rPr>
              <a:t>ACTION &amp; OUTPUT</a:t>
            </a:r>
            <a:endParaRPr lang="en-US" sz="900" dirty="0"/>
          </a:p>
        </p:txBody>
      </p:sp>
      <p:sp>
        <p:nvSpPr>
          <p:cNvPr id="38" name="SK-22-text-37"/>
          <p:cNvSpPr/>
          <p:nvPr/>
        </p:nvSpPr>
        <p:spPr>
          <a:xfrm>
            <a:off x="6572250" y="3952875"/>
            <a:ext cx="5076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초안 자동 생성 (변경내용, 영향범위 추정)</a:t>
            </a:r>
            <a:endParaRPr lang="en-US" sz="1125" dirty="0"/>
          </a:p>
        </p:txBody>
      </p:sp>
      <p:sp>
        <p:nvSpPr>
          <p:cNvPr id="39" name="SK-22-text-38"/>
          <p:cNvSpPr/>
          <p:nvPr/>
        </p:nvSpPr>
        <p:spPr>
          <a:xfrm>
            <a:off x="6572250" y="4210050"/>
            <a:ext cx="5076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필요 여부 알림 및 Baseline 갱신 유도</a:t>
            </a:r>
            <a:endParaRPr lang="en-US" sz="1125" dirty="0"/>
          </a:p>
        </p:txBody>
      </p:sp>
      <p:sp>
        <p:nvSpPr>
          <p:cNvPr id="40" name="SK-22-text-39"/>
          <p:cNvSpPr/>
          <p:nvPr/>
        </p:nvSpPr>
        <p:spPr>
          <a:xfrm>
            <a:off x="6755606" y="4772025"/>
            <a:ext cx="47720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예시</a:t>
            </a:r>
            <a:endParaRPr lang="en-US" sz="975" dirty="0"/>
          </a:p>
        </p:txBody>
      </p:sp>
      <p:sp>
        <p:nvSpPr>
          <p:cNvPr id="41" name="SK-22-text-40"/>
          <p:cNvSpPr/>
          <p:nvPr/>
        </p:nvSpPr>
        <p:spPr>
          <a:xfrm>
            <a:off x="6543675" y="4995863"/>
            <a:ext cx="4772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변경을 사전에 포착하여 영향평가 없는 독단적 변경 방지 및 Baseline 최신화 유지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5410200" cy="5181600"/>
          </a:xfrm>
          <a:prstGeom prst="rect">
            <a:avLst/>
          </a:prstGeom>
        </p:spPr>
      </p:pic>
      <p:pic>
        <p:nvPicPr>
          <p:cNvPr id="7" name="SK-2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552575"/>
            <a:ext cx="4953000" cy="714375"/>
          </a:xfrm>
          <a:prstGeom prst="rect">
            <a:avLst/>
          </a:prstGeom>
        </p:spPr>
      </p:pic>
      <p:pic>
        <p:nvPicPr>
          <p:cNvPr id="8" name="SK-2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581150"/>
            <a:ext cx="533400" cy="533400"/>
          </a:xfrm>
          <a:prstGeom prst="rect">
            <a:avLst/>
          </a:prstGeom>
        </p:spPr>
      </p:pic>
      <p:pic>
        <p:nvPicPr>
          <p:cNvPr id="9" name="SK-2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113" y="1714500"/>
            <a:ext cx="333375" cy="266700"/>
          </a:xfrm>
          <a:prstGeom prst="rect">
            <a:avLst/>
          </a:prstGeom>
        </p:spPr>
      </p:pic>
      <p:pic>
        <p:nvPicPr>
          <p:cNvPr id="10" name="SK-2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5900" y="1905000"/>
            <a:ext cx="1409700" cy="238125"/>
          </a:xfrm>
          <a:prstGeom prst="rect">
            <a:avLst/>
          </a:prstGeom>
        </p:spPr>
      </p:pic>
      <p:pic>
        <p:nvPicPr>
          <p:cNvPr id="11" name="SK-2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526506"/>
            <a:ext cx="57150" cy="57150"/>
          </a:xfrm>
          <a:prstGeom prst="rect">
            <a:avLst/>
          </a:prstGeom>
        </p:spPr>
      </p:pic>
      <p:pic>
        <p:nvPicPr>
          <p:cNvPr id="12" name="SK-2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369469"/>
            <a:ext cx="57150" cy="57150"/>
          </a:xfrm>
          <a:prstGeom prst="rect">
            <a:avLst/>
          </a:prstGeom>
        </p:spPr>
      </p:pic>
      <p:pic>
        <p:nvPicPr>
          <p:cNvPr id="13" name="SK-2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212431"/>
            <a:ext cx="57150" cy="57150"/>
          </a:xfrm>
          <a:prstGeom prst="rect">
            <a:avLst/>
          </a:prstGeom>
        </p:spPr>
      </p:pic>
      <p:pic>
        <p:nvPicPr>
          <p:cNvPr id="14" name="SK-2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467350"/>
            <a:ext cx="4953000" cy="904875"/>
          </a:xfrm>
          <a:prstGeom prst="rect">
            <a:avLst/>
          </a:prstGeom>
        </p:spPr>
      </p:pic>
      <p:pic>
        <p:nvPicPr>
          <p:cNvPr id="15" name="SK-2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5622578"/>
            <a:ext cx="166688" cy="137220"/>
          </a:xfrm>
          <a:prstGeom prst="rect">
            <a:avLst/>
          </a:prstGeom>
        </p:spPr>
      </p:pic>
      <p:pic>
        <p:nvPicPr>
          <p:cNvPr id="16" name="SK-2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1371600"/>
            <a:ext cx="5410200" cy="5181600"/>
          </a:xfrm>
          <a:prstGeom prst="rect">
            <a:avLst/>
          </a:prstGeom>
        </p:spPr>
      </p:pic>
      <p:pic>
        <p:nvPicPr>
          <p:cNvPr id="17" name="SK-2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1552575"/>
            <a:ext cx="4953000" cy="714375"/>
          </a:xfrm>
          <a:prstGeom prst="rect">
            <a:avLst/>
          </a:prstGeom>
        </p:spPr>
      </p:pic>
      <p:pic>
        <p:nvPicPr>
          <p:cNvPr id="18" name="SK-2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1581150"/>
            <a:ext cx="533400" cy="533400"/>
          </a:xfrm>
          <a:prstGeom prst="rect">
            <a:avLst/>
          </a:prstGeom>
        </p:spPr>
      </p:pic>
      <p:pic>
        <p:nvPicPr>
          <p:cNvPr id="19" name="SK-2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8913" y="1714500"/>
            <a:ext cx="333375" cy="266700"/>
          </a:xfrm>
          <a:prstGeom prst="rect">
            <a:avLst/>
          </a:prstGeom>
        </p:spPr>
      </p:pic>
      <p:pic>
        <p:nvPicPr>
          <p:cNvPr id="20" name="SK-2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4700" y="1905000"/>
            <a:ext cx="1466850" cy="238125"/>
          </a:xfrm>
          <a:prstGeom prst="rect">
            <a:avLst/>
          </a:prstGeom>
        </p:spPr>
      </p:pic>
      <p:pic>
        <p:nvPicPr>
          <p:cNvPr id="21" name="SK-2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2526506"/>
            <a:ext cx="57150" cy="57150"/>
          </a:xfrm>
          <a:prstGeom prst="rect">
            <a:avLst/>
          </a:prstGeom>
        </p:spPr>
      </p:pic>
      <p:pic>
        <p:nvPicPr>
          <p:cNvPr id="22" name="SK-2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369469"/>
            <a:ext cx="57150" cy="57150"/>
          </a:xfrm>
          <a:prstGeom prst="rect">
            <a:avLst/>
          </a:prstGeom>
        </p:spPr>
      </p:pic>
      <p:pic>
        <p:nvPicPr>
          <p:cNvPr id="23" name="SK-2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8900" y="4212431"/>
            <a:ext cx="57150" cy="57150"/>
          </a:xfrm>
          <a:prstGeom prst="rect">
            <a:avLst/>
          </a:prstGeom>
        </p:spPr>
      </p:pic>
      <p:pic>
        <p:nvPicPr>
          <p:cNvPr id="24" name="SK-2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5467350"/>
            <a:ext cx="4953000" cy="904875"/>
          </a:xfrm>
          <a:prstGeom prst="rect">
            <a:avLst/>
          </a:prstGeom>
        </p:spPr>
      </p:pic>
      <p:pic>
        <p:nvPicPr>
          <p:cNvPr id="25" name="SK-2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91300" y="5622578"/>
            <a:ext cx="166688" cy="137220"/>
          </a:xfrm>
          <a:prstGeom prst="rect">
            <a:avLst/>
          </a:prstGeom>
        </p:spPr>
      </p:pic>
      <p:sp>
        <p:nvSpPr>
          <p:cNvPr id="26" name="SK-23-text-25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7" name="SK-23-text-26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C-3. Agent 4 &amp; 5: Decision Sync 및 Risk Radar</a:t>
            </a:r>
            <a:endParaRPr lang="en-US" sz="2550" dirty="0"/>
          </a:p>
        </p:txBody>
      </p:sp>
      <p:sp>
        <p:nvSpPr>
          <p:cNvPr id="28" name="SK-23-text-27"/>
          <p:cNvSpPr/>
          <p:nvPr/>
        </p:nvSpPr>
        <p:spPr>
          <a:xfrm>
            <a:off x="1485900" y="1552575"/>
            <a:ext cx="58045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4: Decision Sync</a:t>
            </a:r>
            <a:endParaRPr lang="en-US" sz="1650" dirty="0"/>
          </a:p>
        </p:txBody>
      </p:sp>
      <p:sp>
        <p:nvSpPr>
          <p:cNvPr id="29" name="SK-23-text-28"/>
          <p:cNvSpPr/>
          <p:nvPr/>
        </p:nvSpPr>
        <p:spPr>
          <a:xfrm>
            <a:off x="1562100" y="1905000"/>
            <a:ext cx="1646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일관성 감시</a:t>
            </a:r>
            <a:endParaRPr lang="en-US" sz="1050" dirty="0"/>
          </a:p>
        </p:txBody>
      </p:sp>
      <p:sp>
        <p:nvSpPr>
          <p:cNvPr id="30" name="SK-23-text-29"/>
          <p:cNvSpPr/>
          <p:nvPr/>
        </p:nvSpPr>
        <p:spPr>
          <a:xfrm>
            <a:off x="933450" y="2447925"/>
            <a:ext cx="7620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125" dirty="0"/>
          </a:p>
        </p:txBody>
      </p:sp>
      <p:sp>
        <p:nvSpPr>
          <p:cNvPr id="31" name="SK-23-text-30"/>
          <p:cNvSpPr/>
          <p:nvPr/>
        </p:nvSpPr>
        <p:spPr>
          <a:xfrm>
            <a:off x="933450" y="2709863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리전 및 다중 채널(메신저, 구두, 회의록)의 의사결정 기록을 대조하여 불일치 사항을 실시간으로 감지</a:t>
            </a:r>
            <a:endParaRPr lang="en-US" sz="1200" dirty="0"/>
          </a:p>
        </p:txBody>
      </p:sp>
      <p:sp>
        <p:nvSpPr>
          <p:cNvPr id="32" name="SK-23-text-31"/>
          <p:cNvSpPr/>
          <p:nvPr/>
        </p:nvSpPr>
        <p:spPr>
          <a:xfrm>
            <a:off x="933450" y="3290888"/>
            <a:ext cx="933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</a:t>
            </a:r>
            <a:endParaRPr lang="en-US" sz="1125" dirty="0"/>
          </a:p>
        </p:txBody>
      </p:sp>
      <p:sp>
        <p:nvSpPr>
          <p:cNvPr id="33" name="SK-23-text-32"/>
          <p:cNvSpPr/>
          <p:nvPr/>
        </p:nvSpPr>
        <p:spPr>
          <a:xfrm>
            <a:off x="933450" y="3552825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Confluence, Jira, Email, 메신저 데이터에서 동일 결정사항(Entity)의 기록을 추출하고 리전별 합의 내용의 차이를 비교</a:t>
            </a:r>
            <a:endParaRPr lang="en-US" sz="1200" dirty="0"/>
          </a:p>
        </p:txBody>
      </p:sp>
      <p:sp>
        <p:nvSpPr>
          <p:cNvPr id="34" name="SK-23-text-33"/>
          <p:cNvSpPr/>
          <p:nvPr/>
        </p:nvSpPr>
        <p:spPr>
          <a:xfrm>
            <a:off x="933450" y="4133850"/>
            <a:ext cx="1104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125" dirty="0"/>
          </a:p>
        </p:txBody>
      </p:sp>
      <p:sp>
        <p:nvSpPr>
          <p:cNvPr id="35" name="SK-23-text-34"/>
          <p:cNvSpPr/>
          <p:nvPr/>
        </p:nvSpPr>
        <p:spPr>
          <a:xfrm>
            <a:off x="933450" y="4395788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Consistency Report: 결정사항별 일치/불일치/미기재 현황을 시각화하여 SSOT(Single Source of Truth) 확보 지원</a:t>
            </a:r>
            <a:endParaRPr lang="en-US" sz="1200" dirty="0"/>
          </a:p>
        </p:txBody>
      </p:sp>
      <p:sp>
        <p:nvSpPr>
          <p:cNvPr id="36" name="SK-23-text-35"/>
          <p:cNvSpPr/>
          <p:nvPr/>
        </p:nvSpPr>
        <p:spPr>
          <a:xfrm>
            <a:off x="1176338" y="5591175"/>
            <a:ext cx="4648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사례</a:t>
            </a:r>
            <a:endParaRPr lang="en-US" sz="1050" dirty="0"/>
          </a:p>
        </p:txBody>
      </p:sp>
      <p:sp>
        <p:nvSpPr>
          <p:cNvPr id="37" name="SK-23-text-36"/>
          <p:cNvSpPr/>
          <p:nvPr/>
        </p:nvSpPr>
        <p:spPr>
          <a:xfrm>
            <a:off x="952500" y="5848350"/>
            <a:ext cx="4648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DEC-07 폴백 방침 불일치를 즉시 감지하여 리전 간 소통 누락으로 발생한 </a:t>
            </a:r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2.3MM 중복개발 방지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</a:t>
            </a:r>
            <a:endParaRPr lang="en-US" sz="1125" dirty="0"/>
          </a:p>
        </p:txBody>
      </p:sp>
      <p:sp>
        <p:nvSpPr>
          <p:cNvPr id="38" name="SK-23-text-37"/>
          <p:cNvSpPr/>
          <p:nvPr/>
        </p:nvSpPr>
        <p:spPr>
          <a:xfrm>
            <a:off x="7124700" y="1552575"/>
            <a:ext cx="50501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5: Risk Radar</a:t>
            </a:r>
            <a:endParaRPr lang="en-US" sz="1650" dirty="0"/>
          </a:p>
        </p:txBody>
      </p:sp>
      <p:sp>
        <p:nvSpPr>
          <p:cNvPr id="39" name="SK-23-text-38"/>
          <p:cNvSpPr/>
          <p:nvPr/>
        </p:nvSpPr>
        <p:spPr>
          <a:xfrm>
            <a:off x="7200900" y="1905000"/>
            <a:ext cx="19403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및 선제 감지</a:t>
            </a:r>
            <a:endParaRPr lang="en-US" sz="1050" dirty="0"/>
          </a:p>
        </p:txBody>
      </p:sp>
      <p:sp>
        <p:nvSpPr>
          <p:cNvPr id="40" name="SK-23-text-39"/>
          <p:cNvSpPr/>
          <p:nvPr/>
        </p:nvSpPr>
        <p:spPr>
          <a:xfrm>
            <a:off x="6572250" y="2447925"/>
            <a:ext cx="7620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125" dirty="0"/>
          </a:p>
        </p:txBody>
      </p:sp>
      <p:sp>
        <p:nvSpPr>
          <p:cNvPr id="41" name="SK-23-text-40"/>
          <p:cNvSpPr/>
          <p:nvPr/>
        </p:nvSpPr>
        <p:spPr>
          <a:xfrm>
            <a:off x="6572250" y="2709863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변경(파트너 로드맵, 규제) 및 내부 지표 임계치 초과를 감지하여 리스크 등록 및 선제적 대응 제안</a:t>
            </a:r>
            <a:endParaRPr lang="en-US" sz="1200" dirty="0"/>
          </a:p>
        </p:txBody>
      </p:sp>
      <p:sp>
        <p:nvSpPr>
          <p:cNvPr id="42" name="SK-23-text-41"/>
          <p:cNvSpPr/>
          <p:nvPr/>
        </p:nvSpPr>
        <p:spPr>
          <a:xfrm>
            <a:off x="6572250" y="3290888"/>
            <a:ext cx="933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</a:t>
            </a:r>
            <a:endParaRPr lang="en-US" sz="1125" dirty="0"/>
          </a:p>
        </p:txBody>
      </p:sp>
      <p:sp>
        <p:nvSpPr>
          <p:cNvPr id="43" name="SK-23-text-42"/>
          <p:cNvSpPr/>
          <p:nvPr/>
        </p:nvSpPr>
        <p:spPr>
          <a:xfrm>
            <a:off x="6572250" y="3552825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 공지/메일 스캔, 비용 추세 예측 모델링, 기술 EOL(End of Life) 일정 대조를 통한 이상 징후 포착</a:t>
            </a:r>
            <a:endParaRPr lang="en-US" sz="1200" dirty="0"/>
          </a:p>
        </p:txBody>
      </p:sp>
      <p:sp>
        <p:nvSpPr>
          <p:cNvPr id="44" name="SK-23-text-43"/>
          <p:cNvSpPr/>
          <p:nvPr/>
        </p:nvSpPr>
        <p:spPr>
          <a:xfrm>
            <a:off x="6572250" y="4133850"/>
            <a:ext cx="1104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125" dirty="0"/>
          </a:p>
        </p:txBody>
      </p:sp>
      <p:sp>
        <p:nvSpPr>
          <p:cNvPr id="45" name="SK-23-text-44"/>
          <p:cNvSpPr/>
          <p:nvPr/>
        </p:nvSpPr>
        <p:spPr>
          <a:xfrm>
            <a:off x="6572250" y="4395788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Suggestion: 리스크 설명, 발생 확률, 영향도, 대응 옵션을 포함한 리스크 등록 초안 자동 생성</a:t>
            </a:r>
            <a:endParaRPr lang="en-US" sz="1200" dirty="0"/>
          </a:p>
        </p:txBody>
      </p:sp>
      <p:sp>
        <p:nvSpPr>
          <p:cNvPr id="46" name="SK-23-text-45"/>
          <p:cNvSpPr/>
          <p:nvPr/>
        </p:nvSpPr>
        <p:spPr>
          <a:xfrm>
            <a:off x="6815138" y="5591175"/>
            <a:ext cx="4648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적용 사례</a:t>
            </a:r>
            <a:endParaRPr lang="en-US" sz="1050" dirty="0"/>
          </a:p>
        </p:txBody>
      </p:sp>
      <p:sp>
        <p:nvSpPr>
          <p:cNvPr id="47" name="SK-23-text-46"/>
          <p:cNvSpPr/>
          <p:nvPr/>
        </p:nvSpPr>
        <p:spPr>
          <a:xfrm>
            <a:off x="6591300" y="5848350"/>
            <a:ext cx="4648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EOL(E-02) 공지 수신 즉시 </a:t>
            </a:r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"RSK-15: Nav Stack EOL"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등록 및 2~4주 마이그레이션 일정 확보 제안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875"/>
            <a:ext cx="2122289" cy="276225"/>
          </a:xfrm>
          <a:prstGeom prst="rect">
            <a:avLst/>
          </a:prstGeom>
        </p:spPr>
      </p:pic>
      <p:pic>
        <p:nvPicPr>
          <p:cNvPr id="5" name="SK-2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276225"/>
            <a:ext cx="8812411" cy="9525"/>
          </a:xfrm>
          <a:prstGeom prst="rect">
            <a:avLst/>
          </a:prstGeom>
        </p:spPr>
      </p:pic>
      <p:pic>
        <p:nvPicPr>
          <p:cNvPr id="6" name="SK-2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057275"/>
            <a:ext cx="9525" cy="5657850"/>
          </a:xfrm>
          <a:prstGeom prst="rect">
            <a:avLst/>
          </a:prstGeom>
        </p:spPr>
      </p:pic>
      <p:pic>
        <p:nvPicPr>
          <p:cNvPr id="7" name="SK-2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104900"/>
            <a:ext cx="5029200" cy="633413"/>
          </a:xfrm>
          <a:prstGeom prst="rect">
            <a:avLst/>
          </a:prstGeom>
        </p:spPr>
      </p:pic>
      <p:pic>
        <p:nvPicPr>
          <p:cNvPr id="8" name="SK-2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209675"/>
            <a:ext cx="238125" cy="190500"/>
          </a:xfrm>
          <a:prstGeom prst="rect">
            <a:avLst/>
          </a:prstGeom>
        </p:spPr>
      </p:pic>
      <p:pic>
        <p:nvPicPr>
          <p:cNvPr id="9" name="SK-2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057549"/>
            <a:ext cx="266700" cy="266700"/>
          </a:xfrm>
          <a:prstGeom prst="rect">
            <a:avLst/>
          </a:prstGeom>
        </p:spPr>
      </p:pic>
      <p:pic>
        <p:nvPicPr>
          <p:cNvPr id="10" name="SK-2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713" y="2133749"/>
            <a:ext cx="142875" cy="114300"/>
          </a:xfrm>
          <a:prstGeom prst="rect">
            <a:avLst/>
          </a:prstGeom>
        </p:spPr>
      </p:pic>
      <p:pic>
        <p:nvPicPr>
          <p:cNvPr id="11" name="SK-2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705993"/>
            <a:ext cx="5029200" cy="9525"/>
          </a:xfrm>
          <a:prstGeom prst="rect">
            <a:avLst/>
          </a:prstGeom>
        </p:spPr>
      </p:pic>
      <p:pic>
        <p:nvPicPr>
          <p:cNvPr id="12" name="SK-2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820293"/>
            <a:ext cx="266700" cy="266700"/>
          </a:xfrm>
          <a:prstGeom prst="rect">
            <a:avLst/>
          </a:prstGeom>
        </p:spPr>
      </p:pic>
      <p:pic>
        <p:nvPicPr>
          <p:cNvPr id="13" name="SK-2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713" y="2896493"/>
            <a:ext cx="142875" cy="114300"/>
          </a:xfrm>
          <a:prstGeom prst="rect">
            <a:avLst/>
          </a:prstGeom>
        </p:spPr>
      </p:pic>
      <p:pic>
        <p:nvPicPr>
          <p:cNvPr id="14" name="SK-2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468737"/>
            <a:ext cx="5029200" cy="9525"/>
          </a:xfrm>
          <a:prstGeom prst="rect">
            <a:avLst/>
          </a:prstGeom>
        </p:spPr>
      </p:pic>
      <p:pic>
        <p:nvPicPr>
          <p:cNvPr id="15" name="SK-2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583037"/>
            <a:ext cx="266700" cy="266700"/>
          </a:xfrm>
          <a:prstGeom prst="rect">
            <a:avLst/>
          </a:prstGeom>
        </p:spPr>
      </p:pic>
      <p:pic>
        <p:nvPicPr>
          <p:cNvPr id="16" name="SK-2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713" y="3659237"/>
            <a:ext cx="142875" cy="114300"/>
          </a:xfrm>
          <a:prstGeom prst="rect">
            <a:avLst/>
          </a:prstGeom>
        </p:spPr>
      </p:pic>
      <p:pic>
        <p:nvPicPr>
          <p:cNvPr id="17" name="SK-2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231481"/>
            <a:ext cx="5029200" cy="9525"/>
          </a:xfrm>
          <a:prstGeom prst="rect">
            <a:avLst/>
          </a:prstGeom>
        </p:spPr>
      </p:pic>
      <p:pic>
        <p:nvPicPr>
          <p:cNvPr id="18" name="SK-2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345781"/>
            <a:ext cx="266700" cy="266700"/>
          </a:xfrm>
          <a:prstGeom prst="rect">
            <a:avLst/>
          </a:prstGeom>
        </p:spPr>
      </p:pic>
      <p:pic>
        <p:nvPicPr>
          <p:cNvPr id="19" name="SK-2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13" y="4421981"/>
            <a:ext cx="142875" cy="114300"/>
          </a:xfrm>
          <a:prstGeom prst="rect">
            <a:avLst/>
          </a:prstGeom>
        </p:spPr>
      </p:pic>
      <p:pic>
        <p:nvPicPr>
          <p:cNvPr id="20" name="SK-2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4994225"/>
            <a:ext cx="5029200" cy="9525"/>
          </a:xfrm>
          <a:prstGeom prst="rect">
            <a:avLst/>
          </a:prstGeom>
        </p:spPr>
      </p:pic>
      <p:pic>
        <p:nvPicPr>
          <p:cNvPr id="21" name="SK-2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108525"/>
            <a:ext cx="266700" cy="266700"/>
          </a:xfrm>
          <a:prstGeom prst="rect">
            <a:avLst/>
          </a:prstGeom>
        </p:spPr>
      </p:pic>
      <p:pic>
        <p:nvPicPr>
          <p:cNvPr id="22" name="SK-2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7713" y="5184725"/>
            <a:ext cx="142875" cy="114300"/>
          </a:xfrm>
          <a:prstGeom prst="rect">
            <a:avLst/>
          </a:prstGeom>
        </p:spPr>
      </p:pic>
      <p:pic>
        <p:nvPicPr>
          <p:cNvPr id="23" name="SK-2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5756970"/>
            <a:ext cx="5029200" cy="9525"/>
          </a:xfrm>
          <a:prstGeom prst="rect">
            <a:avLst/>
          </a:prstGeom>
        </p:spPr>
      </p:pic>
      <p:pic>
        <p:nvPicPr>
          <p:cNvPr id="24" name="SK-2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5871270"/>
            <a:ext cx="266700" cy="266700"/>
          </a:xfrm>
          <a:prstGeom prst="rect">
            <a:avLst/>
          </a:prstGeom>
        </p:spPr>
      </p:pic>
      <p:pic>
        <p:nvPicPr>
          <p:cNvPr id="25" name="SK-2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7713" y="5947470"/>
            <a:ext cx="142875" cy="114300"/>
          </a:xfrm>
          <a:prstGeom prst="rect">
            <a:avLst/>
          </a:prstGeom>
        </p:spPr>
      </p:pic>
      <p:pic>
        <p:nvPicPr>
          <p:cNvPr id="26" name="SK-2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1104900"/>
            <a:ext cx="5029200" cy="633413"/>
          </a:xfrm>
          <a:prstGeom prst="rect">
            <a:avLst/>
          </a:prstGeom>
        </p:spPr>
      </p:pic>
      <p:pic>
        <p:nvPicPr>
          <p:cNvPr id="27" name="SK-2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29400" y="1209675"/>
            <a:ext cx="238125" cy="190500"/>
          </a:xfrm>
          <a:prstGeom prst="rect">
            <a:avLst/>
          </a:prstGeom>
        </p:spPr>
      </p:pic>
      <p:pic>
        <p:nvPicPr>
          <p:cNvPr id="28" name="SK-2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2057549"/>
            <a:ext cx="266700" cy="266700"/>
          </a:xfrm>
          <a:prstGeom prst="rect">
            <a:avLst/>
          </a:prstGeom>
        </p:spPr>
      </p:pic>
      <p:pic>
        <p:nvPicPr>
          <p:cNvPr id="29" name="SK-2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8913" y="2133749"/>
            <a:ext cx="142875" cy="114300"/>
          </a:xfrm>
          <a:prstGeom prst="rect">
            <a:avLst/>
          </a:prstGeom>
        </p:spPr>
      </p:pic>
      <p:pic>
        <p:nvPicPr>
          <p:cNvPr id="30" name="SK-2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2705993"/>
            <a:ext cx="5029200" cy="9525"/>
          </a:xfrm>
          <a:prstGeom prst="rect">
            <a:avLst/>
          </a:prstGeom>
        </p:spPr>
      </p:pic>
      <p:pic>
        <p:nvPicPr>
          <p:cNvPr id="31" name="SK-2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77000" y="2820293"/>
            <a:ext cx="266700" cy="266700"/>
          </a:xfrm>
          <a:prstGeom prst="rect">
            <a:avLst/>
          </a:prstGeom>
        </p:spPr>
      </p:pic>
      <p:pic>
        <p:nvPicPr>
          <p:cNvPr id="32" name="SK-2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38913" y="2896493"/>
            <a:ext cx="142875" cy="114300"/>
          </a:xfrm>
          <a:prstGeom prst="rect">
            <a:avLst/>
          </a:prstGeom>
        </p:spPr>
      </p:pic>
      <p:pic>
        <p:nvPicPr>
          <p:cNvPr id="33" name="SK-2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77000" y="3468737"/>
            <a:ext cx="5029200" cy="9525"/>
          </a:xfrm>
          <a:prstGeom prst="rect">
            <a:avLst/>
          </a:prstGeom>
        </p:spPr>
      </p:pic>
      <p:pic>
        <p:nvPicPr>
          <p:cNvPr id="34" name="SK-2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77000" y="3583037"/>
            <a:ext cx="266700" cy="266700"/>
          </a:xfrm>
          <a:prstGeom prst="rect">
            <a:avLst/>
          </a:prstGeom>
        </p:spPr>
      </p:pic>
      <p:pic>
        <p:nvPicPr>
          <p:cNvPr id="35" name="SK-2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38913" y="3659237"/>
            <a:ext cx="142875" cy="114300"/>
          </a:xfrm>
          <a:prstGeom prst="rect">
            <a:avLst/>
          </a:prstGeom>
        </p:spPr>
      </p:pic>
      <p:pic>
        <p:nvPicPr>
          <p:cNvPr id="36" name="SK-24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77000" y="4231481"/>
            <a:ext cx="5029200" cy="9525"/>
          </a:xfrm>
          <a:prstGeom prst="rect">
            <a:avLst/>
          </a:prstGeom>
        </p:spPr>
      </p:pic>
      <p:pic>
        <p:nvPicPr>
          <p:cNvPr id="37" name="SK-24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77000" y="4345781"/>
            <a:ext cx="266700" cy="266700"/>
          </a:xfrm>
          <a:prstGeom prst="rect">
            <a:avLst/>
          </a:prstGeom>
        </p:spPr>
      </p:pic>
      <p:pic>
        <p:nvPicPr>
          <p:cNvPr id="38" name="SK-24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38913" y="4421981"/>
            <a:ext cx="142875" cy="114300"/>
          </a:xfrm>
          <a:prstGeom prst="rect">
            <a:avLst/>
          </a:prstGeom>
        </p:spPr>
      </p:pic>
      <p:pic>
        <p:nvPicPr>
          <p:cNvPr id="39" name="SK-24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77000" y="4994225"/>
            <a:ext cx="5029200" cy="9525"/>
          </a:xfrm>
          <a:prstGeom prst="rect">
            <a:avLst/>
          </a:prstGeom>
        </p:spPr>
      </p:pic>
      <p:pic>
        <p:nvPicPr>
          <p:cNvPr id="40" name="SK-24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477000" y="5108525"/>
            <a:ext cx="266700" cy="266700"/>
          </a:xfrm>
          <a:prstGeom prst="rect">
            <a:avLst/>
          </a:prstGeom>
        </p:spPr>
      </p:pic>
      <p:pic>
        <p:nvPicPr>
          <p:cNvPr id="41" name="SK-24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538913" y="5184725"/>
            <a:ext cx="142875" cy="114300"/>
          </a:xfrm>
          <a:prstGeom prst="rect">
            <a:avLst/>
          </a:prstGeom>
        </p:spPr>
      </p:pic>
      <p:pic>
        <p:nvPicPr>
          <p:cNvPr id="42" name="SK-24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477000" y="5756970"/>
            <a:ext cx="5029200" cy="9525"/>
          </a:xfrm>
          <a:prstGeom prst="rect">
            <a:avLst/>
          </a:prstGeom>
        </p:spPr>
      </p:pic>
      <p:pic>
        <p:nvPicPr>
          <p:cNvPr id="43" name="SK-24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77000" y="5871270"/>
            <a:ext cx="266700" cy="266700"/>
          </a:xfrm>
          <a:prstGeom prst="rect">
            <a:avLst/>
          </a:prstGeom>
        </p:spPr>
      </p:pic>
      <p:pic>
        <p:nvPicPr>
          <p:cNvPr id="44" name="SK-24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538913" y="5947470"/>
            <a:ext cx="142875" cy="114300"/>
          </a:xfrm>
          <a:prstGeom prst="rect">
            <a:avLst/>
          </a:prstGeom>
        </p:spPr>
      </p:pic>
      <p:sp>
        <p:nvSpPr>
          <p:cNvPr id="45" name="SK-24-text-44"/>
          <p:cNvSpPr/>
          <p:nvPr/>
        </p:nvSpPr>
        <p:spPr>
          <a:xfrm>
            <a:off x="647700" y="142875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6" name="SK-24-text-45"/>
          <p:cNvSpPr/>
          <p:nvPr/>
        </p:nvSpPr>
        <p:spPr>
          <a:xfrm>
            <a:off x="571500" y="495300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C-4. Value-Driven 관점: 개선 전후 비교</a:t>
            </a:r>
            <a:endParaRPr lang="en-US" sz="2550" dirty="0"/>
          </a:p>
        </p:txBody>
      </p:sp>
      <p:sp>
        <p:nvSpPr>
          <p:cNvPr id="47" name="SK-24-text-46"/>
          <p:cNvSpPr/>
          <p:nvPr/>
        </p:nvSpPr>
        <p:spPr>
          <a:xfrm>
            <a:off x="1171575" y="1162050"/>
            <a:ext cx="472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 Assistant</a:t>
            </a:r>
            <a:endParaRPr lang="en-US" sz="1500" dirty="0"/>
          </a:p>
        </p:txBody>
      </p:sp>
      <p:sp>
        <p:nvSpPr>
          <p:cNvPr id="48" name="SK-24-text-47"/>
          <p:cNvSpPr/>
          <p:nvPr/>
        </p:nvSpPr>
        <p:spPr>
          <a:xfrm>
            <a:off x="838200" y="1466850"/>
            <a:ext cx="480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중심의 형식적 관리 (Reactive)</a:t>
            </a:r>
            <a:endParaRPr lang="en-US" sz="1125" dirty="0"/>
          </a:p>
        </p:txBody>
      </p:sp>
      <p:sp>
        <p:nvSpPr>
          <p:cNvPr id="49" name="SK-24-text-48"/>
          <p:cNvSpPr/>
          <p:nvPr/>
        </p:nvSpPr>
        <p:spPr>
          <a:xfrm>
            <a:off x="1066800" y="2038499"/>
            <a:ext cx="1885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50" name="SK-24-text-49"/>
          <p:cNvSpPr/>
          <p:nvPr/>
        </p:nvSpPr>
        <p:spPr>
          <a:xfrm>
            <a:off x="1066800" y="2214711"/>
            <a:ext cx="22707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 측정</a:t>
            </a:r>
            <a:endParaRPr lang="en-US" sz="1200" dirty="0"/>
          </a:p>
        </p:txBody>
      </p:sp>
      <p:sp>
        <p:nvSpPr>
          <p:cNvPr id="51" name="SK-24-text-50"/>
          <p:cNvSpPr/>
          <p:nvPr/>
        </p:nvSpPr>
        <p:spPr>
          <a:xfrm>
            <a:off x="1066800" y="2447032"/>
            <a:ext cx="34442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SC-01~08 지표에만 국한된 관리</a:t>
            </a:r>
            <a:endParaRPr lang="en-US" sz="975" dirty="0"/>
          </a:p>
        </p:txBody>
      </p:sp>
      <p:sp>
        <p:nvSpPr>
          <p:cNvPr id="52" name="SK-24-text-51"/>
          <p:cNvSpPr/>
          <p:nvPr/>
        </p:nvSpPr>
        <p:spPr>
          <a:xfrm>
            <a:off x="1066800" y="2801243"/>
            <a:ext cx="2114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53" name="SK-24-text-52"/>
          <p:cNvSpPr/>
          <p:nvPr/>
        </p:nvSpPr>
        <p:spPr>
          <a:xfrm>
            <a:off x="1066800" y="2977455"/>
            <a:ext cx="22707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무검토 배포</a:t>
            </a:r>
            <a:endParaRPr lang="en-US" sz="1200" dirty="0"/>
          </a:p>
        </p:txBody>
      </p:sp>
      <p:sp>
        <p:nvSpPr>
          <p:cNvPr id="54" name="SK-24-text-53"/>
          <p:cNvSpPr/>
          <p:nvPr/>
        </p:nvSpPr>
        <p:spPr>
          <a:xfrm>
            <a:off x="1066800" y="3209776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기계적 반복</a:t>
            </a:r>
            <a:endParaRPr lang="en-US" sz="975" dirty="0"/>
          </a:p>
        </p:txBody>
      </p:sp>
      <p:sp>
        <p:nvSpPr>
          <p:cNvPr id="55" name="SK-24-text-54"/>
          <p:cNvSpPr/>
          <p:nvPr/>
        </p:nvSpPr>
        <p:spPr>
          <a:xfrm>
            <a:off x="1066800" y="3563987"/>
            <a:ext cx="20764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56" name="SK-24-text-55"/>
          <p:cNvSpPr/>
          <p:nvPr/>
        </p:nvSpPr>
        <p:spPr>
          <a:xfrm>
            <a:off x="1066800" y="3740200"/>
            <a:ext cx="20764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방치</a:t>
            </a:r>
            <a:endParaRPr lang="en-US" sz="1200" dirty="0"/>
          </a:p>
        </p:txBody>
      </p:sp>
      <p:sp>
        <p:nvSpPr>
          <p:cNvPr id="57" name="SK-24-text-56"/>
          <p:cNvSpPr/>
          <p:nvPr/>
        </p:nvSpPr>
        <p:spPr>
          <a:xfrm>
            <a:off x="1066800" y="3972520"/>
            <a:ext cx="3840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 baseline 미갱신</a:t>
            </a:r>
            <a:endParaRPr lang="en-US" sz="975" dirty="0"/>
          </a:p>
        </p:txBody>
      </p:sp>
      <p:sp>
        <p:nvSpPr>
          <p:cNvPr id="58" name="SK-24-text-57"/>
          <p:cNvSpPr/>
          <p:nvPr/>
        </p:nvSpPr>
        <p:spPr>
          <a:xfrm>
            <a:off x="1066800" y="4326731"/>
            <a:ext cx="20859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59" name="SK-24-text-58"/>
          <p:cNvSpPr/>
          <p:nvPr/>
        </p:nvSpPr>
        <p:spPr>
          <a:xfrm>
            <a:off x="1066800" y="4502944"/>
            <a:ext cx="20859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중단</a:t>
            </a:r>
            <a:endParaRPr lang="en-US" sz="1200" dirty="0"/>
          </a:p>
        </p:txBody>
      </p:sp>
      <p:sp>
        <p:nvSpPr>
          <p:cNvPr id="60" name="SK-24-text-59"/>
          <p:cNvSpPr/>
          <p:nvPr/>
        </p:nvSpPr>
        <p:spPr>
          <a:xfrm>
            <a:off x="1066800" y="4735264"/>
            <a:ext cx="4038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0회, 외부 위험 미등록</a:t>
            </a:r>
            <a:endParaRPr lang="en-US" sz="975" dirty="0"/>
          </a:p>
        </p:txBody>
      </p:sp>
      <p:sp>
        <p:nvSpPr>
          <p:cNvPr id="61" name="SK-24-text-60"/>
          <p:cNvSpPr/>
          <p:nvPr/>
        </p:nvSpPr>
        <p:spPr>
          <a:xfrm>
            <a:off x="1066800" y="5089475"/>
            <a:ext cx="1952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62" name="SK-24-text-61"/>
          <p:cNvSpPr/>
          <p:nvPr/>
        </p:nvSpPr>
        <p:spPr>
          <a:xfrm>
            <a:off x="1066800" y="5265688"/>
            <a:ext cx="19526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정보 단절</a:t>
            </a:r>
            <a:endParaRPr lang="en-US" sz="1200" dirty="0"/>
          </a:p>
        </p:txBody>
      </p:sp>
      <p:sp>
        <p:nvSpPr>
          <p:cNvPr id="63" name="SK-24-text-62"/>
          <p:cNvSpPr/>
          <p:nvPr/>
        </p:nvSpPr>
        <p:spPr>
          <a:xfrm>
            <a:off x="1066800" y="5498009"/>
            <a:ext cx="2899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및 중복 개발 발생</a:t>
            </a:r>
            <a:endParaRPr lang="en-US" sz="975" dirty="0"/>
          </a:p>
        </p:txBody>
      </p:sp>
      <p:sp>
        <p:nvSpPr>
          <p:cNvPr id="64" name="SK-24-text-63"/>
          <p:cNvSpPr/>
          <p:nvPr/>
        </p:nvSpPr>
        <p:spPr>
          <a:xfrm>
            <a:off x="1066800" y="5852220"/>
            <a:ext cx="1962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65" name="SK-24-text-64"/>
          <p:cNvSpPr/>
          <p:nvPr/>
        </p:nvSpPr>
        <p:spPr>
          <a:xfrm>
            <a:off x="1066800" y="6028432"/>
            <a:ext cx="3185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우선 (SPI First)</a:t>
            </a:r>
            <a:endParaRPr lang="en-US" sz="1200" dirty="0"/>
          </a:p>
        </p:txBody>
      </p:sp>
      <p:sp>
        <p:nvSpPr>
          <p:cNvPr id="66" name="SK-24-text-65"/>
          <p:cNvSpPr/>
          <p:nvPr/>
        </p:nvSpPr>
        <p:spPr>
          <a:xfrm>
            <a:off x="1066800" y="6260753"/>
            <a:ext cx="2899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등 고객 가치 신호 차단</a:t>
            </a:r>
            <a:endParaRPr lang="en-US" sz="975" dirty="0"/>
          </a:p>
        </p:txBody>
      </p:sp>
      <p:sp>
        <p:nvSpPr>
          <p:cNvPr id="67" name="SK-24-text-66"/>
          <p:cNvSpPr/>
          <p:nvPr/>
        </p:nvSpPr>
        <p:spPr>
          <a:xfrm>
            <a:off x="6962775" y="1162050"/>
            <a:ext cx="472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Guardian (개선)</a:t>
            </a:r>
            <a:endParaRPr lang="en-US" sz="1500" dirty="0"/>
          </a:p>
        </p:txBody>
      </p:sp>
      <p:sp>
        <p:nvSpPr>
          <p:cNvPr id="68" name="SK-24-text-67"/>
          <p:cNvSpPr/>
          <p:nvPr/>
        </p:nvSpPr>
        <p:spPr>
          <a:xfrm>
            <a:off x="6629400" y="1466850"/>
            <a:ext cx="480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중심의 구조적 거버넌스 (Proactive)</a:t>
            </a:r>
            <a:endParaRPr lang="en-US" sz="1125" dirty="0"/>
          </a:p>
        </p:txBody>
      </p:sp>
      <p:sp>
        <p:nvSpPr>
          <p:cNvPr id="69" name="SK-24-text-68"/>
          <p:cNvSpPr/>
          <p:nvPr/>
        </p:nvSpPr>
        <p:spPr>
          <a:xfrm>
            <a:off x="6858000" y="2038499"/>
            <a:ext cx="18764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70" name="SK-24-text-69"/>
          <p:cNvSpPr/>
          <p:nvPr/>
        </p:nvSpPr>
        <p:spPr>
          <a:xfrm>
            <a:off x="6858000" y="2214711"/>
            <a:ext cx="35509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+ Outcome 통합</a:t>
            </a:r>
            <a:endParaRPr lang="en-US" sz="1200" dirty="0"/>
          </a:p>
        </p:txBody>
      </p:sp>
      <p:sp>
        <p:nvSpPr>
          <p:cNvPr id="71" name="SK-24-text-70"/>
          <p:cNvSpPr/>
          <p:nvPr/>
        </p:nvSpPr>
        <p:spPr>
          <a:xfrm>
            <a:off x="6858000" y="2447032"/>
            <a:ext cx="2899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선행지표 실시간 추적</a:t>
            </a:r>
            <a:endParaRPr lang="en-US" sz="975" dirty="0"/>
          </a:p>
        </p:txBody>
      </p:sp>
      <p:sp>
        <p:nvSpPr>
          <p:cNvPr id="72" name="SK-24-text-71"/>
          <p:cNvSpPr/>
          <p:nvPr/>
        </p:nvSpPr>
        <p:spPr>
          <a:xfrm>
            <a:off x="6858000" y="2801243"/>
            <a:ext cx="21431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73" name="SK-24-text-72"/>
          <p:cNvSpPr/>
          <p:nvPr/>
        </p:nvSpPr>
        <p:spPr>
          <a:xfrm>
            <a:off x="6858000" y="2977455"/>
            <a:ext cx="2143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검토 루프 강제</a:t>
            </a:r>
            <a:endParaRPr lang="en-US" sz="1200" dirty="0"/>
          </a:p>
        </p:txBody>
      </p:sp>
      <p:sp>
        <p:nvSpPr>
          <p:cNvPr id="74" name="SK-24-text-73"/>
          <p:cNvSpPr/>
          <p:nvPr/>
        </p:nvSpPr>
        <p:spPr>
          <a:xfrm>
            <a:off x="6858000" y="3209776"/>
            <a:ext cx="36423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→ 사람 승인 필수 → 괴리 감지</a:t>
            </a:r>
            <a:endParaRPr lang="en-US" sz="975" dirty="0"/>
          </a:p>
        </p:txBody>
      </p:sp>
      <p:sp>
        <p:nvSpPr>
          <p:cNvPr id="75" name="SK-24-text-74"/>
          <p:cNvSpPr/>
          <p:nvPr/>
        </p:nvSpPr>
        <p:spPr>
          <a:xfrm>
            <a:off x="6858000" y="3563987"/>
            <a:ext cx="2181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76" name="SK-24-text-75"/>
          <p:cNvSpPr/>
          <p:nvPr/>
        </p:nvSpPr>
        <p:spPr>
          <a:xfrm>
            <a:off x="6858000" y="3740200"/>
            <a:ext cx="21812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변경 감시</a:t>
            </a:r>
            <a:endParaRPr lang="en-US" sz="1200" dirty="0"/>
          </a:p>
        </p:txBody>
      </p:sp>
      <p:sp>
        <p:nvSpPr>
          <p:cNvPr id="77" name="SK-24-text-76"/>
          <p:cNvSpPr/>
          <p:nvPr/>
        </p:nvSpPr>
        <p:spPr>
          <a:xfrm>
            <a:off x="6858000" y="3972520"/>
            <a:ext cx="34937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시 CR 초안 자동 생성</a:t>
            </a:r>
            <a:endParaRPr lang="en-US" sz="975" dirty="0"/>
          </a:p>
        </p:txBody>
      </p:sp>
      <p:sp>
        <p:nvSpPr>
          <p:cNvPr id="78" name="SK-24-text-77"/>
          <p:cNvSpPr/>
          <p:nvPr/>
        </p:nvSpPr>
        <p:spPr>
          <a:xfrm>
            <a:off x="6858000" y="4326731"/>
            <a:ext cx="22574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79" name="SK-24-text-78"/>
          <p:cNvSpPr/>
          <p:nvPr/>
        </p:nvSpPr>
        <p:spPr>
          <a:xfrm>
            <a:off x="6858000" y="4502944"/>
            <a:ext cx="3002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 상시 가동</a:t>
            </a:r>
            <a:endParaRPr lang="en-US" sz="1200" dirty="0"/>
          </a:p>
        </p:txBody>
      </p:sp>
      <p:sp>
        <p:nvSpPr>
          <p:cNvPr id="80" name="SK-24-text-79"/>
          <p:cNvSpPr/>
          <p:nvPr/>
        </p:nvSpPr>
        <p:spPr>
          <a:xfrm>
            <a:off x="6858000" y="4735264"/>
            <a:ext cx="34937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시 리스크 자동 등록 제안</a:t>
            </a:r>
            <a:endParaRPr lang="en-US" sz="975" dirty="0"/>
          </a:p>
        </p:txBody>
      </p:sp>
      <p:sp>
        <p:nvSpPr>
          <p:cNvPr id="81" name="SK-24-text-80"/>
          <p:cNvSpPr/>
          <p:nvPr/>
        </p:nvSpPr>
        <p:spPr>
          <a:xfrm>
            <a:off x="6858000" y="5089475"/>
            <a:ext cx="1981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82" name="SK-24-text-81"/>
          <p:cNvSpPr/>
          <p:nvPr/>
        </p:nvSpPr>
        <p:spPr>
          <a:xfrm>
            <a:off x="6858000" y="5265688"/>
            <a:ext cx="3002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체계</a:t>
            </a:r>
            <a:endParaRPr lang="en-US" sz="1200" dirty="0"/>
          </a:p>
        </p:txBody>
      </p:sp>
      <p:sp>
        <p:nvSpPr>
          <p:cNvPr id="83" name="SK-24-text-82"/>
          <p:cNvSpPr/>
          <p:nvPr/>
        </p:nvSpPr>
        <p:spPr>
          <a:xfrm>
            <a:off x="6858000" y="5498009"/>
            <a:ext cx="3048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사항 대조 및 불일치 즉시 알림</a:t>
            </a:r>
            <a:endParaRPr lang="en-US" sz="975" dirty="0"/>
          </a:p>
        </p:txBody>
      </p:sp>
      <p:sp>
        <p:nvSpPr>
          <p:cNvPr id="84" name="SK-24-text-83"/>
          <p:cNvSpPr/>
          <p:nvPr/>
        </p:nvSpPr>
        <p:spPr>
          <a:xfrm>
            <a:off x="6858000" y="5852220"/>
            <a:ext cx="2095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85" name="SK-24-text-84"/>
          <p:cNvSpPr/>
          <p:nvPr/>
        </p:nvSpPr>
        <p:spPr>
          <a:xfrm>
            <a:off x="6858000" y="6028432"/>
            <a:ext cx="35509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우선 (Value First)</a:t>
            </a:r>
            <a:endParaRPr lang="en-US" sz="1200" dirty="0"/>
          </a:p>
        </p:txBody>
      </p:sp>
      <p:sp>
        <p:nvSpPr>
          <p:cNvPr id="86" name="SK-24-text-85"/>
          <p:cNvSpPr/>
          <p:nvPr/>
        </p:nvSpPr>
        <p:spPr>
          <a:xfrm>
            <a:off x="6858000" y="6260753"/>
            <a:ext cx="3048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"고객이 실제로 사용하는가?"에 집중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2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57200"/>
          </a:xfrm>
          <a:prstGeom prst="rect">
            <a:avLst/>
          </a:prstGeom>
        </p:spPr>
      </p:pic>
      <p:pic>
        <p:nvPicPr>
          <p:cNvPr id="8" name="SK-2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2762250" cy="457200"/>
          </a:xfrm>
          <a:prstGeom prst="rect">
            <a:avLst/>
          </a:prstGeom>
        </p:spPr>
      </p:pic>
      <p:pic>
        <p:nvPicPr>
          <p:cNvPr id="9" name="SK-2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1504950"/>
            <a:ext cx="1657350" cy="457200"/>
          </a:xfrm>
          <a:prstGeom prst="rect">
            <a:avLst/>
          </a:prstGeom>
        </p:spPr>
      </p:pic>
      <p:pic>
        <p:nvPicPr>
          <p:cNvPr id="10" name="SK-2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1504950"/>
            <a:ext cx="1657350" cy="457200"/>
          </a:xfrm>
          <a:prstGeom prst="rect">
            <a:avLst/>
          </a:prstGeom>
        </p:spPr>
      </p:pic>
      <p:pic>
        <p:nvPicPr>
          <p:cNvPr id="11" name="SK-2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450" y="1504950"/>
            <a:ext cx="4972050" cy="457200"/>
          </a:xfrm>
          <a:prstGeom prst="rect">
            <a:avLst/>
          </a:prstGeom>
        </p:spPr>
      </p:pic>
      <p:pic>
        <p:nvPicPr>
          <p:cNvPr id="12" name="SK-2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62150"/>
            <a:ext cx="11049000" cy="752475"/>
          </a:xfrm>
          <a:prstGeom prst="rect">
            <a:avLst/>
          </a:prstGeom>
        </p:spPr>
      </p:pic>
      <p:pic>
        <p:nvPicPr>
          <p:cNvPr id="13" name="SK-2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205038"/>
            <a:ext cx="266700" cy="266700"/>
          </a:xfrm>
          <a:prstGeom prst="rect">
            <a:avLst/>
          </a:prstGeom>
        </p:spPr>
      </p:pic>
      <p:pic>
        <p:nvPicPr>
          <p:cNvPr id="14" name="SK-2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806" y="2269778"/>
            <a:ext cx="166688" cy="137220"/>
          </a:xfrm>
          <a:prstGeom prst="rect">
            <a:avLst/>
          </a:prstGeom>
        </p:spPr>
      </p:pic>
      <p:pic>
        <p:nvPicPr>
          <p:cNvPr id="15" name="SK-2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714625"/>
            <a:ext cx="11049000" cy="752475"/>
          </a:xfrm>
          <a:prstGeom prst="rect">
            <a:avLst/>
          </a:prstGeom>
        </p:spPr>
      </p:pic>
      <p:pic>
        <p:nvPicPr>
          <p:cNvPr id="16" name="SK-2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2957513"/>
            <a:ext cx="266700" cy="266700"/>
          </a:xfrm>
          <a:prstGeom prst="rect">
            <a:avLst/>
          </a:prstGeom>
        </p:spPr>
      </p:pic>
      <p:pic>
        <p:nvPicPr>
          <p:cNvPr id="17" name="SK-2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806" y="3022253"/>
            <a:ext cx="166688" cy="137220"/>
          </a:xfrm>
          <a:prstGeom prst="rect">
            <a:avLst/>
          </a:prstGeom>
        </p:spPr>
      </p:pic>
      <p:pic>
        <p:nvPicPr>
          <p:cNvPr id="18" name="SK-2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467100"/>
            <a:ext cx="11049000" cy="752475"/>
          </a:xfrm>
          <a:prstGeom prst="rect">
            <a:avLst/>
          </a:prstGeom>
        </p:spPr>
      </p:pic>
      <p:pic>
        <p:nvPicPr>
          <p:cNvPr id="19" name="SK-2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3709988"/>
            <a:ext cx="266700" cy="266700"/>
          </a:xfrm>
          <a:prstGeom prst="rect">
            <a:avLst/>
          </a:prstGeom>
        </p:spPr>
      </p:pic>
      <p:pic>
        <p:nvPicPr>
          <p:cNvPr id="20" name="SK-2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806" y="3774728"/>
            <a:ext cx="166688" cy="137220"/>
          </a:xfrm>
          <a:prstGeom prst="rect">
            <a:avLst/>
          </a:prstGeom>
        </p:spPr>
      </p:pic>
      <p:pic>
        <p:nvPicPr>
          <p:cNvPr id="21" name="SK-2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219575"/>
            <a:ext cx="11049000" cy="752475"/>
          </a:xfrm>
          <a:prstGeom prst="rect">
            <a:avLst/>
          </a:prstGeom>
        </p:spPr>
      </p:pic>
      <p:pic>
        <p:nvPicPr>
          <p:cNvPr id="22" name="SK-2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4462463"/>
            <a:ext cx="266700" cy="266700"/>
          </a:xfrm>
          <a:prstGeom prst="rect">
            <a:avLst/>
          </a:prstGeom>
        </p:spPr>
      </p:pic>
      <p:pic>
        <p:nvPicPr>
          <p:cNvPr id="23" name="SK-2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5806" y="4527203"/>
            <a:ext cx="166688" cy="137220"/>
          </a:xfrm>
          <a:prstGeom prst="rect">
            <a:avLst/>
          </a:prstGeom>
        </p:spPr>
      </p:pic>
      <p:pic>
        <p:nvPicPr>
          <p:cNvPr id="24" name="SK-2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972050"/>
            <a:ext cx="11049000" cy="752475"/>
          </a:xfrm>
          <a:prstGeom prst="rect">
            <a:avLst/>
          </a:prstGeom>
        </p:spPr>
      </p:pic>
      <p:pic>
        <p:nvPicPr>
          <p:cNvPr id="25" name="SK-2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5214938"/>
            <a:ext cx="266700" cy="266700"/>
          </a:xfrm>
          <a:prstGeom prst="rect">
            <a:avLst/>
          </a:prstGeom>
        </p:spPr>
      </p:pic>
      <p:pic>
        <p:nvPicPr>
          <p:cNvPr id="26" name="SK-2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5806" y="5279678"/>
            <a:ext cx="166688" cy="137220"/>
          </a:xfrm>
          <a:prstGeom prst="rect">
            <a:avLst/>
          </a:prstGeom>
        </p:spPr>
      </p:pic>
      <p:pic>
        <p:nvPicPr>
          <p:cNvPr id="27" name="SK-2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5967413"/>
            <a:ext cx="266700" cy="266700"/>
          </a:xfrm>
          <a:prstGeom prst="rect">
            <a:avLst/>
          </a:prstGeom>
        </p:spPr>
      </p:pic>
      <p:pic>
        <p:nvPicPr>
          <p:cNvPr id="28" name="SK-2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5806" y="6032153"/>
            <a:ext cx="166688" cy="137220"/>
          </a:xfrm>
          <a:prstGeom prst="rect">
            <a:avLst/>
          </a:prstGeom>
        </p:spPr>
      </p:pic>
      <p:sp>
        <p:nvSpPr>
          <p:cNvPr id="29" name="SK-25-text-28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0" name="SK-25-text-29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C-5. 기대효과 및 KPI 목표</a:t>
            </a:r>
            <a:endParaRPr lang="en-US" sz="2550" dirty="0"/>
          </a:p>
        </p:txBody>
      </p:sp>
      <p:sp>
        <p:nvSpPr>
          <p:cNvPr id="31" name="SK-25-text-30"/>
          <p:cNvSpPr/>
          <p:nvPr/>
        </p:nvSpPr>
        <p:spPr>
          <a:xfrm>
            <a:off x="685800" y="1504950"/>
            <a:ext cx="2609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항목</a:t>
            </a:r>
            <a:endParaRPr lang="en-US" sz="1200" dirty="0"/>
          </a:p>
        </p:txBody>
      </p:sp>
      <p:sp>
        <p:nvSpPr>
          <p:cNvPr id="32" name="SK-25-text-31"/>
          <p:cNvSpPr/>
          <p:nvPr/>
        </p:nvSpPr>
        <p:spPr>
          <a:xfrm>
            <a:off x="3295650" y="1504950"/>
            <a:ext cx="150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현재값 (Before)</a:t>
            </a:r>
            <a:endParaRPr lang="en-US" sz="1200" dirty="0"/>
          </a:p>
        </p:txBody>
      </p:sp>
      <p:sp>
        <p:nvSpPr>
          <p:cNvPr id="33" name="SK-25-text-32"/>
          <p:cNvSpPr/>
          <p:nvPr/>
        </p:nvSpPr>
        <p:spPr>
          <a:xfrm>
            <a:off x="4953000" y="1504950"/>
            <a:ext cx="150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목표값 (After)</a:t>
            </a:r>
            <a:endParaRPr lang="en-US" sz="1200" dirty="0"/>
          </a:p>
        </p:txBody>
      </p:sp>
      <p:sp>
        <p:nvSpPr>
          <p:cNvPr id="34" name="SK-25-text-33"/>
          <p:cNvSpPr/>
          <p:nvPr/>
        </p:nvSpPr>
        <p:spPr>
          <a:xfrm>
            <a:off x="6762750" y="1504950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및 달성 근거</a:t>
            </a:r>
            <a:endParaRPr lang="en-US" sz="1200" dirty="0"/>
          </a:p>
        </p:txBody>
      </p:sp>
      <p:sp>
        <p:nvSpPr>
          <p:cNvPr id="35" name="SK-25-text-34"/>
          <p:cNvSpPr/>
          <p:nvPr/>
        </p:nvSpPr>
        <p:spPr>
          <a:xfrm>
            <a:off x="1047750" y="1962150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편익 측정 활성화율</a:t>
            </a:r>
            <a:endParaRPr lang="en-US" sz="1125" dirty="0"/>
          </a:p>
        </p:txBody>
      </p:sp>
      <p:sp>
        <p:nvSpPr>
          <p:cNvPr id="36" name="SK-25-text-35"/>
          <p:cNvSpPr/>
          <p:nvPr/>
        </p:nvSpPr>
        <p:spPr>
          <a:xfrm>
            <a:off x="3295650" y="1962150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0/5 (0%)</a:t>
            </a:r>
            <a:endParaRPr lang="en-US" sz="1125" dirty="0"/>
          </a:p>
        </p:txBody>
      </p:sp>
      <p:sp>
        <p:nvSpPr>
          <p:cNvPr id="37" name="SK-25-text-36"/>
          <p:cNvSpPr/>
          <p:nvPr/>
        </p:nvSpPr>
        <p:spPr>
          <a:xfrm>
            <a:off x="4948238" y="1962150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5/5 (100%)</a:t>
            </a:r>
            <a:endParaRPr lang="en-US" sz="1350" dirty="0"/>
          </a:p>
        </p:txBody>
      </p:sp>
      <p:sp>
        <p:nvSpPr>
          <p:cNvPr id="38" name="SK-25-text-37"/>
          <p:cNvSpPr/>
          <p:nvPr/>
        </p:nvSpPr>
        <p:spPr>
          <a:xfrm>
            <a:off x="6762750" y="1962150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Tracker Agent가 BEN별 선행지표(Leading Indicator)를 실시간으로 자동 추적 및 시각화</a:t>
            </a:r>
            <a:endParaRPr lang="en-US" sz="1050" dirty="0"/>
          </a:p>
        </p:txBody>
      </p:sp>
      <p:sp>
        <p:nvSpPr>
          <p:cNvPr id="39" name="SK-25-text-38"/>
          <p:cNvSpPr/>
          <p:nvPr/>
        </p:nvSpPr>
        <p:spPr>
          <a:xfrm>
            <a:off x="1047750" y="2714625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괴리 감지 → 보고 리드타임</a:t>
            </a:r>
            <a:endParaRPr lang="en-US" sz="1125" dirty="0"/>
          </a:p>
        </p:txBody>
      </p:sp>
      <p:sp>
        <p:nvSpPr>
          <p:cNvPr id="40" name="SK-25-text-39"/>
          <p:cNvSpPr/>
          <p:nvPr/>
        </p:nvSpPr>
        <p:spPr>
          <a:xfrm>
            <a:off x="3295650" y="2714625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∞ (미감지)</a:t>
            </a:r>
            <a:endParaRPr lang="en-US" sz="1125" dirty="0"/>
          </a:p>
        </p:txBody>
      </p:sp>
      <p:sp>
        <p:nvSpPr>
          <p:cNvPr id="41" name="SK-25-text-40"/>
          <p:cNvSpPr/>
          <p:nvPr/>
        </p:nvSpPr>
        <p:spPr>
          <a:xfrm>
            <a:off x="4948238" y="2714625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24시간</a:t>
            </a:r>
            <a:endParaRPr lang="en-US" sz="1350" dirty="0"/>
          </a:p>
        </p:txBody>
      </p:sp>
      <p:sp>
        <p:nvSpPr>
          <p:cNvPr id="42" name="SK-25-text-41"/>
          <p:cNvSpPr/>
          <p:nvPr/>
        </p:nvSpPr>
        <p:spPr>
          <a:xfrm>
            <a:off x="6762750" y="2714625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Checker의 자동 Cross-Check 엔진 가동을 통해 지표와 원자료 간 불일치를 일 단위로 탐지</a:t>
            </a:r>
            <a:endParaRPr lang="en-US" sz="1050" dirty="0"/>
          </a:p>
        </p:txBody>
      </p:sp>
      <p:sp>
        <p:nvSpPr>
          <p:cNvPr id="43" name="SK-25-text-42"/>
          <p:cNvSpPr/>
          <p:nvPr/>
        </p:nvSpPr>
        <p:spPr>
          <a:xfrm>
            <a:off x="1047750" y="3467100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비공식 변경 CR 전환율</a:t>
            </a:r>
            <a:endParaRPr lang="en-US" sz="1125" dirty="0"/>
          </a:p>
        </p:txBody>
      </p:sp>
      <p:sp>
        <p:nvSpPr>
          <p:cNvPr id="44" name="SK-25-text-43"/>
          <p:cNvSpPr/>
          <p:nvPr/>
        </p:nvSpPr>
        <p:spPr>
          <a:xfrm>
            <a:off x="3295650" y="3467100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(35건 방치)</a:t>
            </a:r>
            <a:endParaRPr lang="en-US" sz="1125" dirty="0"/>
          </a:p>
        </p:txBody>
      </p:sp>
      <p:sp>
        <p:nvSpPr>
          <p:cNvPr id="45" name="SK-25-text-44"/>
          <p:cNvSpPr/>
          <p:nvPr/>
        </p:nvSpPr>
        <p:spPr>
          <a:xfrm>
            <a:off x="4948238" y="3467100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≥ 80%</a:t>
            </a:r>
            <a:endParaRPr lang="en-US" sz="1350" dirty="0"/>
          </a:p>
        </p:txBody>
      </p:sp>
      <p:sp>
        <p:nvSpPr>
          <p:cNvPr id="46" name="SK-25-text-45"/>
          <p:cNvSpPr/>
          <p:nvPr/>
        </p:nvSpPr>
        <p:spPr>
          <a:xfrm>
            <a:off x="6762750" y="3467100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Sentinel이 메신저/회의록 내 비공식 요청을 자동 감지하여 정식 CR 초안 생성 및 승인 유도</a:t>
            </a:r>
            <a:endParaRPr lang="en-US" sz="1050" dirty="0"/>
          </a:p>
        </p:txBody>
      </p:sp>
      <p:sp>
        <p:nvSpPr>
          <p:cNvPr id="47" name="SK-25-text-46"/>
          <p:cNvSpPr/>
          <p:nvPr/>
        </p:nvSpPr>
        <p:spPr>
          <a:xfrm>
            <a:off x="1047750" y="4219575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리전 간 결정 불일치 건수</a:t>
            </a:r>
            <a:endParaRPr lang="en-US" sz="1125" dirty="0"/>
          </a:p>
        </p:txBody>
      </p:sp>
      <p:sp>
        <p:nvSpPr>
          <p:cNvPr id="48" name="SK-25-text-47"/>
          <p:cNvSpPr/>
          <p:nvPr/>
        </p:nvSpPr>
        <p:spPr>
          <a:xfrm>
            <a:off x="3295650" y="4219575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5건</a:t>
            </a:r>
            <a:endParaRPr lang="en-US" sz="1125" dirty="0"/>
          </a:p>
        </p:txBody>
      </p:sp>
      <p:sp>
        <p:nvSpPr>
          <p:cNvPr id="49" name="SK-25-text-48"/>
          <p:cNvSpPr/>
          <p:nvPr/>
        </p:nvSpPr>
        <p:spPr>
          <a:xfrm>
            <a:off x="4948238" y="4219575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0건</a:t>
            </a:r>
            <a:endParaRPr lang="en-US" sz="1350" dirty="0"/>
          </a:p>
        </p:txBody>
      </p:sp>
      <p:sp>
        <p:nvSpPr>
          <p:cNvPr id="50" name="SK-25-text-49"/>
          <p:cNvSpPr/>
          <p:nvPr/>
        </p:nvSpPr>
        <p:spPr>
          <a:xfrm>
            <a:off x="6762750" y="4219575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Agent가 3개 리전의 기록을 상시 대조하여 불일치 발견 시 즉시 알림 및 조정 프로세스 가동</a:t>
            </a:r>
            <a:endParaRPr lang="en-US" sz="1050" dirty="0"/>
          </a:p>
        </p:txBody>
      </p:sp>
      <p:sp>
        <p:nvSpPr>
          <p:cNvPr id="51" name="SK-25-text-50"/>
          <p:cNvSpPr/>
          <p:nvPr/>
        </p:nvSpPr>
        <p:spPr>
          <a:xfrm>
            <a:off x="1047750" y="4972050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리스크 대장 갱신 주기</a:t>
            </a:r>
            <a:endParaRPr lang="en-US" sz="1125" dirty="0"/>
          </a:p>
        </p:txBody>
      </p:sp>
      <p:sp>
        <p:nvSpPr>
          <p:cNvPr id="52" name="SK-25-text-51"/>
          <p:cNvSpPr/>
          <p:nvPr/>
        </p:nvSpPr>
        <p:spPr>
          <a:xfrm>
            <a:off x="3295650" y="4972050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137일 방치</a:t>
            </a:r>
            <a:endParaRPr lang="en-US" sz="1125" dirty="0"/>
          </a:p>
        </p:txBody>
      </p:sp>
      <p:sp>
        <p:nvSpPr>
          <p:cNvPr id="53" name="SK-25-text-52"/>
          <p:cNvSpPr/>
          <p:nvPr/>
        </p:nvSpPr>
        <p:spPr>
          <a:xfrm>
            <a:off x="4948238" y="4972050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7일</a:t>
            </a:r>
            <a:endParaRPr lang="en-US" sz="1350" dirty="0"/>
          </a:p>
        </p:txBody>
      </p:sp>
      <p:sp>
        <p:nvSpPr>
          <p:cNvPr id="54" name="SK-25-text-53"/>
          <p:cNvSpPr/>
          <p:nvPr/>
        </p:nvSpPr>
        <p:spPr>
          <a:xfrm>
            <a:off x="6762750" y="4972050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Radar가 외부 신호(EOL 등) 및 내부 임계치 초과를 감지하여 주간 단위로 리스크 등록 제안</a:t>
            </a:r>
            <a:endParaRPr lang="en-US" sz="1050" dirty="0"/>
          </a:p>
        </p:txBody>
      </p:sp>
      <p:sp>
        <p:nvSpPr>
          <p:cNvPr id="55" name="SK-25-text-54"/>
          <p:cNvSpPr/>
          <p:nvPr/>
        </p:nvSpPr>
        <p:spPr>
          <a:xfrm>
            <a:off x="1047750" y="5724525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보고서 사람 검토율</a:t>
            </a:r>
            <a:endParaRPr lang="en-US" sz="1125" dirty="0"/>
          </a:p>
        </p:txBody>
      </p:sp>
      <p:sp>
        <p:nvSpPr>
          <p:cNvPr id="56" name="SK-25-text-55"/>
          <p:cNvSpPr/>
          <p:nvPr/>
        </p:nvSpPr>
        <p:spPr>
          <a:xfrm>
            <a:off x="3295650" y="5724525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(16주)</a:t>
            </a:r>
            <a:endParaRPr lang="en-US" sz="1125" dirty="0"/>
          </a:p>
        </p:txBody>
      </p:sp>
      <p:sp>
        <p:nvSpPr>
          <p:cNvPr id="57" name="SK-25-text-56"/>
          <p:cNvSpPr/>
          <p:nvPr/>
        </p:nvSpPr>
        <p:spPr>
          <a:xfrm>
            <a:off x="4948238" y="5724525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100%</a:t>
            </a:r>
            <a:endParaRPr lang="en-US" sz="1350" dirty="0"/>
          </a:p>
        </p:txBody>
      </p:sp>
      <p:sp>
        <p:nvSpPr>
          <p:cNvPr id="58" name="SK-25-text-57"/>
          <p:cNvSpPr/>
          <p:nvPr/>
        </p:nvSpPr>
        <p:spPr>
          <a:xfrm>
            <a:off x="6762750" y="5724525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규칙 강제를 통해 AI 생성 보고서에 대한 책임자(PM/PO) 최종 승인 단계 필수화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71488"/>
          </a:xfrm>
          <a:prstGeom prst="rect">
            <a:avLst/>
          </a:prstGeom>
        </p:spPr>
      </p:pic>
      <p:pic>
        <p:nvPicPr>
          <p:cNvPr id="7" name="SK-2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26394"/>
            <a:ext cx="285750" cy="228600"/>
          </a:xfrm>
          <a:prstGeom prst="rect">
            <a:avLst/>
          </a:prstGeom>
        </p:spPr>
      </p:pic>
      <p:pic>
        <p:nvPicPr>
          <p:cNvPr id="8" name="SK-2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166938"/>
            <a:ext cx="11049000" cy="4310063"/>
          </a:xfrm>
          <a:prstGeom prst="rect">
            <a:avLst/>
          </a:prstGeom>
        </p:spPr>
      </p:pic>
      <p:pic>
        <p:nvPicPr>
          <p:cNvPr id="9" name="SK-2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166938"/>
            <a:ext cx="1004441" cy="442913"/>
          </a:xfrm>
          <a:prstGeom prst="rect">
            <a:avLst/>
          </a:prstGeom>
        </p:spPr>
      </p:pic>
      <p:pic>
        <p:nvPicPr>
          <p:cNvPr id="10" name="SK-2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5941" y="2166938"/>
            <a:ext cx="1807964" cy="442913"/>
          </a:xfrm>
          <a:prstGeom prst="rect">
            <a:avLst/>
          </a:prstGeom>
        </p:spPr>
      </p:pic>
      <p:pic>
        <p:nvPicPr>
          <p:cNvPr id="11" name="SK-2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905" y="2166938"/>
            <a:ext cx="3816846" cy="442913"/>
          </a:xfrm>
          <a:prstGeom prst="rect">
            <a:avLst/>
          </a:prstGeom>
        </p:spPr>
      </p:pic>
      <p:pic>
        <p:nvPicPr>
          <p:cNvPr id="12" name="SK-2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0751" y="2166938"/>
            <a:ext cx="2209651" cy="442913"/>
          </a:xfrm>
          <a:prstGeom prst="rect">
            <a:avLst/>
          </a:prstGeom>
        </p:spPr>
      </p:pic>
      <p:pic>
        <p:nvPicPr>
          <p:cNvPr id="13" name="SK-2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0402" y="2166938"/>
            <a:ext cx="2210098" cy="442913"/>
          </a:xfrm>
          <a:prstGeom prst="rect">
            <a:avLst/>
          </a:prstGeom>
        </p:spPr>
      </p:pic>
      <p:pic>
        <p:nvPicPr>
          <p:cNvPr id="14" name="SK-2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609850"/>
            <a:ext cx="1004441" cy="844153"/>
          </a:xfrm>
          <a:prstGeom prst="rect">
            <a:avLst/>
          </a:prstGeom>
        </p:spPr>
      </p:pic>
      <p:pic>
        <p:nvPicPr>
          <p:cNvPr id="15" name="SK-2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5941" y="2609850"/>
            <a:ext cx="1807964" cy="844153"/>
          </a:xfrm>
          <a:prstGeom prst="rect">
            <a:avLst/>
          </a:prstGeom>
        </p:spPr>
      </p:pic>
      <p:pic>
        <p:nvPicPr>
          <p:cNvPr id="16" name="SK-2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83905" y="2609850"/>
            <a:ext cx="3816846" cy="844153"/>
          </a:xfrm>
          <a:prstGeom prst="rect">
            <a:avLst/>
          </a:prstGeom>
        </p:spPr>
      </p:pic>
      <p:pic>
        <p:nvPicPr>
          <p:cNvPr id="17" name="SK-2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98205" y="2724150"/>
            <a:ext cx="178594" cy="253008"/>
          </a:xfrm>
          <a:prstGeom prst="rect">
            <a:avLst/>
          </a:prstGeom>
        </p:spPr>
      </p:pic>
      <p:pic>
        <p:nvPicPr>
          <p:cNvPr id="18" name="SK-2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8205" y="3015258"/>
            <a:ext cx="178594" cy="253008"/>
          </a:xfrm>
          <a:prstGeom prst="rect">
            <a:avLst/>
          </a:prstGeom>
        </p:spPr>
      </p:pic>
      <p:pic>
        <p:nvPicPr>
          <p:cNvPr id="19" name="SK-2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0751" y="2609850"/>
            <a:ext cx="2209651" cy="844153"/>
          </a:xfrm>
          <a:prstGeom prst="rect">
            <a:avLst/>
          </a:prstGeom>
        </p:spPr>
      </p:pic>
      <p:pic>
        <p:nvPicPr>
          <p:cNvPr id="20" name="SK-2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10402" y="2609850"/>
            <a:ext cx="2210098" cy="844153"/>
          </a:xfrm>
          <a:prstGeom prst="rect">
            <a:avLst/>
          </a:prstGeom>
        </p:spPr>
      </p:pic>
      <p:pic>
        <p:nvPicPr>
          <p:cNvPr id="21" name="SK-2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454003"/>
            <a:ext cx="1004441" cy="844153"/>
          </a:xfrm>
          <a:prstGeom prst="rect">
            <a:avLst/>
          </a:prstGeom>
        </p:spPr>
      </p:pic>
      <p:pic>
        <p:nvPicPr>
          <p:cNvPr id="22" name="SK-2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75941" y="3454003"/>
            <a:ext cx="1807964" cy="844153"/>
          </a:xfrm>
          <a:prstGeom prst="rect">
            <a:avLst/>
          </a:prstGeom>
        </p:spPr>
      </p:pic>
      <p:pic>
        <p:nvPicPr>
          <p:cNvPr id="23" name="SK-2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83905" y="3454003"/>
            <a:ext cx="3816846" cy="844153"/>
          </a:xfrm>
          <a:prstGeom prst="rect">
            <a:avLst/>
          </a:prstGeom>
        </p:spPr>
      </p:pic>
      <p:pic>
        <p:nvPicPr>
          <p:cNvPr id="24" name="SK-2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98205" y="3568303"/>
            <a:ext cx="178594" cy="253008"/>
          </a:xfrm>
          <a:prstGeom prst="rect">
            <a:avLst/>
          </a:prstGeom>
        </p:spPr>
      </p:pic>
      <p:pic>
        <p:nvPicPr>
          <p:cNvPr id="25" name="SK-2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98205" y="3859411"/>
            <a:ext cx="178594" cy="253008"/>
          </a:xfrm>
          <a:prstGeom prst="rect">
            <a:avLst/>
          </a:prstGeom>
        </p:spPr>
      </p:pic>
      <p:pic>
        <p:nvPicPr>
          <p:cNvPr id="26" name="SK-2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00751" y="3454003"/>
            <a:ext cx="2209651" cy="844153"/>
          </a:xfrm>
          <a:prstGeom prst="rect">
            <a:avLst/>
          </a:prstGeom>
        </p:spPr>
      </p:pic>
      <p:pic>
        <p:nvPicPr>
          <p:cNvPr id="27" name="SK-2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10402" y="3454003"/>
            <a:ext cx="2210098" cy="844153"/>
          </a:xfrm>
          <a:prstGeom prst="rect">
            <a:avLst/>
          </a:prstGeom>
        </p:spPr>
      </p:pic>
      <p:pic>
        <p:nvPicPr>
          <p:cNvPr id="28" name="SK-2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298156"/>
            <a:ext cx="1004441" cy="844153"/>
          </a:xfrm>
          <a:prstGeom prst="rect">
            <a:avLst/>
          </a:prstGeom>
        </p:spPr>
      </p:pic>
      <p:pic>
        <p:nvPicPr>
          <p:cNvPr id="29" name="SK-2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75941" y="4298156"/>
            <a:ext cx="1807964" cy="844153"/>
          </a:xfrm>
          <a:prstGeom prst="rect">
            <a:avLst/>
          </a:prstGeom>
        </p:spPr>
      </p:pic>
      <p:pic>
        <p:nvPicPr>
          <p:cNvPr id="30" name="SK-26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83905" y="4298156"/>
            <a:ext cx="3816846" cy="844153"/>
          </a:xfrm>
          <a:prstGeom prst="rect">
            <a:avLst/>
          </a:prstGeom>
        </p:spPr>
      </p:pic>
      <p:pic>
        <p:nvPicPr>
          <p:cNvPr id="31" name="SK-26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98205" y="4412456"/>
            <a:ext cx="178594" cy="253008"/>
          </a:xfrm>
          <a:prstGeom prst="rect">
            <a:avLst/>
          </a:prstGeom>
        </p:spPr>
      </p:pic>
      <p:pic>
        <p:nvPicPr>
          <p:cNvPr id="32" name="SK-26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98205" y="4703564"/>
            <a:ext cx="178594" cy="253008"/>
          </a:xfrm>
          <a:prstGeom prst="rect">
            <a:avLst/>
          </a:prstGeom>
        </p:spPr>
      </p:pic>
      <p:pic>
        <p:nvPicPr>
          <p:cNvPr id="33" name="SK-26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00751" y="4298156"/>
            <a:ext cx="2209651" cy="844153"/>
          </a:xfrm>
          <a:prstGeom prst="rect">
            <a:avLst/>
          </a:prstGeom>
        </p:spPr>
      </p:pic>
      <p:pic>
        <p:nvPicPr>
          <p:cNvPr id="34" name="SK-26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410402" y="4298156"/>
            <a:ext cx="2210098" cy="844153"/>
          </a:xfrm>
          <a:prstGeom prst="rect">
            <a:avLst/>
          </a:prstGeom>
        </p:spPr>
      </p:pic>
      <p:pic>
        <p:nvPicPr>
          <p:cNvPr id="35" name="SK-26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498205" y="5256609"/>
            <a:ext cx="171450" cy="723900"/>
          </a:xfrm>
          <a:prstGeom prst="rect">
            <a:avLst/>
          </a:prstGeom>
        </p:spPr>
      </p:pic>
      <p:pic>
        <p:nvPicPr>
          <p:cNvPr id="36" name="SK-26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498205" y="6018609"/>
            <a:ext cx="178594" cy="253008"/>
          </a:xfrm>
          <a:prstGeom prst="rect">
            <a:avLst/>
          </a:prstGeom>
        </p:spPr>
      </p:pic>
      <p:sp>
        <p:nvSpPr>
          <p:cNvPr id="37" name="SK-26-text-36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8" name="SK-26-text-37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C-6. 당시로 돌아갔다면: 타임라인별 개입 포인트 (W1~W18)</a:t>
            </a:r>
            <a:endParaRPr lang="en-US" sz="2550" dirty="0"/>
          </a:p>
        </p:txBody>
      </p:sp>
      <p:sp>
        <p:nvSpPr>
          <p:cNvPr id="39" name="SK-26-text-38"/>
          <p:cNvSpPr/>
          <p:nvPr/>
        </p:nvSpPr>
        <p:spPr>
          <a:xfrm>
            <a:off x="1123950" y="1619250"/>
            <a:ext cx="110680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초기 및 중기 단계에서의 선제적 조치가 "수박 프로젝트"화를 방지할 수 있는 결정적 기회였습니다.</a:t>
            </a:r>
            <a:endParaRPr lang="en-US" sz="1275" dirty="0"/>
          </a:p>
        </p:txBody>
      </p:sp>
      <p:sp>
        <p:nvSpPr>
          <p:cNvPr id="40" name="SK-26-text-39"/>
          <p:cNvSpPr/>
          <p:nvPr/>
        </p:nvSpPr>
        <p:spPr>
          <a:xfrm>
            <a:off x="685800" y="2166938"/>
            <a:ext cx="8520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시점</a:t>
            </a:r>
            <a:endParaRPr lang="en-US" sz="1125" dirty="0"/>
          </a:p>
        </p:txBody>
      </p:sp>
      <p:sp>
        <p:nvSpPr>
          <p:cNvPr id="41" name="SK-26-text-40"/>
          <p:cNvSpPr/>
          <p:nvPr/>
        </p:nvSpPr>
        <p:spPr>
          <a:xfrm>
            <a:off x="1690241" y="2166938"/>
            <a:ext cx="165556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사건</a:t>
            </a:r>
            <a:endParaRPr lang="en-US" sz="1125" dirty="0"/>
          </a:p>
        </p:txBody>
      </p:sp>
      <p:sp>
        <p:nvSpPr>
          <p:cNvPr id="42" name="SK-26-text-41"/>
          <p:cNvSpPr/>
          <p:nvPr/>
        </p:nvSpPr>
        <p:spPr>
          <a:xfrm>
            <a:off x="3498205" y="2166938"/>
            <a:ext cx="366444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125" dirty="0"/>
          </a:p>
        </p:txBody>
      </p:sp>
      <p:sp>
        <p:nvSpPr>
          <p:cNvPr id="43" name="SK-26-text-42"/>
          <p:cNvSpPr/>
          <p:nvPr/>
        </p:nvSpPr>
        <p:spPr>
          <a:xfrm>
            <a:off x="7315051" y="2166938"/>
            <a:ext cx="205725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근거</a:t>
            </a:r>
            <a:endParaRPr lang="en-US" sz="1125" dirty="0"/>
          </a:p>
        </p:txBody>
      </p:sp>
      <p:sp>
        <p:nvSpPr>
          <p:cNvPr id="44" name="SK-26-text-43"/>
          <p:cNvSpPr/>
          <p:nvPr/>
        </p:nvSpPr>
        <p:spPr>
          <a:xfrm>
            <a:off x="9524702" y="2166938"/>
            <a:ext cx="20576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125" dirty="0"/>
          </a:p>
        </p:txBody>
      </p:sp>
      <p:sp>
        <p:nvSpPr>
          <p:cNvPr id="45" name="SK-26-text-44"/>
          <p:cNvSpPr/>
          <p:nvPr/>
        </p:nvSpPr>
        <p:spPr>
          <a:xfrm>
            <a:off x="571500" y="2609850"/>
            <a:ext cx="775841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(1/5)</a:t>
            </a:r>
            <a:endParaRPr lang="en-US" sz="1125" dirty="0"/>
          </a:p>
        </p:txBody>
      </p:sp>
      <p:sp>
        <p:nvSpPr>
          <p:cNvPr id="46" name="SK-26-text-45"/>
          <p:cNvSpPr/>
          <p:nvPr/>
        </p:nvSpPr>
        <p:spPr>
          <a:xfrm>
            <a:off x="1690241" y="2609850"/>
            <a:ext cx="1655564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착수</a:t>
            </a:r>
            <a:endParaRPr lang="en-US" sz="1125" dirty="0"/>
          </a:p>
        </p:txBody>
      </p:sp>
      <p:sp>
        <p:nvSpPr>
          <p:cNvPr id="47" name="SK-26-text-46"/>
          <p:cNvSpPr/>
          <p:nvPr/>
        </p:nvSpPr>
        <p:spPr>
          <a:xfrm>
            <a:off x="3752999" y="2724150"/>
            <a:ext cx="40195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체계 수립 및 측정 책임자 지정</a:t>
            </a:r>
            <a:endParaRPr lang="en-US" sz="1125" dirty="0"/>
          </a:p>
        </p:txBody>
      </p:sp>
      <p:sp>
        <p:nvSpPr>
          <p:cNvPr id="48" name="SK-26-text-47"/>
          <p:cNvSpPr/>
          <p:nvPr/>
        </p:nvSpPr>
        <p:spPr>
          <a:xfrm>
            <a:off x="3752999" y="3015258"/>
            <a:ext cx="36766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성공기준(SC)에 BEN 선행지표 포함</a:t>
            </a:r>
            <a:endParaRPr lang="en-US" sz="1125" dirty="0"/>
          </a:p>
        </p:txBody>
      </p:sp>
      <p:sp>
        <p:nvSpPr>
          <p:cNvPr id="49" name="SK-26-textBg-48"/>
          <p:cNvSpPr/>
          <p:nvPr/>
        </p:nvSpPr>
        <p:spPr>
          <a:xfrm>
            <a:off x="7315051" y="2743200"/>
            <a:ext cx="138112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K-26-text-49"/>
          <p:cNvSpPr/>
          <p:nvPr/>
        </p:nvSpPr>
        <p:spPr>
          <a:xfrm>
            <a:off x="7372201" y="2743200"/>
            <a:ext cx="255811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02_benefit_register</a:t>
            </a:r>
            <a:endParaRPr lang="en-US" sz="900" dirty="0"/>
          </a:p>
        </p:txBody>
      </p:sp>
      <p:sp>
        <p:nvSpPr>
          <p:cNvPr id="51" name="SK-26-textBg-50"/>
          <p:cNvSpPr/>
          <p:nvPr/>
        </p:nvSpPr>
        <p:spPr>
          <a:xfrm>
            <a:off x="7315051" y="2998440"/>
            <a:ext cx="11715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K-26-text-51"/>
          <p:cNvSpPr/>
          <p:nvPr/>
        </p:nvSpPr>
        <p:spPr>
          <a:xfrm>
            <a:off x="7372201" y="2998440"/>
            <a:ext cx="1774159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M-01(PO제안 기각)</a:t>
            </a:r>
            <a:endParaRPr lang="en-US" sz="900" dirty="0"/>
          </a:p>
        </p:txBody>
      </p:sp>
      <p:sp>
        <p:nvSpPr>
          <p:cNvPr id="53" name="SK-26-text-52"/>
          <p:cNvSpPr/>
          <p:nvPr/>
        </p:nvSpPr>
        <p:spPr>
          <a:xfrm>
            <a:off x="9524702" y="2609850"/>
            <a:ext cx="1981498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추적 시작으로 파일럿 이상 조기 감지</a:t>
            </a:r>
            <a:endParaRPr lang="en-US" sz="1125" dirty="0"/>
          </a:p>
        </p:txBody>
      </p:sp>
      <p:sp>
        <p:nvSpPr>
          <p:cNvPr id="54" name="SK-26-text-53"/>
          <p:cNvSpPr/>
          <p:nvPr/>
        </p:nvSpPr>
        <p:spPr>
          <a:xfrm>
            <a:off x="571500" y="3454003"/>
            <a:ext cx="775841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W9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(3/3)</a:t>
            </a:r>
            <a:endParaRPr lang="en-US" sz="1125" dirty="0"/>
          </a:p>
        </p:txBody>
      </p:sp>
      <p:sp>
        <p:nvSpPr>
          <p:cNvPr id="55" name="SK-26-text-54"/>
          <p:cNvSpPr/>
          <p:nvPr/>
        </p:nvSpPr>
        <p:spPr>
          <a:xfrm>
            <a:off x="1690241" y="3454003"/>
            <a:ext cx="1579364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(CR-012)</a:t>
            </a:r>
            <a:endParaRPr lang="en-US" sz="1125" dirty="0"/>
          </a:p>
        </p:txBody>
      </p:sp>
      <p:sp>
        <p:nvSpPr>
          <p:cNvPr id="56" name="SK-26-text-55"/>
          <p:cNvSpPr/>
          <p:nvPr/>
        </p:nvSpPr>
        <p:spPr>
          <a:xfrm>
            <a:off x="3752999" y="3568303"/>
            <a:ext cx="396240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동시 공유 및 동의 절차 수행</a:t>
            </a:r>
            <a:endParaRPr lang="en-US" sz="1125" dirty="0"/>
          </a:p>
        </p:txBody>
      </p:sp>
      <p:sp>
        <p:nvSpPr>
          <p:cNvPr id="57" name="SK-26-text-56"/>
          <p:cNvSpPr/>
          <p:nvPr/>
        </p:nvSpPr>
        <p:spPr>
          <a:xfrm>
            <a:off x="3752999" y="3859411"/>
            <a:ext cx="43624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통과를 삭제하지 않고 별도 완료조건 유지</a:t>
            </a:r>
            <a:endParaRPr lang="en-US" sz="1125" dirty="0"/>
          </a:p>
        </p:txBody>
      </p:sp>
      <p:sp>
        <p:nvSpPr>
          <p:cNvPr id="58" name="SK-26-textBg-57"/>
          <p:cNvSpPr/>
          <p:nvPr/>
        </p:nvSpPr>
        <p:spPr>
          <a:xfrm>
            <a:off x="7315051" y="3587353"/>
            <a:ext cx="8763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26-text-58"/>
          <p:cNvSpPr/>
          <p:nvPr/>
        </p:nvSpPr>
        <p:spPr>
          <a:xfrm>
            <a:off x="7372201" y="3587353"/>
            <a:ext cx="135172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M-03(QA삭제)</a:t>
            </a:r>
            <a:endParaRPr lang="en-US" sz="900" dirty="0"/>
          </a:p>
        </p:txBody>
      </p:sp>
      <p:sp>
        <p:nvSpPr>
          <p:cNvPr id="60" name="SK-26-textBg-59"/>
          <p:cNvSpPr/>
          <p:nvPr/>
        </p:nvSpPr>
        <p:spPr>
          <a:xfrm>
            <a:off x="7315051" y="3842593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K-26-text-60"/>
          <p:cNvSpPr/>
          <p:nvPr/>
        </p:nvSpPr>
        <p:spPr>
          <a:xfrm>
            <a:off x="7372201" y="3842593"/>
            <a:ext cx="2147365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E-03(Daniel Suh)</a:t>
            </a:r>
            <a:endParaRPr lang="en-US" sz="900" dirty="0"/>
          </a:p>
        </p:txBody>
      </p:sp>
      <p:sp>
        <p:nvSpPr>
          <p:cNvPr id="62" name="SK-26-text-61"/>
          <p:cNvSpPr/>
          <p:nvPr/>
        </p:nvSpPr>
        <p:spPr>
          <a:xfrm>
            <a:off x="9524702" y="3454003"/>
            <a:ext cx="1981498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미검증 상태 방지 및 리전 간 DoD 통일</a:t>
            </a:r>
            <a:endParaRPr lang="en-US" sz="1125" dirty="0"/>
          </a:p>
        </p:txBody>
      </p:sp>
      <p:sp>
        <p:nvSpPr>
          <p:cNvPr id="63" name="SK-26-text-62"/>
          <p:cNvSpPr/>
          <p:nvPr/>
        </p:nvSpPr>
        <p:spPr>
          <a:xfrm>
            <a:off x="571500" y="4298156"/>
            <a:ext cx="775841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W14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(4/11)</a:t>
            </a:r>
            <a:endParaRPr lang="en-US" sz="1125" dirty="0"/>
          </a:p>
        </p:txBody>
      </p:sp>
      <p:sp>
        <p:nvSpPr>
          <p:cNvPr id="64" name="SK-26-text-63"/>
          <p:cNvSpPr/>
          <p:nvPr/>
        </p:nvSpPr>
        <p:spPr>
          <a:xfrm>
            <a:off x="1690241" y="4298156"/>
            <a:ext cx="1579364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갱신</a:t>
            </a:r>
            <a:endParaRPr lang="en-US" sz="1125" dirty="0"/>
          </a:p>
        </p:txBody>
      </p:sp>
      <p:sp>
        <p:nvSpPr>
          <p:cNvPr id="65" name="SK-26-text-64"/>
          <p:cNvSpPr/>
          <p:nvPr/>
        </p:nvSpPr>
        <p:spPr>
          <a:xfrm>
            <a:off x="3752999" y="4412456"/>
            <a:ext cx="327660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정기 리스크 리뷰 의무화</a:t>
            </a:r>
            <a:endParaRPr lang="en-US" sz="1125" dirty="0"/>
          </a:p>
        </p:txBody>
      </p:sp>
      <p:sp>
        <p:nvSpPr>
          <p:cNvPr id="66" name="SK-26-text-65"/>
          <p:cNvSpPr/>
          <p:nvPr/>
        </p:nvSpPr>
        <p:spPr>
          <a:xfrm>
            <a:off x="3752999" y="4703564"/>
            <a:ext cx="47053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High→Medium 하향 시 정량적 근거 필수화</a:t>
            </a:r>
            <a:endParaRPr lang="en-US" sz="1125" dirty="0"/>
          </a:p>
        </p:txBody>
      </p:sp>
      <p:sp>
        <p:nvSpPr>
          <p:cNvPr id="67" name="SK-26-textBg-66"/>
          <p:cNvSpPr/>
          <p:nvPr/>
        </p:nvSpPr>
        <p:spPr>
          <a:xfrm>
            <a:off x="7315051" y="4431506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26-text-67"/>
          <p:cNvSpPr/>
          <p:nvPr/>
        </p:nvSpPr>
        <p:spPr>
          <a:xfrm>
            <a:off x="7372201" y="4431506"/>
            <a:ext cx="2147365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11_risk_register</a:t>
            </a:r>
            <a:endParaRPr lang="en-US" sz="900" dirty="0"/>
          </a:p>
        </p:txBody>
      </p:sp>
      <p:sp>
        <p:nvSpPr>
          <p:cNvPr id="69" name="SK-26-textBg-68"/>
          <p:cNvSpPr/>
          <p:nvPr/>
        </p:nvSpPr>
        <p:spPr>
          <a:xfrm>
            <a:off x="7315051" y="4686746"/>
            <a:ext cx="15144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SK-26-text-69"/>
          <p:cNvSpPr/>
          <p:nvPr/>
        </p:nvSpPr>
        <p:spPr>
          <a:xfrm>
            <a:off x="7372201" y="4686746"/>
            <a:ext cx="219801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M-02("근거는 넘어가죠")</a:t>
            </a:r>
            <a:endParaRPr lang="en-US" sz="900" dirty="0"/>
          </a:p>
        </p:txBody>
      </p:sp>
      <p:sp>
        <p:nvSpPr>
          <p:cNvPr id="71" name="SK-26-text-70"/>
          <p:cNvSpPr/>
          <p:nvPr/>
        </p:nvSpPr>
        <p:spPr>
          <a:xfrm>
            <a:off x="9524702" y="4298156"/>
            <a:ext cx="1981498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4개월 방치 방지 및 Helion EOL 적기 등록</a:t>
            </a:r>
            <a:endParaRPr lang="en-US" sz="1125" dirty="0"/>
          </a:p>
        </p:txBody>
      </p:sp>
      <p:sp>
        <p:nvSpPr>
          <p:cNvPr id="72" name="SK-26-text-71"/>
          <p:cNvSpPr/>
          <p:nvPr/>
        </p:nvSpPr>
        <p:spPr>
          <a:xfrm>
            <a:off x="571500" y="5142309"/>
            <a:ext cx="775841" cy="133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W18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(5/5)</a:t>
            </a:r>
            <a:endParaRPr lang="en-US" sz="1125" dirty="0"/>
          </a:p>
        </p:txBody>
      </p:sp>
      <p:sp>
        <p:nvSpPr>
          <p:cNvPr id="73" name="SK-26-text-72"/>
          <p:cNvSpPr/>
          <p:nvPr/>
        </p:nvSpPr>
        <p:spPr>
          <a:xfrm>
            <a:off x="1690241" y="5142309"/>
            <a:ext cx="1579364" cy="133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주간보고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시작</a:t>
            </a:r>
            <a:endParaRPr lang="en-US" sz="1125" dirty="0"/>
          </a:p>
        </p:txBody>
      </p:sp>
      <p:sp>
        <p:nvSpPr>
          <p:cNvPr id="74" name="SK-26-text-73"/>
          <p:cNvSpPr/>
          <p:nvPr/>
        </p:nvSpPr>
        <p:spPr>
          <a:xfrm>
            <a:off x="3745855" y="5256609"/>
            <a:ext cx="33405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보고서에 대한 '사람 검토(Human-in-the-loop)' 프로세스 수립</a:t>
            </a:r>
            <a:endParaRPr lang="en-US" sz="1125" dirty="0"/>
          </a:p>
        </p:txBody>
      </p:sp>
      <p:sp>
        <p:nvSpPr>
          <p:cNvPr id="75" name="SK-26-text-74"/>
          <p:cNvSpPr/>
          <p:nvPr/>
        </p:nvSpPr>
        <p:spPr>
          <a:xfrm>
            <a:off x="3752999" y="6018609"/>
            <a:ext cx="47053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데이터 범위에 파일럿/편익 데이터 강제 포함</a:t>
            </a:r>
            <a:endParaRPr lang="en-US" sz="1125" dirty="0"/>
          </a:p>
        </p:txBody>
      </p:sp>
      <p:sp>
        <p:nvSpPr>
          <p:cNvPr id="76" name="SK-26-textBg-75"/>
          <p:cNvSpPr/>
          <p:nvPr/>
        </p:nvSpPr>
        <p:spPr>
          <a:xfrm>
            <a:off x="7315051" y="5275659"/>
            <a:ext cx="9144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SK-26-text-76"/>
          <p:cNvSpPr/>
          <p:nvPr/>
        </p:nvSpPr>
        <p:spPr>
          <a:xfrm>
            <a:off x="7372201" y="5275659"/>
            <a:ext cx="160020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08_ai_weekly</a:t>
            </a:r>
            <a:endParaRPr lang="en-US" sz="900" dirty="0"/>
          </a:p>
        </p:txBody>
      </p:sp>
      <p:sp>
        <p:nvSpPr>
          <p:cNvPr id="78" name="SK-26-textBg-77"/>
          <p:cNvSpPr/>
          <p:nvPr/>
        </p:nvSpPr>
        <p:spPr>
          <a:xfrm>
            <a:off x="8353276" y="5275659"/>
            <a:ext cx="78105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9" name="SK-26-text-78"/>
          <p:cNvSpPr/>
          <p:nvPr/>
        </p:nvSpPr>
        <p:spPr>
          <a:xfrm>
            <a:off x="8410426" y="5275659"/>
            <a:ext cx="117087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ROOT CAUSE</a:t>
            </a:r>
            <a:endParaRPr lang="en-US" sz="900" dirty="0"/>
          </a:p>
        </p:txBody>
      </p:sp>
      <p:sp>
        <p:nvSpPr>
          <p:cNvPr id="80" name="SK-26-text-79"/>
          <p:cNvSpPr/>
          <p:nvPr/>
        </p:nvSpPr>
        <p:spPr>
          <a:xfrm>
            <a:off x="9524702" y="5142309"/>
            <a:ext cx="1981498" cy="133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괴리(SC-03 vs 실제)의 실시간 포착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2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325761" cy="428625"/>
          </a:xfrm>
          <a:prstGeom prst="rect">
            <a:avLst/>
          </a:prstGeom>
        </p:spPr>
      </p:pic>
      <p:pic>
        <p:nvPicPr>
          <p:cNvPr id="8" name="SK-2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7261" y="1504950"/>
            <a:ext cx="2762250" cy="428625"/>
          </a:xfrm>
          <a:prstGeom prst="rect">
            <a:avLst/>
          </a:prstGeom>
        </p:spPr>
      </p:pic>
      <p:pic>
        <p:nvPicPr>
          <p:cNvPr id="9" name="SK-2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511" y="1504950"/>
            <a:ext cx="3093690" cy="428625"/>
          </a:xfrm>
          <a:prstGeom prst="rect">
            <a:avLst/>
          </a:prstGeom>
        </p:spPr>
      </p:pic>
      <p:pic>
        <p:nvPicPr>
          <p:cNvPr id="10" name="SK-2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3201" y="1504950"/>
            <a:ext cx="1988790" cy="428625"/>
          </a:xfrm>
          <a:prstGeom prst="rect">
            <a:avLst/>
          </a:prstGeom>
        </p:spPr>
      </p:pic>
      <p:pic>
        <p:nvPicPr>
          <p:cNvPr id="11" name="SK-2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1991" y="1504950"/>
            <a:ext cx="1878509" cy="428625"/>
          </a:xfrm>
          <a:prstGeom prst="rect">
            <a:avLst/>
          </a:prstGeom>
        </p:spPr>
      </p:pic>
      <p:pic>
        <p:nvPicPr>
          <p:cNvPr id="12" name="SK-2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33575"/>
            <a:ext cx="1325761" cy="1510308"/>
          </a:xfrm>
          <a:prstGeom prst="rect">
            <a:avLst/>
          </a:prstGeom>
        </p:spPr>
      </p:pic>
      <p:pic>
        <p:nvPicPr>
          <p:cNvPr id="13" name="SK-2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7261" y="1933575"/>
            <a:ext cx="2762250" cy="1510308"/>
          </a:xfrm>
          <a:prstGeom prst="rect">
            <a:avLst/>
          </a:prstGeom>
        </p:spPr>
      </p:pic>
      <p:pic>
        <p:nvPicPr>
          <p:cNvPr id="14" name="SK-2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9511" y="1933575"/>
            <a:ext cx="3093690" cy="1510308"/>
          </a:xfrm>
          <a:prstGeom prst="rect">
            <a:avLst/>
          </a:prstGeom>
        </p:spPr>
      </p:pic>
      <p:pic>
        <p:nvPicPr>
          <p:cNvPr id="15" name="SK-2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3201" y="1933575"/>
            <a:ext cx="1988790" cy="1510308"/>
          </a:xfrm>
          <a:prstGeom prst="rect">
            <a:avLst/>
          </a:prstGeom>
        </p:spPr>
      </p:pic>
      <p:pic>
        <p:nvPicPr>
          <p:cNvPr id="16" name="SK-2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41991" y="1933575"/>
            <a:ext cx="1878509" cy="1510308"/>
          </a:xfrm>
          <a:prstGeom prst="rect">
            <a:avLst/>
          </a:prstGeom>
        </p:spPr>
      </p:pic>
      <p:pic>
        <p:nvPicPr>
          <p:cNvPr id="17" name="SK-2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443883"/>
            <a:ext cx="1325761" cy="1510308"/>
          </a:xfrm>
          <a:prstGeom prst="rect">
            <a:avLst/>
          </a:prstGeom>
        </p:spPr>
      </p:pic>
      <p:pic>
        <p:nvPicPr>
          <p:cNvPr id="18" name="SK-2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97261" y="3443883"/>
            <a:ext cx="2762250" cy="1510308"/>
          </a:xfrm>
          <a:prstGeom prst="rect">
            <a:avLst/>
          </a:prstGeom>
        </p:spPr>
      </p:pic>
      <p:pic>
        <p:nvPicPr>
          <p:cNvPr id="19" name="SK-2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59511" y="3443883"/>
            <a:ext cx="3093690" cy="1510308"/>
          </a:xfrm>
          <a:prstGeom prst="rect">
            <a:avLst/>
          </a:prstGeom>
        </p:spPr>
      </p:pic>
      <p:pic>
        <p:nvPicPr>
          <p:cNvPr id="20" name="SK-2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53201" y="3443883"/>
            <a:ext cx="1988790" cy="1510308"/>
          </a:xfrm>
          <a:prstGeom prst="rect">
            <a:avLst/>
          </a:prstGeom>
        </p:spPr>
      </p:pic>
      <p:pic>
        <p:nvPicPr>
          <p:cNvPr id="21" name="SK-2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41991" y="3443883"/>
            <a:ext cx="1878509" cy="1510308"/>
          </a:xfrm>
          <a:prstGeom prst="rect">
            <a:avLst/>
          </a:prstGeom>
        </p:spPr>
      </p:pic>
      <p:pic>
        <p:nvPicPr>
          <p:cNvPr id="22" name="SK-2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11561" y="5406777"/>
            <a:ext cx="166688" cy="137220"/>
          </a:xfrm>
          <a:prstGeom prst="rect">
            <a:avLst/>
          </a:prstGeom>
        </p:spPr>
      </p:pic>
      <p:sp>
        <p:nvSpPr>
          <p:cNvPr id="23" name="SK-27-text-22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4" name="SK-27-text-23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C-6. 당시로 돌아갔다면: 타임라인별 개입 포인트 (W21~W30)</a:t>
            </a:r>
            <a:endParaRPr lang="en-US" sz="2550" dirty="0"/>
          </a:p>
        </p:txBody>
      </p:sp>
      <p:sp>
        <p:nvSpPr>
          <p:cNvPr id="25" name="SK-27-text-24"/>
          <p:cNvSpPr/>
          <p:nvPr/>
        </p:nvSpPr>
        <p:spPr>
          <a:xfrm>
            <a:off x="685800" y="1504950"/>
            <a:ext cx="11733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050" dirty="0"/>
          </a:p>
        </p:txBody>
      </p:sp>
      <p:sp>
        <p:nvSpPr>
          <p:cNvPr id="26" name="SK-27-text-25"/>
          <p:cNvSpPr/>
          <p:nvPr/>
        </p:nvSpPr>
        <p:spPr>
          <a:xfrm>
            <a:off x="2011561" y="1504950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사건 및 오류</a:t>
            </a:r>
            <a:endParaRPr lang="en-US" sz="1050" dirty="0"/>
          </a:p>
        </p:txBody>
      </p:sp>
      <p:sp>
        <p:nvSpPr>
          <p:cNvPr id="27" name="SK-27-text-26"/>
          <p:cNvSpPr/>
          <p:nvPr/>
        </p:nvSpPr>
        <p:spPr>
          <a:xfrm>
            <a:off x="4773811" y="1504950"/>
            <a:ext cx="363289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 (Intervention)</a:t>
            </a:r>
            <a:endParaRPr lang="en-US" sz="1050" dirty="0"/>
          </a:p>
        </p:txBody>
      </p:sp>
      <p:sp>
        <p:nvSpPr>
          <p:cNvPr id="28" name="SK-27-text-27"/>
          <p:cNvSpPr/>
          <p:nvPr/>
        </p:nvSpPr>
        <p:spPr>
          <a:xfrm>
            <a:off x="7867501" y="1504950"/>
            <a:ext cx="18363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(데이터/문서)</a:t>
            </a:r>
            <a:endParaRPr lang="en-US" sz="1050" dirty="0"/>
          </a:p>
        </p:txBody>
      </p:sp>
      <p:sp>
        <p:nvSpPr>
          <p:cNvPr id="29" name="SK-27-text-28"/>
          <p:cNvSpPr/>
          <p:nvPr/>
        </p:nvSpPr>
        <p:spPr>
          <a:xfrm>
            <a:off x="9856291" y="1504950"/>
            <a:ext cx="17261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30" name="SK-27-textBg-29"/>
          <p:cNvSpPr/>
          <p:nvPr/>
        </p:nvSpPr>
        <p:spPr>
          <a:xfrm>
            <a:off x="685800" y="2085975"/>
            <a:ext cx="342900" cy="223838"/>
          </a:xfrm>
          <a:prstGeom prst="roundRect">
            <a:avLst>
              <a:gd name="adj" fmla="val 8511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K-27-text-30"/>
          <p:cNvSpPr/>
          <p:nvPr/>
        </p:nvSpPr>
        <p:spPr>
          <a:xfrm>
            <a:off x="742950" y="2085975"/>
            <a:ext cx="42926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W21</a:t>
            </a:r>
            <a:endParaRPr lang="en-US" sz="975" dirty="0"/>
          </a:p>
        </p:txBody>
      </p:sp>
      <p:sp>
        <p:nvSpPr>
          <p:cNvPr id="32" name="SK-27-text-31"/>
          <p:cNvSpPr/>
          <p:nvPr/>
        </p:nvSpPr>
        <p:spPr>
          <a:xfrm>
            <a:off x="685800" y="2347913"/>
            <a:ext cx="12649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26일</a:t>
            </a:r>
            <a:endParaRPr lang="en-US" sz="975" dirty="0"/>
          </a:p>
        </p:txBody>
      </p:sp>
      <p:sp>
        <p:nvSpPr>
          <p:cNvPr id="33" name="SK-27-text-32"/>
          <p:cNvSpPr/>
          <p:nvPr/>
        </p:nvSpPr>
        <p:spPr>
          <a:xfrm>
            <a:off x="2011561" y="2085975"/>
            <a:ext cx="2609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엣지캐시 도입 결정 무효화</a:t>
            </a:r>
            <a:endParaRPr lang="en-US" sz="1125" dirty="0"/>
          </a:p>
        </p:txBody>
      </p:sp>
      <p:sp>
        <p:nvSpPr>
          <p:cNvPr id="34" name="SK-27-text-33"/>
          <p:cNvSpPr/>
          <p:nvPr/>
        </p:nvSpPr>
        <p:spPr>
          <a:xfrm>
            <a:off x="2011561" y="2338388"/>
            <a:ext cx="2533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메신저 채널을 통해 G3 조건부 통과 항목을 임의 취소</a:t>
            </a:r>
            <a:endParaRPr lang="en-US" sz="1050" dirty="0"/>
          </a:p>
        </p:txBody>
      </p:sp>
      <p:sp>
        <p:nvSpPr>
          <p:cNvPr id="35" name="SK-27-text-34"/>
          <p:cNvSpPr/>
          <p:nvPr/>
        </p:nvSpPr>
        <p:spPr>
          <a:xfrm>
            <a:off x="4773811" y="2085975"/>
            <a:ext cx="3848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공식 변경 통제(CR) 프로세스 회부</a:t>
            </a:r>
            <a:endParaRPr lang="en-US" sz="1125" dirty="0"/>
          </a:p>
        </p:txBody>
      </p:sp>
      <p:sp>
        <p:nvSpPr>
          <p:cNvPr id="36" name="SK-27-text-35"/>
          <p:cNvSpPr/>
          <p:nvPr/>
        </p:nvSpPr>
        <p:spPr>
          <a:xfrm>
            <a:off x="4773811" y="2300288"/>
            <a:ext cx="3333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예산 및 기술적 영향 분석 수행</a:t>
            </a:r>
            <a:endParaRPr lang="en-US" sz="1125" dirty="0"/>
          </a:p>
        </p:txBody>
      </p:sp>
      <p:sp>
        <p:nvSpPr>
          <p:cNvPr id="37" name="SK-27-text-36"/>
          <p:cNvSpPr/>
          <p:nvPr/>
        </p:nvSpPr>
        <p:spPr>
          <a:xfrm>
            <a:off x="4773811" y="2514600"/>
            <a:ext cx="3333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스폰서/거버넌스 보드 공식 보고</a:t>
            </a:r>
            <a:endParaRPr lang="en-US" sz="1125" dirty="0"/>
          </a:p>
        </p:txBody>
      </p:sp>
      <p:sp>
        <p:nvSpPr>
          <p:cNvPr id="38" name="SK-27-text-37"/>
          <p:cNvSpPr/>
          <p:nvPr/>
        </p:nvSpPr>
        <p:spPr>
          <a:xfrm>
            <a:off x="7867501" y="2105025"/>
            <a:ext cx="1390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G3 조건부 통과 조건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예산 소진율 89% 도달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(07_ai_infra_cost)</a:t>
            </a:r>
            <a:endParaRPr lang="en-US" sz="1050" dirty="0"/>
          </a:p>
        </p:txBody>
      </p:sp>
      <p:sp>
        <p:nvSpPr>
          <p:cNvPr id="39" name="SK-27-text-38"/>
          <p:cNvSpPr/>
          <p:nvPr/>
        </p:nvSpPr>
        <p:spPr>
          <a:xfrm>
            <a:off x="9856291" y="2105025"/>
            <a:ext cx="14478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폭증 방지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건전성 확보</a:t>
            </a:r>
            <a:endParaRPr lang="en-US" sz="1050" dirty="0"/>
          </a:p>
        </p:txBody>
      </p:sp>
      <p:sp>
        <p:nvSpPr>
          <p:cNvPr id="40" name="SK-27-textBg-39"/>
          <p:cNvSpPr/>
          <p:nvPr/>
        </p:nvSpPr>
        <p:spPr>
          <a:xfrm>
            <a:off x="685800" y="3596283"/>
            <a:ext cx="342900" cy="223838"/>
          </a:xfrm>
          <a:prstGeom prst="roundRect">
            <a:avLst>
              <a:gd name="adj" fmla="val 8511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K-27-text-40"/>
          <p:cNvSpPr/>
          <p:nvPr/>
        </p:nvSpPr>
        <p:spPr>
          <a:xfrm>
            <a:off x="742950" y="3596283"/>
            <a:ext cx="42926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W25</a:t>
            </a:r>
            <a:endParaRPr lang="en-US" sz="975" dirty="0"/>
          </a:p>
        </p:txBody>
      </p:sp>
      <p:sp>
        <p:nvSpPr>
          <p:cNvPr id="42" name="SK-27-text-41"/>
          <p:cNvSpPr/>
          <p:nvPr/>
        </p:nvSpPr>
        <p:spPr>
          <a:xfrm>
            <a:off x="685800" y="3858220"/>
            <a:ext cx="12649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 23일</a:t>
            </a:r>
            <a:endParaRPr lang="en-US" sz="975" dirty="0"/>
          </a:p>
        </p:txBody>
      </p:sp>
      <p:sp>
        <p:nvSpPr>
          <p:cNvPr id="43" name="SK-27-text-42"/>
          <p:cNvSpPr/>
          <p:nvPr/>
        </p:nvSpPr>
        <p:spPr>
          <a:xfrm>
            <a:off x="2011561" y="3596283"/>
            <a:ext cx="3333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착수 시 성공기준 불요 동의</a:t>
            </a:r>
            <a:endParaRPr lang="en-US" sz="1125" dirty="0"/>
          </a:p>
        </p:txBody>
      </p:sp>
      <p:sp>
        <p:nvSpPr>
          <p:cNvPr id="44" name="SK-27-text-43"/>
          <p:cNvSpPr/>
          <p:nvPr/>
        </p:nvSpPr>
        <p:spPr>
          <a:xfrm>
            <a:off x="2011561" y="3848695"/>
            <a:ext cx="2533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환경의 불확실성을 무시하고 기존 정형 지표에만 안주 (M-05)</a:t>
            </a:r>
            <a:endParaRPr lang="en-US" sz="1050" dirty="0"/>
          </a:p>
        </p:txBody>
      </p:sp>
      <p:sp>
        <p:nvSpPr>
          <p:cNvPr id="45" name="SK-27-text-44"/>
          <p:cNvSpPr/>
          <p:nvPr/>
        </p:nvSpPr>
        <p:spPr>
          <a:xfrm>
            <a:off x="4773811" y="3596283"/>
            <a:ext cx="3333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실사업장 환경 반영 SC 재설정</a:t>
            </a:r>
            <a:endParaRPr lang="en-US" sz="1125" dirty="0"/>
          </a:p>
        </p:txBody>
      </p:sp>
      <p:sp>
        <p:nvSpPr>
          <p:cNvPr id="46" name="SK-27-text-45"/>
          <p:cNvSpPr/>
          <p:nvPr/>
        </p:nvSpPr>
        <p:spPr>
          <a:xfrm>
            <a:off x="4773811" y="3810595"/>
            <a:ext cx="3848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편익(Outcome) 측정 체계 연계</a:t>
            </a:r>
            <a:endParaRPr lang="en-US" sz="1125" dirty="0"/>
          </a:p>
        </p:txBody>
      </p:sp>
      <p:sp>
        <p:nvSpPr>
          <p:cNvPr id="47" name="SK-27-text-46"/>
          <p:cNvSpPr/>
          <p:nvPr/>
        </p:nvSpPr>
        <p:spPr>
          <a:xfrm>
            <a:off x="4773811" y="4024908"/>
            <a:ext cx="31623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텔레메트리 데이터 공유 자동화</a:t>
            </a:r>
            <a:endParaRPr lang="en-US" sz="1125" dirty="0"/>
          </a:p>
        </p:txBody>
      </p:sp>
      <p:sp>
        <p:nvSpPr>
          <p:cNvPr id="48" name="SK-27-text-47"/>
          <p:cNvSpPr/>
          <p:nvPr/>
        </p:nvSpPr>
        <p:spPr>
          <a:xfrm>
            <a:off x="7867501" y="3615333"/>
            <a:ext cx="1524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M-05 (PO 협의 기록)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무개입완주율 6.1% 급락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(09_telemetry)</a:t>
            </a:r>
            <a:endParaRPr lang="en-US" sz="1050" dirty="0"/>
          </a:p>
        </p:txBody>
      </p:sp>
      <p:sp>
        <p:nvSpPr>
          <p:cNvPr id="49" name="SK-27-text-48"/>
          <p:cNvSpPr/>
          <p:nvPr/>
        </p:nvSpPr>
        <p:spPr>
          <a:xfrm>
            <a:off x="9856291" y="3615333"/>
            <a:ext cx="1581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성능 괴리 조기 발견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이탈(73%) 방지</a:t>
            </a:r>
            <a:endParaRPr lang="en-US" sz="1050" dirty="0"/>
          </a:p>
        </p:txBody>
      </p:sp>
      <p:sp>
        <p:nvSpPr>
          <p:cNvPr id="50" name="SK-27-textBg-49"/>
          <p:cNvSpPr/>
          <p:nvPr/>
        </p:nvSpPr>
        <p:spPr>
          <a:xfrm>
            <a:off x="685800" y="5106591"/>
            <a:ext cx="342900" cy="223838"/>
          </a:xfrm>
          <a:prstGeom prst="roundRect">
            <a:avLst>
              <a:gd name="adj" fmla="val 8511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SK-27-text-50"/>
          <p:cNvSpPr/>
          <p:nvPr/>
        </p:nvSpPr>
        <p:spPr>
          <a:xfrm>
            <a:off x="742950" y="5106591"/>
            <a:ext cx="42926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W30</a:t>
            </a:r>
            <a:endParaRPr lang="en-US" sz="975" dirty="0"/>
          </a:p>
        </p:txBody>
      </p:sp>
      <p:sp>
        <p:nvSpPr>
          <p:cNvPr id="52" name="SK-27-text-51"/>
          <p:cNvSpPr/>
          <p:nvPr/>
        </p:nvSpPr>
        <p:spPr>
          <a:xfrm>
            <a:off x="685800" y="5368528"/>
            <a:ext cx="12649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7월 28일</a:t>
            </a:r>
            <a:endParaRPr lang="en-US" sz="975" dirty="0"/>
          </a:p>
        </p:txBody>
      </p:sp>
      <p:sp>
        <p:nvSpPr>
          <p:cNvPr id="53" name="SK-27-text-52"/>
          <p:cNvSpPr/>
          <p:nvPr/>
        </p:nvSpPr>
        <p:spPr>
          <a:xfrm>
            <a:off x="2011561" y="5106591"/>
            <a:ext cx="34480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 메일 수신</a:t>
            </a:r>
            <a:endParaRPr lang="en-US" sz="1125" dirty="0"/>
          </a:p>
        </p:txBody>
      </p:sp>
      <p:sp>
        <p:nvSpPr>
          <p:cNvPr id="54" name="SK-27-text-53"/>
          <p:cNvSpPr/>
          <p:nvPr/>
        </p:nvSpPr>
        <p:spPr>
          <a:xfrm>
            <a:off x="2216348" y="5359003"/>
            <a:ext cx="2533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배포일(9/30)과 EOL이 겹치는 치명적 리스크 인지 후 방치</a:t>
            </a:r>
            <a:endParaRPr lang="en-US" sz="1050" dirty="0"/>
          </a:p>
        </p:txBody>
      </p:sp>
      <p:sp>
        <p:nvSpPr>
          <p:cNvPr id="55" name="SK-27-text-54"/>
          <p:cNvSpPr/>
          <p:nvPr/>
        </p:nvSpPr>
        <p:spPr>
          <a:xfrm>
            <a:off x="4773811" y="5106591"/>
            <a:ext cx="4705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리스크 대장 즉시 등록 및 High 등급 부여</a:t>
            </a:r>
            <a:endParaRPr lang="en-US" sz="1125" dirty="0"/>
          </a:p>
        </p:txBody>
      </p:sp>
      <p:sp>
        <p:nvSpPr>
          <p:cNvPr id="56" name="SK-27-text-55"/>
          <p:cNvSpPr/>
          <p:nvPr/>
        </p:nvSpPr>
        <p:spPr>
          <a:xfrm>
            <a:off x="4773811" y="5320903"/>
            <a:ext cx="5219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영향도 평가(Impact Assessment) 실시</a:t>
            </a:r>
            <a:endParaRPr lang="en-US" sz="1125" dirty="0"/>
          </a:p>
        </p:txBody>
      </p:sp>
      <p:sp>
        <p:nvSpPr>
          <p:cNvPr id="57" name="SK-27-text-56"/>
          <p:cNvSpPr/>
          <p:nvPr/>
        </p:nvSpPr>
        <p:spPr>
          <a:xfrm>
            <a:off x="4773811" y="5535216"/>
            <a:ext cx="3505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마이그레이션 대응 인력 긴급 할당</a:t>
            </a:r>
            <a:endParaRPr lang="en-US" sz="1125" dirty="0"/>
          </a:p>
        </p:txBody>
      </p:sp>
      <p:sp>
        <p:nvSpPr>
          <p:cNvPr id="58" name="SK-27-text-57"/>
          <p:cNvSpPr/>
          <p:nvPr/>
        </p:nvSpPr>
        <p:spPr>
          <a:xfrm>
            <a:off x="7867501" y="5125641"/>
            <a:ext cx="1581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E-02 (Tech Lead 보고)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마이그레이션 2~4주 소요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배포일 D-37 시점</a:t>
            </a:r>
            <a:endParaRPr lang="en-US" sz="1050" dirty="0"/>
          </a:p>
        </p:txBody>
      </p:sp>
      <p:sp>
        <p:nvSpPr>
          <p:cNvPr id="59" name="SK-27-text-58"/>
          <p:cNvSpPr/>
          <p:nvPr/>
        </p:nvSpPr>
        <p:spPr>
          <a:xfrm>
            <a:off x="9856291" y="5125641"/>
            <a:ext cx="158115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지연 리스크 원천 차단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골든타임 확보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11049000" cy="447675"/>
          </a:xfrm>
          <a:prstGeom prst="rect">
            <a:avLst/>
          </a:prstGeom>
        </p:spPr>
      </p:pic>
      <p:pic>
        <p:nvPicPr>
          <p:cNvPr id="7" name="SK-2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23405"/>
            <a:ext cx="214313" cy="175320"/>
          </a:xfrm>
          <a:prstGeom prst="rect">
            <a:avLst/>
          </a:prstGeom>
        </p:spPr>
      </p:pic>
      <p:pic>
        <p:nvPicPr>
          <p:cNvPr id="8" name="SK-2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000250"/>
            <a:ext cx="3555950" cy="4552950"/>
          </a:xfrm>
          <a:prstGeom prst="rect">
            <a:avLst/>
          </a:prstGeom>
        </p:spPr>
      </p:pic>
      <p:pic>
        <p:nvPicPr>
          <p:cNvPr id="9" name="SK-2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181225"/>
            <a:ext cx="952500" cy="257175"/>
          </a:xfrm>
          <a:prstGeom prst="rect">
            <a:avLst/>
          </a:prstGeom>
        </p:spPr>
      </p:pic>
      <p:pic>
        <p:nvPicPr>
          <p:cNvPr id="10" name="SK-2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661047"/>
            <a:ext cx="381000" cy="304800"/>
          </a:xfrm>
          <a:prstGeom prst="rect">
            <a:avLst/>
          </a:prstGeom>
        </p:spPr>
      </p:pic>
      <p:pic>
        <p:nvPicPr>
          <p:cNvPr id="11" name="SK-2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741241"/>
            <a:ext cx="990600" cy="223838"/>
          </a:xfrm>
          <a:prstGeom prst="rect">
            <a:avLst/>
          </a:prstGeom>
        </p:spPr>
      </p:pic>
      <p:pic>
        <p:nvPicPr>
          <p:cNvPr id="12" name="SK-2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5776913"/>
            <a:ext cx="3098750" cy="595313"/>
          </a:xfrm>
          <a:prstGeom prst="rect">
            <a:avLst/>
          </a:prstGeom>
        </p:spPr>
      </p:pic>
      <p:pic>
        <p:nvPicPr>
          <p:cNvPr id="13" name="SK-2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5960715"/>
            <a:ext cx="166688" cy="137220"/>
          </a:xfrm>
          <a:prstGeom prst="rect">
            <a:avLst/>
          </a:prstGeom>
        </p:spPr>
      </p:pic>
      <p:pic>
        <p:nvPicPr>
          <p:cNvPr id="14" name="SK-2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7950" y="2000250"/>
            <a:ext cx="3555950" cy="4552950"/>
          </a:xfrm>
          <a:prstGeom prst="rect">
            <a:avLst/>
          </a:prstGeom>
        </p:spPr>
      </p:pic>
      <p:pic>
        <p:nvPicPr>
          <p:cNvPr id="15" name="SK-2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2181225"/>
            <a:ext cx="952500" cy="257175"/>
          </a:xfrm>
          <a:prstGeom prst="rect">
            <a:avLst/>
          </a:prstGeom>
        </p:spPr>
      </p:pic>
      <p:pic>
        <p:nvPicPr>
          <p:cNvPr id="16" name="SK-2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6550" y="2661047"/>
            <a:ext cx="381000" cy="304800"/>
          </a:xfrm>
          <a:prstGeom prst="rect">
            <a:avLst/>
          </a:prstGeom>
        </p:spPr>
      </p:pic>
      <p:pic>
        <p:nvPicPr>
          <p:cNvPr id="17" name="SK-2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6550" y="3489871"/>
            <a:ext cx="1676400" cy="223838"/>
          </a:xfrm>
          <a:prstGeom prst="rect">
            <a:avLst/>
          </a:prstGeom>
        </p:spPr>
      </p:pic>
      <p:pic>
        <p:nvPicPr>
          <p:cNvPr id="18" name="SK-2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6550" y="5776913"/>
            <a:ext cx="3098750" cy="595313"/>
          </a:xfrm>
          <a:prstGeom prst="rect">
            <a:avLst/>
          </a:prstGeom>
        </p:spPr>
      </p:pic>
      <p:pic>
        <p:nvPicPr>
          <p:cNvPr id="19" name="SK-2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6550" y="5960715"/>
            <a:ext cx="166688" cy="137220"/>
          </a:xfrm>
          <a:prstGeom prst="rect">
            <a:avLst/>
          </a:prstGeom>
        </p:spPr>
      </p:pic>
      <p:pic>
        <p:nvPicPr>
          <p:cNvPr id="20" name="SK-2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4401" y="2000250"/>
            <a:ext cx="3555950" cy="4552950"/>
          </a:xfrm>
          <a:prstGeom prst="rect">
            <a:avLst/>
          </a:prstGeom>
        </p:spPr>
      </p:pic>
      <p:pic>
        <p:nvPicPr>
          <p:cNvPr id="21" name="SK-2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3001" y="2181225"/>
            <a:ext cx="952500" cy="257175"/>
          </a:xfrm>
          <a:prstGeom prst="rect">
            <a:avLst/>
          </a:prstGeom>
        </p:spPr>
      </p:pic>
      <p:pic>
        <p:nvPicPr>
          <p:cNvPr id="22" name="SK-2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93001" y="2661047"/>
            <a:ext cx="381000" cy="304800"/>
          </a:xfrm>
          <a:prstGeom prst="rect">
            <a:avLst/>
          </a:prstGeom>
        </p:spPr>
      </p:pic>
      <p:pic>
        <p:nvPicPr>
          <p:cNvPr id="23" name="SK-2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93001" y="3741241"/>
            <a:ext cx="1981200" cy="223838"/>
          </a:xfrm>
          <a:prstGeom prst="rect">
            <a:avLst/>
          </a:prstGeom>
        </p:spPr>
      </p:pic>
      <p:pic>
        <p:nvPicPr>
          <p:cNvPr id="24" name="SK-2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93001" y="5776913"/>
            <a:ext cx="3098750" cy="595313"/>
          </a:xfrm>
          <a:prstGeom prst="rect">
            <a:avLst/>
          </a:prstGeom>
        </p:spPr>
      </p:pic>
      <p:pic>
        <p:nvPicPr>
          <p:cNvPr id="25" name="SK-2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93001" y="5960715"/>
            <a:ext cx="166688" cy="137220"/>
          </a:xfrm>
          <a:prstGeom prst="rect">
            <a:avLst/>
          </a:prstGeom>
        </p:spPr>
      </p:pic>
      <p:sp>
        <p:nvSpPr>
          <p:cNvPr id="26" name="SK-28-text-25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7" name="SK-28-text-26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C-6. 핵심 교훈: 가장 치명적이었던 개입 실패 Top 3</a:t>
            </a:r>
            <a:endParaRPr lang="en-US" sz="2550" dirty="0"/>
          </a:p>
        </p:txBody>
      </p:sp>
      <p:sp>
        <p:nvSpPr>
          <p:cNvPr id="28" name="SK-28-text-27"/>
          <p:cNvSpPr/>
          <p:nvPr/>
        </p:nvSpPr>
        <p:spPr>
          <a:xfrm>
            <a:off x="1052513" y="1466850"/>
            <a:ext cx="10668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33주간의 프로젝트 실패를 결정지은 3가지 '구조적 맹점' 분석</a:t>
            </a:r>
            <a:endParaRPr lang="en-US" sz="1350" dirty="0"/>
          </a:p>
        </p:txBody>
      </p:sp>
      <p:sp>
        <p:nvSpPr>
          <p:cNvPr id="29" name="SK-28-text-28"/>
          <p:cNvSpPr/>
          <p:nvPr/>
        </p:nvSpPr>
        <p:spPr>
          <a:xfrm>
            <a:off x="895350" y="2181225"/>
            <a:ext cx="15270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FAILURE 01</a:t>
            </a:r>
            <a:endParaRPr lang="en-US" sz="1050" dirty="0"/>
          </a:p>
        </p:txBody>
      </p:sp>
      <p:sp>
        <p:nvSpPr>
          <p:cNvPr id="30" name="SK-28-text-29"/>
          <p:cNvSpPr/>
          <p:nvPr/>
        </p:nvSpPr>
        <p:spPr>
          <a:xfrm>
            <a:off x="800100" y="3143250"/>
            <a:ext cx="3098750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측정 체계의 미수립</a:t>
            </a:r>
            <a:endParaRPr lang="en-US" sz="1650" dirty="0"/>
          </a:p>
        </p:txBody>
      </p:sp>
      <p:sp>
        <p:nvSpPr>
          <p:cNvPr id="31" name="SK-28-text-30"/>
          <p:cNvSpPr/>
          <p:nvPr/>
        </p:nvSpPr>
        <p:spPr>
          <a:xfrm>
            <a:off x="876300" y="3741241"/>
            <a:ext cx="154305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W1 Kick-off</a:t>
            </a:r>
            <a:endParaRPr lang="en-US" sz="975" dirty="0"/>
          </a:p>
        </p:txBody>
      </p:sp>
      <p:sp>
        <p:nvSpPr>
          <p:cNvPr id="32" name="SK-28-text-31"/>
          <p:cNvSpPr/>
          <p:nvPr/>
        </p:nvSpPr>
        <p:spPr>
          <a:xfrm>
            <a:off x="800100" y="4117479"/>
            <a:ext cx="317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증거</a:t>
            </a:r>
            <a:endParaRPr lang="en-US" sz="900" dirty="0"/>
          </a:p>
        </p:txBody>
      </p:sp>
      <p:sp>
        <p:nvSpPr>
          <p:cNvPr id="33" name="SK-28-text-32"/>
          <p:cNvSpPr/>
          <p:nvPr/>
        </p:nvSpPr>
        <p:spPr>
          <a:xfrm>
            <a:off x="800100" y="4317504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노유진의 '편익 측정' 제안을 "기간 내 측정 불가" 이유로 기각(M-01).</a:t>
            </a:r>
            <a:endParaRPr lang="en-US" sz="1200" dirty="0"/>
          </a:p>
        </p:txBody>
      </p:sp>
      <p:sp>
        <p:nvSpPr>
          <p:cNvPr id="34" name="SK-28-text-33"/>
          <p:cNvSpPr/>
          <p:nvPr/>
        </p:nvSpPr>
        <p:spPr>
          <a:xfrm>
            <a:off x="800100" y="4898529"/>
            <a:ext cx="317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</a:t>
            </a:r>
            <a:endParaRPr lang="en-US" sz="900" dirty="0"/>
          </a:p>
        </p:txBody>
      </p:sp>
      <p:sp>
        <p:nvSpPr>
          <p:cNvPr id="35" name="SK-28-text-34"/>
          <p:cNvSpPr/>
          <p:nvPr/>
        </p:nvSpPr>
        <p:spPr>
          <a:xfrm>
            <a:off x="800100" y="5098554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케이스(118억 투자 근거)와 PM의 관리 지표가 완전히 분리됨.</a:t>
            </a:r>
            <a:endParaRPr lang="en-US" sz="1200" dirty="0"/>
          </a:p>
        </p:txBody>
      </p:sp>
      <p:sp>
        <p:nvSpPr>
          <p:cNvPr id="36" name="SK-28-text-35"/>
          <p:cNvSpPr/>
          <p:nvPr/>
        </p:nvSpPr>
        <p:spPr>
          <a:xfrm>
            <a:off x="1023938" y="5929313"/>
            <a:ext cx="309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결과</a:t>
            </a:r>
            <a:endParaRPr lang="en-US" sz="1050" dirty="0"/>
          </a:p>
        </p:txBody>
      </p:sp>
      <p:sp>
        <p:nvSpPr>
          <p:cNvPr id="37" name="SK-28-text-36"/>
          <p:cNvSpPr/>
          <p:nvPr/>
        </p:nvSpPr>
        <p:spPr>
          <a:xfrm>
            <a:off x="800100" y="6157913"/>
            <a:ext cx="4533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가치 전달 실패를 인지할 '눈'이 사라짐.</a:t>
            </a:r>
            <a:endParaRPr lang="en-US" sz="1125" dirty="0"/>
          </a:p>
        </p:txBody>
      </p:sp>
      <p:sp>
        <p:nvSpPr>
          <p:cNvPr id="38" name="SK-28-text-37"/>
          <p:cNvSpPr/>
          <p:nvPr/>
        </p:nvSpPr>
        <p:spPr>
          <a:xfrm>
            <a:off x="4641800" y="2181225"/>
            <a:ext cx="15270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FAILURE 02</a:t>
            </a:r>
            <a:endParaRPr lang="en-US" sz="1050" dirty="0"/>
          </a:p>
        </p:txBody>
      </p:sp>
      <p:sp>
        <p:nvSpPr>
          <p:cNvPr id="39" name="SK-28-text-38"/>
          <p:cNvSpPr/>
          <p:nvPr/>
        </p:nvSpPr>
        <p:spPr>
          <a:xfrm>
            <a:off x="4546550" y="3143250"/>
            <a:ext cx="4631055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보고서의 검토자/서명자 부재</a:t>
            </a:r>
            <a:endParaRPr lang="en-US" sz="1650" dirty="0"/>
          </a:p>
        </p:txBody>
      </p:sp>
      <p:sp>
        <p:nvSpPr>
          <p:cNvPr id="40" name="SK-28-text-39"/>
          <p:cNvSpPr/>
          <p:nvPr/>
        </p:nvSpPr>
        <p:spPr>
          <a:xfrm>
            <a:off x="4622750" y="3489871"/>
            <a:ext cx="295794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W18 Automation Start</a:t>
            </a:r>
            <a:endParaRPr lang="en-US" sz="975" dirty="0"/>
          </a:p>
        </p:txBody>
      </p:sp>
      <p:sp>
        <p:nvSpPr>
          <p:cNvPr id="41" name="SK-28-text-40"/>
          <p:cNvSpPr/>
          <p:nvPr/>
        </p:nvSpPr>
        <p:spPr>
          <a:xfrm>
            <a:off x="4546550" y="3866108"/>
            <a:ext cx="317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증거</a:t>
            </a:r>
            <a:endParaRPr lang="en-US" sz="900" dirty="0"/>
          </a:p>
        </p:txBody>
      </p:sp>
      <p:sp>
        <p:nvSpPr>
          <p:cNvPr id="42" name="SK-28-text-41"/>
          <p:cNvSpPr/>
          <p:nvPr/>
        </p:nvSpPr>
        <p:spPr>
          <a:xfrm>
            <a:off x="4546550" y="4066133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보고서에 인간 PM의 검토 및 승인 흔적 전무.</a:t>
            </a:r>
            <a:endParaRPr lang="en-US" sz="1200" dirty="0"/>
          </a:p>
        </p:txBody>
      </p:sp>
      <p:sp>
        <p:nvSpPr>
          <p:cNvPr id="43" name="SK-28-text-42"/>
          <p:cNvSpPr/>
          <p:nvPr/>
        </p:nvSpPr>
        <p:spPr>
          <a:xfrm>
            <a:off x="4546550" y="4647158"/>
            <a:ext cx="317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</a:t>
            </a:r>
            <a:endParaRPr lang="en-US" sz="900" dirty="0"/>
          </a:p>
        </p:txBody>
      </p:sp>
      <p:sp>
        <p:nvSpPr>
          <p:cNvPr id="44" name="SK-28-text-43"/>
          <p:cNvSpPr/>
          <p:nvPr/>
        </p:nvSpPr>
        <p:spPr>
          <a:xfrm>
            <a:off x="4546550" y="4847183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질문하지 않는 진실을 인간이 검증하지 않는 '무비판적 수용' 구조.</a:t>
            </a:r>
            <a:endParaRPr lang="en-US" sz="1200" dirty="0"/>
          </a:p>
        </p:txBody>
      </p:sp>
      <p:sp>
        <p:nvSpPr>
          <p:cNvPr id="45" name="SK-28-text-44"/>
          <p:cNvSpPr/>
          <p:nvPr/>
        </p:nvSpPr>
        <p:spPr>
          <a:xfrm>
            <a:off x="4770388" y="5929313"/>
            <a:ext cx="309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결과</a:t>
            </a:r>
            <a:endParaRPr lang="en-US" sz="1050" dirty="0"/>
          </a:p>
        </p:txBody>
      </p:sp>
      <p:sp>
        <p:nvSpPr>
          <p:cNvPr id="46" name="SK-28-text-45"/>
          <p:cNvSpPr/>
          <p:nvPr/>
        </p:nvSpPr>
        <p:spPr>
          <a:xfrm>
            <a:off x="4546550" y="6157913"/>
            <a:ext cx="48768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보고서의 항상성이 문제를 은폐함.</a:t>
            </a:r>
            <a:endParaRPr lang="en-US" sz="1125" dirty="0"/>
          </a:p>
        </p:txBody>
      </p:sp>
      <p:sp>
        <p:nvSpPr>
          <p:cNvPr id="47" name="SK-28-text-46"/>
          <p:cNvSpPr/>
          <p:nvPr/>
        </p:nvSpPr>
        <p:spPr>
          <a:xfrm>
            <a:off x="8388251" y="2181225"/>
            <a:ext cx="15270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FAILURE 03</a:t>
            </a:r>
            <a:endParaRPr lang="en-US" sz="1050" dirty="0"/>
          </a:p>
        </p:txBody>
      </p:sp>
      <p:sp>
        <p:nvSpPr>
          <p:cNvPr id="48" name="SK-28-text-47"/>
          <p:cNvSpPr/>
          <p:nvPr/>
        </p:nvSpPr>
        <p:spPr>
          <a:xfrm>
            <a:off x="8293001" y="3143250"/>
            <a:ext cx="3098750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이해관계자 데이터 배포 누락</a:t>
            </a:r>
            <a:endParaRPr lang="en-US" sz="1650" dirty="0"/>
          </a:p>
        </p:txBody>
      </p:sp>
      <p:sp>
        <p:nvSpPr>
          <p:cNvPr id="49" name="SK-28-text-48"/>
          <p:cNvSpPr/>
          <p:nvPr/>
        </p:nvSpPr>
        <p:spPr>
          <a:xfrm>
            <a:off x="8369201" y="3741241"/>
            <a:ext cx="336804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RACI Accountability Void</a:t>
            </a:r>
            <a:endParaRPr lang="en-US" sz="975" dirty="0"/>
          </a:p>
        </p:txBody>
      </p:sp>
      <p:sp>
        <p:nvSpPr>
          <p:cNvPr id="50" name="SK-28-text-49"/>
          <p:cNvSpPr/>
          <p:nvPr/>
        </p:nvSpPr>
        <p:spPr>
          <a:xfrm>
            <a:off x="8293001" y="4117479"/>
            <a:ext cx="317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증거</a:t>
            </a:r>
            <a:endParaRPr lang="en-US" sz="900" dirty="0"/>
          </a:p>
        </p:txBody>
      </p:sp>
      <p:sp>
        <p:nvSpPr>
          <p:cNvPr id="51" name="SK-28-text-50"/>
          <p:cNvSpPr/>
          <p:nvPr/>
        </p:nvSpPr>
        <p:spPr>
          <a:xfrm>
            <a:off x="8293001" y="4317504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공유(I) 대상에서 PM, PO, 스폰서가 제외됨.</a:t>
            </a:r>
            <a:endParaRPr lang="en-US" sz="1200" dirty="0"/>
          </a:p>
        </p:txBody>
      </p:sp>
      <p:sp>
        <p:nvSpPr>
          <p:cNvPr id="52" name="SK-28-text-51"/>
          <p:cNvSpPr/>
          <p:nvPr/>
        </p:nvSpPr>
        <p:spPr>
          <a:xfrm>
            <a:off x="8293001" y="4898529"/>
            <a:ext cx="3174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</a:t>
            </a:r>
            <a:endParaRPr lang="en-US" sz="900" dirty="0"/>
          </a:p>
        </p:txBody>
      </p:sp>
      <p:sp>
        <p:nvSpPr>
          <p:cNvPr id="53" name="SK-28-text-52"/>
          <p:cNvSpPr/>
          <p:nvPr/>
        </p:nvSpPr>
        <p:spPr>
          <a:xfrm>
            <a:off x="8293001" y="5098554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현장의 비명(로봇 전원 OFF)이 결정권자에게 전달되지 않는 차단막 형성.</a:t>
            </a:r>
            <a:endParaRPr lang="en-US" sz="1200" dirty="0"/>
          </a:p>
        </p:txBody>
      </p:sp>
      <p:sp>
        <p:nvSpPr>
          <p:cNvPr id="54" name="SK-28-text-53"/>
          <p:cNvSpPr/>
          <p:nvPr/>
        </p:nvSpPr>
        <p:spPr>
          <a:xfrm>
            <a:off x="8516838" y="5929313"/>
            <a:ext cx="309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결과</a:t>
            </a:r>
            <a:endParaRPr lang="en-US" sz="1050" dirty="0"/>
          </a:p>
        </p:txBody>
      </p:sp>
      <p:sp>
        <p:nvSpPr>
          <p:cNvPr id="55" name="SK-28-text-54"/>
          <p:cNvSpPr/>
          <p:nvPr/>
        </p:nvSpPr>
        <p:spPr>
          <a:xfrm>
            <a:off x="8293001" y="6157913"/>
            <a:ext cx="389899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이탈(임무 시도 73% 감소) 방치.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2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2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6825"/>
            <a:ext cx="4328220" cy="2137470"/>
          </a:xfrm>
          <a:prstGeom prst="rect">
            <a:avLst/>
          </a:prstGeom>
        </p:spPr>
      </p:pic>
      <p:pic>
        <p:nvPicPr>
          <p:cNvPr id="7" name="SK-2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52860"/>
            <a:ext cx="238125" cy="190500"/>
          </a:xfrm>
          <a:prstGeom prst="rect">
            <a:avLst/>
          </a:prstGeom>
        </p:spPr>
      </p:pic>
      <p:pic>
        <p:nvPicPr>
          <p:cNvPr id="8" name="SK-2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28120"/>
            <a:ext cx="4328220" cy="3082230"/>
          </a:xfrm>
          <a:prstGeom prst="rect">
            <a:avLst/>
          </a:prstGeom>
        </p:spPr>
      </p:pic>
      <p:pic>
        <p:nvPicPr>
          <p:cNvPr id="9" name="SK-2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714155"/>
            <a:ext cx="238125" cy="190500"/>
          </a:xfrm>
          <a:prstGeom prst="rect">
            <a:avLst/>
          </a:prstGeom>
        </p:spPr>
      </p:pic>
      <p:pic>
        <p:nvPicPr>
          <p:cNvPr id="10" name="SK-2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013895"/>
            <a:ext cx="1244352" cy="366713"/>
          </a:xfrm>
          <a:prstGeom prst="rect">
            <a:avLst/>
          </a:prstGeom>
        </p:spPr>
      </p:pic>
      <p:pic>
        <p:nvPicPr>
          <p:cNvPr id="11" name="SK-2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6352" y="4013895"/>
            <a:ext cx="2702868" cy="366713"/>
          </a:xfrm>
          <a:prstGeom prst="rect">
            <a:avLst/>
          </a:prstGeom>
        </p:spPr>
      </p:pic>
      <p:pic>
        <p:nvPicPr>
          <p:cNvPr id="12" name="SK-2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380607"/>
            <a:ext cx="1244352" cy="701873"/>
          </a:xfrm>
          <a:prstGeom prst="rect">
            <a:avLst/>
          </a:prstGeom>
        </p:spPr>
      </p:pic>
      <p:pic>
        <p:nvPicPr>
          <p:cNvPr id="13" name="SK-2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6352" y="4380607"/>
            <a:ext cx="2702868" cy="701873"/>
          </a:xfrm>
          <a:prstGeom prst="rect">
            <a:avLst/>
          </a:prstGeom>
        </p:spPr>
      </p:pic>
      <p:pic>
        <p:nvPicPr>
          <p:cNvPr id="14" name="SK-2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082480"/>
            <a:ext cx="1244352" cy="701873"/>
          </a:xfrm>
          <a:prstGeom prst="rect">
            <a:avLst/>
          </a:prstGeom>
        </p:spPr>
      </p:pic>
      <p:pic>
        <p:nvPicPr>
          <p:cNvPr id="15" name="SK-2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06352" y="5082480"/>
            <a:ext cx="2702868" cy="701873"/>
          </a:xfrm>
          <a:prstGeom prst="rect">
            <a:avLst/>
          </a:prstGeom>
        </p:spPr>
      </p:pic>
      <p:pic>
        <p:nvPicPr>
          <p:cNvPr id="16" name="SK-2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784354"/>
            <a:ext cx="1244352" cy="702171"/>
          </a:xfrm>
          <a:prstGeom prst="rect">
            <a:avLst/>
          </a:prstGeom>
        </p:spPr>
      </p:pic>
      <p:pic>
        <p:nvPicPr>
          <p:cNvPr id="17" name="SK-2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06352" y="5784354"/>
            <a:ext cx="2702868" cy="702171"/>
          </a:xfrm>
          <a:prstGeom prst="rect">
            <a:avLst/>
          </a:prstGeom>
        </p:spPr>
      </p:pic>
      <p:pic>
        <p:nvPicPr>
          <p:cNvPr id="18" name="SK-2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28320" y="1266825"/>
            <a:ext cx="6492180" cy="3081338"/>
          </a:xfrm>
          <a:prstGeom prst="rect">
            <a:avLst/>
          </a:prstGeom>
        </p:spPr>
      </p:pic>
      <p:pic>
        <p:nvPicPr>
          <p:cNvPr id="19" name="SK-2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18820" y="1452860"/>
            <a:ext cx="238125" cy="190500"/>
          </a:xfrm>
          <a:prstGeom prst="rect">
            <a:avLst/>
          </a:prstGeom>
        </p:spPr>
      </p:pic>
      <p:pic>
        <p:nvPicPr>
          <p:cNvPr id="20" name="SK-2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18820" y="1752600"/>
            <a:ext cx="6111180" cy="557957"/>
          </a:xfrm>
          <a:prstGeom prst="rect">
            <a:avLst/>
          </a:prstGeom>
        </p:spPr>
      </p:pic>
      <p:pic>
        <p:nvPicPr>
          <p:cNvPr id="21" name="SK-2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33120" y="1828800"/>
            <a:ext cx="228600" cy="228600"/>
          </a:xfrm>
          <a:prstGeom prst="rect">
            <a:avLst/>
          </a:prstGeom>
        </p:spPr>
      </p:pic>
      <p:pic>
        <p:nvPicPr>
          <p:cNvPr id="22" name="SK-2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18820" y="2386757"/>
            <a:ext cx="6111180" cy="557957"/>
          </a:xfrm>
          <a:prstGeom prst="rect">
            <a:avLst/>
          </a:prstGeom>
        </p:spPr>
      </p:pic>
      <p:pic>
        <p:nvPicPr>
          <p:cNvPr id="23" name="SK-2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33120" y="2462957"/>
            <a:ext cx="228600" cy="228600"/>
          </a:xfrm>
          <a:prstGeom prst="rect">
            <a:avLst/>
          </a:prstGeom>
        </p:spPr>
      </p:pic>
      <p:pic>
        <p:nvPicPr>
          <p:cNvPr id="24" name="SK-2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18820" y="3020913"/>
            <a:ext cx="6111180" cy="557957"/>
          </a:xfrm>
          <a:prstGeom prst="rect">
            <a:avLst/>
          </a:prstGeom>
        </p:spPr>
      </p:pic>
      <p:pic>
        <p:nvPicPr>
          <p:cNvPr id="25" name="SK-2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33120" y="3097113"/>
            <a:ext cx="228600" cy="228600"/>
          </a:xfrm>
          <a:prstGeom prst="rect">
            <a:avLst/>
          </a:prstGeom>
        </p:spPr>
      </p:pic>
      <p:pic>
        <p:nvPicPr>
          <p:cNvPr id="26" name="SK-2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18820" y="3655070"/>
            <a:ext cx="6111180" cy="557957"/>
          </a:xfrm>
          <a:prstGeom prst="rect">
            <a:avLst/>
          </a:prstGeom>
        </p:spPr>
      </p:pic>
      <p:pic>
        <p:nvPicPr>
          <p:cNvPr id="27" name="SK-29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33120" y="3731270"/>
            <a:ext cx="228600" cy="228600"/>
          </a:xfrm>
          <a:prstGeom prst="rect">
            <a:avLst/>
          </a:prstGeom>
        </p:spPr>
      </p:pic>
      <p:pic>
        <p:nvPicPr>
          <p:cNvPr id="28" name="SK-29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28320" y="4471988"/>
            <a:ext cx="6492180" cy="2138363"/>
          </a:xfrm>
          <a:prstGeom prst="rect">
            <a:avLst/>
          </a:prstGeom>
        </p:spPr>
      </p:pic>
      <p:pic>
        <p:nvPicPr>
          <p:cNvPr id="29" name="SK-29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18820" y="4658023"/>
            <a:ext cx="238125" cy="190500"/>
          </a:xfrm>
          <a:prstGeom prst="rect">
            <a:avLst/>
          </a:prstGeom>
        </p:spPr>
      </p:pic>
      <p:pic>
        <p:nvPicPr>
          <p:cNvPr id="30" name="SK-29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18820" y="4957763"/>
            <a:ext cx="1164729" cy="366713"/>
          </a:xfrm>
          <a:prstGeom prst="rect">
            <a:avLst/>
          </a:prstGeom>
        </p:spPr>
      </p:pic>
      <p:pic>
        <p:nvPicPr>
          <p:cNvPr id="31" name="SK-29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83548" y="4957763"/>
            <a:ext cx="1801118" cy="366713"/>
          </a:xfrm>
          <a:prstGeom prst="rect">
            <a:avLst/>
          </a:prstGeom>
        </p:spPr>
      </p:pic>
      <p:pic>
        <p:nvPicPr>
          <p:cNvPr id="32" name="SK-29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84666" y="4957763"/>
            <a:ext cx="3145334" cy="366713"/>
          </a:xfrm>
          <a:prstGeom prst="rect">
            <a:avLst/>
          </a:prstGeom>
        </p:spPr>
      </p:pic>
      <p:pic>
        <p:nvPicPr>
          <p:cNvPr id="33" name="SK-29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18820" y="5324475"/>
            <a:ext cx="1164729" cy="581025"/>
          </a:xfrm>
          <a:prstGeom prst="rect">
            <a:avLst/>
          </a:prstGeom>
        </p:spPr>
      </p:pic>
      <p:pic>
        <p:nvPicPr>
          <p:cNvPr id="34" name="SK-29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83548" y="5324475"/>
            <a:ext cx="1801118" cy="581025"/>
          </a:xfrm>
          <a:prstGeom prst="rect">
            <a:avLst/>
          </a:prstGeom>
        </p:spPr>
      </p:pic>
      <p:pic>
        <p:nvPicPr>
          <p:cNvPr id="35" name="SK-29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84666" y="5324475"/>
            <a:ext cx="3145334" cy="581025"/>
          </a:xfrm>
          <a:prstGeom prst="rect">
            <a:avLst/>
          </a:prstGeom>
        </p:spPr>
      </p:pic>
      <p:pic>
        <p:nvPicPr>
          <p:cNvPr id="36" name="SK-29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18820" y="5905500"/>
            <a:ext cx="1164729" cy="581025"/>
          </a:xfrm>
          <a:prstGeom prst="rect">
            <a:avLst/>
          </a:prstGeom>
        </p:spPr>
      </p:pic>
      <p:pic>
        <p:nvPicPr>
          <p:cNvPr id="37" name="SK-29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83548" y="5905500"/>
            <a:ext cx="1801118" cy="581025"/>
          </a:xfrm>
          <a:prstGeom prst="rect">
            <a:avLst/>
          </a:prstGeom>
        </p:spPr>
      </p:pic>
      <p:pic>
        <p:nvPicPr>
          <p:cNvPr id="38" name="SK-29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84666" y="5905500"/>
            <a:ext cx="3145334" cy="581025"/>
          </a:xfrm>
          <a:prstGeom prst="rect">
            <a:avLst/>
          </a:prstGeom>
        </p:spPr>
      </p:pic>
      <p:sp>
        <p:nvSpPr>
          <p:cNvPr id="39" name="SK-29-text-38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0" name="SK-29-text-39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D-1. POC 범위 및 구현 계획</a:t>
            </a:r>
            <a:endParaRPr lang="en-US" sz="2550" dirty="0"/>
          </a:p>
        </p:txBody>
      </p:sp>
      <p:sp>
        <p:nvSpPr>
          <p:cNvPr id="41" name="SK-29-text-40"/>
          <p:cNvSpPr/>
          <p:nvPr/>
        </p:nvSpPr>
        <p:spPr>
          <a:xfrm>
            <a:off x="1095375" y="139065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검증 목표</a:t>
            </a:r>
            <a:endParaRPr lang="en-US" sz="1500" dirty="0"/>
          </a:p>
        </p:txBody>
      </p:sp>
      <p:sp>
        <p:nvSpPr>
          <p:cNvPr id="42" name="SK-29-text-41"/>
          <p:cNvSpPr/>
          <p:nvPr/>
        </p:nvSpPr>
        <p:spPr>
          <a:xfrm>
            <a:off x="933450" y="1752600"/>
            <a:ext cx="3775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동일한 과거 데이터를 활용한 기존 AI vs PM Transformers 성능 대조</a:t>
            </a:r>
            <a:endParaRPr lang="en-US" sz="1125" dirty="0"/>
          </a:p>
        </p:txBody>
      </p:sp>
      <p:sp>
        <p:nvSpPr>
          <p:cNvPr id="43" name="SK-29-text-42"/>
          <p:cNvSpPr/>
          <p:nvPr/>
        </p:nvSpPr>
        <p:spPr>
          <a:xfrm>
            <a:off x="933450" y="2219325"/>
            <a:ext cx="3775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주간보고 "ALL GREEN"의 허위성 증명 및 잠재적 리스크 조기 감지 능력 확인</a:t>
            </a:r>
            <a:endParaRPr lang="en-US" sz="1125" dirty="0"/>
          </a:p>
        </p:txBody>
      </p:sp>
      <p:sp>
        <p:nvSpPr>
          <p:cNvPr id="44" name="SK-29-text-43"/>
          <p:cNvSpPr/>
          <p:nvPr/>
        </p:nvSpPr>
        <p:spPr>
          <a:xfrm>
            <a:off x="933450" y="2686050"/>
            <a:ext cx="3775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구조적 맹목(Structural Blindness)을 해결하는 데이터 교차 검증 로직 검증</a:t>
            </a:r>
            <a:endParaRPr lang="en-US" sz="1125" dirty="0"/>
          </a:p>
        </p:txBody>
      </p:sp>
      <p:sp>
        <p:nvSpPr>
          <p:cNvPr id="45" name="SK-29-text-44"/>
          <p:cNvSpPr/>
          <p:nvPr/>
        </p:nvSpPr>
        <p:spPr>
          <a:xfrm>
            <a:off x="1095375" y="3651945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데이터 범위 (W1~W33)</a:t>
            </a:r>
            <a:endParaRPr lang="en-US" sz="1500" dirty="0"/>
          </a:p>
        </p:txBody>
      </p:sp>
      <p:sp>
        <p:nvSpPr>
          <p:cNvPr id="46" name="SK-29-text-45"/>
          <p:cNvSpPr/>
          <p:nvPr/>
        </p:nvSpPr>
        <p:spPr>
          <a:xfrm>
            <a:off x="876300" y="4013895"/>
            <a:ext cx="109195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1125" dirty="0"/>
          </a:p>
        </p:txBody>
      </p:sp>
      <p:sp>
        <p:nvSpPr>
          <p:cNvPr id="47" name="SK-29-text-46"/>
          <p:cNvSpPr/>
          <p:nvPr/>
        </p:nvSpPr>
        <p:spPr>
          <a:xfrm>
            <a:off x="2120652" y="4013895"/>
            <a:ext cx="2550468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검증 항목</a:t>
            </a:r>
            <a:endParaRPr lang="en-US" sz="1125" dirty="0"/>
          </a:p>
        </p:txBody>
      </p:sp>
      <p:sp>
        <p:nvSpPr>
          <p:cNvPr id="48" name="SK-29-text-47"/>
          <p:cNvSpPr/>
          <p:nvPr/>
        </p:nvSpPr>
        <p:spPr>
          <a:xfrm>
            <a:off x="876300" y="4380607"/>
            <a:ext cx="101575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데이터</a:t>
            </a:r>
            <a:endParaRPr lang="en-US" sz="1125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/ EVM</a:t>
            </a:r>
            <a:endParaRPr lang="en-US" sz="1125" dirty="0"/>
          </a:p>
        </p:txBody>
      </p:sp>
      <p:sp>
        <p:nvSpPr>
          <p:cNvPr id="49" name="SK-29-text-48"/>
          <p:cNvSpPr/>
          <p:nvPr/>
        </p:nvSpPr>
        <p:spPr>
          <a:xfrm>
            <a:off x="2120652" y="4380607"/>
            <a:ext cx="2474268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변경에 따른 완료율 부풀림,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누락분 합산 CPI 산출</a:t>
            </a:r>
            <a:endParaRPr lang="en-US" sz="1125" dirty="0"/>
          </a:p>
        </p:txBody>
      </p:sp>
      <p:sp>
        <p:nvSpPr>
          <p:cNvPr id="50" name="SK-29-text-49"/>
          <p:cNvSpPr/>
          <p:nvPr/>
        </p:nvSpPr>
        <p:spPr>
          <a:xfrm>
            <a:off x="876300" y="5082480"/>
            <a:ext cx="101575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데이터</a:t>
            </a:r>
            <a:endParaRPr lang="en-US" sz="1125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Telemetry</a:t>
            </a:r>
            <a:endParaRPr lang="en-US" sz="1125" dirty="0"/>
          </a:p>
        </p:txBody>
      </p:sp>
      <p:sp>
        <p:nvSpPr>
          <p:cNvPr id="51" name="SK-29-text-50"/>
          <p:cNvSpPr/>
          <p:nvPr/>
        </p:nvSpPr>
        <p:spPr>
          <a:xfrm>
            <a:off x="2120652" y="5082480"/>
            <a:ext cx="2474268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무개입 완주율(6.1%)과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보고된 성공률(93.4%) 간의 괴리 분석</a:t>
            </a:r>
            <a:endParaRPr lang="en-US" sz="1125" dirty="0"/>
          </a:p>
        </p:txBody>
      </p:sp>
      <p:sp>
        <p:nvSpPr>
          <p:cNvPr id="52" name="SK-29-text-51"/>
          <p:cNvSpPr/>
          <p:nvPr/>
        </p:nvSpPr>
        <p:spPr>
          <a:xfrm>
            <a:off x="876300" y="5784354"/>
            <a:ext cx="1015752" cy="70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소통 기록</a:t>
            </a:r>
            <a:endParaRPr lang="en-US" sz="1125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Messenger / Email</a:t>
            </a:r>
            <a:endParaRPr lang="en-US" sz="1125" dirty="0"/>
          </a:p>
        </p:txBody>
      </p:sp>
      <p:sp>
        <p:nvSpPr>
          <p:cNvPr id="53" name="SK-29-text-52"/>
          <p:cNvSpPr/>
          <p:nvPr/>
        </p:nvSpPr>
        <p:spPr>
          <a:xfrm>
            <a:off x="2120652" y="5784354"/>
            <a:ext cx="2474268" cy="70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 사항 식별 및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 간 의사결정 불일치 자동 추출</a:t>
            </a:r>
            <a:endParaRPr lang="en-US" sz="1125" dirty="0"/>
          </a:p>
        </p:txBody>
      </p:sp>
      <p:sp>
        <p:nvSpPr>
          <p:cNvPr id="54" name="SK-29-text-53"/>
          <p:cNvSpPr/>
          <p:nvPr/>
        </p:nvSpPr>
        <p:spPr>
          <a:xfrm>
            <a:off x="5652195" y="1390650"/>
            <a:ext cx="2838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로직 및 시나리오</a:t>
            </a:r>
            <a:endParaRPr lang="en-US" sz="1500" dirty="0"/>
          </a:p>
        </p:txBody>
      </p:sp>
      <p:sp>
        <p:nvSpPr>
          <p:cNvPr id="55" name="SK-29-text-54"/>
          <p:cNvSpPr/>
          <p:nvPr/>
        </p:nvSpPr>
        <p:spPr>
          <a:xfrm>
            <a:off x="5480745" y="18288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56" name="SK-29-text-55"/>
          <p:cNvSpPr/>
          <p:nvPr/>
        </p:nvSpPr>
        <p:spPr>
          <a:xfrm>
            <a:off x="5814120" y="1838325"/>
            <a:ext cx="2453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통합 및 인제스천</a:t>
            </a:r>
            <a:endParaRPr lang="en-US" sz="1200" dirty="0"/>
          </a:p>
        </p:txBody>
      </p:sp>
      <p:sp>
        <p:nvSpPr>
          <p:cNvPr id="57" name="SK-29-text-56"/>
          <p:cNvSpPr/>
          <p:nvPr/>
        </p:nvSpPr>
        <p:spPr>
          <a:xfrm>
            <a:off x="5814120" y="2061121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파편화된 리전별 Jira, 텔레메트리, 메신저 로그를 통합 데이터 레이크로 수집</a:t>
            </a:r>
            <a:endParaRPr lang="en-US" sz="975" dirty="0"/>
          </a:p>
        </p:txBody>
      </p:sp>
      <p:sp>
        <p:nvSpPr>
          <p:cNvPr id="58" name="SK-29-text-57"/>
          <p:cNvSpPr/>
          <p:nvPr/>
        </p:nvSpPr>
        <p:spPr>
          <a:xfrm>
            <a:off x="5480745" y="2462957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59" name="SK-29-text-58"/>
          <p:cNvSpPr/>
          <p:nvPr/>
        </p:nvSpPr>
        <p:spPr>
          <a:xfrm>
            <a:off x="5814120" y="2472482"/>
            <a:ext cx="3855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기반 3중 검증 엔진 가동</a:t>
            </a:r>
            <a:endParaRPr lang="en-US" sz="1200" dirty="0"/>
          </a:p>
        </p:txBody>
      </p:sp>
      <p:sp>
        <p:nvSpPr>
          <p:cNvPr id="60" name="SK-29-text-59"/>
          <p:cNvSpPr/>
          <p:nvPr/>
        </p:nvSpPr>
        <p:spPr>
          <a:xfrm>
            <a:off x="5814120" y="2695277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Checker(지표-원천 대조) 및 Value Tracker(편익 추적) 로직 실행</a:t>
            </a:r>
            <a:endParaRPr lang="en-US" sz="975" dirty="0"/>
          </a:p>
        </p:txBody>
      </p:sp>
      <p:sp>
        <p:nvSpPr>
          <p:cNvPr id="61" name="SK-29-text-60"/>
          <p:cNvSpPr/>
          <p:nvPr/>
        </p:nvSpPr>
        <p:spPr>
          <a:xfrm>
            <a:off x="5480745" y="309711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62" name="SK-29-text-61"/>
          <p:cNvSpPr/>
          <p:nvPr/>
        </p:nvSpPr>
        <p:spPr>
          <a:xfrm>
            <a:off x="5814120" y="3106638"/>
            <a:ext cx="2636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시점별 리포트 재생성</a:t>
            </a:r>
            <a:endParaRPr lang="en-US" sz="1200" dirty="0"/>
          </a:p>
        </p:txBody>
      </p:sp>
      <p:sp>
        <p:nvSpPr>
          <p:cNvPr id="63" name="SK-29-text-62"/>
          <p:cNvSpPr/>
          <p:nvPr/>
        </p:nvSpPr>
        <p:spPr>
          <a:xfrm>
            <a:off x="5814120" y="3329434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W9(DoD변경), W18(AI자동화), W25(파일럿급락) 등 주요 변곡점 리포트 생성</a:t>
            </a:r>
            <a:endParaRPr lang="en-US" sz="975" dirty="0"/>
          </a:p>
        </p:txBody>
      </p:sp>
      <p:sp>
        <p:nvSpPr>
          <p:cNvPr id="64" name="SK-29-text-63"/>
          <p:cNvSpPr/>
          <p:nvPr/>
        </p:nvSpPr>
        <p:spPr>
          <a:xfrm>
            <a:off x="5480745" y="373127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65" name="SK-29-text-64"/>
          <p:cNvSpPr/>
          <p:nvPr/>
        </p:nvSpPr>
        <p:spPr>
          <a:xfrm>
            <a:off x="5814120" y="3740795"/>
            <a:ext cx="3368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Gap Analysis 및 가시화</a:t>
            </a:r>
            <a:endParaRPr lang="en-US" sz="1200" dirty="0"/>
          </a:p>
        </p:txBody>
      </p:sp>
      <p:sp>
        <p:nvSpPr>
          <p:cNvPr id="66" name="SK-29-text-65"/>
          <p:cNvSpPr/>
          <p:nvPr/>
        </p:nvSpPr>
        <p:spPr>
          <a:xfrm>
            <a:off x="5814120" y="3963591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"ALL GREEN" vs 개선 "RED ALERT"의 시점별 괴리율과 감지 리드타임 측정</a:t>
            </a:r>
            <a:endParaRPr lang="en-US" sz="975" dirty="0"/>
          </a:p>
        </p:txBody>
      </p:sp>
      <p:sp>
        <p:nvSpPr>
          <p:cNvPr id="67" name="SK-29-text-66"/>
          <p:cNvSpPr/>
          <p:nvPr/>
        </p:nvSpPr>
        <p:spPr>
          <a:xfrm>
            <a:off x="5652195" y="4595813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 시나리오 예시</a:t>
            </a:r>
            <a:endParaRPr lang="en-US" sz="1500" dirty="0"/>
          </a:p>
        </p:txBody>
      </p:sp>
      <p:sp>
        <p:nvSpPr>
          <p:cNvPr id="68" name="SK-29-text-67"/>
          <p:cNvSpPr/>
          <p:nvPr/>
        </p:nvSpPr>
        <p:spPr>
          <a:xfrm>
            <a:off x="5433120" y="4957763"/>
            <a:ext cx="1012329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125" dirty="0"/>
          </a:p>
        </p:txBody>
      </p:sp>
      <p:sp>
        <p:nvSpPr>
          <p:cNvPr id="69" name="SK-29-text-68"/>
          <p:cNvSpPr/>
          <p:nvPr/>
        </p:nvSpPr>
        <p:spPr>
          <a:xfrm>
            <a:off x="6597848" y="4957763"/>
            <a:ext cx="1648718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시스템 결과</a:t>
            </a:r>
            <a:endParaRPr lang="en-US" sz="1125" dirty="0"/>
          </a:p>
        </p:txBody>
      </p:sp>
      <p:sp>
        <p:nvSpPr>
          <p:cNvPr id="70" name="SK-29-text-69"/>
          <p:cNvSpPr/>
          <p:nvPr/>
        </p:nvSpPr>
        <p:spPr>
          <a:xfrm>
            <a:off x="8398966" y="4957763"/>
            <a:ext cx="2992934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결과</a:t>
            </a:r>
            <a:endParaRPr lang="en-US" sz="1125" dirty="0"/>
          </a:p>
        </p:txBody>
      </p:sp>
      <p:sp>
        <p:nvSpPr>
          <p:cNvPr id="71" name="SK-29-text-70"/>
          <p:cNvSpPr/>
          <p:nvPr/>
        </p:nvSpPr>
        <p:spPr>
          <a:xfrm>
            <a:off x="5433120" y="5410200"/>
            <a:ext cx="80010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W16 (주간보고)</a:t>
            </a:r>
            <a:endParaRPr lang="en-US" sz="1125" dirty="0"/>
          </a:p>
        </p:txBody>
      </p:sp>
      <p:sp>
        <p:nvSpPr>
          <p:cNvPr id="72" name="SK-29-text-71"/>
          <p:cNvSpPr/>
          <p:nvPr/>
        </p:nvSpPr>
        <p:spPr>
          <a:xfrm>
            <a:off x="6654998" y="5324475"/>
            <a:ext cx="157251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"전 지표 정상"</a:t>
            </a:r>
            <a:endParaRPr lang="en-US" sz="1125" dirty="0"/>
          </a:p>
        </p:txBody>
      </p:sp>
      <p:sp>
        <p:nvSpPr>
          <p:cNvPr id="73" name="SK-29-text-72"/>
          <p:cNvSpPr/>
          <p:nvPr/>
        </p:nvSpPr>
        <p:spPr>
          <a:xfrm>
            <a:off x="8456116" y="5324475"/>
            <a:ext cx="291673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WARNING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"무개입완주율 15% 하락 감지"</a:t>
            </a:r>
            <a:endParaRPr lang="en-US" sz="1125" dirty="0"/>
          </a:p>
        </p:txBody>
      </p:sp>
      <p:sp>
        <p:nvSpPr>
          <p:cNvPr id="74" name="SK-29-text-73"/>
          <p:cNvSpPr/>
          <p:nvPr/>
        </p:nvSpPr>
        <p:spPr>
          <a:xfrm>
            <a:off x="5433120" y="5991225"/>
            <a:ext cx="82867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W28 (비용관리)</a:t>
            </a:r>
            <a:endParaRPr lang="en-US" sz="1125" dirty="0"/>
          </a:p>
        </p:txBody>
      </p:sp>
      <p:sp>
        <p:nvSpPr>
          <p:cNvPr id="75" name="SK-29-text-74"/>
          <p:cNvSpPr/>
          <p:nvPr/>
        </p:nvSpPr>
        <p:spPr>
          <a:xfrm>
            <a:off x="6654998" y="5905500"/>
            <a:ext cx="157251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CPI 0.98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"예산 준수"</a:t>
            </a:r>
            <a:endParaRPr lang="en-US" sz="1125" dirty="0"/>
          </a:p>
        </p:txBody>
      </p:sp>
      <p:sp>
        <p:nvSpPr>
          <p:cNvPr id="76" name="SK-29-text-75"/>
          <p:cNvSpPr/>
          <p:nvPr/>
        </p:nvSpPr>
        <p:spPr>
          <a:xfrm>
            <a:off x="8456116" y="5905500"/>
            <a:ext cx="291673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"인프라 합산 CPI 0.944, 소진율 89%"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3959870"/>
          </a:xfrm>
          <a:prstGeom prst="rect">
            <a:avLst/>
          </a:prstGeom>
        </p:spPr>
      </p:pic>
      <p:pic>
        <p:nvPicPr>
          <p:cNvPr id="7" name="SK-3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28625"/>
          </a:xfrm>
          <a:prstGeom prst="rect">
            <a:avLst/>
          </a:prstGeom>
        </p:spPr>
      </p:pic>
      <p:pic>
        <p:nvPicPr>
          <p:cNvPr id="8" name="SK-3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2762250" cy="428625"/>
          </a:xfrm>
          <a:prstGeom prst="rect">
            <a:avLst/>
          </a:prstGeom>
        </p:spPr>
      </p:pic>
      <p:pic>
        <p:nvPicPr>
          <p:cNvPr id="9" name="SK-3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1504950"/>
            <a:ext cx="2762250" cy="428625"/>
          </a:xfrm>
          <a:prstGeom prst="rect">
            <a:avLst/>
          </a:prstGeom>
        </p:spPr>
      </p:pic>
      <p:pic>
        <p:nvPicPr>
          <p:cNvPr id="10" name="SK-3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504950"/>
            <a:ext cx="2762250" cy="428625"/>
          </a:xfrm>
          <a:prstGeom prst="rect">
            <a:avLst/>
          </a:prstGeom>
        </p:spPr>
      </p:pic>
      <p:pic>
        <p:nvPicPr>
          <p:cNvPr id="11" name="SK-3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8250" y="1504950"/>
            <a:ext cx="2762250" cy="428625"/>
          </a:xfrm>
          <a:prstGeom prst="rect">
            <a:avLst/>
          </a:prstGeom>
        </p:spPr>
      </p:pic>
      <p:pic>
        <p:nvPicPr>
          <p:cNvPr id="12" name="SK-3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33575"/>
            <a:ext cx="2762250" cy="1177082"/>
          </a:xfrm>
          <a:prstGeom prst="rect">
            <a:avLst/>
          </a:prstGeom>
        </p:spPr>
      </p:pic>
      <p:pic>
        <p:nvPicPr>
          <p:cNvPr id="13" name="SK-3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361456"/>
            <a:ext cx="178594" cy="148828"/>
          </a:xfrm>
          <a:prstGeom prst="rect">
            <a:avLst/>
          </a:prstGeom>
        </p:spPr>
      </p:pic>
      <p:pic>
        <p:nvPicPr>
          <p:cNvPr id="14" name="SK-3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3750" y="1933575"/>
            <a:ext cx="2762250" cy="1177082"/>
          </a:xfrm>
          <a:prstGeom prst="rect">
            <a:avLst/>
          </a:prstGeom>
        </p:spPr>
      </p:pic>
      <p:pic>
        <p:nvPicPr>
          <p:cNvPr id="15" name="SK-3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8050" y="2192685"/>
            <a:ext cx="981075" cy="236190"/>
          </a:xfrm>
          <a:prstGeom prst="rect">
            <a:avLst/>
          </a:prstGeom>
        </p:spPr>
      </p:pic>
      <p:pic>
        <p:nvPicPr>
          <p:cNvPr id="16" name="SK-3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4250" y="2253555"/>
            <a:ext cx="142875" cy="114300"/>
          </a:xfrm>
          <a:prstGeom prst="rect">
            <a:avLst/>
          </a:prstGeom>
        </p:spPr>
      </p:pic>
      <p:pic>
        <p:nvPicPr>
          <p:cNvPr id="17" name="SK-3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1933575"/>
            <a:ext cx="2762250" cy="1177082"/>
          </a:xfrm>
          <a:prstGeom prst="rect">
            <a:avLst/>
          </a:prstGeom>
        </p:spPr>
      </p:pic>
      <p:pic>
        <p:nvPicPr>
          <p:cNvPr id="18" name="SK-3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2085975"/>
            <a:ext cx="1285875" cy="236190"/>
          </a:xfrm>
          <a:prstGeom prst="rect">
            <a:avLst/>
          </a:prstGeom>
        </p:spPr>
      </p:pic>
      <p:pic>
        <p:nvPicPr>
          <p:cNvPr id="19" name="SK-3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2146846"/>
            <a:ext cx="142875" cy="114300"/>
          </a:xfrm>
          <a:prstGeom prst="rect">
            <a:avLst/>
          </a:prstGeom>
        </p:spPr>
      </p:pic>
      <p:pic>
        <p:nvPicPr>
          <p:cNvPr id="20" name="SK-3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58250" y="1933575"/>
            <a:ext cx="2762250" cy="1177082"/>
          </a:xfrm>
          <a:prstGeom prst="rect">
            <a:avLst/>
          </a:prstGeom>
        </p:spPr>
      </p:pic>
      <p:pic>
        <p:nvPicPr>
          <p:cNvPr id="21" name="SK-3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110657"/>
            <a:ext cx="2762250" cy="1177082"/>
          </a:xfrm>
          <a:prstGeom prst="rect">
            <a:avLst/>
          </a:prstGeom>
        </p:spPr>
      </p:pic>
      <p:pic>
        <p:nvPicPr>
          <p:cNvPr id="22" name="SK-3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3538538"/>
            <a:ext cx="178594" cy="148828"/>
          </a:xfrm>
          <a:prstGeom prst="rect">
            <a:avLst/>
          </a:prstGeom>
        </p:spPr>
      </p:pic>
      <p:pic>
        <p:nvPicPr>
          <p:cNvPr id="23" name="SK-3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33750" y="3110657"/>
            <a:ext cx="2762250" cy="1177082"/>
          </a:xfrm>
          <a:prstGeom prst="rect">
            <a:avLst/>
          </a:prstGeom>
        </p:spPr>
      </p:pic>
      <p:pic>
        <p:nvPicPr>
          <p:cNvPr id="24" name="SK-3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48050" y="3456384"/>
            <a:ext cx="838200" cy="236190"/>
          </a:xfrm>
          <a:prstGeom prst="rect">
            <a:avLst/>
          </a:prstGeom>
        </p:spPr>
      </p:pic>
      <p:pic>
        <p:nvPicPr>
          <p:cNvPr id="25" name="SK-3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24250" y="3517255"/>
            <a:ext cx="142875" cy="114300"/>
          </a:xfrm>
          <a:prstGeom prst="rect">
            <a:avLst/>
          </a:prstGeom>
        </p:spPr>
      </p:pic>
      <p:pic>
        <p:nvPicPr>
          <p:cNvPr id="26" name="SK-3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0" y="3110657"/>
            <a:ext cx="2762250" cy="1177082"/>
          </a:xfrm>
          <a:prstGeom prst="rect">
            <a:avLst/>
          </a:prstGeom>
        </p:spPr>
      </p:pic>
      <p:pic>
        <p:nvPicPr>
          <p:cNvPr id="27" name="SK-3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0300" y="3263057"/>
            <a:ext cx="1514475" cy="236190"/>
          </a:xfrm>
          <a:prstGeom prst="rect">
            <a:avLst/>
          </a:prstGeom>
        </p:spPr>
      </p:pic>
      <p:pic>
        <p:nvPicPr>
          <p:cNvPr id="28" name="SK-3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86500" y="3323927"/>
            <a:ext cx="142875" cy="114300"/>
          </a:xfrm>
          <a:prstGeom prst="rect">
            <a:avLst/>
          </a:prstGeom>
        </p:spPr>
      </p:pic>
      <p:pic>
        <p:nvPicPr>
          <p:cNvPr id="29" name="SK-3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58250" y="3110657"/>
            <a:ext cx="2762250" cy="1177082"/>
          </a:xfrm>
          <a:prstGeom prst="rect">
            <a:avLst/>
          </a:prstGeom>
        </p:spPr>
      </p:pic>
      <p:pic>
        <p:nvPicPr>
          <p:cNvPr id="30" name="SK-30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4287738"/>
            <a:ext cx="2762250" cy="1177082"/>
          </a:xfrm>
          <a:prstGeom prst="rect">
            <a:avLst/>
          </a:prstGeom>
        </p:spPr>
      </p:pic>
      <p:pic>
        <p:nvPicPr>
          <p:cNvPr id="31" name="SK-30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5800" y="4715619"/>
            <a:ext cx="178594" cy="148828"/>
          </a:xfrm>
          <a:prstGeom prst="rect">
            <a:avLst/>
          </a:prstGeom>
        </p:spPr>
      </p:pic>
      <p:pic>
        <p:nvPicPr>
          <p:cNvPr id="32" name="SK-30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33750" y="4287738"/>
            <a:ext cx="2762250" cy="1177082"/>
          </a:xfrm>
          <a:prstGeom prst="rect">
            <a:avLst/>
          </a:prstGeom>
        </p:spPr>
      </p:pic>
      <p:pic>
        <p:nvPicPr>
          <p:cNvPr id="33" name="SK-30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48050" y="4633466"/>
            <a:ext cx="1143000" cy="236190"/>
          </a:xfrm>
          <a:prstGeom prst="rect">
            <a:avLst/>
          </a:prstGeom>
        </p:spPr>
      </p:pic>
      <p:pic>
        <p:nvPicPr>
          <p:cNvPr id="34" name="SK-30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24250" y="4694337"/>
            <a:ext cx="142875" cy="114300"/>
          </a:xfrm>
          <a:prstGeom prst="rect">
            <a:avLst/>
          </a:prstGeom>
        </p:spPr>
      </p:pic>
      <p:pic>
        <p:nvPicPr>
          <p:cNvPr id="35" name="SK-30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96000" y="4287738"/>
            <a:ext cx="2762250" cy="1177082"/>
          </a:xfrm>
          <a:prstGeom prst="rect">
            <a:avLst/>
          </a:prstGeom>
        </p:spPr>
      </p:pic>
      <p:pic>
        <p:nvPicPr>
          <p:cNvPr id="36" name="SK-30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10300" y="4440138"/>
            <a:ext cx="1247775" cy="236190"/>
          </a:xfrm>
          <a:prstGeom prst="rect">
            <a:avLst/>
          </a:prstGeom>
        </p:spPr>
      </p:pic>
      <p:pic>
        <p:nvPicPr>
          <p:cNvPr id="37" name="SK-30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86500" y="4501009"/>
            <a:ext cx="142875" cy="114300"/>
          </a:xfrm>
          <a:prstGeom prst="rect">
            <a:avLst/>
          </a:prstGeom>
        </p:spPr>
      </p:pic>
      <p:pic>
        <p:nvPicPr>
          <p:cNvPr id="38" name="SK-30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858250" y="4287738"/>
            <a:ext cx="2762250" cy="1177082"/>
          </a:xfrm>
          <a:prstGeom prst="rect">
            <a:avLst/>
          </a:prstGeom>
        </p:spPr>
      </p:pic>
      <p:pic>
        <p:nvPicPr>
          <p:cNvPr id="39" name="SK-30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1500" y="5655320"/>
            <a:ext cx="11049000" cy="685800"/>
          </a:xfrm>
          <a:prstGeom prst="rect">
            <a:avLst/>
          </a:prstGeom>
        </p:spPr>
      </p:pic>
      <p:pic>
        <p:nvPicPr>
          <p:cNvPr id="40" name="SK-30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5800" y="5910560"/>
            <a:ext cx="255687" cy="204490"/>
          </a:xfrm>
          <a:prstGeom prst="rect">
            <a:avLst/>
          </a:prstGeom>
        </p:spPr>
      </p:pic>
      <p:sp>
        <p:nvSpPr>
          <p:cNvPr id="41" name="SK-30-text-40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2" name="SK-30-text-41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D-2. POC 시연 시나리오: 기존 vs 개선</a:t>
            </a:r>
            <a:endParaRPr lang="en-US" sz="2550" dirty="0"/>
          </a:p>
        </p:txBody>
      </p:sp>
      <p:sp>
        <p:nvSpPr>
          <p:cNvPr id="43" name="SK-30-text-42"/>
          <p:cNvSpPr/>
          <p:nvPr/>
        </p:nvSpPr>
        <p:spPr>
          <a:xfrm>
            <a:off x="685800" y="1504950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(Scenario)</a:t>
            </a:r>
            <a:endParaRPr lang="en-US" sz="1050" dirty="0"/>
          </a:p>
        </p:txBody>
      </p:sp>
      <p:sp>
        <p:nvSpPr>
          <p:cNvPr id="44" name="SK-30-text-43"/>
          <p:cNvSpPr/>
          <p:nvPr/>
        </p:nvSpPr>
        <p:spPr>
          <a:xfrm>
            <a:off x="3448050" y="1504950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 (Legacy)</a:t>
            </a:r>
            <a:endParaRPr lang="en-US" sz="1050" dirty="0"/>
          </a:p>
        </p:txBody>
      </p:sp>
      <p:sp>
        <p:nvSpPr>
          <p:cNvPr id="45" name="SK-30-text-44"/>
          <p:cNvSpPr/>
          <p:nvPr/>
        </p:nvSpPr>
        <p:spPr>
          <a:xfrm>
            <a:off x="6210300" y="1504950"/>
            <a:ext cx="30117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(개선)</a:t>
            </a:r>
            <a:endParaRPr lang="en-US" sz="1050" dirty="0"/>
          </a:p>
        </p:txBody>
      </p:sp>
      <p:sp>
        <p:nvSpPr>
          <p:cNvPr id="46" name="SK-30-text-45"/>
          <p:cNvSpPr/>
          <p:nvPr/>
        </p:nvSpPr>
        <p:spPr>
          <a:xfrm>
            <a:off x="8972550" y="1504950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기제 (Mechanism)</a:t>
            </a:r>
            <a:endParaRPr lang="en-US" sz="1050" dirty="0"/>
          </a:p>
        </p:txBody>
      </p:sp>
      <p:sp>
        <p:nvSpPr>
          <p:cNvPr id="47" name="SK-30-text-46"/>
          <p:cNvSpPr/>
          <p:nvPr/>
        </p:nvSpPr>
        <p:spPr>
          <a:xfrm>
            <a:off x="940594" y="1933575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파일럿 무개입완주율</a:t>
            </a:r>
            <a:endParaRPr lang="en-US" sz="1125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(Outcome 지표)</a:t>
            </a:r>
            <a:endParaRPr lang="en-US" sz="1125" dirty="0"/>
          </a:p>
        </p:txBody>
      </p:sp>
      <p:sp>
        <p:nvSpPr>
          <p:cNvPr id="48" name="SK-30-text-47"/>
          <p:cNvSpPr/>
          <p:nvPr/>
        </p:nvSpPr>
        <p:spPr>
          <a:xfrm>
            <a:off x="3724275" y="2192685"/>
            <a:ext cx="104268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</a:t>
            </a:r>
            <a:endParaRPr lang="en-US" sz="900" dirty="0"/>
          </a:p>
        </p:txBody>
      </p:sp>
      <p:sp>
        <p:nvSpPr>
          <p:cNvPr id="49" name="SK-30-text-48"/>
          <p:cNvSpPr/>
          <p:nvPr/>
        </p:nvSpPr>
        <p:spPr>
          <a:xfrm>
            <a:off x="3448050" y="2505075"/>
            <a:ext cx="25336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정상. 주간보고 16주 연속 이상 없음 보고"</a:t>
            </a:r>
            <a:endParaRPr lang="en-US" sz="975" dirty="0"/>
          </a:p>
        </p:txBody>
      </p:sp>
      <p:sp>
        <p:nvSpPr>
          <p:cNvPr id="50" name="SK-30-text-49"/>
          <p:cNvSpPr/>
          <p:nvPr/>
        </p:nvSpPr>
        <p:spPr>
          <a:xfrm>
            <a:off x="6486525" y="2085975"/>
            <a:ext cx="169265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ALERT</a:t>
            </a:r>
            <a:endParaRPr lang="en-US" sz="900" dirty="0"/>
          </a:p>
        </p:txBody>
      </p:sp>
      <p:sp>
        <p:nvSpPr>
          <p:cNvPr id="51" name="SK-30-text-50"/>
          <p:cNvSpPr/>
          <p:nvPr/>
        </p:nvSpPr>
        <p:spPr>
          <a:xfrm>
            <a:off x="6210300" y="2398365"/>
            <a:ext cx="25336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급락 감지: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18.4% → 6.1%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이탈(임무시도 73% 감소) 이상 징후 포착</a:t>
            </a:r>
            <a:endParaRPr lang="en-US" sz="1050" dirty="0"/>
          </a:p>
        </p:txBody>
      </p:sp>
      <p:sp>
        <p:nvSpPr>
          <p:cNvPr id="52" name="SK-30-text-51"/>
          <p:cNvSpPr/>
          <p:nvPr/>
        </p:nvSpPr>
        <p:spPr>
          <a:xfrm>
            <a:off x="9029700" y="1933575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Value Tracker</a:t>
            </a:r>
            <a:endParaRPr lang="en-US" sz="975" dirty="0"/>
          </a:p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5AEE"/>
                </a:solidFill>
              </a:rPr>
              <a:t>Leading Indicator 추적</a:t>
            </a:r>
            <a:endParaRPr lang="en-US" sz="975" dirty="0"/>
          </a:p>
        </p:txBody>
      </p:sp>
      <p:sp>
        <p:nvSpPr>
          <p:cNvPr id="53" name="SK-30-text-52"/>
          <p:cNvSpPr/>
          <p:nvPr/>
        </p:nvSpPr>
        <p:spPr>
          <a:xfrm>
            <a:off x="940594" y="3110657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EVM 지표 무결성</a:t>
            </a:r>
            <a:endParaRPr lang="en-US" sz="1125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(Financial Data)</a:t>
            </a:r>
            <a:endParaRPr lang="en-US" sz="1125" dirty="0"/>
          </a:p>
        </p:txBody>
      </p:sp>
      <p:sp>
        <p:nvSpPr>
          <p:cNvPr id="54" name="SK-30-text-53"/>
          <p:cNvSpPr/>
          <p:nvPr/>
        </p:nvSpPr>
        <p:spPr>
          <a:xfrm>
            <a:off x="3724275" y="3456384"/>
            <a:ext cx="1122218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CPI 0.98</a:t>
            </a:r>
            <a:endParaRPr lang="en-US" sz="900" dirty="0"/>
          </a:p>
        </p:txBody>
      </p:sp>
      <p:sp>
        <p:nvSpPr>
          <p:cNvPr id="55" name="SK-30-text-54"/>
          <p:cNvSpPr/>
          <p:nvPr/>
        </p:nvSpPr>
        <p:spPr>
          <a:xfrm>
            <a:off x="3448050" y="3768775"/>
            <a:ext cx="34937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예산 기준 정상 범위 내 관리 중"</a:t>
            </a:r>
            <a:endParaRPr lang="en-US" sz="975" dirty="0"/>
          </a:p>
        </p:txBody>
      </p:sp>
      <p:sp>
        <p:nvSpPr>
          <p:cNvPr id="56" name="SK-30-text-55"/>
          <p:cNvSpPr/>
          <p:nvPr/>
        </p:nvSpPr>
        <p:spPr>
          <a:xfrm>
            <a:off x="6486525" y="3263057"/>
            <a:ext cx="1973724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DISCREPANCY</a:t>
            </a:r>
            <a:endParaRPr lang="en-US" sz="900" dirty="0"/>
          </a:p>
        </p:txBody>
      </p:sp>
      <p:sp>
        <p:nvSpPr>
          <p:cNvPr id="57" name="SK-30-text-56"/>
          <p:cNvSpPr/>
          <p:nvPr/>
        </p:nvSpPr>
        <p:spPr>
          <a:xfrm>
            <a:off x="6210300" y="3575447"/>
            <a:ext cx="25336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비용(21.4억) 누락 감지.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통합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CPI 0.944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보정 및 예산 고갈 경고</a:t>
            </a:r>
            <a:endParaRPr lang="en-US" sz="1050" dirty="0"/>
          </a:p>
        </p:txBody>
      </p:sp>
      <p:sp>
        <p:nvSpPr>
          <p:cNvPr id="58" name="SK-30-text-57"/>
          <p:cNvSpPr/>
          <p:nvPr/>
        </p:nvSpPr>
        <p:spPr>
          <a:xfrm>
            <a:off x="9029700" y="3110657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Integrity Checker</a:t>
            </a:r>
            <a:endParaRPr lang="en-US" sz="975" dirty="0"/>
          </a:p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5AEE"/>
                </a:solidFill>
              </a:rPr>
              <a:t>Cross-Check Engine</a:t>
            </a:r>
            <a:endParaRPr lang="en-US" sz="975" dirty="0"/>
          </a:p>
        </p:txBody>
      </p:sp>
      <p:sp>
        <p:nvSpPr>
          <p:cNvPr id="59" name="SK-30-text-58"/>
          <p:cNvSpPr/>
          <p:nvPr/>
        </p:nvSpPr>
        <p:spPr>
          <a:xfrm>
            <a:off x="940594" y="4287738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 리스크 대응</a:t>
            </a:r>
            <a:endParaRPr lang="en-US" sz="1125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(Helion EOL)</a:t>
            </a:r>
            <a:endParaRPr lang="en-US" sz="1125" dirty="0"/>
          </a:p>
        </p:txBody>
      </p:sp>
      <p:sp>
        <p:nvSpPr>
          <p:cNvPr id="60" name="SK-30-text-59"/>
          <p:cNvSpPr/>
          <p:nvPr/>
        </p:nvSpPr>
        <p:spPr>
          <a:xfrm>
            <a:off x="3724275" y="4633466"/>
            <a:ext cx="150571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 0건</a:t>
            </a:r>
            <a:endParaRPr lang="en-US" sz="900" dirty="0"/>
          </a:p>
        </p:txBody>
      </p:sp>
      <p:sp>
        <p:nvSpPr>
          <p:cNvPr id="61" name="SK-30-text-60"/>
          <p:cNvSpPr/>
          <p:nvPr/>
        </p:nvSpPr>
        <p:spPr>
          <a:xfrm>
            <a:off x="3448050" y="4945856"/>
            <a:ext cx="33451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"현재 식별된 치명적 외부 리스크 없음"</a:t>
            </a:r>
            <a:endParaRPr lang="en-US" sz="975" dirty="0"/>
          </a:p>
        </p:txBody>
      </p:sp>
      <p:sp>
        <p:nvSpPr>
          <p:cNvPr id="62" name="SK-30-text-61"/>
          <p:cNvSpPr/>
          <p:nvPr/>
        </p:nvSpPr>
        <p:spPr>
          <a:xfrm>
            <a:off x="6486525" y="4440138"/>
            <a:ext cx="156529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DETECTED</a:t>
            </a:r>
            <a:endParaRPr lang="en-US" sz="900" dirty="0"/>
          </a:p>
        </p:txBody>
      </p:sp>
      <p:sp>
        <p:nvSpPr>
          <p:cNvPr id="63" name="SK-30-text-62"/>
          <p:cNvSpPr/>
          <p:nvPr/>
        </p:nvSpPr>
        <p:spPr>
          <a:xfrm>
            <a:off x="6210300" y="4752529"/>
            <a:ext cx="25336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EOL(9/30) 신호 감지.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배포일과 일치함에 따른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High Risk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등록 제안</a:t>
            </a:r>
            <a:endParaRPr lang="en-US" sz="1050" dirty="0"/>
          </a:p>
        </p:txBody>
      </p:sp>
      <p:sp>
        <p:nvSpPr>
          <p:cNvPr id="64" name="SK-30-text-63"/>
          <p:cNvSpPr/>
          <p:nvPr/>
        </p:nvSpPr>
        <p:spPr>
          <a:xfrm>
            <a:off x="9029700" y="4287738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Risk Radar</a:t>
            </a:r>
            <a:endParaRPr lang="en-US" sz="975" dirty="0"/>
          </a:p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5AEE"/>
                </a:solidFill>
              </a:rPr>
              <a:t>External Signal Scan</a:t>
            </a:r>
            <a:endParaRPr lang="en-US" sz="975" dirty="0"/>
          </a:p>
        </p:txBody>
      </p:sp>
      <p:sp>
        <p:nvSpPr>
          <p:cNvPr id="65" name="SK-30-text-64"/>
          <p:cNvSpPr/>
          <p:nvPr/>
        </p:nvSpPr>
        <p:spPr>
          <a:xfrm>
            <a:off x="1093887" y="5769620"/>
            <a:ext cx="10412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AI는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지표(Output)의 수치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집계했으나, PM Transformers는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간의 괴리와 비즈니스 가치(Outcome)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실시간으로 교차 검증하여 선제적 경고를 생성합니다.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429250" cy="1404938"/>
          </a:xfrm>
          <a:prstGeom prst="rect">
            <a:avLst/>
          </a:prstGeom>
        </p:spPr>
      </p:pic>
      <p:pic>
        <p:nvPicPr>
          <p:cNvPr id="7" name="SK-3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657350"/>
            <a:ext cx="342900" cy="342900"/>
          </a:xfrm>
          <a:prstGeom prst="rect">
            <a:avLst/>
          </a:prstGeom>
        </p:spPr>
      </p:pic>
      <p:pic>
        <p:nvPicPr>
          <p:cNvPr id="8" name="SK-3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194" y="1741140"/>
            <a:ext cx="214313" cy="175320"/>
          </a:xfrm>
          <a:prstGeom prst="rect">
            <a:avLst/>
          </a:prstGeom>
        </p:spPr>
      </p:pic>
      <p:pic>
        <p:nvPicPr>
          <p:cNvPr id="9" name="SK-3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1504950"/>
            <a:ext cx="5429250" cy="1404938"/>
          </a:xfrm>
          <a:prstGeom prst="rect">
            <a:avLst/>
          </a:prstGeom>
        </p:spPr>
      </p:pic>
      <p:pic>
        <p:nvPicPr>
          <p:cNvPr id="10" name="SK-3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1657350"/>
            <a:ext cx="342900" cy="342900"/>
          </a:xfrm>
          <a:prstGeom prst="rect">
            <a:avLst/>
          </a:prstGeom>
        </p:spPr>
      </p:pic>
      <p:pic>
        <p:nvPicPr>
          <p:cNvPr id="11" name="SK-3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7944" y="1741140"/>
            <a:ext cx="214313" cy="175320"/>
          </a:xfrm>
          <a:prstGeom prst="rect">
            <a:avLst/>
          </a:prstGeom>
        </p:spPr>
      </p:pic>
      <p:pic>
        <p:nvPicPr>
          <p:cNvPr id="12" name="SK-3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138488"/>
            <a:ext cx="11049000" cy="2414588"/>
          </a:xfrm>
          <a:prstGeom prst="rect">
            <a:avLst/>
          </a:prstGeom>
        </p:spPr>
      </p:pic>
      <p:pic>
        <p:nvPicPr>
          <p:cNvPr id="13" name="SK-3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138488"/>
            <a:ext cx="11049000" cy="428625"/>
          </a:xfrm>
          <a:prstGeom prst="rect">
            <a:avLst/>
          </a:prstGeom>
        </p:spPr>
      </p:pic>
      <p:pic>
        <p:nvPicPr>
          <p:cNvPr id="14" name="SK-3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138488"/>
            <a:ext cx="1143000" cy="428625"/>
          </a:xfrm>
          <a:prstGeom prst="rect">
            <a:avLst/>
          </a:prstGeom>
        </p:spPr>
      </p:pic>
      <p:pic>
        <p:nvPicPr>
          <p:cNvPr id="15" name="SK-3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4500" y="3138488"/>
            <a:ext cx="1714500" cy="428625"/>
          </a:xfrm>
          <a:prstGeom prst="rect">
            <a:avLst/>
          </a:prstGeom>
        </p:spPr>
      </p:pic>
      <p:pic>
        <p:nvPicPr>
          <p:cNvPr id="16" name="SK-3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9000" y="3138488"/>
            <a:ext cx="2381250" cy="428625"/>
          </a:xfrm>
          <a:prstGeom prst="rect">
            <a:avLst/>
          </a:prstGeom>
        </p:spPr>
      </p:pic>
      <p:pic>
        <p:nvPicPr>
          <p:cNvPr id="17" name="SK-3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10250" y="3138488"/>
            <a:ext cx="4476750" cy="428625"/>
          </a:xfrm>
          <a:prstGeom prst="rect">
            <a:avLst/>
          </a:prstGeom>
        </p:spPr>
      </p:pic>
      <p:pic>
        <p:nvPicPr>
          <p:cNvPr id="18" name="SK-3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87000" y="3138488"/>
            <a:ext cx="1333500" cy="428625"/>
          </a:xfrm>
          <a:prstGeom prst="rect">
            <a:avLst/>
          </a:prstGeom>
        </p:spPr>
      </p:pic>
      <p:pic>
        <p:nvPicPr>
          <p:cNvPr id="19" name="SK-3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567113"/>
            <a:ext cx="1143000" cy="442913"/>
          </a:xfrm>
          <a:prstGeom prst="rect">
            <a:avLst/>
          </a:prstGeom>
        </p:spPr>
      </p:pic>
      <p:pic>
        <p:nvPicPr>
          <p:cNvPr id="20" name="SK-3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14500" y="3567113"/>
            <a:ext cx="1714500" cy="442913"/>
          </a:xfrm>
          <a:prstGeom prst="rect">
            <a:avLst/>
          </a:prstGeom>
        </p:spPr>
      </p:pic>
      <p:pic>
        <p:nvPicPr>
          <p:cNvPr id="21" name="SK-3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0" y="3567113"/>
            <a:ext cx="2381250" cy="442913"/>
          </a:xfrm>
          <a:prstGeom prst="rect">
            <a:avLst/>
          </a:prstGeom>
        </p:spPr>
      </p:pic>
      <p:pic>
        <p:nvPicPr>
          <p:cNvPr id="22" name="SK-3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10250" y="3567113"/>
            <a:ext cx="4476750" cy="442913"/>
          </a:xfrm>
          <a:prstGeom prst="rect">
            <a:avLst/>
          </a:prstGeom>
        </p:spPr>
      </p:pic>
      <p:pic>
        <p:nvPicPr>
          <p:cNvPr id="23" name="SK-3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87000" y="3567113"/>
            <a:ext cx="1333500" cy="442913"/>
          </a:xfrm>
          <a:prstGeom prst="rect">
            <a:avLst/>
          </a:prstGeom>
        </p:spPr>
      </p:pic>
      <p:pic>
        <p:nvPicPr>
          <p:cNvPr id="24" name="SK-3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010025"/>
            <a:ext cx="1143000" cy="442913"/>
          </a:xfrm>
          <a:prstGeom prst="rect">
            <a:avLst/>
          </a:prstGeom>
        </p:spPr>
      </p:pic>
      <p:pic>
        <p:nvPicPr>
          <p:cNvPr id="25" name="SK-3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14500" y="4010025"/>
            <a:ext cx="1714500" cy="442913"/>
          </a:xfrm>
          <a:prstGeom prst="rect">
            <a:avLst/>
          </a:prstGeom>
        </p:spPr>
      </p:pic>
      <p:pic>
        <p:nvPicPr>
          <p:cNvPr id="26" name="SK-3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29000" y="4010025"/>
            <a:ext cx="2381250" cy="442913"/>
          </a:xfrm>
          <a:prstGeom prst="rect">
            <a:avLst/>
          </a:prstGeom>
        </p:spPr>
      </p:pic>
      <p:pic>
        <p:nvPicPr>
          <p:cNvPr id="27" name="SK-3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10250" y="4010025"/>
            <a:ext cx="4476750" cy="442913"/>
          </a:xfrm>
          <a:prstGeom prst="rect">
            <a:avLst/>
          </a:prstGeom>
        </p:spPr>
      </p:pic>
      <p:pic>
        <p:nvPicPr>
          <p:cNvPr id="28" name="SK-3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87000" y="4010025"/>
            <a:ext cx="1333500" cy="442913"/>
          </a:xfrm>
          <a:prstGeom prst="rect">
            <a:avLst/>
          </a:prstGeom>
        </p:spPr>
      </p:pic>
      <p:pic>
        <p:nvPicPr>
          <p:cNvPr id="29" name="SK-3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4452938"/>
            <a:ext cx="1143000" cy="657225"/>
          </a:xfrm>
          <a:prstGeom prst="rect">
            <a:avLst/>
          </a:prstGeom>
        </p:spPr>
      </p:pic>
      <p:pic>
        <p:nvPicPr>
          <p:cNvPr id="30" name="SK-3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14500" y="4452938"/>
            <a:ext cx="1714500" cy="657225"/>
          </a:xfrm>
          <a:prstGeom prst="rect">
            <a:avLst/>
          </a:prstGeom>
        </p:spPr>
      </p:pic>
      <p:pic>
        <p:nvPicPr>
          <p:cNvPr id="31" name="SK-3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29000" y="4452938"/>
            <a:ext cx="2381250" cy="657225"/>
          </a:xfrm>
          <a:prstGeom prst="rect">
            <a:avLst/>
          </a:prstGeom>
        </p:spPr>
      </p:pic>
      <p:pic>
        <p:nvPicPr>
          <p:cNvPr id="32" name="SK-3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10250" y="4452938"/>
            <a:ext cx="4476750" cy="657225"/>
          </a:xfrm>
          <a:prstGeom prst="rect">
            <a:avLst/>
          </a:prstGeom>
        </p:spPr>
      </p:pic>
      <p:pic>
        <p:nvPicPr>
          <p:cNvPr id="33" name="SK-31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287000" y="4452938"/>
            <a:ext cx="1333500" cy="657225"/>
          </a:xfrm>
          <a:prstGeom prst="rect">
            <a:avLst/>
          </a:prstGeom>
        </p:spPr>
      </p:pic>
      <p:pic>
        <p:nvPicPr>
          <p:cNvPr id="34" name="SK-31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500" y="5110163"/>
            <a:ext cx="1143000" cy="442913"/>
          </a:xfrm>
          <a:prstGeom prst="rect">
            <a:avLst/>
          </a:prstGeom>
        </p:spPr>
      </p:pic>
      <p:pic>
        <p:nvPicPr>
          <p:cNvPr id="35" name="SK-31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714500" y="5110163"/>
            <a:ext cx="1714500" cy="442913"/>
          </a:xfrm>
          <a:prstGeom prst="rect">
            <a:avLst/>
          </a:prstGeom>
        </p:spPr>
      </p:pic>
      <p:pic>
        <p:nvPicPr>
          <p:cNvPr id="36" name="SK-31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429000" y="5110163"/>
            <a:ext cx="2381250" cy="442913"/>
          </a:xfrm>
          <a:prstGeom prst="rect">
            <a:avLst/>
          </a:prstGeom>
        </p:spPr>
      </p:pic>
      <p:pic>
        <p:nvPicPr>
          <p:cNvPr id="37" name="SK-31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810250" y="5110163"/>
            <a:ext cx="4476750" cy="442913"/>
          </a:xfrm>
          <a:prstGeom prst="rect">
            <a:avLst/>
          </a:prstGeom>
        </p:spPr>
      </p:pic>
      <p:pic>
        <p:nvPicPr>
          <p:cNvPr id="38" name="SK-31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287000" y="5110163"/>
            <a:ext cx="1333500" cy="442913"/>
          </a:xfrm>
          <a:prstGeom prst="rect">
            <a:avLst/>
          </a:prstGeom>
        </p:spPr>
      </p:pic>
      <p:pic>
        <p:nvPicPr>
          <p:cNvPr id="39" name="SK-31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1500" y="5781675"/>
            <a:ext cx="2619375" cy="795338"/>
          </a:xfrm>
          <a:prstGeom prst="rect">
            <a:avLst/>
          </a:prstGeom>
        </p:spPr>
      </p:pic>
      <p:pic>
        <p:nvPicPr>
          <p:cNvPr id="40" name="SK-31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81100" y="6262390"/>
            <a:ext cx="166688" cy="137220"/>
          </a:xfrm>
          <a:prstGeom prst="rect">
            <a:avLst/>
          </a:prstGeom>
        </p:spPr>
      </p:pic>
      <p:pic>
        <p:nvPicPr>
          <p:cNvPr id="41" name="SK-31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81375" y="5781675"/>
            <a:ext cx="2619375" cy="795338"/>
          </a:xfrm>
          <a:prstGeom prst="rect">
            <a:avLst/>
          </a:prstGeom>
        </p:spPr>
      </p:pic>
      <p:pic>
        <p:nvPicPr>
          <p:cNvPr id="42" name="SK-31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829050" y="6262390"/>
            <a:ext cx="166688" cy="137220"/>
          </a:xfrm>
          <a:prstGeom prst="rect">
            <a:avLst/>
          </a:prstGeom>
        </p:spPr>
      </p:pic>
      <p:pic>
        <p:nvPicPr>
          <p:cNvPr id="43" name="SK-31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191250" y="5781675"/>
            <a:ext cx="2619375" cy="795338"/>
          </a:xfrm>
          <a:prstGeom prst="rect">
            <a:avLst/>
          </a:prstGeom>
        </p:spPr>
      </p:pic>
      <p:pic>
        <p:nvPicPr>
          <p:cNvPr id="44" name="SK-31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800850" y="6262390"/>
            <a:ext cx="166688" cy="137220"/>
          </a:xfrm>
          <a:prstGeom prst="rect">
            <a:avLst/>
          </a:prstGeom>
        </p:spPr>
      </p:pic>
      <p:pic>
        <p:nvPicPr>
          <p:cNvPr id="45" name="SK-31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001125" y="5781675"/>
            <a:ext cx="2619375" cy="795338"/>
          </a:xfrm>
          <a:prstGeom prst="rect">
            <a:avLst/>
          </a:prstGeom>
        </p:spPr>
      </p:pic>
      <p:pic>
        <p:nvPicPr>
          <p:cNvPr id="46" name="SK-31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610725" y="6262390"/>
            <a:ext cx="166688" cy="137220"/>
          </a:xfrm>
          <a:prstGeom prst="rect">
            <a:avLst/>
          </a:prstGeom>
        </p:spPr>
      </p:pic>
      <p:sp>
        <p:nvSpPr>
          <p:cNvPr id="47" name="SK-31-text-46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8" name="SK-31-text-47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D-3. 기대효과 정량화: 편익 지표 연결</a:t>
            </a:r>
            <a:endParaRPr lang="en-US" sz="2550" dirty="0"/>
          </a:p>
        </p:txBody>
      </p:sp>
      <p:sp>
        <p:nvSpPr>
          <p:cNvPr id="49" name="SK-31-text-48"/>
          <p:cNvSpPr/>
          <p:nvPr/>
        </p:nvSpPr>
        <p:spPr>
          <a:xfrm>
            <a:off x="1162050" y="1700213"/>
            <a:ext cx="50234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Tracker 기반 선행지표 감시</a:t>
            </a:r>
            <a:endParaRPr lang="en-US" sz="1350" dirty="0"/>
          </a:p>
        </p:txBody>
      </p:sp>
      <p:sp>
        <p:nvSpPr>
          <p:cNvPr id="50" name="SK-31-text-49"/>
          <p:cNvSpPr/>
          <p:nvPr/>
        </p:nvSpPr>
        <p:spPr>
          <a:xfrm>
            <a:off x="723900" y="2114550"/>
            <a:ext cx="51244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Agent가 실시간 텔레메트리와 고객 피드백을 분석하여, 프로젝트 완료(Output)가 실제 사업 가치(Outcome)로 전환되는 병목 구간을 실시간 탐지합니다.</a:t>
            </a:r>
            <a:endParaRPr lang="en-US" sz="1125" dirty="0"/>
          </a:p>
        </p:txBody>
      </p:sp>
      <p:sp>
        <p:nvSpPr>
          <p:cNvPr id="51" name="SK-31-text-50"/>
          <p:cNvSpPr/>
          <p:nvPr/>
        </p:nvSpPr>
        <p:spPr>
          <a:xfrm>
            <a:off x="6781800" y="1700213"/>
            <a:ext cx="29660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리스크 조기 차단</a:t>
            </a:r>
            <a:endParaRPr lang="en-US" sz="1350" dirty="0"/>
          </a:p>
        </p:txBody>
      </p:sp>
      <p:sp>
        <p:nvSpPr>
          <p:cNvPr id="52" name="SK-31-text-51"/>
          <p:cNvSpPr/>
          <p:nvPr/>
        </p:nvSpPr>
        <p:spPr>
          <a:xfrm>
            <a:off x="6343650" y="2114550"/>
            <a:ext cx="51244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가능한 선행지표(Leading Indicator)가 임계치를 이탈할 경우, PM Transformers가 즉시 에스컬레이션하여 편익 실현 실패 가능성을 90% 이상 제거합니다.</a:t>
            </a:r>
            <a:endParaRPr lang="en-US" sz="1125" dirty="0"/>
          </a:p>
        </p:txBody>
      </p:sp>
      <p:sp>
        <p:nvSpPr>
          <p:cNvPr id="53" name="SK-31-text-52"/>
          <p:cNvSpPr/>
          <p:nvPr/>
        </p:nvSpPr>
        <p:spPr>
          <a:xfrm>
            <a:off x="685800" y="3138488"/>
            <a:ext cx="13563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Benefit ID</a:t>
            </a:r>
            <a:endParaRPr lang="en-US" sz="1050" dirty="0"/>
          </a:p>
        </p:txBody>
      </p:sp>
      <p:sp>
        <p:nvSpPr>
          <p:cNvPr id="54" name="SK-31-text-53"/>
          <p:cNvSpPr/>
          <p:nvPr/>
        </p:nvSpPr>
        <p:spPr>
          <a:xfrm>
            <a:off x="1828800" y="3138488"/>
            <a:ext cx="16017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 (BEN)</a:t>
            </a:r>
            <a:endParaRPr lang="en-US" sz="1050" dirty="0"/>
          </a:p>
        </p:txBody>
      </p:sp>
      <p:sp>
        <p:nvSpPr>
          <p:cNvPr id="55" name="SK-31-text-54"/>
          <p:cNvSpPr/>
          <p:nvPr/>
        </p:nvSpPr>
        <p:spPr>
          <a:xfrm>
            <a:off x="3543300" y="3138488"/>
            <a:ext cx="2228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감시 선행지표</a:t>
            </a:r>
            <a:endParaRPr lang="en-US" sz="1050" dirty="0"/>
          </a:p>
        </p:txBody>
      </p:sp>
      <p:sp>
        <p:nvSpPr>
          <p:cNvPr id="56" name="SK-31-text-55"/>
          <p:cNvSpPr/>
          <p:nvPr/>
        </p:nvSpPr>
        <p:spPr>
          <a:xfrm>
            <a:off x="5924550" y="3138488"/>
            <a:ext cx="43243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기여 내용</a:t>
            </a:r>
            <a:endParaRPr lang="en-US" sz="1050" dirty="0"/>
          </a:p>
        </p:txBody>
      </p:sp>
      <p:sp>
        <p:nvSpPr>
          <p:cNvPr id="57" name="SK-31-text-56"/>
          <p:cNvSpPr/>
          <p:nvPr/>
        </p:nvSpPr>
        <p:spPr>
          <a:xfrm>
            <a:off x="10401300" y="3138488"/>
            <a:ext cx="1181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기여도</a:t>
            </a:r>
            <a:endParaRPr lang="en-US" sz="1050" dirty="0"/>
          </a:p>
        </p:txBody>
      </p:sp>
      <p:sp>
        <p:nvSpPr>
          <p:cNvPr id="58" name="SK-31-textBg-57"/>
          <p:cNvSpPr/>
          <p:nvPr/>
        </p:nvSpPr>
        <p:spPr>
          <a:xfrm>
            <a:off x="685800" y="3690937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31-text-58"/>
          <p:cNvSpPr/>
          <p:nvPr/>
        </p:nvSpPr>
        <p:spPr>
          <a:xfrm>
            <a:off x="742950" y="3690937"/>
            <a:ext cx="871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BEN-01</a:t>
            </a:r>
            <a:endParaRPr lang="en-US" sz="975" dirty="0"/>
          </a:p>
        </p:txBody>
      </p:sp>
      <p:sp>
        <p:nvSpPr>
          <p:cNvPr id="60" name="SK-31-text-59"/>
          <p:cNvSpPr/>
          <p:nvPr/>
        </p:nvSpPr>
        <p:spPr>
          <a:xfrm>
            <a:off x="1828800" y="3567113"/>
            <a:ext cx="16116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45%</a:t>
            </a:r>
            <a:endParaRPr lang="en-US" sz="1125" dirty="0"/>
          </a:p>
        </p:txBody>
      </p:sp>
      <p:sp>
        <p:nvSpPr>
          <p:cNvPr id="61" name="SK-31-text-60"/>
          <p:cNvSpPr/>
          <p:nvPr/>
        </p:nvSpPr>
        <p:spPr>
          <a:xfrm>
            <a:off x="3543300" y="3567113"/>
            <a:ext cx="307268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자율운영 사업장 비율 (≥50%)</a:t>
            </a:r>
            <a:endParaRPr lang="en-US" sz="1125" dirty="0"/>
          </a:p>
        </p:txBody>
      </p:sp>
      <p:sp>
        <p:nvSpPr>
          <p:cNvPr id="62" name="SK-31-text-61"/>
          <p:cNvSpPr/>
          <p:nvPr/>
        </p:nvSpPr>
        <p:spPr>
          <a:xfrm>
            <a:off x="5924550" y="3567113"/>
            <a:ext cx="57705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 징후 조기 포착 및 현장 맞춤형 기능 업데이트 제안</a:t>
            </a:r>
            <a:endParaRPr lang="en-US" sz="1125" dirty="0"/>
          </a:p>
        </p:txBody>
      </p:sp>
      <p:sp>
        <p:nvSpPr>
          <p:cNvPr id="63" name="SK-31-text-62"/>
          <p:cNvSpPr/>
          <p:nvPr/>
        </p:nvSpPr>
        <p:spPr>
          <a:xfrm>
            <a:off x="10401300" y="3567113"/>
            <a:ext cx="11811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1125" dirty="0"/>
          </a:p>
        </p:txBody>
      </p:sp>
      <p:sp>
        <p:nvSpPr>
          <p:cNvPr id="64" name="SK-31-textBg-63"/>
          <p:cNvSpPr/>
          <p:nvPr/>
        </p:nvSpPr>
        <p:spPr>
          <a:xfrm>
            <a:off x="685800" y="4133850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5" name="SK-31-text-64"/>
          <p:cNvSpPr/>
          <p:nvPr/>
        </p:nvSpPr>
        <p:spPr>
          <a:xfrm>
            <a:off x="742950" y="4133850"/>
            <a:ext cx="871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BEN-02</a:t>
            </a:r>
            <a:endParaRPr lang="en-US" sz="975" dirty="0"/>
          </a:p>
        </p:txBody>
      </p:sp>
      <p:sp>
        <p:nvSpPr>
          <p:cNvPr id="66" name="SK-31-text-65"/>
          <p:cNvSpPr/>
          <p:nvPr/>
        </p:nvSpPr>
        <p:spPr>
          <a:xfrm>
            <a:off x="1828800" y="4010025"/>
            <a:ext cx="220599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A/S 비용 30% 절감</a:t>
            </a:r>
            <a:endParaRPr lang="en-US" sz="1125" dirty="0"/>
          </a:p>
        </p:txBody>
      </p:sp>
      <p:sp>
        <p:nvSpPr>
          <p:cNvPr id="67" name="SK-31-text-66"/>
          <p:cNvSpPr/>
          <p:nvPr/>
        </p:nvSpPr>
        <p:spPr>
          <a:xfrm>
            <a:off x="3543300" y="4010025"/>
            <a:ext cx="245272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 완주율 (≥70%)</a:t>
            </a:r>
            <a:endParaRPr lang="en-US" sz="1125" dirty="0"/>
          </a:p>
        </p:txBody>
      </p:sp>
      <p:sp>
        <p:nvSpPr>
          <p:cNvPr id="68" name="SK-31-text-67"/>
          <p:cNvSpPr/>
          <p:nvPr/>
        </p:nvSpPr>
        <p:spPr>
          <a:xfrm>
            <a:off x="5924550" y="4010025"/>
            <a:ext cx="57705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원격 인식 오류 패턴 분석을 통해 불필요한 현장 출동 방지</a:t>
            </a:r>
            <a:endParaRPr lang="en-US" sz="1125" dirty="0"/>
          </a:p>
        </p:txBody>
      </p:sp>
      <p:sp>
        <p:nvSpPr>
          <p:cNvPr id="69" name="SK-31-text-68"/>
          <p:cNvSpPr/>
          <p:nvPr/>
        </p:nvSpPr>
        <p:spPr>
          <a:xfrm>
            <a:off x="10401300" y="4010025"/>
            <a:ext cx="121266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125" dirty="0"/>
          </a:p>
        </p:txBody>
      </p:sp>
      <p:sp>
        <p:nvSpPr>
          <p:cNvPr id="70" name="SK-31-textBg-69"/>
          <p:cNvSpPr/>
          <p:nvPr/>
        </p:nvSpPr>
        <p:spPr>
          <a:xfrm>
            <a:off x="685800" y="4683919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SK-31-text-70"/>
          <p:cNvSpPr/>
          <p:nvPr/>
        </p:nvSpPr>
        <p:spPr>
          <a:xfrm>
            <a:off x="742950" y="4683919"/>
            <a:ext cx="871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BEN-03</a:t>
            </a:r>
            <a:endParaRPr lang="en-US" sz="975" dirty="0"/>
          </a:p>
        </p:txBody>
      </p:sp>
      <p:sp>
        <p:nvSpPr>
          <p:cNvPr id="72" name="SK-31-text-71"/>
          <p:cNvSpPr/>
          <p:nvPr/>
        </p:nvSpPr>
        <p:spPr>
          <a:xfrm>
            <a:off x="1828800" y="4452938"/>
            <a:ext cx="15621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구독전환율 8%</a:t>
            </a:r>
            <a:endParaRPr lang="en-US" sz="1125" dirty="0"/>
          </a:p>
        </p:txBody>
      </p:sp>
      <p:sp>
        <p:nvSpPr>
          <p:cNvPr id="73" name="SK-31-text-72"/>
          <p:cNvSpPr/>
          <p:nvPr/>
        </p:nvSpPr>
        <p:spPr>
          <a:xfrm>
            <a:off x="3543300" y="4452938"/>
            <a:ext cx="22288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관제 콘솔 DAU 추세</a:t>
            </a:r>
            <a:endParaRPr lang="en-US" sz="1125" dirty="0"/>
          </a:p>
        </p:txBody>
      </p:sp>
      <p:sp>
        <p:nvSpPr>
          <p:cNvPr id="74" name="SK-31-text-73"/>
          <p:cNvSpPr/>
          <p:nvPr/>
        </p:nvSpPr>
        <p:spPr>
          <a:xfrm>
            <a:off x="5924550" y="4452938"/>
            <a:ext cx="42481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 저해 요소(UX Friction) 탐지 및 기능 고도화 로드맵 연결</a:t>
            </a:r>
            <a:endParaRPr lang="en-US" sz="1125" dirty="0"/>
          </a:p>
        </p:txBody>
      </p:sp>
      <p:sp>
        <p:nvSpPr>
          <p:cNvPr id="75" name="SK-31-text-74"/>
          <p:cNvSpPr/>
          <p:nvPr/>
        </p:nvSpPr>
        <p:spPr>
          <a:xfrm>
            <a:off x="10401300" y="4452938"/>
            <a:ext cx="11811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1125" dirty="0"/>
          </a:p>
        </p:txBody>
      </p:sp>
      <p:sp>
        <p:nvSpPr>
          <p:cNvPr id="76" name="SK-31-textBg-75"/>
          <p:cNvSpPr/>
          <p:nvPr/>
        </p:nvSpPr>
        <p:spPr>
          <a:xfrm>
            <a:off x="685800" y="5233988"/>
            <a:ext cx="571500" cy="1905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SK-31-text-76"/>
          <p:cNvSpPr/>
          <p:nvPr/>
        </p:nvSpPr>
        <p:spPr>
          <a:xfrm>
            <a:off x="742950" y="5233988"/>
            <a:ext cx="871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</a:rPr>
              <a:t>BEN-04</a:t>
            </a:r>
            <a:endParaRPr lang="en-US" sz="975" dirty="0"/>
          </a:p>
        </p:txBody>
      </p:sp>
      <p:sp>
        <p:nvSpPr>
          <p:cNvPr id="78" name="SK-31-text-77"/>
          <p:cNvSpPr/>
          <p:nvPr/>
        </p:nvSpPr>
        <p:spPr>
          <a:xfrm>
            <a:off x="1828800" y="5110163"/>
            <a:ext cx="15621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비용 최적화</a:t>
            </a:r>
            <a:endParaRPr lang="en-US" sz="1125" dirty="0"/>
          </a:p>
        </p:txBody>
      </p:sp>
      <p:sp>
        <p:nvSpPr>
          <p:cNvPr id="79" name="SK-31-text-78"/>
          <p:cNvSpPr/>
          <p:nvPr/>
        </p:nvSpPr>
        <p:spPr>
          <a:xfrm>
            <a:off x="3543300" y="5110163"/>
            <a:ext cx="22288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호출당 추론 비용</a:t>
            </a:r>
            <a:endParaRPr lang="en-US" sz="1125" dirty="0"/>
          </a:p>
        </p:txBody>
      </p:sp>
      <p:sp>
        <p:nvSpPr>
          <p:cNvPr id="80" name="SK-31-text-79"/>
          <p:cNvSpPr/>
          <p:nvPr/>
        </p:nvSpPr>
        <p:spPr>
          <a:xfrm>
            <a:off x="5924550" y="5110163"/>
            <a:ext cx="544513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엣지캐시 미적용 및 고비용 VLM 남용 실시간 감시 및 경고</a:t>
            </a:r>
            <a:endParaRPr lang="en-US" sz="1125" dirty="0"/>
          </a:p>
        </p:txBody>
      </p:sp>
      <p:sp>
        <p:nvSpPr>
          <p:cNvPr id="81" name="SK-31-text-80"/>
          <p:cNvSpPr/>
          <p:nvPr/>
        </p:nvSpPr>
        <p:spPr>
          <a:xfrm>
            <a:off x="10401300" y="5110163"/>
            <a:ext cx="11811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1125" dirty="0"/>
          </a:p>
        </p:txBody>
      </p:sp>
      <p:sp>
        <p:nvSpPr>
          <p:cNvPr id="82" name="SK-31-text-81"/>
          <p:cNvSpPr/>
          <p:nvPr/>
        </p:nvSpPr>
        <p:spPr>
          <a:xfrm>
            <a:off x="723900" y="5895975"/>
            <a:ext cx="23907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활성화율</a:t>
            </a:r>
            <a:endParaRPr lang="en-US" sz="975" dirty="0"/>
          </a:p>
        </p:txBody>
      </p:sp>
      <p:sp>
        <p:nvSpPr>
          <p:cNvPr id="83" name="SK-31-text-82"/>
          <p:cNvSpPr/>
          <p:nvPr/>
        </p:nvSpPr>
        <p:spPr>
          <a:xfrm>
            <a:off x="723900" y="6119813"/>
            <a:ext cx="845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</a:t>
            </a:r>
            <a:endParaRPr lang="en-US" sz="1800" dirty="0"/>
          </a:p>
        </p:txBody>
      </p:sp>
      <p:sp>
        <p:nvSpPr>
          <p:cNvPr id="84" name="SK-31-text-83"/>
          <p:cNvSpPr/>
          <p:nvPr/>
        </p:nvSpPr>
        <p:spPr>
          <a:xfrm>
            <a:off x="1423988" y="6196013"/>
            <a:ext cx="117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200" dirty="0"/>
          </a:p>
        </p:txBody>
      </p:sp>
      <p:sp>
        <p:nvSpPr>
          <p:cNvPr id="85" name="SK-31-text-84"/>
          <p:cNvSpPr/>
          <p:nvPr/>
        </p:nvSpPr>
        <p:spPr>
          <a:xfrm>
            <a:off x="3533775" y="5895975"/>
            <a:ext cx="23907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괴리 감지 리드타임</a:t>
            </a:r>
            <a:endParaRPr lang="en-US" sz="975" dirty="0"/>
          </a:p>
        </p:txBody>
      </p:sp>
      <p:sp>
        <p:nvSpPr>
          <p:cNvPr id="86" name="SK-31-text-85"/>
          <p:cNvSpPr/>
          <p:nvPr/>
        </p:nvSpPr>
        <p:spPr>
          <a:xfrm>
            <a:off x="3533775" y="6119813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∞</a:t>
            </a:r>
            <a:endParaRPr lang="en-US" sz="1800" dirty="0"/>
          </a:p>
        </p:txBody>
      </p:sp>
      <p:sp>
        <p:nvSpPr>
          <p:cNvPr id="87" name="SK-31-text-86"/>
          <p:cNvSpPr/>
          <p:nvPr/>
        </p:nvSpPr>
        <p:spPr>
          <a:xfrm>
            <a:off x="4071938" y="6196013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≤24h</a:t>
            </a:r>
            <a:endParaRPr lang="en-US" sz="1200" dirty="0"/>
          </a:p>
        </p:txBody>
      </p:sp>
      <p:sp>
        <p:nvSpPr>
          <p:cNvPr id="88" name="SK-31-text-87"/>
          <p:cNvSpPr/>
          <p:nvPr/>
        </p:nvSpPr>
        <p:spPr>
          <a:xfrm>
            <a:off x="6343650" y="5895975"/>
            <a:ext cx="23907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사람 검토율</a:t>
            </a:r>
            <a:endParaRPr lang="en-US" sz="975" dirty="0"/>
          </a:p>
        </p:txBody>
      </p:sp>
      <p:sp>
        <p:nvSpPr>
          <p:cNvPr id="89" name="SK-31-text-88"/>
          <p:cNvSpPr/>
          <p:nvPr/>
        </p:nvSpPr>
        <p:spPr>
          <a:xfrm>
            <a:off x="6343650" y="6119813"/>
            <a:ext cx="845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</a:t>
            </a:r>
            <a:endParaRPr lang="en-US" sz="1800" dirty="0"/>
          </a:p>
        </p:txBody>
      </p:sp>
      <p:sp>
        <p:nvSpPr>
          <p:cNvPr id="90" name="SK-31-text-89"/>
          <p:cNvSpPr/>
          <p:nvPr/>
        </p:nvSpPr>
        <p:spPr>
          <a:xfrm>
            <a:off x="7043738" y="6196013"/>
            <a:ext cx="117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200" dirty="0"/>
          </a:p>
        </p:txBody>
      </p:sp>
      <p:sp>
        <p:nvSpPr>
          <p:cNvPr id="91" name="SK-31-text-90"/>
          <p:cNvSpPr/>
          <p:nvPr/>
        </p:nvSpPr>
        <p:spPr>
          <a:xfrm>
            <a:off x="9153525" y="5895975"/>
            <a:ext cx="23907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정식전환</a:t>
            </a:r>
            <a:endParaRPr lang="en-US" sz="975" dirty="0"/>
          </a:p>
        </p:txBody>
      </p:sp>
      <p:sp>
        <p:nvSpPr>
          <p:cNvPr id="92" name="SK-31-text-91"/>
          <p:cNvSpPr/>
          <p:nvPr/>
        </p:nvSpPr>
        <p:spPr>
          <a:xfrm>
            <a:off x="9153525" y="6119813"/>
            <a:ext cx="845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</a:t>
            </a:r>
            <a:endParaRPr lang="en-US" sz="1800" dirty="0"/>
          </a:p>
        </p:txBody>
      </p:sp>
      <p:sp>
        <p:nvSpPr>
          <p:cNvPr id="93" name="SK-31-text-92"/>
          <p:cNvSpPr/>
          <p:nvPr/>
        </p:nvSpPr>
        <p:spPr>
          <a:xfrm>
            <a:off x="9853613" y="6196013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≥80%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3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3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6825"/>
            <a:ext cx="6492180" cy="2390775"/>
          </a:xfrm>
          <a:prstGeom prst="rect">
            <a:avLst/>
          </a:prstGeom>
        </p:spPr>
      </p:pic>
      <p:pic>
        <p:nvPicPr>
          <p:cNvPr id="7" name="SK-3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62075"/>
            <a:ext cx="6263580" cy="342900"/>
          </a:xfrm>
          <a:prstGeom prst="rect">
            <a:avLst/>
          </a:prstGeom>
        </p:spPr>
      </p:pic>
      <p:pic>
        <p:nvPicPr>
          <p:cNvPr id="8" name="SK-3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09700"/>
            <a:ext cx="238125" cy="190500"/>
          </a:xfrm>
          <a:prstGeom prst="rect">
            <a:avLst/>
          </a:prstGeom>
        </p:spPr>
      </p:pic>
      <p:pic>
        <p:nvPicPr>
          <p:cNvPr id="9" name="SK-3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828800"/>
            <a:ext cx="3074640" cy="819150"/>
          </a:xfrm>
          <a:prstGeom prst="rect">
            <a:avLst/>
          </a:prstGeom>
        </p:spPr>
      </p:pic>
      <p:pic>
        <p:nvPicPr>
          <p:cNvPr id="10" name="SK-3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4740" y="1828800"/>
            <a:ext cx="3074640" cy="819150"/>
          </a:xfrm>
          <a:prstGeom prst="rect">
            <a:avLst/>
          </a:prstGeom>
        </p:spPr>
      </p:pic>
      <p:pic>
        <p:nvPicPr>
          <p:cNvPr id="11" name="SK-3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743200"/>
            <a:ext cx="3074640" cy="819150"/>
          </a:xfrm>
          <a:prstGeom prst="rect">
            <a:avLst/>
          </a:prstGeom>
        </p:spPr>
      </p:pic>
      <p:pic>
        <p:nvPicPr>
          <p:cNvPr id="12" name="SK-3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4740" y="2743200"/>
            <a:ext cx="3074640" cy="819150"/>
          </a:xfrm>
          <a:prstGeom prst="rect">
            <a:avLst/>
          </a:prstGeom>
        </p:spPr>
      </p:pic>
      <p:pic>
        <p:nvPicPr>
          <p:cNvPr id="13" name="SK-3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810000"/>
            <a:ext cx="6492180" cy="2800350"/>
          </a:xfrm>
          <a:prstGeom prst="rect">
            <a:avLst/>
          </a:prstGeom>
        </p:spPr>
      </p:pic>
      <p:pic>
        <p:nvPicPr>
          <p:cNvPr id="14" name="SK-3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905250"/>
            <a:ext cx="6263580" cy="342900"/>
          </a:xfrm>
          <a:prstGeom prst="rect">
            <a:avLst/>
          </a:prstGeom>
        </p:spPr>
      </p:pic>
      <p:pic>
        <p:nvPicPr>
          <p:cNvPr id="15" name="SK-3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952875"/>
            <a:ext cx="238125" cy="190500"/>
          </a:xfrm>
          <a:prstGeom prst="rect">
            <a:avLst/>
          </a:prstGeom>
        </p:spPr>
      </p:pic>
      <p:pic>
        <p:nvPicPr>
          <p:cNvPr id="16" name="SK-3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371975"/>
            <a:ext cx="762000" cy="314325"/>
          </a:xfrm>
          <a:prstGeom prst="rect">
            <a:avLst/>
          </a:prstGeom>
        </p:spPr>
      </p:pic>
      <p:pic>
        <p:nvPicPr>
          <p:cNvPr id="17" name="SK-3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7800" y="4371975"/>
            <a:ext cx="777776" cy="314325"/>
          </a:xfrm>
          <a:prstGeom prst="rect">
            <a:avLst/>
          </a:prstGeom>
        </p:spPr>
      </p:pic>
      <p:pic>
        <p:nvPicPr>
          <p:cNvPr id="18" name="SK-3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25576" y="4371975"/>
            <a:ext cx="4723805" cy="314325"/>
          </a:xfrm>
          <a:prstGeom prst="rect">
            <a:avLst/>
          </a:prstGeom>
        </p:spPr>
      </p:pic>
      <p:pic>
        <p:nvPicPr>
          <p:cNvPr id="19" name="SK-3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4686300"/>
            <a:ext cx="762000" cy="693241"/>
          </a:xfrm>
          <a:prstGeom prst="rect">
            <a:avLst/>
          </a:prstGeom>
        </p:spPr>
      </p:pic>
      <p:pic>
        <p:nvPicPr>
          <p:cNvPr id="20" name="SK-3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7800" y="4686300"/>
            <a:ext cx="777776" cy="693241"/>
          </a:xfrm>
          <a:prstGeom prst="rect">
            <a:avLst/>
          </a:prstGeom>
        </p:spPr>
      </p:pic>
      <p:pic>
        <p:nvPicPr>
          <p:cNvPr id="21" name="SK-3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25576" y="4686300"/>
            <a:ext cx="4723805" cy="693241"/>
          </a:xfrm>
          <a:prstGeom prst="rect">
            <a:avLst/>
          </a:prstGeom>
        </p:spPr>
      </p:pic>
      <p:pic>
        <p:nvPicPr>
          <p:cNvPr id="22" name="SK-3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5379541"/>
            <a:ext cx="762000" cy="442168"/>
          </a:xfrm>
          <a:prstGeom prst="rect">
            <a:avLst/>
          </a:prstGeom>
        </p:spPr>
      </p:pic>
      <p:pic>
        <p:nvPicPr>
          <p:cNvPr id="23" name="SK-3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5379541"/>
            <a:ext cx="777776" cy="442168"/>
          </a:xfrm>
          <a:prstGeom prst="rect">
            <a:avLst/>
          </a:prstGeom>
        </p:spPr>
      </p:pic>
      <p:pic>
        <p:nvPicPr>
          <p:cNvPr id="24" name="SK-3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25576" y="5379541"/>
            <a:ext cx="4723805" cy="442168"/>
          </a:xfrm>
          <a:prstGeom prst="rect">
            <a:avLst/>
          </a:prstGeom>
        </p:spPr>
      </p:pic>
      <p:pic>
        <p:nvPicPr>
          <p:cNvPr id="25" name="SK-3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5821710"/>
            <a:ext cx="762000" cy="693390"/>
          </a:xfrm>
          <a:prstGeom prst="rect">
            <a:avLst/>
          </a:prstGeom>
        </p:spPr>
      </p:pic>
      <p:pic>
        <p:nvPicPr>
          <p:cNvPr id="26" name="SK-3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47800" y="5821710"/>
            <a:ext cx="777776" cy="693390"/>
          </a:xfrm>
          <a:prstGeom prst="rect">
            <a:avLst/>
          </a:prstGeom>
        </p:spPr>
      </p:pic>
      <p:pic>
        <p:nvPicPr>
          <p:cNvPr id="27" name="SK-3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25576" y="5821710"/>
            <a:ext cx="4723805" cy="693390"/>
          </a:xfrm>
          <a:prstGeom prst="rect">
            <a:avLst/>
          </a:prstGeom>
        </p:spPr>
      </p:pic>
      <p:pic>
        <p:nvPicPr>
          <p:cNvPr id="28" name="SK-3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92280" y="1266825"/>
            <a:ext cx="4328220" cy="5343525"/>
          </a:xfrm>
          <a:prstGeom prst="rect">
            <a:avLst/>
          </a:prstGeom>
        </p:spPr>
      </p:pic>
      <p:pic>
        <p:nvPicPr>
          <p:cNvPr id="29" name="SK-3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06580" y="1362075"/>
            <a:ext cx="4099620" cy="342900"/>
          </a:xfrm>
          <a:prstGeom prst="rect">
            <a:avLst/>
          </a:prstGeom>
        </p:spPr>
      </p:pic>
      <p:pic>
        <p:nvPicPr>
          <p:cNvPr id="30" name="SK-3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06580" y="1409700"/>
            <a:ext cx="238125" cy="190500"/>
          </a:xfrm>
          <a:prstGeom prst="rect">
            <a:avLst/>
          </a:prstGeom>
        </p:spPr>
      </p:pic>
      <p:pic>
        <p:nvPicPr>
          <p:cNvPr id="31" name="SK-3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06580" y="1828800"/>
            <a:ext cx="4099620" cy="716161"/>
          </a:xfrm>
          <a:prstGeom prst="rect">
            <a:avLst/>
          </a:prstGeom>
        </p:spPr>
      </p:pic>
      <p:pic>
        <p:nvPicPr>
          <p:cNvPr id="32" name="SK-3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82780" y="1895475"/>
            <a:ext cx="190500" cy="190500"/>
          </a:xfrm>
          <a:prstGeom prst="rect">
            <a:avLst/>
          </a:prstGeom>
        </p:spPr>
      </p:pic>
      <p:pic>
        <p:nvPicPr>
          <p:cNvPr id="33" name="SK-3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06580" y="2621161"/>
            <a:ext cx="4099620" cy="716161"/>
          </a:xfrm>
          <a:prstGeom prst="rect">
            <a:avLst/>
          </a:prstGeom>
        </p:spPr>
      </p:pic>
      <p:pic>
        <p:nvPicPr>
          <p:cNvPr id="34" name="SK-3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82780" y="2687836"/>
            <a:ext cx="190500" cy="190500"/>
          </a:xfrm>
          <a:prstGeom prst="rect">
            <a:avLst/>
          </a:prstGeom>
        </p:spPr>
      </p:pic>
      <p:pic>
        <p:nvPicPr>
          <p:cNvPr id="35" name="SK-3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06580" y="3413522"/>
            <a:ext cx="4099620" cy="716161"/>
          </a:xfrm>
          <a:prstGeom prst="rect">
            <a:avLst/>
          </a:prstGeom>
        </p:spPr>
      </p:pic>
      <p:pic>
        <p:nvPicPr>
          <p:cNvPr id="36" name="SK-3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482780" y="3480197"/>
            <a:ext cx="190500" cy="190500"/>
          </a:xfrm>
          <a:prstGeom prst="rect">
            <a:avLst/>
          </a:prstGeom>
        </p:spPr>
      </p:pic>
      <p:pic>
        <p:nvPicPr>
          <p:cNvPr id="37" name="SK-3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06580" y="4205883"/>
            <a:ext cx="4099620" cy="716161"/>
          </a:xfrm>
          <a:prstGeom prst="rect">
            <a:avLst/>
          </a:prstGeom>
        </p:spPr>
      </p:pic>
      <p:pic>
        <p:nvPicPr>
          <p:cNvPr id="38" name="SK-3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482780" y="4272558"/>
            <a:ext cx="190500" cy="190500"/>
          </a:xfrm>
          <a:prstGeom prst="rect">
            <a:avLst/>
          </a:prstGeom>
        </p:spPr>
      </p:pic>
      <p:pic>
        <p:nvPicPr>
          <p:cNvPr id="39" name="SK-3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06580" y="5201841"/>
            <a:ext cx="154781" cy="154781"/>
          </a:xfrm>
          <a:prstGeom prst="rect">
            <a:avLst/>
          </a:prstGeom>
        </p:spPr>
      </p:pic>
      <p:sp>
        <p:nvSpPr>
          <p:cNvPr id="40" name="SK-32-text-39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1" name="SK-32-text-40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D-4 &amp; D-5. 현업 적용 및 확장 가능성</a:t>
            </a:r>
            <a:endParaRPr lang="en-US" sz="2550" dirty="0"/>
          </a:p>
        </p:txBody>
      </p:sp>
      <p:sp>
        <p:nvSpPr>
          <p:cNvPr id="42" name="SK-32-text-41"/>
          <p:cNvSpPr/>
          <p:nvPr/>
        </p:nvSpPr>
        <p:spPr>
          <a:xfrm>
            <a:off x="1000125" y="1362075"/>
            <a:ext cx="619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D-4. 현업 적용을 위한 필수 자원 및 데이터</a:t>
            </a:r>
            <a:endParaRPr lang="en-US" sz="1500" dirty="0"/>
          </a:p>
        </p:txBody>
      </p:sp>
      <p:sp>
        <p:nvSpPr>
          <p:cNvPr id="43" name="SK-32-text-42"/>
          <p:cNvSpPr/>
          <p:nvPr/>
        </p:nvSpPr>
        <p:spPr>
          <a:xfrm>
            <a:off x="800100" y="1924050"/>
            <a:ext cx="292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5AEE"/>
                </a:solidFill>
              </a:rPr>
              <a:t>AI INFRASTRUCTURE</a:t>
            </a:r>
            <a:endParaRPr lang="en-US" sz="900" dirty="0"/>
          </a:p>
        </p:txBody>
      </p:sp>
      <p:sp>
        <p:nvSpPr>
          <p:cNvPr id="44" name="SK-32-text-43"/>
          <p:cNvSpPr/>
          <p:nvPr/>
        </p:nvSpPr>
        <p:spPr>
          <a:xfrm>
            <a:off x="800100" y="2124075"/>
            <a:ext cx="28460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VLM/LLM API &amp; Cloud GPU (가동률 61% 활용)</a:t>
            </a:r>
            <a:endParaRPr lang="en-US" sz="1125" dirty="0"/>
          </a:p>
        </p:txBody>
      </p:sp>
      <p:sp>
        <p:nvSpPr>
          <p:cNvPr id="45" name="SK-32-text-44"/>
          <p:cNvSpPr/>
          <p:nvPr/>
        </p:nvSpPr>
        <p:spPr>
          <a:xfrm>
            <a:off x="3989040" y="1924050"/>
            <a:ext cx="292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5AEE"/>
                </a:solidFill>
              </a:rPr>
              <a:t>DATA CONNECTOR</a:t>
            </a:r>
            <a:endParaRPr lang="en-US" sz="900" dirty="0"/>
          </a:p>
        </p:txBody>
      </p:sp>
      <p:sp>
        <p:nvSpPr>
          <p:cNvPr id="46" name="SK-32-text-45"/>
          <p:cNvSpPr/>
          <p:nvPr/>
        </p:nvSpPr>
        <p:spPr>
          <a:xfrm>
            <a:off x="3989040" y="2124075"/>
            <a:ext cx="28460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Jira, Confluence, Slack, Telemetry API 연동</a:t>
            </a:r>
            <a:endParaRPr lang="en-US" sz="1125" dirty="0"/>
          </a:p>
        </p:txBody>
      </p:sp>
      <p:sp>
        <p:nvSpPr>
          <p:cNvPr id="47" name="SK-32-text-46"/>
          <p:cNvSpPr/>
          <p:nvPr/>
        </p:nvSpPr>
        <p:spPr>
          <a:xfrm>
            <a:off x="800100" y="2838450"/>
            <a:ext cx="292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5AEE"/>
                </a:solidFill>
              </a:rPr>
              <a:t>HUMAN RESOURCE</a:t>
            </a:r>
            <a:endParaRPr lang="en-US" sz="900" dirty="0"/>
          </a:p>
        </p:txBody>
      </p:sp>
      <p:sp>
        <p:nvSpPr>
          <p:cNvPr id="48" name="SK-32-text-47"/>
          <p:cNvSpPr/>
          <p:nvPr/>
        </p:nvSpPr>
        <p:spPr>
          <a:xfrm>
            <a:off x="800100" y="3038475"/>
            <a:ext cx="5562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Ops 2인, PMO 1인, 데이터 엔지니어 1인</a:t>
            </a:r>
            <a:endParaRPr lang="en-US" sz="1125" dirty="0"/>
          </a:p>
        </p:txBody>
      </p:sp>
      <p:sp>
        <p:nvSpPr>
          <p:cNvPr id="49" name="SK-32-text-48"/>
          <p:cNvSpPr/>
          <p:nvPr/>
        </p:nvSpPr>
        <p:spPr>
          <a:xfrm>
            <a:off x="3989040" y="2838450"/>
            <a:ext cx="292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5AEE"/>
                </a:solidFill>
              </a:rPr>
              <a:t>GOVERNANCE RULE</a:t>
            </a:r>
            <a:endParaRPr lang="en-US" sz="900" dirty="0"/>
          </a:p>
        </p:txBody>
      </p:sp>
      <p:sp>
        <p:nvSpPr>
          <p:cNvPr id="50" name="SK-32-text-49"/>
          <p:cNvSpPr/>
          <p:nvPr/>
        </p:nvSpPr>
        <p:spPr>
          <a:xfrm>
            <a:off x="3989040" y="3038475"/>
            <a:ext cx="28460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검토(Human-in-the-loop) 승인 프로세스</a:t>
            </a:r>
            <a:endParaRPr lang="en-US" sz="1125" dirty="0"/>
          </a:p>
        </p:txBody>
      </p:sp>
      <p:sp>
        <p:nvSpPr>
          <p:cNvPr id="51" name="SK-32-text-50"/>
          <p:cNvSpPr/>
          <p:nvPr/>
        </p:nvSpPr>
        <p:spPr>
          <a:xfrm>
            <a:off x="1000125" y="3905250"/>
            <a:ext cx="4972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로드맵 및 기간 (12주 모델)</a:t>
            </a:r>
            <a:endParaRPr lang="en-US" sz="1500" dirty="0"/>
          </a:p>
        </p:txBody>
      </p:sp>
      <p:sp>
        <p:nvSpPr>
          <p:cNvPr id="52" name="SK-32-text-51"/>
          <p:cNvSpPr/>
          <p:nvPr/>
        </p:nvSpPr>
        <p:spPr>
          <a:xfrm>
            <a:off x="800100" y="4371975"/>
            <a:ext cx="609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050" dirty="0"/>
          </a:p>
        </p:txBody>
      </p:sp>
      <p:sp>
        <p:nvSpPr>
          <p:cNvPr id="53" name="SK-32-text-52"/>
          <p:cNvSpPr/>
          <p:nvPr/>
        </p:nvSpPr>
        <p:spPr>
          <a:xfrm>
            <a:off x="1562100" y="4371975"/>
            <a:ext cx="6253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050" dirty="0"/>
          </a:p>
        </p:txBody>
      </p:sp>
      <p:sp>
        <p:nvSpPr>
          <p:cNvPr id="54" name="SK-32-text-53"/>
          <p:cNvSpPr/>
          <p:nvPr/>
        </p:nvSpPr>
        <p:spPr>
          <a:xfrm>
            <a:off x="2339876" y="4371975"/>
            <a:ext cx="45714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1050" dirty="0"/>
          </a:p>
        </p:txBody>
      </p:sp>
      <p:sp>
        <p:nvSpPr>
          <p:cNvPr id="55" name="SK-32-text-54"/>
          <p:cNvSpPr/>
          <p:nvPr/>
        </p:nvSpPr>
        <p:spPr>
          <a:xfrm>
            <a:off x="800100" y="4686300"/>
            <a:ext cx="934974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endParaRPr lang="en-US" sz="1050" dirty="0"/>
          </a:p>
        </p:txBody>
      </p:sp>
      <p:sp>
        <p:nvSpPr>
          <p:cNvPr id="56" name="SK-32-text-55"/>
          <p:cNvSpPr/>
          <p:nvPr/>
        </p:nvSpPr>
        <p:spPr>
          <a:xfrm>
            <a:off x="1562100" y="4686300"/>
            <a:ext cx="791789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W1-W4</a:t>
            </a:r>
            <a:endParaRPr lang="en-US" sz="1050" dirty="0"/>
          </a:p>
        </p:txBody>
      </p:sp>
      <p:sp>
        <p:nvSpPr>
          <p:cNvPr id="57" name="SK-32-text-56"/>
          <p:cNvSpPr/>
          <p:nvPr/>
        </p:nvSpPr>
        <p:spPr>
          <a:xfrm>
            <a:off x="2339876" y="4686300"/>
            <a:ext cx="4495205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파이프라인 구축 및 과거 실패 사례(수박 프로젝트 등) 학습 데이터 정제</a:t>
            </a:r>
            <a:endParaRPr lang="en-US" sz="1050" dirty="0"/>
          </a:p>
        </p:txBody>
      </p:sp>
      <p:sp>
        <p:nvSpPr>
          <p:cNvPr id="58" name="SK-32-text-57"/>
          <p:cNvSpPr/>
          <p:nvPr/>
        </p:nvSpPr>
        <p:spPr>
          <a:xfrm>
            <a:off x="800100" y="5379541"/>
            <a:ext cx="934974" cy="44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</a:t>
            </a:r>
            <a:endParaRPr lang="en-US" sz="1050" dirty="0"/>
          </a:p>
        </p:txBody>
      </p:sp>
      <p:sp>
        <p:nvSpPr>
          <p:cNvPr id="59" name="SK-32-text-58"/>
          <p:cNvSpPr/>
          <p:nvPr/>
        </p:nvSpPr>
        <p:spPr>
          <a:xfrm>
            <a:off x="1562100" y="5379541"/>
            <a:ext cx="791789" cy="44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W5-W8</a:t>
            </a:r>
            <a:endParaRPr lang="en-US" sz="1050" dirty="0"/>
          </a:p>
        </p:txBody>
      </p:sp>
      <p:sp>
        <p:nvSpPr>
          <p:cNvPr id="60" name="SK-32-text-59"/>
          <p:cNvSpPr/>
          <p:nvPr/>
        </p:nvSpPr>
        <p:spPr>
          <a:xfrm>
            <a:off x="2339876" y="5379541"/>
            <a:ext cx="6928625" cy="44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Agent별 프롬프트 튜닝 및 이상 감지 임계치 설정, 소규모 프로젝트 병행 검증</a:t>
            </a:r>
            <a:endParaRPr lang="en-US" sz="1050" dirty="0"/>
          </a:p>
        </p:txBody>
      </p:sp>
      <p:sp>
        <p:nvSpPr>
          <p:cNvPr id="61" name="SK-32-text-60"/>
          <p:cNvSpPr/>
          <p:nvPr/>
        </p:nvSpPr>
        <p:spPr>
          <a:xfrm>
            <a:off x="800100" y="5821710"/>
            <a:ext cx="934974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</a:t>
            </a:r>
            <a:endParaRPr lang="en-US" sz="1050" dirty="0"/>
          </a:p>
        </p:txBody>
      </p:sp>
      <p:sp>
        <p:nvSpPr>
          <p:cNvPr id="62" name="SK-32-text-61"/>
          <p:cNvSpPr/>
          <p:nvPr/>
        </p:nvSpPr>
        <p:spPr>
          <a:xfrm>
            <a:off x="1562100" y="5821710"/>
            <a:ext cx="549176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W9-W12</a:t>
            </a:r>
            <a:endParaRPr lang="en-US" sz="1050" dirty="0"/>
          </a:p>
        </p:txBody>
      </p:sp>
      <p:sp>
        <p:nvSpPr>
          <p:cNvPr id="63" name="SK-32-text-62"/>
          <p:cNvSpPr/>
          <p:nvPr/>
        </p:nvSpPr>
        <p:spPr>
          <a:xfrm>
            <a:off x="2339876" y="5821710"/>
            <a:ext cx="6167245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대시보드 연동 및 거버넌스 승인 체계 통합, 전사 확대 적용 준비</a:t>
            </a:r>
            <a:endParaRPr lang="en-US" sz="1050" dirty="0"/>
          </a:p>
        </p:txBody>
      </p:sp>
      <p:sp>
        <p:nvSpPr>
          <p:cNvPr id="64" name="SK-32-text-63"/>
          <p:cNvSpPr/>
          <p:nvPr/>
        </p:nvSpPr>
        <p:spPr>
          <a:xfrm>
            <a:off x="7720905" y="1362075"/>
            <a:ext cx="44710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D-5. 타 프로젝트 확장 시나리오</a:t>
            </a:r>
            <a:endParaRPr lang="en-US" sz="1500" dirty="0"/>
          </a:p>
        </p:txBody>
      </p:sp>
      <p:sp>
        <p:nvSpPr>
          <p:cNvPr id="65" name="SK-32-text-64"/>
          <p:cNvSpPr/>
          <p:nvPr/>
        </p:nvSpPr>
        <p:spPr>
          <a:xfrm>
            <a:off x="7787580" y="1876425"/>
            <a:ext cx="371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표준 PMO 거버넌스 도구화</a:t>
            </a:r>
            <a:endParaRPr lang="en-US" sz="1200" dirty="0"/>
          </a:p>
        </p:txBody>
      </p:sp>
      <p:sp>
        <p:nvSpPr>
          <p:cNvPr id="66" name="SK-32-text-65"/>
          <p:cNvSpPr/>
          <p:nvPr/>
        </p:nvSpPr>
        <p:spPr>
          <a:xfrm>
            <a:off x="7787580" y="2124075"/>
            <a:ext cx="36424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전사 프로젝트의 건강도를 동일 기준으로 상시 모니터링하여 '수박 프로젝트' 사전 차단</a:t>
            </a:r>
            <a:endParaRPr lang="en-US" sz="1050" dirty="0"/>
          </a:p>
        </p:txBody>
      </p:sp>
      <p:sp>
        <p:nvSpPr>
          <p:cNvPr id="67" name="SK-32-text-66"/>
          <p:cNvSpPr/>
          <p:nvPr/>
        </p:nvSpPr>
        <p:spPr>
          <a:xfrm>
            <a:off x="7787580" y="2668786"/>
            <a:ext cx="371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특화 에이전트 확장</a:t>
            </a:r>
            <a:endParaRPr lang="en-US" sz="1200" dirty="0"/>
          </a:p>
        </p:txBody>
      </p:sp>
      <p:sp>
        <p:nvSpPr>
          <p:cNvPr id="68" name="SK-32-text-67"/>
          <p:cNvSpPr/>
          <p:nvPr/>
        </p:nvSpPr>
        <p:spPr>
          <a:xfrm>
            <a:off x="7787580" y="2916436"/>
            <a:ext cx="36424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HW 개발, QA 자동화, 규제 준수(Compliance) 등 도메인별 특화 에이전트를 모듈형으로 추가</a:t>
            </a:r>
            <a:endParaRPr lang="en-US" sz="1050" dirty="0"/>
          </a:p>
        </p:txBody>
      </p:sp>
      <p:sp>
        <p:nvSpPr>
          <p:cNvPr id="69" name="SK-32-text-68"/>
          <p:cNvSpPr/>
          <p:nvPr/>
        </p:nvSpPr>
        <p:spPr>
          <a:xfrm>
            <a:off x="7787580" y="3461147"/>
            <a:ext cx="371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통합 의사결정 체계</a:t>
            </a:r>
            <a:endParaRPr lang="en-US" sz="1200" dirty="0"/>
          </a:p>
        </p:txBody>
      </p:sp>
      <p:sp>
        <p:nvSpPr>
          <p:cNvPr id="70" name="SK-32-text-69"/>
          <p:cNvSpPr/>
          <p:nvPr/>
        </p:nvSpPr>
        <p:spPr>
          <a:xfrm>
            <a:off x="7787580" y="3708797"/>
            <a:ext cx="36424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다국적 리전 간의 실시간 의사결정 기록을 동기화하여 중복 개발 및 정책 불일치 리스크 제거</a:t>
            </a:r>
            <a:endParaRPr lang="en-US" sz="1050" dirty="0"/>
          </a:p>
        </p:txBody>
      </p:sp>
      <p:sp>
        <p:nvSpPr>
          <p:cNvPr id="71" name="SK-32-text-70"/>
          <p:cNvSpPr/>
          <p:nvPr/>
        </p:nvSpPr>
        <p:spPr>
          <a:xfrm>
            <a:off x="7787580" y="4253508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가치(Value) 중심 관리</a:t>
            </a:r>
            <a:endParaRPr lang="en-US" sz="1200" dirty="0"/>
          </a:p>
        </p:txBody>
      </p:sp>
      <p:sp>
        <p:nvSpPr>
          <p:cNvPr id="72" name="SK-32-text-71"/>
          <p:cNvSpPr/>
          <p:nvPr/>
        </p:nvSpPr>
        <p:spPr>
          <a:xfrm>
            <a:off x="7787580" y="4501158"/>
            <a:ext cx="36424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산출물(Output) 관리를 넘어, 실제 편익(Outcome) 달성 여부를 예측하는 전략적 도구로 진화</a:t>
            </a:r>
            <a:endParaRPr lang="en-US" sz="1050" dirty="0"/>
          </a:p>
        </p:txBody>
      </p:sp>
      <p:sp>
        <p:nvSpPr>
          <p:cNvPr id="73" name="SK-32-text-72"/>
          <p:cNvSpPr/>
          <p:nvPr/>
        </p:nvSpPr>
        <p:spPr>
          <a:xfrm>
            <a:off x="7618512" y="5093494"/>
            <a:ext cx="3887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Transformers는 PMBOK 8판의 모든 관리 차원에 대응 가능한 확장형 아키텍처입니다.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4328220" cy="2943225"/>
          </a:xfrm>
          <a:prstGeom prst="rect">
            <a:avLst/>
          </a:prstGeom>
        </p:spPr>
      </p:pic>
      <p:pic>
        <p:nvPicPr>
          <p:cNvPr id="7" name="SK-3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60178"/>
            <a:ext cx="214313" cy="175320"/>
          </a:xfrm>
          <a:prstGeom prst="rect">
            <a:avLst/>
          </a:prstGeom>
        </p:spPr>
      </p:pic>
      <p:pic>
        <p:nvPicPr>
          <p:cNvPr id="8" name="SK-3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990725"/>
            <a:ext cx="4099620" cy="585788"/>
          </a:xfrm>
          <a:prstGeom prst="rect">
            <a:avLst/>
          </a:prstGeom>
        </p:spPr>
      </p:pic>
      <p:pic>
        <p:nvPicPr>
          <p:cNvPr id="9" name="SK-3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576513"/>
            <a:ext cx="4099620" cy="585788"/>
          </a:xfrm>
          <a:prstGeom prst="rect">
            <a:avLst/>
          </a:prstGeom>
        </p:spPr>
      </p:pic>
      <p:pic>
        <p:nvPicPr>
          <p:cNvPr id="10" name="SK-3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162300"/>
            <a:ext cx="4099620" cy="585788"/>
          </a:xfrm>
          <a:prstGeom prst="rect">
            <a:avLst/>
          </a:prstGeom>
        </p:spPr>
      </p:pic>
      <p:pic>
        <p:nvPicPr>
          <p:cNvPr id="11" name="SK-3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748087"/>
            <a:ext cx="4099620" cy="585788"/>
          </a:xfrm>
          <a:prstGeom prst="rect">
            <a:avLst/>
          </a:prstGeom>
        </p:spPr>
      </p:pic>
      <p:pic>
        <p:nvPicPr>
          <p:cNvPr id="12" name="SK-3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8320" y="1504950"/>
            <a:ext cx="6492180" cy="2943225"/>
          </a:xfrm>
          <a:prstGeom prst="rect">
            <a:avLst/>
          </a:prstGeom>
        </p:spPr>
      </p:pic>
      <p:pic>
        <p:nvPicPr>
          <p:cNvPr id="13" name="SK-3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8320" y="1504950"/>
            <a:ext cx="1143000" cy="428625"/>
          </a:xfrm>
          <a:prstGeom prst="rect">
            <a:avLst/>
          </a:prstGeom>
        </p:spPr>
      </p:pic>
      <p:pic>
        <p:nvPicPr>
          <p:cNvPr id="14" name="SK-3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1320" y="1504950"/>
            <a:ext cx="2443460" cy="428625"/>
          </a:xfrm>
          <a:prstGeom prst="rect">
            <a:avLst/>
          </a:prstGeom>
        </p:spPr>
      </p:pic>
      <p:pic>
        <p:nvPicPr>
          <p:cNvPr id="15" name="SK-3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14780" y="1504950"/>
            <a:ext cx="2905720" cy="428625"/>
          </a:xfrm>
          <a:prstGeom prst="rect">
            <a:avLst/>
          </a:prstGeom>
        </p:spPr>
      </p:pic>
      <p:pic>
        <p:nvPicPr>
          <p:cNvPr id="16" name="SK-3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28320" y="1933575"/>
            <a:ext cx="1143000" cy="985391"/>
          </a:xfrm>
          <a:prstGeom prst="rect">
            <a:avLst/>
          </a:prstGeom>
        </p:spPr>
      </p:pic>
      <p:pic>
        <p:nvPicPr>
          <p:cNvPr id="17" name="SK-3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71320" y="1933575"/>
            <a:ext cx="2443460" cy="985391"/>
          </a:xfrm>
          <a:prstGeom prst="rect">
            <a:avLst/>
          </a:prstGeom>
        </p:spPr>
      </p:pic>
      <p:pic>
        <p:nvPicPr>
          <p:cNvPr id="18" name="SK-3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4780" y="1933575"/>
            <a:ext cx="2905720" cy="985391"/>
          </a:xfrm>
          <a:prstGeom prst="rect">
            <a:avLst/>
          </a:prstGeom>
        </p:spPr>
      </p:pic>
      <p:pic>
        <p:nvPicPr>
          <p:cNvPr id="19" name="SK-3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8320" y="2918966"/>
            <a:ext cx="1143000" cy="509587"/>
          </a:xfrm>
          <a:prstGeom prst="rect">
            <a:avLst/>
          </a:prstGeom>
        </p:spPr>
      </p:pic>
      <p:pic>
        <p:nvPicPr>
          <p:cNvPr id="20" name="SK-3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71320" y="2918966"/>
            <a:ext cx="2443460" cy="509587"/>
          </a:xfrm>
          <a:prstGeom prst="rect">
            <a:avLst/>
          </a:prstGeom>
        </p:spPr>
      </p:pic>
      <p:pic>
        <p:nvPicPr>
          <p:cNvPr id="21" name="SK-3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14780" y="2918966"/>
            <a:ext cx="2905720" cy="509587"/>
          </a:xfrm>
          <a:prstGeom prst="rect">
            <a:avLst/>
          </a:prstGeom>
        </p:spPr>
      </p:pic>
      <p:pic>
        <p:nvPicPr>
          <p:cNvPr id="22" name="SK-3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28320" y="3428554"/>
            <a:ext cx="1143000" cy="509587"/>
          </a:xfrm>
          <a:prstGeom prst="rect">
            <a:avLst/>
          </a:prstGeom>
        </p:spPr>
      </p:pic>
      <p:pic>
        <p:nvPicPr>
          <p:cNvPr id="23" name="SK-3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71320" y="3428554"/>
            <a:ext cx="2443460" cy="509587"/>
          </a:xfrm>
          <a:prstGeom prst="rect">
            <a:avLst/>
          </a:prstGeom>
        </p:spPr>
      </p:pic>
      <p:pic>
        <p:nvPicPr>
          <p:cNvPr id="24" name="SK-3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14780" y="3428554"/>
            <a:ext cx="2905720" cy="509587"/>
          </a:xfrm>
          <a:prstGeom prst="rect">
            <a:avLst/>
          </a:prstGeom>
        </p:spPr>
      </p:pic>
      <p:pic>
        <p:nvPicPr>
          <p:cNvPr id="25" name="SK-3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28320" y="3938141"/>
            <a:ext cx="1143000" cy="510034"/>
          </a:xfrm>
          <a:prstGeom prst="rect">
            <a:avLst/>
          </a:prstGeom>
        </p:spPr>
      </p:pic>
      <p:pic>
        <p:nvPicPr>
          <p:cNvPr id="26" name="SK-3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71320" y="3938141"/>
            <a:ext cx="2443460" cy="510034"/>
          </a:xfrm>
          <a:prstGeom prst="rect">
            <a:avLst/>
          </a:prstGeom>
        </p:spPr>
      </p:pic>
      <p:pic>
        <p:nvPicPr>
          <p:cNvPr id="27" name="SK-3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14780" y="3938141"/>
            <a:ext cx="2905720" cy="510034"/>
          </a:xfrm>
          <a:prstGeom prst="rect">
            <a:avLst/>
          </a:prstGeom>
        </p:spPr>
      </p:pic>
      <p:pic>
        <p:nvPicPr>
          <p:cNvPr id="28" name="SK-3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676775"/>
            <a:ext cx="11049000" cy="1000125"/>
          </a:xfrm>
          <a:prstGeom prst="rect">
            <a:avLst/>
          </a:prstGeom>
        </p:spPr>
      </p:pic>
      <p:pic>
        <p:nvPicPr>
          <p:cNvPr id="29" name="SK-3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3900" y="5047059"/>
            <a:ext cx="381000" cy="304800"/>
          </a:xfrm>
          <a:prstGeom prst="rect">
            <a:avLst/>
          </a:prstGeom>
        </p:spPr>
      </p:pic>
      <p:sp>
        <p:nvSpPr>
          <p:cNvPr id="30" name="SK-33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33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D-6. 돌발 이슈 대응: DI-03 에스컬레이션 분석</a:t>
            </a:r>
            <a:endParaRPr lang="en-US" sz="2550" dirty="0"/>
          </a:p>
        </p:txBody>
      </p:sp>
      <p:sp>
        <p:nvSpPr>
          <p:cNvPr id="32" name="SK-33-text-31"/>
          <p:cNvSpPr/>
          <p:nvPr/>
        </p:nvSpPr>
        <p:spPr>
          <a:xfrm>
            <a:off x="976312" y="1619250"/>
            <a:ext cx="40996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배경 (Context)</a:t>
            </a:r>
            <a:endParaRPr lang="en-US" sz="1350" dirty="0"/>
          </a:p>
        </p:txBody>
      </p:sp>
      <p:sp>
        <p:nvSpPr>
          <p:cNvPr id="33" name="SK-33-text-32"/>
          <p:cNvSpPr/>
          <p:nvPr/>
        </p:nvSpPr>
        <p:spPr>
          <a:xfrm>
            <a:off x="685800" y="2066925"/>
            <a:ext cx="41758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ISSUE ID</a:t>
            </a:r>
            <a:endParaRPr lang="en-US" sz="975" dirty="0"/>
          </a:p>
        </p:txBody>
      </p:sp>
      <p:sp>
        <p:nvSpPr>
          <p:cNvPr id="34" name="SK-33-text-33"/>
          <p:cNvSpPr/>
          <p:nvPr/>
        </p:nvSpPr>
        <p:spPr>
          <a:xfrm>
            <a:off x="685800" y="2271713"/>
            <a:ext cx="4175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DI-03 / DEC-07</a:t>
            </a:r>
            <a:endParaRPr lang="en-US" sz="1200" dirty="0"/>
          </a:p>
        </p:txBody>
      </p:sp>
      <p:sp>
        <p:nvSpPr>
          <p:cNvPr id="35" name="SK-33-text-34"/>
          <p:cNvSpPr/>
          <p:nvPr/>
        </p:nvSpPr>
        <p:spPr>
          <a:xfrm>
            <a:off x="685800" y="2652713"/>
            <a:ext cx="41758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CORE TOPIC</a:t>
            </a:r>
            <a:endParaRPr lang="en-US" sz="975" dirty="0"/>
          </a:p>
        </p:txBody>
      </p:sp>
      <p:sp>
        <p:nvSpPr>
          <p:cNvPr id="36" name="SK-33-text-35"/>
          <p:cNvSpPr/>
          <p:nvPr/>
        </p:nvSpPr>
        <p:spPr>
          <a:xfrm>
            <a:off x="685800" y="2857500"/>
            <a:ext cx="4175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폴백(Fallback) 동작 로직 불일치</a:t>
            </a:r>
            <a:endParaRPr lang="en-US" sz="1200" dirty="0"/>
          </a:p>
        </p:txBody>
      </p:sp>
      <p:sp>
        <p:nvSpPr>
          <p:cNvPr id="37" name="SK-33-text-36"/>
          <p:cNvSpPr/>
          <p:nvPr/>
        </p:nvSpPr>
        <p:spPr>
          <a:xfrm>
            <a:off x="685800" y="3238500"/>
            <a:ext cx="41758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DISCOVERY DATE</a:t>
            </a:r>
            <a:endParaRPr lang="en-US" sz="975" dirty="0"/>
          </a:p>
        </p:txBody>
      </p:sp>
      <p:sp>
        <p:nvSpPr>
          <p:cNvPr id="38" name="SK-33-text-37"/>
          <p:cNvSpPr/>
          <p:nvPr/>
        </p:nvSpPr>
        <p:spPr>
          <a:xfrm>
            <a:off x="685800" y="344328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7월 (리전 동기화 회의)</a:t>
            </a:r>
            <a:endParaRPr lang="en-US" sz="1200" dirty="0"/>
          </a:p>
        </p:txBody>
      </p:sp>
      <p:sp>
        <p:nvSpPr>
          <p:cNvPr id="39" name="SK-33-text-38"/>
          <p:cNvSpPr/>
          <p:nvPr/>
        </p:nvSpPr>
        <p:spPr>
          <a:xfrm>
            <a:off x="685800" y="3824288"/>
            <a:ext cx="41758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PRIMARY RISK</a:t>
            </a:r>
            <a:endParaRPr lang="en-US" sz="975" dirty="0"/>
          </a:p>
        </p:txBody>
      </p:sp>
      <p:sp>
        <p:nvSpPr>
          <p:cNvPr id="40" name="SK-33-text-39"/>
          <p:cNvSpPr/>
          <p:nvPr/>
        </p:nvSpPr>
        <p:spPr>
          <a:xfrm>
            <a:off x="685800" y="4029075"/>
            <a:ext cx="4175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사고 및 시스템 충돌 위험</a:t>
            </a:r>
            <a:endParaRPr lang="en-US" sz="1200" dirty="0"/>
          </a:p>
        </p:txBody>
      </p:sp>
      <p:sp>
        <p:nvSpPr>
          <p:cNvPr id="41" name="SK-33-text-40"/>
          <p:cNvSpPr/>
          <p:nvPr/>
        </p:nvSpPr>
        <p:spPr>
          <a:xfrm>
            <a:off x="5242620" y="1504950"/>
            <a:ext cx="990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50" dirty="0"/>
          </a:p>
        </p:txBody>
      </p:sp>
      <p:sp>
        <p:nvSpPr>
          <p:cNvPr id="42" name="SK-33-text-41"/>
          <p:cNvSpPr/>
          <p:nvPr/>
        </p:nvSpPr>
        <p:spPr>
          <a:xfrm>
            <a:off x="6385620" y="1504950"/>
            <a:ext cx="22910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/ KR 리전</a:t>
            </a:r>
            <a:endParaRPr lang="en-US" sz="1050" dirty="0"/>
          </a:p>
        </p:txBody>
      </p:sp>
      <p:sp>
        <p:nvSpPr>
          <p:cNvPr id="43" name="SK-33-text-42"/>
          <p:cNvSpPr/>
          <p:nvPr/>
        </p:nvSpPr>
        <p:spPr>
          <a:xfrm>
            <a:off x="8829080" y="1504950"/>
            <a:ext cx="27533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 / India 리전</a:t>
            </a:r>
            <a:endParaRPr lang="en-US" sz="1050" dirty="0"/>
          </a:p>
        </p:txBody>
      </p:sp>
      <p:sp>
        <p:nvSpPr>
          <p:cNvPr id="44" name="SK-33-text-43"/>
          <p:cNvSpPr/>
          <p:nvPr/>
        </p:nvSpPr>
        <p:spPr>
          <a:xfrm>
            <a:off x="5242620" y="1933575"/>
            <a:ext cx="914400" cy="98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폴백(Fallback) 정책</a:t>
            </a:r>
            <a:endParaRPr lang="en-US" sz="1125" dirty="0"/>
          </a:p>
        </p:txBody>
      </p:sp>
      <p:sp>
        <p:nvSpPr>
          <p:cNvPr id="45" name="SK-33-text-44"/>
          <p:cNvSpPr/>
          <p:nvPr/>
        </p:nvSpPr>
        <p:spPr>
          <a:xfrm>
            <a:off x="6385620" y="1933575"/>
            <a:ext cx="2214860" cy="98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베이스 기지 복귀 (Safe Base Mode)</a:t>
            </a:r>
            <a:endParaRPr lang="en-US" sz="1125" dirty="0"/>
          </a:p>
        </p:txBody>
      </p:sp>
      <p:sp>
        <p:nvSpPr>
          <p:cNvPr id="46" name="SK-33-text-45"/>
          <p:cNvSpPr/>
          <p:nvPr/>
        </p:nvSpPr>
        <p:spPr>
          <a:xfrm>
            <a:off x="8829080" y="1933575"/>
            <a:ext cx="2677120" cy="98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장애물 우회 및 임무 지속 (Obstacle Bypass)</a:t>
            </a:r>
            <a:endParaRPr lang="en-US" sz="1125" dirty="0"/>
          </a:p>
        </p:txBody>
      </p:sp>
      <p:sp>
        <p:nvSpPr>
          <p:cNvPr id="47" name="SK-33-text-46"/>
          <p:cNvSpPr/>
          <p:nvPr/>
        </p:nvSpPr>
        <p:spPr>
          <a:xfrm>
            <a:off x="5242620" y="2918966"/>
            <a:ext cx="103632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채널</a:t>
            </a:r>
            <a:endParaRPr lang="en-US" sz="1125" dirty="0"/>
          </a:p>
        </p:txBody>
      </p:sp>
      <p:sp>
        <p:nvSpPr>
          <p:cNvPr id="48" name="SK-33-text-47"/>
          <p:cNvSpPr/>
          <p:nvPr/>
        </p:nvSpPr>
        <p:spPr>
          <a:xfrm>
            <a:off x="6385620" y="2918966"/>
            <a:ext cx="229106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스티어링 커미티 기록</a:t>
            </a:r>
            <a:endParaRPr lang="en-US" sz="1125" dirty="0"/>
          </a:p>
        </p:txBody>
      </p:sp>
      <p:sp>
        <p:nvSpPr>
          <p:cNvPr id="49" name="SK-33-text-48"/>
          <p:cNvSpPr/>
          <p:nvPr/>
        </p:nvSpPr>
        <p:spPr>
          <a:xfrm>
            <a:off x="8829080" y="2918966"/>
            <a:ext cx="2919509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현지 메신저 및 구두 협의</a:t>
            </a:r>
            <a:endParaRPr lang="en-US" sz="1125" dirty="0"/>
          </a:p>
        </p:txBody>
      </p:sp>
      <p:sp>
        <p:nvSpPr>
          <p:cNvPr id="50" name="SK-33-text-49"/>
          <p:cNvSpPr/>
          <p:nvPr/>
        </p:nvSpPr>
        <p:spPr>
          <a:xfrm>
            <a:off x="5242620" y="3428554"/>
            <a:ext cx="99060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문제점</a:t>
            </a:r>
            <a:endParaRPr lang="en-US" sz="1125" dirty="0"/>
          </a:p>
        </p:txBody>
      </p:sp>
      <p:sp>
        <p:nvSpPr>
          <p:cNvPr id="51" name="SK-33-text-50"/>
          <p:cNvSpPr/>
          <p:nvPr/>
        </p:nvSpPr>
        <p:spPr>
          <a:xfrm>
            <a:off x="6385620" y="3428554"/>
            <a:ext cx="229106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표준 준수 고수</a:t>
            </a:r>
            <a:endParaRPr lang="en-US" sz="1125" dirty="0"/>
          </a:p>
        </p:txBody>
      </p:sp>
      <p:sp>
        <p:nvSpPr>
          <p:cNvPr id="52" name="SK-33-text-51"/>
          <p:cNvSpPr/>
          <p:nvPr/>
        </p:nvSpPr>
        <p:spPr>
          <a:xfrm>
            <a:off x="8829080" y="3552379"/>
            <a:ext cx="2990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임의적 로직 변경 및 공유 누락</a:t>
            </a:r>
            <a:endParaRPr lang="en-US" sz="1125" dirty="0"/>
          </a:p>
        </p:txBody>
      </p:sp>
      <p:sp>
        <p:nvSpPr>
          <p:cNvPr id="53" name="SK-33-text-52"/>
          <p:cNvSpPr/>
          <p:nvPr/>
        </p:nvSpPr>
        <p:spPr>
          <a:xfrm>
            <a:off x="5242620" y="3938141"/>
            <a:ext cx="990600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현황</a:t>
            </a:r>
            <a:endParaRPr lang="en-US" sz="1125" dirty="0"/>
          </a:p>
        </p:txBody>
      </p:sp>
      <p:sp>
        <p:nvSpPr>
          <p:cNvPr id="54" name="SK-33-text-53"/>
          <p:cNvSpPr/>
          <p:nvPr/>
        </p:nvSpPr>
        <p:spPr>
          <a:xfrm>
            <a:off x="6385620" y="3938141"/>
            <a:ext cx="2407348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스택 기반 안정화 완료</a:t>
            </a:r>
            <a:endParaRPr lang="en-US" sz="1125" dirty="0"/>
          </a:p>
        </p:txBody>
      </p:sp>
      <p:sp>
        <p:nvSpPr>
          <p:cNvPr id="55" name="SK-33-text-54"/>
          <p:cNvSpPr/>
          <p:nvPr/>
        </p:nvSpPr>
        <p:spPr>
          <a:xfrm>
            <a:off x="8829080" y="3938141"/>
            <a:ext cx="3077471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독자적 우회 알고리즘 병행 개발 중</a:t>
            </a:r>
            <a:endParaRPr lang="en-US" sz="1125" dirty="0"/>
          </a:p>
        </p:txBody>
      </p:sp>
      <p:sp>
        <p:nvSpPr>
          <p:cNvPr id="56" name="SK-33-text-55"/>
          <p:cNvSpPr/>
          <p:nvPr/>
        </p:nvSpPr>
        <p:spPr>
          <a:xfrm>
            <a:off x="1295400" y="4829175"/>
            <a:ext cx="5800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심각성 진단: 안전 및 자원 관리의 중대 결함</a:t>
            </a:r>
            <a:endParaRPr lang="en-US" sz="1350" dirty="0"/>
          </a:p>
        </p:txBody>
      </p:sp>
      <p:sp>
        <p:nvSpPr>
          <p:cNvPr id="57" name="SK-33-text-56"/>
          <p:cNvSpPr/>
          <p:nvPr/>
        </p:nvSpPr>
        <p:spPr>
          <a:xfrm>
            <a:off x="1295400" y="51244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 간 의사결정 불일치로 인해 안전과 직결된 폴백 로직이 상이하게 구현되었습니다.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 로봇의 비정상 동작을 유발할 뿐만 아니라, 2.3MM의 중복 개발 낭비를 초래했습니다.</a:t>
            </a:r>
            <a:endParaRPr lang="en-US" sz="1125" dirty="0"/>
          </a:p>
        </p:txBody>
      </p:sp>
      <p:sp>
        <p:nvSpPr>
          <p:cNvPr id="58" name="SK-33-text-57"/>
          <p:cNvSpPr/>
          <p:nvPr/>
        </p:nvSpPr>
        <p:spPr>
          <a:xfrm>
            <a:off x="9115425" y="4919663"/>
            <a:ext cx="1996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WASTE</a:t>
            </a:r>
            <a:endParaRPr lang="en-US" sz="900" dirty="0"/>
          </a:p>
        </p:txBody>
      </p:sp>
      <p:sp>
        <p:nvSpPr>
          <p:cNvPr id="59" name="SK-33-text-58"/>
          <p:cNvSpPr/>
          <p:nvPr/>
        </p:nvSpPr>
        <p:spPr>
          <a:xfrm>
            <a:off x="9372600" y="5091113"/>
            <a:ext cx="2125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F4444"/>
                </a:solidFill>
              </a:rPr>
              <a:t>2.3 MM</a:t>
            </a:r>
            <a:endParaRPr lang="en-US" sz="1800" dirty="0"/>
          </a:p>
        </p:txBody>
      </p:sp>
      <p:sp>
        <p:nvSpPr>
          <p:cNvPr id="60" name="SK-33-text-59"/>
          <p:cNvSpPr/>
          <p:nvPr/>
        </p:nvSpPr>
        <p:spPr>
          <a:xfrm>
            <a:off x="10639425" y="4919663"/>
            <a:ext cx="1552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LEVEL</a:t>
            </a:r>
            <a:endParaRPr lang="en-US" sz="900" dirty="0"/>
          </a:p>
        </p:txBody>
      </p:sp>
      <p:sp>
        <p:nvSpPr>
          <p:cNvPr id="61" name="SK-33-text-60"/>
          <p:cNvSpPr/>
          <p:nvPr/>
        </p:nvSpPr>
        <p:spPr>
          <a:xfrm>
            <a:off x="10401300" y="5091113"/>
            <a:ext cx="1790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F4444"/>
                </a:solidFill>
              </a:rPr>
              <a:t>CRITICAL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09700"/>
            <a:ext cx="11049000" cy="833438"/>
          </a:xfrm>
          <a:prstGeom prst="rect">
            <a:avLst/>
          </a:prstGeom>
        </p:spPr>
      </p:pic>
      <p:pic>
        <p:nvPicPr>
          <p:cNvPr id="7" name="SK-3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696641"/>
            <a:ext cx="381000" cy="304800"/>
          </a:xfrm>
          <a:prstGeom prst="rect">
            <a:avLst/>
          </a:prstGeom>
        </p:spPr>
      </p:pic>
      <p:pic>
        <p:nvPicPr>
          <p:cNvPr id="8" name="SK-3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471738"/>
            <a:ext cx="6492180" cy="3348038"/>
          </a:xfrm>
          <a:prstGeom prst="rect">
            <a:avLst/>
          </a:prstGeom>
        </p:spPr>
      </p:pic>
      <p:pic>
        <p:nvPicPr>
          <p:cNvPr id="9" name="SK-3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626965"/>
            <a:ext cx="214313" cy="175320"/>
          </a:xfrm>
          <a:prstGeom prst="rect">
            <a:avLst/>
          </a:prstGeom>
        </p:spPr>
      </p:pic>
      <p:pic>
        <p:nvPicPr>
          <p:cNvPr id="10" name="SK-3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957513"/>
            <a:ext cx="1565821" cy="404813"/>
          </a:xfrm>
          <a:prstGeom prst="rect">
            <a:avLst/>
          </a:prstGeom>
        </p:spPr>
      </p:pic>
      <p:pic>
        <p:nvPicPr>
          <p:cNvPr id="11" name="SK-3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1621" y="2957513"/>
            <a:ext cx="3131790" cy="404813"/>
          </a:xfrm>
          <a:prstGeom prst="rect">
            <a:avLst/>
          </a:prstGeom>
        </p:spPr>
      </p:pic>
      <p:pic>
        <p:nvPicPr>
          <p:cNvPr id="12" name="SK-3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3411" y="2957513"/>
            <a:ext cx="1565970" cy="404813"/>
          </a:xfrm>
          <a:prstGeom prst="rect">
            <a:avLst/>
          </a:prstGeom>
        </p:spPr>
      </p:pic>
      <p:pic>
        <p:nvPicPr>
          <p:cNvPr id="13" name="SK-3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362325"/>
            <a:ext cx="1565821" cy="831800"/>
          </a:xfrm>
          <a:prstGeom prst="rect">
            <a:avLst/>
          </a:prstGeom>
        </p:spPr>
      </p:pic>
      <p:pic>
        <p:nvPicPr>
          <p:cNvPr id="14" name="SK-3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1621" y="3362325"/>
            <a:ext cx="3131790" cy="831800"/>
          </a:xfrm>
          <a:prstGeom prst="rect">
            <a:avLst/>
          </a:prstGeom>
        </p:spPr>
      </p:pic>
      <p:pic>
        <p:nvPicPr>
          <p:cNvPr id="15" name="SK-3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3411" y="3362325"/>
            <a:ext cx="1565970" cy="831800"/>
          </a:xfrm>
          <a:prstGeom prst="rect">
            <a:avLst/>
          </a:prstGeom>
        </p:spPr>
      </p:pic>
      <p:pic>
        <p:nvPicPr>
          <p:cNvPr id="16" name="SK-3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194125"/>
            <a:ext cx="1565821" cy="831800"/>
          </a:xfrm>
          <a:prstGeom prst="rect">
            <a:avLst/>
          </a:prstGeom>
        </p:spPr>
      </p:pic>
      <p:pic>
        <p:nvPicPr>
          <p:cNvPr id="17" name="SK-3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51621" y="4194125"/>
            <a:ext cx="3131790" cy="831800"/>
          </a:xfrm>
          <a:prstGeom prst="rect">
            <a:avLst/>
          </a:prstGeom>
        </p:spPr>
      </p:pic>
      <p:pic>
        <p:nvPicPr>
          <p:cNvPr id="18" name="SK-3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83411" y="4194125"/>
            <a:ext cx="1565970" cy="831800"/>
          </a:xfrm>
          <a:prstGeom prst="rect">
            <a:avLst/>
          </a:prstGeom>
        </p:spPr>
      </p:pic>
      <p:pic>
        <p:nvPicPr>
          <p:cNvPr id="19" name="SK-3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025926"/>
            <a:ext cx="1565821" cy="679549"/>
          </a:xfrm>
          <a:prstGeom prst="rect">
            <a:avLst/>
          </a:prstGeom>
        </p:spPr>
      </p:pic>
      <p:pic>
        <p:nvPicPr>
          <p:cNvPr id="20" name="SK-3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51621" y="5025926"/>
            <a:ext cx="3131790" cy="679549"/>
          </a:xfrm>
          <a:prstGeom prst="rect">
            <a:avLst/>
          </a:prstGeom>
        </p:spPr>
      </p:pic>
      <p:pic>
        <p:nvPicPr>
          <p:cNvPr id="21" name="SK-3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83411" y="5025926"/>
            <a:ext cx="1565970" cy="679549"/>
          </a:xfrm>
          <a:prstGeom prst="rect">
            <a:avLst/>
          </a:prstGeom>
        </p:spPr>
      </p:pic>
      <p:pic>
        <p:nvPicPr>
          <p:cNvPr id="22" name="SK-3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2280" y="2471738"/>
            <a:ext cx="4328071" cy="3348038"/>
          </a:xfrm>
          <a:prstGeom prst="rect">
            <a:avLst/>
          </a:prstGeom>
        </p:spPr>
      </p:pic>
      <p:pic>
        <p:nvPicPr>
          <p:cNvPr id="23" name="SK-3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06580" y="2586038"/>
            <a:ext cx="4099471" cy="333375"/>
          </a:xfrm>
          <a:prstGeom prst="rect">
            <a:avLst/>
          </a:prstGeom>
        </p:spPr>
      </p:pic>
      <p:pic>
        <p:nvPicPr>
          <p:cNvPr id="24" name="SK-3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06580" y="2626965"/>
            <a:ext cx="214313" cy="175320"/>
          </a:xfrm>
          <a:prstGeom prst="rect">
            <a:avLst/>
          </a:prstGeom>
        </p:spPr>
      </p:pic>
      <p:pic>
        <p:nvPicPr>
          <p:cNvPr id="25" name="SK-3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7537" y="3100536"/>
            <a:ext cx="166688" cy="137220"/>
          </a:xfrm>
          <a:prstGeom prst="rect">
            <a:avLst/>
          </a:prstGeom>
        </p:spPr>
      </p:pic>
      <p:pic>
        <p:nvPicPr>
          <p:cNvPr id="26" name="SK-3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37537" y="3624411"/>
            <a:ext cx="166688" cy="137220"/>
          </a:xfrm>
          <a:prstGeom prst="rect">
            <a:avLst/>
          </a:prstGeom>
        </p:spPr>
      </p:pic>
      <p:pic>
        <p:nvPicPr>
          <p:cNvPr id="27" name="SK-3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37537" y="4362599"/>
            <a:ext cx="166688" cy="137220"/>
          </a:xfrm>
          <a:prstGeom prst="rect">
            <a:avLst/>
          </a:prstGeom>
        </p:spPr>
      </p:pic>
      <p:pic>
        <p:nvPicPr>
          <p:cNvPr id="28" name="SK-3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6048375"/>
            <a:ext cx="11049000" cy="428625"/>
          </a:xfrm>
          <a:prstGeom prst="rect">
            <a:avLst/>
          </a:prstGeom>
        </p:spPr>
      </p:pic>
      <p:pic>
        <p:nvPicPr>
          <p:cNvPr id="29" name="SK-3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6210449"/>
            <a:ext cx="166688" cy="137220"/>
          </a:xfrm>
          <a:prstGeom prst="rect">
            <a:avLst/>
          </a:prstGeom>
        </p:spPr>
      </p:pic>
      <p:sp>
        <p:nvSpPr>
          <p:cNvPr id="30" name="SK-34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34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D-6. 돌발 이슈 대응: DI-03 공식 결정 사항</a:t>
            </a:r>
            <a:endParaRPr lang="en-US" sz="2550" dirty="0"/>
          </a:p>
        </p:txBody>
      </p:sp>
      <p:sp>
        <p:nvSpPr>
          <p:cNvPr id="32" name="SK-34-text-31"/>
          <p:cNvSpPr/>
          <p:nvPr/>
        </p:nvSpPr>
        <p:spPr>
          <a:xfrm>
            <a:off x="1371600" y="1562100"/>
            <a:ext cx="10820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spc="-13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원칙: "Safety-First &amp; Ambiguity-to-Fallback"</a:t>
            </a:r>
            <a:endParaRPr lang="en-US" sz="1650" dirty="0"/>
          </a:p>
        </p:txBody>
      </p:sp>
      <p:sp>
        <p:nvSpPr>
          <p:cNvPr id="33" name="SK-34-text-32"/>
          <p:cNvSpPr/>
          <p:nvPr/>
        </p:nvSpPr>
        <p:spPr>
          <a:xfrm>
            <a:off x="1371600" y="1876425"/>
            <a:ext cx="10363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데이터의 모호성 발생 시, 자율 주행 지속보다 안전한 정지(Safe Stop) 또는 수동 전환을 강제함</a:t>
            </a:r>
            <a:endParaRPr lang="en-US" sz="1125" dirty="0"/>
          </a:p>
        </p:txBody>
      </p:sp>
      <p:sp>
        <p:nvSpPr>
          <p:cNvPr id="34" name="SK-34-text-33"/>
          <p:cNvSpPr/>
          <p:nvPr/>
        </p:nvSpPr>
        <p:spPr>
          <a:xfrm>
            <a:off x="976312" y="2586038"/>
            <a:ext cx="6263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폴백(Fallback) 동작 공식 가이드라인</a:t>
            </a:r>
            <a:endParaRPr lang="en-US" sz="1350" dirty="0"/>
          </a:p>
        </p:txBody>
      </p:sp>
      <p:sp>
        <p:nvSpPr>
          <p:cNvPr id="35" name="SK-34-text-34"/>
          <p:cNvSpPr/>
          <p:nvPr/>
        </p:nvSpPr>
        <p:spPr>
          <a:xfrm>
            <a:off x="800100" y="2957513"/>
            <a:ext cx="1413421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125" dirty="0"/>
          </a:p>
        </p:txBody>
      </p:sp>
      <p:sp>
        <p:nvSpPr>
          <p:cNvPr id="36" name="SK-34-text-35"/>
          <p:cNvSpPr/>
          <p:nvPr/>
        </p:nvSpPr>
        <p:spPr>
          <a:xfrm>
            <a:off x="2365921" y="2957513"/>
            <a:ext cx="3731711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사항 (Official Policy)</a:t>
            </a:r>
            <a:endParaRPr lang="en-US" sz="1125" dirty="0"/>
          </a:p>
        </p:txBody>
      </p:sp>
      <p:sp>
        <p:nvSpPr>
          <p:cNvPr id="37" name="SK-34-text-36"/>
          <p:cNvSpPr/>
          <p:nvPr/>
        </p:nvSpPr>
        <p:spPr>
          <a:xfrm>
            <a:off x="5497711" y="2957513"/>
            <a:ext cx="141357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권한</a:t>
            </a:r>
            <a:endParaRPr lang="en-US" sz="1125" dirty="0"/>
          </a:p>
        </p:txBody>
      </p:sp>
      <p:sp>
        <p:nvSpPr>
          <p:cNvPr id="38" name="SK-34-text-37"/>
          <p:cNvSpPr/>
          <p:nvPr/>
        </p:nvSpPr>
        <p:spPr>
          <a:xfrm>
            <a:off x="800100" y="3467100"/>
            <a:ext cx="933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로직</a:t>
            </a:r>
            <a:endParaRPr lang="en-US" sz="1125" dirty="0"/>
          </a:p>
        </p:txBody>
      </p:sp>
      <p:sp>
        <p:nvSpPr>
          <p:cNvPr id="39" name="SK-34-text-38"/>
          <p:cNvSpPr/>
          <p:nvPr/>
        </p:nvSpPr>
        <p:spPr>
          <a:xfrm>
            <a:off x="2365921" y="3362325"/>
            <a:ext cx="290319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 신뢰도 70% 미만 시 즉시 폴백(Fallback) 수행. 엣지캐시 데이터 기반 안전 경로 우선 확보.</a:t>
            </a:r>
            <a:endParaRPr lang="en-US" sz="1125" dirty="0"/>
          </a:p>
        </p:txBody>
      </p:sp>
      <p:sp>
        <p:nvSpPr>
          <p:cNvPr id="40" name="SK-34-text-39"/>
          <p:cNvSpPr/>
          <p:nvPr/>
        </p:nvSpPr>
        <p:spPr>
          <a:xfrm>
            <a:off x="5554861" y="3362325"/>
            <a:ext cx="133737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PM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 설계 승인</a:t>
            </a:r>
            <a:endParaRPr lang="en-US" sz="1125" dirty="0"/>
          </a:p>
        </p:txBody>
      </p:sp>
      <p:sp>
        <p:nvSpPr>
          <p:cNvPr id="41" name="SK-34-text-40"/>
          <p:cNvSpPr/>
          <p:nvPr/>
        </p:nvSpPr>
        <p:spPr>
          <a:xfrm>
            <a:off x="800100" y="4298900"/>
            <a:ext cx="933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endParaRPr lang="en-US" sz="1125" dirty="0"/>
          </a:p>
        </p:txBody>
      </p:sp>
      <p:sp>
        <p:nvSpPr>
          <p:cNvPr id="42" name="SK-34-text-41"/>
          <p:cNvSpPr/>
          <p:nvPr/>
        </p:nvSpPr>
        <p:spPr>
          <a:xfrm>
            <a:off x="2365921" y="4194125"/>
            <a:ext cx="290319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장애 시 클라우드 추론 대기 금지, 로컬 VLM 라이트 모델 즉시 전환 후 안전 구역 이동.</a:t>
            </a:r>
            <a:endParaRPr lang="en-US" sz="1125" dirty="0"/>
          </a:p>
        </p:txBody>
      </p:sp>
      <p:sp>
        <p:nvSpPr>
          <p:cNvPr id="43" name="SK-34-text-42"/>
          <p:cNvSpPr/>
          <p:nvPr/>
        </p:nvSpPr>
        <p:spPr>
          <a:xfrm>
            <a:off x="5554861" y="4194125"/>
            <a:ext cx="133737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 책임</a:t>
            </a:r>
            <a:endParaRPr lang="en-US" sz="1125" dirty="0"/>
          </a:p>
        </p:txBody>
      </p:sp>
      <p:sp>
        <p:nvSpPr>
          <p:cNvPr id="44" name="SK-34-text-43"/>
          <p:cNvSpPr/>
          <p:nvPr/>
        </p:nvSpPr>
        <p:spPr>
          <a:xfrm>
            <a:off x="800100" y="5130701"/>
            <a:ext cx="1104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기록</a:t>
            </a:r>
            <a:endParaRPr lang="en-US" sz="1125" dirty="0"/>
          </a:p>
        </p:txBody>
      </p:sp>
      <p:sp>
        <p:nvSpPr>
          <p:cNvPr id="45" name="SK-34-text-44"/>
          <p:cNvSpPr/>
          <p:nvPr/>
        </p:nvSpPr>
        <p:spPr>
          <a:xfrm>
            <a:off x="2365921" y="5025926"/>
            <a:ext cx="2903190" cy="6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폴백 이벤트는 텔레메트리에 'Critical' 등급으로 실시간 전송 및 주간 보고 의무화.</a:t>
            </a:r>
            <a:endParaRPr lang="en-US" sz="1125" dirty="0"/>
          </a:p>
        </p:txBody>
      </p:sp>
      <p:sp>
        <p:nvSpPr>
          <p:cNvPr id="46" name="SK-34-text-45"/>
          <p:cNvSpPr/>
          <p:nvPr/>
        </p:nvSpPr>
        <p:spPr>
          <a:xfrm>
            <a:off x="5554861" y="5025926"/>
            <a:ext cx="1337370" cy="6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PM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체계 감독</a:t>
            </a:r>
            <a:endParaRPr lang="en-US" sz="1125" dirty="0"/>
          </a:p>
        </p:txBody>
      </p:sp>
      <p:sp>
        <p:nvSpPr>
          <p:cNvPr id="47" name="SK-34-text-46"/>
          <p:cNvSpPr/>
          <p:nvPr/>
        </p:nvSpPr>
        <p:spPr>
          <a:xfrm>
            <a:off x="7697093" y="2586038"/>
            <a:ext cx="409947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세부 적용 및 조치</a:t>
            </a:r>
            <a:endParaRPr lang="en-US" sz="1350" dirty="0"/>
          </a:p>
        </p:txBody>
      </p:sp>
      <p:sp>
        <p:nvSpPr>
          <p:cNvPr id="48" name="SK-34-text-47"/>
          <p:cNvSpPr/>
          <p:nvPr/>
        </p:nvSpPr>
        <p:spPr>
          <a:xfrm>
            <a:off x="7749480" y="3033713"/>
            <a:ext cx="37565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(양재/사업장):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고밀도 환경 대응을 위해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엣지캐시 갱신 주기 500ms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단축 적용 및 안전 거리 마진 20% 확대.</a:t>
            </a:r>
            <a:endParaRPr lang="en-US" sz="1125" dirty="0"/>
          </a:p>
        </p:txBody>
      </p:sp>
      <p:sp>
        <p:nvSpPr>
          <p:cNvPr id="49" name="SK-34-text-48"/>
          <p:cNvSpPr/>
          <p:nvPr/>
        </p:nvSpPr>
        <p:spPr>
          <a:xfrm>
            <a:off x="7749480" y="3557588"/>
            <a:ext cx="375657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(광역 사업장):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넓은 작업 반경을 고려하여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최고 티어 유지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하되, 네트워크 지연 시 즉시 로컬 세이프티 모드 활성화.</a:t>
            </a:r>
            <a:endParaRPr lang="en-US" sz="1125" dirty="0"/>
          </a:p>
        </p:txBody>
      </p:sp>
      <p:sp>
        <p:nvSpPr>
          <p:cNvPr id="50" name="SK-34-text-49"/>
          <p:cNvSpPr/>
          <p:nvPr/>
        </p:nvSpPr>
        <p:spPr>
          <a:xfrm>
            <a:off x="7749480" y="4295775"/>
            <a:ext cx="375657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인도 (인프라 취약):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불안정한 연결성을 고려하여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폴백 모델 상시 가동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원격 제어보다 로봇 자율 안전 정지를 우선함.</a:t>
            </a:r>
            <a:endParaRPr lang="en-US" sz="1125" dirty="0"/>
          </a:p>
        </p:txBody>
      </p:sp>
      <p:sp>
        <p:nvSpPr>
          <p:cNvPr id="51" name="SK-34-text-50"/>
          <p:cNvSpPr/>
          <p:nvPr/>
        </p:nvSpPr>
        <p:spPr>
          <a:xfrm>
            <a:off x="928688" y="6048375"/>
            <a:ext cx="11263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결정은 3개 리전의 의사결정 불일치(DEC-07)를 해소하기 위한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원천(SSOT)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이며, 모든 리전 리드는 본 가이드라인에 따라 48시간 내 로컬 설정을 동기화해야 함.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4" name="SK-3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5" name="SK-3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71600"/>
            <a:ext cx="5410200" cy="3409950"/>
          </a:xfrm>
          <a:prstGeom prst="rect">
            <a:avLst/>
          </a:prstGeom>
        </p:spPr>
      </p:pic>
      <p:pic>
        <p:nvPicPr>
          <p:cNvPr id="6" name="SK-3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24000"/>
            <a:ext cx="5029200" cy="476250"/>
          </a:xfrm>
          <a:prstGeom prst="rect">
            <a:avLst/>
          </a:prstGeom>
        </p:spPr>
      </p:pic>
      <p:pic>
        <p:nvPicPr>
          <p:cNvPr id="7" name="SK-3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24000"/>
            <a:ext cx="381000" cy="381000"/>
          </a:xfrm>
          <a:prstGeom prst="rect">
            <a:avLst/>
          </a:prstGeom>
        </p:spPr>
      </p:pic>
      <p:pic>
        <p:nvPicPr>
          <p:cNvPr id="8" name="SK-3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8" y="1619250"/>
            <a:ext cx="238125" cy="190500"/>
          </a:xfrm>
          <a:prstGeom prst="rect">
            <a:avLst/>
          </a:prstGeom>
        </p:spPr>
      </p:pic>
      <p:pic>
        <p:nvPicPr>
          <p:cNvPr id="9" name="SK-3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171700"/>
            <a:ext cx="95250" cy="95250"/>
          </a:xfrm>
          <a:prstGeom prst="rect">
            <a:avLst/>
          </a:prstGeom>
        </p:spPr>
      </p:pic>
      <p:pic>
        <p:nvPicPr>
          <p:cNvPr id="10" name="SK-3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266950"/>
            <a:ext cx="19050" cy="328613"/>
          </a:xfrm>
          <a:prstGeom prst="rect">
            <a:avLst/>
          </a:prstGeom>
        </p:spPr>
      </p:pic>
      <p:pic>
        <p:nvPicPr>
          <p:cNvPr id="11" name="SK-3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2767013"/>
            <a:ext cx="95250" cy="95250"/>
          </a:xfrm>
          <a:prstGeom prst="rect">
            <a:avLst/>
          </a:prstGeom>
        </p:spPr>
      </p:pic>
      <p:pic>
        <p:nvPicPr>
          <p:cNvPr id="12" name="SK-3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" y="2862263"/>
            <a:ext cx="19050" cy="328613"/>
          </a:xfrm>
          <a:prstGeom prst="rect">
            <a:avLst/>
          </a:prstGeom>
        </p:spPr>
      </p:pic>
      <p:pic>
        <p:nvPicPr>
          <p:cNvPr id="13" name="SK-3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" y="3362325"/>
            <a:ext cx="95250" cy="95250"/>
          </a:xfrm>
          <a:prstGeom prst="rect">
            <a:avLst/>
          </a:prstGeom>
        </p:spPr>
      </p:pic>
      <p:pic>
        <p:nvPicPr>
          <p:cNvPr id="14" name="SK-3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371600"/>
            <a:ext cx="5410200" cy="3409950"/>
          </a:xfrm>
          <a:prstGeom prst="rect">
            <a:avLst/>
          </a:prstGeom>
        </p:spPr>
      </p:pic>
      <p:pic>
        <p:nvPicPr>
          <p:cNvPr id="15" name="SK-3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524000"/>
            <a:ext cx="5029200" cy="476250"/>
          </a:xfrm>
          <a:prstGeom prst="rect">
            <a:avLst/>
          </a:prstGeom>
        </p:spPr>
      </p:pic>
      <p:pic>
        <p:nvPicPr>
          <p:cNvPr id="16" name="SK-3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524000"/>
            <a:ext cx="381000" cy="381000"/>
          </a:xfrm>
          <a:prstGeom prst="rect">
            <a:avLst/>
          </a:prstGeom>
        </p:spPr>
      </p:pic>
      <p:pic>
        <p:nvPicPr>
          <p:cNvPr id="17" name="SK-3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2238" y="1619250"/>
            <a:ext cx="238125" cy="190500"/>
          </a:xfrm>
          <a:prstGeom prst="rect">
            <a:avLst/>
          </a:prstGeom>
        </p:spPr>
      </p:pic>
      <p:pic>
        <p:nvPicPr>
          <p:cNvPr id="18" name="SK-3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525" y="2266950"/>
            <a:ext cx="19050" cy="1171575"/>
          </a:xfrm>
          <a:prstGeom prst="rect">
            <a:avLst/>
          </a:prstGeom>
        </p:spPr>
      </p:pic>
      <p:pic>
        <p:nvPicPr>
          <p:cNvPr id="19" name="SK-3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5600" y="2633663"/>
            <a:ext cx="4724400" cy="747713"/>
          </a:xfrm>
          <a:prstGeom prst="rect">
            <a:avLst/>
          </a:prstGeom>
        </p:spPr>
      </p:pic>
      <p:pic>
        <p:nvPicPr>
          <p:cNvPr id="20" name="SK-3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48425" y="3609975"/>
            <a:ext cx="95250" cy="95250"/>
          </a:xfrm>
          <a:prstGeom prst="rect">
            <a:avLst/>
          </a:prstGeom>
        </p:spPr>
      </p:pic>
      <p:pic>
        <p:nvPicPr>
          <p:cNvPr id="21" name="SK-3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86525" y="3705225"/>
            <a:ext cx="19050" cy="328613"/>
          </a:xfrm>
          <a:prstGeom prst="rect">
            <a:avLst/>
          </a:prstGeom>
        </p:spPr>
      </p:pic>
      <p:pic>
        <p:nvPicPr>
          <p:cNvPr id="22" name="SK-3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48425" y="4205288"/>
            <a:ext cx="95250" cy="95250"/>
          </a:xfrm>
          <a:prstGeom prst="rect">
            <a:avLst/>
          </a:prstGeom>
        </p:spPr>
      </p:pic>
      <p:pic>
        <p:nvPicPr>
          <p:cNvPr id="23" name="SK-3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962525"/>
            <a:ext cx="11049000" cy="1090613"/>
          </a:xfrm>
          <a:prstGeom prst="rect">
            <a:avLst/>
          </a:prstGeom>
        </p:spPr>
      </p:pic>
      <p:sp>
        <p:nvSpPr>
          <p:cNvPr id="24" name="SK-35-text-23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5" name="SK-35-text-24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D-6. 돌발 이슈 대응: DI-03 POC 시연 결과</a:t>
            </a:r>
            <a:endParaRPr lang="en-US" sz="2550" dirty="0"/>
          </a:p>
        </p:txBody>
      </p:sp>
      <p:sp>
        <p:nvSpPr>
          <p:cNvPr id="26" name="SK-35-text-25"/>
          <p:cNvSpPr/>
          <p:nvPr/>
        </p:nvSpPr>
        <p:spPr>
          <a:xfrm>
            <a:off x="1257300" y="1571625"/>
            <a:ext cx="4895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실제 사례 (Fragmented)</a:t>
            </a:r>
            <a:endParaRPr lang="en-US" sz="1500" dirty="0"/>
          </a:p>
        </p:txBody>
      </p:sp>
      <p:sp>
        <p:nvSpPr>
          <p:cNvPr id="27" name="SK-35-text-26"/>
          <p:cNvSpPr/>
          <p:nvPr/>
        </p:nvSpPr>
        <p:spPr>
          <a:xfrm>
            <a:off x="1066800" y="2124075"/>
            <a:ext cx="4800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7월 초 (W27)</a:t>
            </a:r>
            <a:endParaRPr lang="en-US" sz="975" dirty="0"/>
          </a:p>
        </p:txBody>
      </p:sp>
      <p:sp>
        <p:nvSpPr>
          <p:cNvPr id="28" name="SK-35-text-27"/>
          <p:cNvSpPr/>
          <p:nvPr/>
        </p:nvSpPr>
        <p:spPr>
          <a:xfrm>
            <a:off x="1066800" y="2338388"/>
            <a:ext cx="6076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폴백(Fallback) 방침 불일치 발생 (메신저/구두)</a:t>
            </a:r>
            <a:endParaRPr lang="en-US" sz="1125" dirty="0"/>
          </a:p>
        </p:txBody>
      </p:sp>
      <p:sp>
        <p:nvSpPr>
          <p:cNvPr id="29" name="SK-35-text-28"/>
          <p:cNvSpPr/>
          <p:nvPr/>
        </p:nvSpPr>
        <p:spPr>
          <a:xfrm>
            <a:off x="1066800" y="2719388"/>
            <a:ext cx="4800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7월 말 (W30)</a:t>
            </a:r>
            <a:endParaRPr lang="en-US" sz="975" dirty="0"/>
          </a:p>
        </p:txBody>
      </p:sp>
      <p:sp>
        <p:nvSpPr>
          <p:cNvPr id="30" name="SK-35-text-29"/>
          <p:cNvSpPr/>
          <p:nvPr/>
        </p:nvSpPr>
        <p:spPr>
          <a:xfrm>
            <a:off x="1066800" y="2933700"/>
            <a:ext cx="5048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불일치를 인지하지 못한 채 각 리전별 중복 개발 진행</a:t>
            </a:r>
            <a:endParaRPr lang="en-US" sz="1125" dirty="0"/>
          </a:p>
        </p:txBody>
      </p:sp>
      <p:sp>
        <p:nvSpPr>
          <p:cNvPr id="31" name="SK-35-text-30"/>
          <p:cNvSpPr/>
          <p:nvPr/>
        </p:nvSpPr>
        <p:spPr>
          <a:xfrm>
            <a:off x="1066800" y="3314700"/>
            <a:ext cx="4800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8월 중순 (W33)</a:t>
            </a:r>
            <a:endParaRPr lang="en-US" sz="975" dirty="0"/>
          </a:p>
        </p:txBody>
      </p:sp>
      <p:sp>
        <p:nvSpPr>
          <p:cNvPr id="32" name="SK-35-text-31"/>
          <p:cNvSpPr/>
          <p:nvPr/>
        </p:nvSpPr>
        <p:spPr>
          <a:xfrm>
            <a:off x="1066800" y="3529013"/>
            <a:ext cx="5543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 중 충돌 감지.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2.3MM의 매몰 비용 발생</a:t>
            </a:r>
            <a:endParaRPr lang="en-US" sz="1125" dirty="0"/>
          </a:p>
        </p:txBody>
      </p:sp>
      <p:sp>
        <p:nvSpPr>
          <p:cNvPr id="33" name="SK-35-text-32"/>
          <p:cNvSpPr/>
          <p:nvPr/>
        </p:nvSpPr>
        <p:spPr>
          <a:xfrm>
            <a:off x="6896100" y="1571625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Agent POC 시뮬레이션</a:t>
            </a:r>
            <a:endParaRPr lang="en-US" sz="1500" dirty="0"/>
          </a:p>
        </p:txBody>
      </p:sp>
      <p:sp>
        <p:nvSpPr>
          <p:cNvPr id="34" name="SK-35-text-33"/>
          <p:cNvSpPr/>
          <p:nvPr/>
        </p:nvSpPr>
        <p:spPr>
          <a:xfrm>
            <a:off x="6705600" y="2124075"/>
            <a:ext cx="4800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7월 5일 (D+0)</a:t>
            </a:r>
            <a:endParaRPr lang="en-US" sz="975" dirty="0"/>
          </a:p>
        </p:txBody>
      </p:sp>
      <p:sp>
        <p:nvSpPr>
          <p:cNvPr id="35" name="SK-35-text-34"/>
          <p:cNvSpPr/>
          <p:nvPr/>
        </p:nvSpPr>
        <p:spPr>
          <a:xfrm>
            <a:off x="6705600" y="2338388"/>
            <a:ext cx="5486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Agent가 리전 간 의사결정 기록(Jira vs Slack) 불일치 실시간 탐지</a:t>
            </a:r>
            <a:endParaRPr lang="en-US" sz="1125" dirty="0"/>
          </a:p>
        </p:txBody>
      </p:sp>
      <p:sp>
        <p:nvSpPr>
          <p:cNvPr id="36" name="SK-35-text-35"/>
          <p:cNvSpPr/>
          <p:nvPr/>
        </p:nvSpPr>
        <p:spPr>
          <a:xfrm>
            <a:off x="6819900" y="2633663"/>
            <a:ext cx="4495800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B6D4"/>
                </a:solidFill>
              </a:rPr>
              <a:t>[SYNC_ALERT]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8FAFC"/>
                </a:solidFill>
              </a:rPr>
              <a:t> DI-03: Inconsistent Fallback Policy detected.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8FAFC"/>
                </a:solidFill>
              </a:rPr>
              <a:t>- Jira (KR): Mode A / Slack (US): Mode B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8FAFC"/>
                </a:solidFill>
              </a:rPr>
              <a:t>- Source: DEC-07, DEC-11 (Conflicting)</a:t>
            </a:r>
            <a:endParaRPr lang="en-US" sz="975" dirty="0"/>
          </a:p>
        </p:txBody>
      </p:sp>
      <p:sp>
        <p:nvSpPr>
          <p:cNvPr id="37" name="SK-35-text-36"/>
          <p:cNvSpPr/>
          <p:nvPr/>
        </p:nvSpPr>
        <p:spPr>
          <a:xfrm>
            <a:off x="6705600" y="3562350"/>
            <a:ext cx="4800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7월 6일 (D+1)</a:t>
            </a:r>
            <a:endParaRPr lang="en-US" sz="975" dirty="0"/>
          </a:p>
        </p:txBody>
      </p:sp>
      <p:sp>
        <p:nvSpPr>
          <p:cNvPr id="38" name="SK-35-text-37"/>
          <p:cNvSpPr/>
          <p:nvPr/>
        </p:nvSpPr>
        <p:spPr>
          <a:xfrm>
            <a:off x="6705600" y="3776662"/>
            <a:ext cx="5486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PM에게 에스컬레이션 및 공식 의사결정(SSOT) 수립 유도</a:t>
            </a:r>
            <a:endParaRPr lang="en-US" sz="1125" dirty="0"/>
          </a:p>
        </p:txBody>
      </p:sp>
      <p:sp>
        <p:nvSpPr>
          <p:cNvPr id="39" name="SK-35-text-38"/>
          <p:cNvSpPr/>
          <p:nvPr/>
        </p:nvSpPr>
        <p:spPr>
          <a:xfrm>
            <a:off x="6705600" y="4157663"/>
            <a:ext cx="4800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</a:rPr>
              <a:t>7월 7일 (D+2)</a:t>
            </a:r>
            <a:endParaRPr lang="en-US" sz="975" dirty="0"/>
          </a:p>
        </p:txBody>
      </p:sp>
      <p:sp>
        <p:nvSpPr>
          <p:cNvPr id="40" name="SK-35-text-39"/>
          <p:cNvSpPr/>
          <p:nvPr/>
        </p:nvSpPr>
        <p:spPr>
          <a:xfrm>
            <a:off x="6705600" y="4371975"/>
            <a:ext cx="5143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개발 방향성 확정.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중복 개발 원천 차단</a:t>
            </a:r>
            <a:endParaRPr lang="en-US" sz="1125" dirty="0"/>
          </a:p>
        </p:txBody>
      </p:sp>
      <p:sp>
        <p:nvSpPr>
          <p:cNvPr id="41" name="SK-35-text-40"/>
          <p:cNvSpPr/>
          <p:nvPr/>
        </p:nvSpPr>
        <p:spPr>
          <a:xfrm>
            <a:off x="800100" y="5150644"/>
            <a:ext cx="483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낭비 방지 규모 (WASTE PREVENTED)</a:t>
            </a:r>
            <a:endParaRPr lang="en-US" sz="1200" dirty="0"/>
          </a:p>
        </p:txBody>
      </p:sp>
      <p:sp>
        <p:nvSpPr>
          <p:cNvPr id="42" name="SK-35-text-41"/>
          <p:cNvSpPr/>
          <p:nvPr/>
        </p:nvSpPr>
        <p:spPr>
          <a:xfrm>
            <a:off x="800100" y="5407819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MM (Man-Months)</a:t>
            </a:r>
            <a:endParaRPr lang="en-US" sz="2400" dirty="0"/>
          </a:p>
        </p:txBody>
      </p:sp>
      <p:sp>
        <p:nvSpPr>
          <p:cNvPr id="43" name="SK-35-text-42"/>
          <p:cNvSpPr/>
          <p:nvPr/>
        </p:nvSpPr>
        <p:spPr>
          <a:xfrm>
            <a:off x="4584650" y="5143500"/>
            <a:ext cx="68072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에이전트 도입 시,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 발생 48시간 내에 문제를 해결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함으로써 리전 간 소통 단절로 인한 2.3MM 규모의 중복 개발 비용을 완전히 절감할 수 있었음을 증명합니다. 이는 프로젝트 전체 효율성을 약 8.5% 개선하는 효과와 동일합니다.</a:t>
            </a:r>
            <a:endParaRPr lang="en-US" sz="12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3530501" cy="333375"/>
          </a:xfrm>
          <a:prstGeom prst="rect">
            <a:avLst/>
          </a:prstGeom>
        </p:spPr>
      </p:pic>
      <p:pic>
        <p:nvPicPr>
          <p:cNvPr id="7" name="SK-3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55552"/>
            <a:ext cx="190500" cy="155823"/>
          </a:xfrm>
          <a:prstGeom prst="rect">
            <a:avLst/>
          </a:prstGeom>
        </p:spPr>
      </p:pic>
      <p:pic>
        <p:nvPicPr>
          <p:cNvPr id="8" name="SK-3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990725"/>
            <a:ext cx="3530501" cy="4486275"/>
          </a:xfrm>
          <a:prstGeom prst="rect">
            <a:avLst/>
          </a:prstGeom>
        </p:spPr>
      </p:pic>
      <p:pic>
        <p:nvPicPr>
          <p:cNvPr id="9" name="SK-3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076575"/>
            <a:ext cx="3301901" cy="404813"/>
          </a:xfrm>
          <a:prstGeom prst="rect">
            <a:avLst/>
          </a:prstGeom>
        </p:spPr>
      </p:pic>
      <p:pic>
        <p:nvPicPr>
          <p:cNvPr id="10" name="SK-3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805237"/>
            <a:ext cx="3301901" cy="404813"/>
          </a:xfrm>
          <a:prstGeom prst="rect">
            <a:avLst/>
          </a:prstGeom>
        </p:spPr>
      </p:pic>
      <p:pic>
        <p:nvPicPr>
          <p:cNvPr id="11" name="SK-3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437608"/>
            <a:ext cx="154781" cy="125760"/>
          </a:xfrm>
          <a:prstGeom prst="rect">
            <a:avLst/>
          </a:prstGeom>
        </p:spPr>
      </p:pic>
      <p:pic>
        <p:nvPicPr>
          <p:cNvPr id="12" name="SK-3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680496"/>
            <a:ext cx="154781" cy="125760"/>
          </a:xfrm>
          <a:prstGeom prst="rect">
            <a:avLst/>
          </a:prstGeom>
        </p:spPr>
      </p:pic>
      <p:pic>
        <p:nvPicPr>
          <p:cNvPr id="13" name="SK-3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923383"/>
            <a:ext cx="154781" cy="125760"/>
          </a:xfrm>
          <a:prstGeom prst="rect">
            <a:avLst/>
          </a:prstGeom>
        </p:spPr>
      </p:pic>
      <p:pic>
        <p:nvPicPr>
          <p:cNvPr id="14" name="SK-3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0601" y="1504950"/>
            <a:ext cx="3530650" cy="333375"/>
          </a:xfrm>
          <a:prstGeom prst="rect">
            <a:avLst/>
          </a:prstGeom>
        </p:spPr>
      </p:pic>
      <p:pic>
        <p:nvPicPr>
          <p:cNvPr id="15" name="SK-3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30601" y="1555552"/>
            <a:ext cx="190500" cy="155823"/>
          </a:xfrm>
          <a:prstGeom prst="rect">
            <a:avLst/>
          </a:prstGeom>
        </p:spPr>
      </p:pic>
      <p:pic>
        <p:nvPicPr>
          <p:cNvPr id="16" name="SK-3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30601" y="1990725"/>
            <a:ext cx="3530650" cy="4486275"/>
          </a:xfrm>
          <a:prstGeom prst="rect">
            <a:avLst/>
          </a:prstGeom>
        </p:spPr>
      </p:pic>
      <p:pic>
        <p:nvPicPr>
          <p:cNvPr id="17" name="SK-3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4901" y="2486025"/>
            <a:ext cx="3302050" cy="339030"/>
          </a:xfrm>
          <a:prstGeom prst="rect">
            <a:avLst/>
          </a:prstGeom>
        </p:spPr>
      </p:pic>
      <p:pic>
        <p:nvPicPr>
          <p:cNvPr id="18" name="SK-3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24414" y="2863155"/>
            <a:ext cx="142875" cy="114300"/>
          </a:xfrm>
          <a:prstGeom prst="rect">
            <a:avLst/>
          </a:prstGeom>
        </p:spPr>
      </p:pic>
      <p:pic>
        <p:nvPicPr>
          <p:cNvPr id="19" name="SK-3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4901" y="3053655"/>
            <a:ext cx="3302050" cy="339030"/>
          </a:xfrm>
          <a:prstGeom prst="rect">
            <a:avLst/>
          </a:prstGeom>
        </p:spPr>
      </p:pic>
      <p:pic>
        <p:nvPicPr>
          <p:cNvPr id="20" name="SK-3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24414" y="3430786"/>
            <a:ext cx="142875" cy="114300"/>
          </a:xfrm>
          <a:prstGeom prst="rect">
            <a:avLst/>
          </a:prstGeom>
        </p:spPr>
      </p:pic>
      <p:pic>
        <p:nvPicPr>
          <p:cNvPr id="21" name="SK-3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4901" y="3621286"/>
            <a:ext cx="3302050" cy="339030"/>
          </a:xfrm>
          <a:prstGeom prst="rect">
            <a:avLst/>
          </a:prstGeom>
        </p:spPr>
      </p:pic>
      <p:pic>
        <p:nvPicPr>
          <p:cNvPr id="22" name="SK-3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24414" y="3998416"/>
            <a:ext cx="142875" cy="114300"/>
          </a:xfrm>
          <a:prstGeom prst="rect">
            <a:avLst/>
          </a:prstGeom>
        </p:spPr>
      </p:pic>
      <p:pic>
        <p:nvPicPr>
          <p:cNvPr id="23" name="SK-3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44901" y="4188916"/>
            <a:ext cx="3302050" cy="339030"/>
          </a:xfrm>
          <a:prstGeom prst="rect">
            <a:avLst/>
          </a:prstGeom>
        </p:spPr>
      </p:pic>
      <p:pic>
        <p:nvPicPr>
          <p:cNvPr id="24" name="SK-3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24414" y="4566047"/>
            <a:ext cx="142875" cy="114300"/>
          </a:xfrm>
          <a:prstGeom prst="rect">
            <a:avLst/>
          </a:prstGeom>
        </p:spPr>
      </p:pic>
      <p:pic>
        <p:nvPicPr>
          <p:cNvPr id="25" name="SK-3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44901" y="4794647"/>
            <a:ext cx="3302050" cy="838200"/>
          </a:xfrm>
          <a:prstGeom prst="rect">
            <a:avLst/>
          </a:prstGeom>
        </p:spPr>
      </p:pic>
      <p:pic>
        <p:nvPicPr>
          <p:cNvPr id="26" name="SK-3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89850" y="1504950"/>
            <a:ext cx="3530501" cy="333375"/>
          </a:xfrm>
          <a:prstGeom prst="rect">
            <a:avLst/>
          </a:prstGeom>
        </p:spPr>
      </p:pic>
      <p:pic>
        <p:nvPicPr>
          <p:cNvPr id="27" name="SK-3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89850" y="1555552"/>
            <a:ext cx="190500" cy="155823"/>
          </a:xfrm>
          <a:prstGeom prst="rect">
            <a:avLst/>
          </a:prstGeom>
        </p:spPr>
      </p:pic>
      <p:pic>
        <p:nvPicPr>
          <p:cNvPr id="28" name="SK-3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89850" y="1990725"/>
            <a:ext cx="3530501" cy="4486275"/>
          </a:xfrm>
          <a:prstGeom prst="rect">
            <a:avLst/>
          </a:prstGeom>
        </p:spPr>
      </p:pic>
      <p:pic>
        <p:nvPicPr>
          <p:cNvPr id="29" name="SK-3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04150" y="2486025"/>
            <a:ext cx="228600" cy="228600"/>
          </a:xfrm>
          <a:prstGeom prst="rect">
            <a:avLst/>
          </a:prstGeom>
        </p:spPr>
      </p:pic>
      <p:pic>
        <p:nvPicPr>
          <p:cNvPr id="30" name="SK-36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04150" y="3006923"/>
            <a:ext cx="228600" cy="228600"/>
          </a:xfrm>
          <a:prstGeom prst="rect">
            <a:avLst/>
          </a:prstGeom>
        </p:spPr>
      </p:pic>
      <p:pic>
        <p:nvPicPr>
          <p:cNvPr id="31" name="SK-36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04150" y="3527822"/>
            <a:ext cx="228600" cy="228600"/>
          </a:xfrm>
          <a:prstGeom prst="rect">
            <a:avLst/>
          </a:prstGeom>
        </p:spPr>
      </p:pic>
      <p:pic>
        <p:nvPicPr>
          <p:cNvPr id="32" name="SK-36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04150" y="5762625"/>
            <a:ext cx="3301901" cy="600075"/>
          </a:xfrm>
          <a:prstGeom prst="rect">
            <a:avLst/>
          </a:prstGeom>
        </p:spPr>
      </p:pic>
      <p:sp>
        <p:nvSpPr>
          <p:cNvPr id="33" name="SK-36-text-32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4" name="SK-36-text-33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스토리라인: 오프닝부터 원인 분석</a:t>
            </a:r>
            <a:endParaRPr lang="en-US" sz="2550" dirty="0"/>
          </a:p>
        </p:txBody>
      </p:sp>
      <p:sp>
        <p:nvSpPr>
          <p:cNvPr id="35" name="SK-36-text-34"/>
          <p:cNvSpPr/>
          <p:nvPr/>
        </p:nvSpPr>
        <p:spPr>
          <a:xfrm>
            <a:off x="857250" y="1504950"/>
            <a:ext cx="41319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1: THE REVEAL</a:t>
            </a:r>
            <a:endParaRPr lang="en-US" sz="1350" dirty="0"/>
          </a:p>
        </p:txBody>
      </p:sp>
      <p:sp>
        <p:nvSpPr>
          <p:cNvPr id="36" name="SK-36-text-35"/>
          <p:cNvSpPr/>
          <p:nvPr/>
        </p:nvSpPr>
        <p:spPr>
          <a:xfrm>
            <a:off x="685800" y="2105025"/>
            <a:ext cx="3378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"수박 프로젝트" 식별</a:t>
            </a:r>
            <a:endParaRPr lang="en-US" sz="1200" dirty="0"/>
          </a:p>
        </p:txBody>
      </p:sp>
      <p:sp>
        <p:nvSpPr>
          <p:cNvPr id="37" name="SK-36-text-36"/>
          <p:cNvSpPr/>
          <p:nvPr/>
        </p:nvSpPr>
        <p:spPr>
          <a:xfrm>
            <a:off x="685800" y="2486025"/>
            <a:ext cx="33019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겉은 Green, 속은 Red인 프로젝트의 실체를 데이터 대조를 통해 고발</a:t>
            </a:r>
            <a:endParaRPr lang="en-US" sz="1050" dirty="0"/>
          </a:p>
        </p:txBody>
      </p:sp>
      <p:sp>
        <p:nvSpPr>
          <p:cNvPr id="38" name="SK-36-text-37"/>
          <p:cNvSpPr/>
          <p:nvPr/>
        </p:nvSpPr>
        <p:spPr>
          <a:xfrm>
            <a:off x="781050" y="3186113"/>
            <a:ext cx="819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보고(겉)</a:t>
            </a:r>
            <a:endParaRPr lang="en-US" sz="975" dirty="0"/>
          </a:p>
        </p:txBody>
      </p:sp>
      <p:sp>
        <p:nvSpPr>
          <p:cNvPr id="39" name="SK-36-text-38"/>
          <p:cNvSpPr/>
          <p:nvPr/>
        </p:nvSpPr>
        <p:spPr>
          <a:xfrm>
            <a:off x="1466850" y="3171825"/>
            <a:ext cx="3390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16주 ALL GREEN</a:t>
            </a:r>
            <a:endParaRPr lang="en-US" sz="1125" dirty="0"/>
          </a:p>
        </p:txBody>
      </p:sp>
      <p:sp>
        <p:nvSpPr>
          <p:cNvPr id="40" name="SK-36-text-39"/>
          <p:cNvSpPr/>
          <p:nvPr/>
        </p:nvSpPr>
        <p:spPr>
          <a:xfrm>
            <a:off x="647700" y="3557588"/>
            <a:ext cx="33781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900" dirty="0"/>
          </a:p>
        </p:txBody>
      </p:sp>
      <p:sp>
        <p:nvSpPr>
          <p:cNvPr id="41" name="SK-36-text-40"/>
          <p:cNvSpPr/>
          <p:nvPr/>
        </p:nvSpPr>
        <p:spPr>
          <a:xfrm>
            <a:off x="781050" y="3914775"/>
            <a:ext cx="819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실제(속)</a:t>
            </a:r>
            <a:endParaRPr lang="en-US" sz="975" dirty="0"/>
          </a:p>
        </p:txBody>
      </p:sp>
      <p:sp>
        <p:nvSpPr>
          <p:cNvPr id="42" name="SK-36-text-41"/>
          <p:cNvSpPr/>
          <p:nvPr/>
        </p:nvSpPr>
        <p:spPr>
          <a:xfrm>
            <a:off x="1466850" y="3900488"/>
            <a:ext cx="3905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18.4% → 6.1%</a:t>
            </a:r>
            <a:endParaRPr lang="en-US" sz="1125" dirty="0"/>
          </a:p>
        </p:txBody>
      </p:sp>
      <p:sp>
        <p:nvSpPr>
          <p:cNvPr id="43" name="SK-36-text-42"/>
          <p:cNvSpPr/>
          <p:nvPr/>
        </p:nvSpPr>
        <p:spPr>
          <a:xfrm>
            <a:off x="897731" y="4400550"/>
            <a:ext cx="39624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 성공률 괴리 (93% vs 58%)</a:t>
            </a:r>
            <a:endParaRPr lang="en-US" sz="975" dirty="0"/>
          </a:p>
        </p:txBody>
      </p:sp>
      <p:sp>
        <p:nvSpPr>
          <p:cNvPr id="44" name="SK-36-text-43"/>
          <p:cNvSpPr/>
          <p:nvPr/>
        </p:nvSpPr>
        <p:spPr>
          <a:xfrm>
            <a:off x="897731" y="4643438"/>
            <a:ext cx="330190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비용 분리 보고 (CPI 왜곡)</a:t>
            </a:r>
            <a:endParaRPr lang="en-US" sz="975" dirty="0"/>
          </a:p>
        </p:txBody>
      </p:sp>
      <p:sp>
        <p:nvSpPr>
          <p:cNvPr id="45" name="SK-36-text-44"/>
          <p:cNvSpPr/>
          <p:nvPr/>
        </p:nvSpPr>
        <p:spPr>
          <a:xfrm>
            <a:off x="897731" y="4886325"/>
            <a:ext cx="36652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근거 없는 하향 (High → 0건)</a:t>
            </a:r>
            <a:endParaRPr lang="en-US" sz="975" dirty="0"/>
          </a:p>
        </p:txBody>
      </p:sp>
      <p:sp>
        <p:nvSpPr>
          <p:cNvPr id="46" name="SK-36-text-45"/>
          <p:cNvSpPr/>
          <p:nvPr/>
        </p:nvSpPr>
        <p:spPr>
          <a:xfrm>
            <a:off x="4616351" y="1504950"/>
            <a:ext cx="39262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2: DEEP DIVE</a:t>
            </a:r>
            <a:endParaRPr lang="en-US" sz="1350" dirty="0"/>
          </a:p>
        </p:txBody>
      </p:sp>
      <p:sp>
        <p:nvSpPr>
          <p:cNvPr id="47" name="SK-36-text-46"/>
          <p:cNvSpPr/>
          <p:nvPr/>
        </p:nvSpPr>
        <p:spPr>
          <a:xfrm>
            <a:off x="4444901" y="2105025"/>
            <a:ext cx="337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5-Why 인과 사슬 분석</a:t>
            </a:r>
            <a:endParaRPr lang="en-US" sz="1200" dirty="0"/>
          </a:p>
        </p:txBody>
      </p:sp>
      <p:sp>
        <p:nvSpPr>
          <p:cNvPr id="48" name="SK-36-text-47"/>
          <p:cNvSpPr/>
          <p:nvPr/>
        </p:nvSpPr>
        <p:spPr>
          <a:xfrm>
            <a:off x="4406801" y="2486025"/>
            <a:ext cx="314965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미학습 상황 (양재 시나리오 부재)</a:t>
            </a:r>
            <a:endParaRPr lang="en-US" sz="1050" dirty="0"/>
          </a:p>
        </p:txBody>
      </p:sp>
      <p:sp>
        <p:nvSpPr>
          <p:cNvPr id="49" name="SK-36-text-48"/>
          <p:cNvSpPr/>
          <p:nvPr/>
        </p:nvSpPr>
        <p:spPr>
          <a:xfrm>
            <a:off x="4406801" y="3053655"/>
            <a:ext cx="314965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성공기준(SC-03)의 범위 축소 및 편익 미측정</a:t>
            </a:r>
            <a:endParaRPr lang="en-US" sz="1050" dirty="0"/>
          </a:p>
        </p:txBody>
      </p:sp>
      <p:sp>
        <p:nvSpPr>
          <p:cNvPr id="50" name="SK-36-text-49"/>
          <p:cNvSpPr/>
          <p:nvPr/>
        </p:nvSpPr>
        <p:spPr>
          <a:xfrm>
            <a:off x="4406801" y="3621286"/>
            <a:ext cx="314965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"측정 가능한 것"만 관리 &amp; 신호 차단</a:t>
            </a:r>
            <a:endParaRPr lang="en-US" sz="1050" dirty="0"/>
          </a:p>
        </p:txBody>
      </p:sp>
      <p:sp>
        <p:nvSpPr>
          <p:cNvPr id="51" name="SK-36-text-50"/>
          <p:cNvSpPr/>
          <p:nvPr/>
        </p:nvSpPr>
        <p:spPr>
          <a:xfrm>
            <a:off x="4406801" y="4188916"/>
            <a:ext cx="314965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분산 및 AI 자동보고 무비판 수용</a:t>
            </a:r>
            <a:endParaRPr lang="en-US" sz="1050" dirty="0"/>
          </a:p>
        </p:txBody>
      </p:sp>
      <p:sp>
        <p:nvSpPr>
          <p:cNvPr id="52" name="SK-36-text-51"/>
          <p:cNvSpPr/>
          <p:nvPr/>
        </p:nvSpPr>
        <p:spPr>
          <a:xfrm>
            <a:off x="4521101" y="4908947"/>
            <a:ext cx="314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6B6D4"/>
                </a:solidFill>
              </a:rPr>
              <a:t>ROOT CAUSE</a:t>
            </a:r>
            <a:endParaRPr lang="en-US" sz="900" dirty="0"/>
          </a:p>
        </p:txBody>
      </p:sp>
      <p:sp>
        <p:nvSpPr>
          <p:cNvPr id="53" name="SK-36-text-52"/>
          <p:cNvSpPr/>
          <p:nvPr/>
        </p:nvSpPr>
        <p:spPr>
          <a:xfrm>
            <a:off x="4559201" y="5118497"/>
            <a:ext cx="3073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측정이 관리를 대체했다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(Goodhart's Law)</a:t>
            </a:r>
            <a:endParaRPr lang="en-US" sz="1125" dirty="0"/>
          </a:p>
        </p:txBody>
      </p:sp>
      <p:sp>
        <p:nvSpPr>
          <p:cNvPr id="54" name="SK-36-text-53"/>
          <p:cNvSpPr/>
          <p:nvPr/>
        </p:nvSpPr>
        <p:spPr>
          <a:xfrm>
            <a:off x="8375600" y="1504950"/>
            <a:ext cx="3816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3: STRUCTURAL FAIL</a:t>
            </a:r>
            <a:endParaRPr lang="en-US" sz="1350" dirty="0"/>
          </a:p>
        </p:txBody>
      </p:sp>
      <p:sp>
        <p:nvSpPr>
          <p:cNvPr id="55" name="SK-36-text-54"/>
          <p:cNvSpPr/>
          <p:nvPr/>
        </p:nvSpPr>
        <p:spPr>
          <a:xfrm>
            <a:off x="8204150" y="2105025"/>
            <a:ext cx="3378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관점의 구조적 결함</a:t>
            </a:r>
            <a:endParaRPr lang="en-US" sz="1200" dirty="0"/>
          </a:p>
        </p:txBody>
      </p:sp>
      <p:sp>
        <p:nvSpPr>
          <p:cNvPr id="56" name="SK-36-text-55"/>
          <p:cNvSpPr/>
          <p:nvPr/>
        </p:nvSpPr>
        <p:spPr>
          <a:xfrm>
            <a:off x="8294638" y="2486025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SK-36-text-56"/>
          <p:cNvSpPr/>
          <p:nvPr/>
        </p:nvSpPr>
        <p:spPr>
          <a:xfrm>
            <a:off x="8547050" y="2486025"/>
            <a:ext cx="23717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체계의 왜곡</a:t>
            </a:r>
            <a:endParaRPr lang="en-US" sz="1125" dirty="0"/>
          </a:p>
        </p:txBody>
      </p:sp>
      <p:sp>
        <p:nvSpPr>
          <p:cNvPr id="58" name="SK-36-text-57"/>
          <p:cNvSpPr/>
          <p:nvPr/>
        </p:nvSpPr>
        <p:spPr>
          <a:xfrm>
            <a:off x="8547050" y="2719388"/>
            <a:ext cx="3644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 지표로 Outcome(편익) 배제</a:t>
            </a:r>
            <a:endParaRPr lang="en-US" sz="975" dirty="0"/>
          </a:p>
        </p:txBody>
      </p:sp>
      <p:sp>
        <p:nvSpPr>
          <p:cNvPr id="59" name="SK-36-text-58"/>
          <p:cNvSpPr/>
          <p:nvPr/>
        </p:nvSpPr>
        <p:spPr>
          <a:xfrm>
            <a:off x="8285113" y="3006923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SK-36-text-59"/>
          <p:cNvSpPr/>
          <p:nvPr/>
        </p:nvSpPr>
        <p:spPr>
          <a:xfrm>
            <a:off x="8547050" y="3006923"/>
            <a:ext cx="2324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통제의 붕괴</a:t>
            </a:r>
            <a:endParaRPr lang="en-US" sz="1125" dirty="0"/>
          </a:p>
        </p:txBody>
      </p:sp>
      <p:sp>
        <p:nvSpPr>
          <p:cNvPr id="61" name="SK-36-text-60"/>
          <p:cNvSpPr/>
          <p:nvPr/>
        </p:nvSpPr>
        <p:spPr>
          <a:xfrm>
            <a:off x="8547050" y="3240286"/>
            <a:ext cx="3543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변경으로 베이스라인 상실</a:t>
            </a:r>
            <a:endParaRPr lang="en-US" sz="975" dirty="0"/>
          </a:p>
        </p:txBody>
      </p:sp>
      <p:sp>
        <p:nvSpPr>
          <p:cNvPr id="62" name="SK-36-text-61"/>
          <p:cNvSpPr/>
          <p:nvPr/>
        </p:nvSpPr>
        <p:spPr>
          <a:xfrm>
            <a:off x="8280350" y="3527822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SK-36-text-62"/>
          <p:cNvSpPr/>
          <p:nvPr/>
        </p:nvSpPr>
        <p:spPr>
          <a:xfrm>
            <a:off x="8547050" y="3527822"/>
            <a:ext cx="2628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자동화의 무비판 운영</a:t>
            </a:r>
            <a:endParaRPr lang="en-US" sz="1125" dirty="0"/>
          </a:p>
        </p:txBody>
      </p:sp>
      <p:sp>
        <p:nvSpPr>
          <p:cNvPr id="64" name="SK-36-text-63"/>
          <p:cNvSpPr/>
          <p:nvPr/>
        </p:nvSpPr>
        <p:spPr>
          <a:xfrm>
            <a:off x="8547050" y="3761184"/>
            <a:ext cx="3644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검토 없는 "ALL GREEN"의 항상성 유지</a:t>
            </a:r>
            <a:endParaRPr lang="en-US" sz="975" dirty="0"/>
          </a:p>
        </p:txBody>
      </p:sp>
      <p:sp>
        <p:nvSpPr>
          <p:cNvPr id="65" name="SK-36-text-64"/>
          <p:cNvSpPr/>
          <p:nvPr/>
        </p:nvSpPr>
        <p:spPr>
          <a:xfrm>
            <a:off x="8318450" y="5762625"/>
            <a:ext cx="318760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"지표가 목표가 되면, 좋은 지표이기를 멈춘다. 프로젝트의 진짜 목적인 '가치 전달'이 보고 체계 유지에 매몰되었습니다."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2619375" cy="3590925"/>
          </a:xfrm>
          <a:prstGeom prst="rect">
            <a:avLst/>
          </a:prstGeom>
        </p:spPr>
      </p:pic>
      <p:pic>
        <p:nvPicPr>
          <p:cNvPr id="7" name="SK-3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695450"/>
            <a:ext cx="381000" cy="381000"/>
          </a:xfrm>
          <a:prstGeom prst="rect">
            <a:avLst/>
          </a:prstGeom>
        </p:spPr>
      </p:pic>
      <p:pic>
        <p:nvPicPr>
          <p:cNvPr id="8" name="SK-3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44" y="1798290"/>
            <a:ext cx="214313" cy="175320"/>
          </a:xfrm>
          <a:prstGeom prst="rect">
            <a:avLst/>
          </a:prstGeom>
        </p:spPr>
      </p:pic>
      <p:pic>
        <p:nvPicPr>
          <p:cNvPr id="9" name="SK-3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529138"/>
            <a:ext cx="2238375" cy="376238"/>
          </a:xfrm>
          <a:prstGeom prst="rect">
            <a:avLst/>
          </a:prstGeom>
        </p:spPr>
      </p:pic>
      <p:pic>
        <p:nvPicPr>
          <p:cNvPr id="10" name="SK-3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1375" y="1504950"/>
            <a:ext cx="2619375" cy="3590925"/>
          </a:xfrm>
          <a:prstGeom prst="rect">
            <a:avLst/>
          </a:prstGeom>
        </p:spPr>
      </p:pic>
      <p:pic>
        <p:nvPicPr>
          <p:cNvPr id="11" name="SK-3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1875" y="1695450"/>
            <a:ext cx="381000" cy="381000"/>
          </a:xfrm>
          <a:prstGeom prst="rect">
            <a:avLst/>
          </a:prstGeom>
        </p:spPr>
      </p:pic>
      <p:pic>
        <p:nvPicPr>
          <p:cNvPr id="12" name="SK-3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5219" y="1798290"/>
            <a:ext cx="214313" cy="175320"/>
          </a:xfrm>
          <a:prstGeom prst="rect">
            <a:avLst/>
          </a:prstGeom>
        </p:spPr>
      </p:pic>
      <p:pic>
        <p:nvPicPr>
          <p:cNvPr id="13" name="SK-3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1875" y="4529138"/>
            <a:ext cx="2238375" cy="376238"/>
          </a:xfrm>
          <a:prstGeom prst="rect">
            <a:avLst/>
          </a:prstGeom>
        </p:spPr>
      </p:pic>
      <p:pic>
        <p:nvPicPr>
          <p:cNvPr id="14" name="SK-3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0" y="1504950"/>
            <a:ext cx="2619375" cy="3590925"/>
          </a:xfrm>
          <a:prstGeom prst="rect">
            <a:avLst/>
          </a:prstGeom>
        </p:spPr>
      </p:pic>
      <p:pic>
        <p:nvPicPr>
          <p:cNvPr id="15" name="SK-3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1695450"/>
            <a:ext cx="381000" cy="381000"/>
          </a:xfrm>
          <a:prstGeom prst="rect">
            <a:avLst/>
          </a:prstGeom>
        </p:spPr>
      </p:pic>
      <p:pic>
        <p:nvPicPr>
          <p:cNvPr id="16" name="SK-3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5094" y="1798290"/>
            <a:ext cx="214313" cy="175320"/>
          </a:xfrm>
          <a:prstGeom prst="rect">
            <a:avLst/>
          </a:prstGeom>
        </p:spPr>
      </p:pic>
      <p:pic>
        <p:nvPicPr>
          <p:cNvPr id="17" name="SK-3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1750" y="4529138"/>
            <a:ext cx="2238375" cy="376238"/>
          </a:xfrm>
          <a:prstGeom prst="rect">
            <a:avLst/>
          </a:prstGeom>
        </p:spPr>
      </p:pic>
      <p:pic>
        <p:nvPicPr>
          <p:cNvPr id="18" name="SK-3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01125" y="1504950"/>
            <a:ext cx="2619375" cy="3590925"/>
          </a:xfrm>
          <a:prstGeom prst="rect">
            <a:avLst/>
          </a:prstGeom>
        </p:spPr>
      </p:pic>
      <p:pic>
        <p:nvPicPr>
          <p:cNvPr id="19" name="SK-3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91625" y="1695450"/>
            <a:ext cx="381000" cy="381000"/>
          </a:xfrm>
          <a:prstGeom prst="rect">
            <a:avLst/>
          </a:prstGeom>
        </p:spPr>
      </p:pic>
      <p:pic>
        <p:nvPicPr>
          <p:cNvPr id="20" name="SK-3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4969" y="1798290"/>
            <a:ext cx="214313" cy="175320"/>
          </a:xfrm>
          <a:prstGeom prst="rect">
            <a:avLst/>
          </a:prstGeom>
        </p:spPr>
      </p:pic>
      <p:pic>
        <p:nvPicPr>
          <p:cNvPr id="21" name="SK-3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91625" y="4529138"/>
            <a:ext cx="2238375" cy="376238"/>
          </a:xfrm>
          <a:prstGeom prst="rect">
            <a:avLst/>
          </a:prstGeom>
        </p:spPr>
      </p:pic>
      <p:pic>
        <p:nvPicPr>
          <p:cNvPr id="22" name="SK-3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324475"/>
            <a:ext cx="11049000" cy="1152525"/>
          </a:xfrm>
          <a:prstGeom prst="rect">
            <a:avLst/>
          </a:prstGeom>
        </p:spPr>
      </p:pic>
      <p:pic>
        <p:nvPicPr>
          <p:cNvPr id="23" name="SK-3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7250" y="5770959"/>
            <a:ext cx="381000" cy="304800"/>
          </a:xfrm>
          <a:prstGeom prst="rect">
            <a:avLst/>
          </a:prstGeom>
        </p:spPr>
      </p:pic>
      <p:sp>
        <p:nvSpPr>
          <p:cNvPr id="24" name="SK-37-text-2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5" name="SK-37-text-24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E-1. 발표 스토리라인: 처방부터 클로징</a:t>
            </a:r>
            <a:endParaRPr lang="en-US" sz="2550" dirty="0"/>
          </a:p>
        </p:txBody>
      </p:sp>
      <p:sp>
        <p:nvSpPr>
          <p:cNvPr id="26" name="SK-37-text-25"/>
          <p:cNvSpPr/>
          <p:nvPr/>
        </p:nvSpPr>
        <p:spPr>
          <a:xfrm>
            <a:off x="1257300" y="178593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CA3AF"/>
                </a:solidFill>
              </a:rPr>
              <a:t>STEP 04</a:t>
            </a:r>
            <a:endParaRPr lang="en-US" sz="1050" dirty="0"/>
          </a:p>
        </p:txBody>
      </p:sp>
      <p:sp>
        <p:nvSpPr>
          <p:cNvPr id="27" name="SK-37-text-26"/>
          <p:cNvSpPr/>
          <p:nvPr/>
        </p:nvSpPr>
        <p:spPr>
          <a:xfrm>
            <a:off x="762000" y="2228850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처방: PM Transformers</a:t>
            </a:r>
            <a:endParaRPr lang="en-US" sz="1500" dirty="0"/>
          </a:p>
        </p:txBody>
      </p:sp>
      <p:sp>
        <p:nvSpPr>
          <p:cNvPr id="28" name="SK-37-text-27"/>
          <p:cNvSpPr/>
          <p:nvPr/>
        </p:nvSpPr>
        <p:spPr>
          <a:xfrm>
            <a:off x="933450" y="2609850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Value-Driven AI Agent 아키텍처 제시</a:t>
            </a:r>
            <a:endParaRPr lang="en-US" sz="1125" dirty="0"/>
          </a:p>
        </p:txBody>
      </p:sp>
      <p:sp>
        <p:nvSpPr>
          <p:cNvPr id="29" name="SK-37-text-28"/>
          <p:cNvSpPr/>
          <p:nvPr/>
        </p:nvSpPr>
        <p:spPr>
          <a:xfrm>
            <a:off x="933450" y="3133725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거버넌스·재무·리스크의 3중 검증 체계 설계</a:t>
            </a:r>
            <a:endParaRPr lang="en-US" sz="1125" dirty="0"/>
          </a:p>
        </p:txBody>
      </p:sp>
      <p:sp>
        <p:nvSpPr>
          <p:cNvPr id="30" name="SK-37-text-29"/>
          <p:cNvSpPr/>
          <p:nvPr/>
        </p:nvSpPr>
        <p:spPr>
          <a:xfrm>
            <a:off x="933450" y="3657600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중심에서 Outcome 중심 관리로 전환</a:t>
            </a:r>
            <a:endParaRPr lang="en-US" sz="1125" dirty="0"/>
          </a:p>
        </p:txBody>
      </p:sp>
      <p:sp>
        <p:nvSpPr>
          <p:cNvPr id="31" name="SK-37-text-30"/>
          <p:cNvSpPr/>
          <p:nvPr/>
        </p:nvSpPr>
        <p:spPr>
          <a:xfrm>
            <a:off x="723900" y="4529138"/>
            <a:ext cx="2124075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 AI 관리 체계</a:t>
            </a:r>
            <a:endParaRPr lang="en-US" sz="975" dirty="0"/>
          </a:p>
        </p:txBody>
      </p:sp>
      <p:sp>
        <p:nvSpPr>
          <p:cNvPr id="32" name="SK-37-text-31"/>
          <p:cNvSpPr/>
          <p:nvPr/>
        </p:nvSpPr>
        <p:spPr>
          <a:xfrm>
            <a:off x="4067175" y="178593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CA3AF"/>
                </a:solidFill>
              </a:rPr>
              <a:t>STEP 05</a:t>
            </a:r>
            <a:endParaRPr lang="en-US" sz="1050" dirty="0"/>
          </a:p>
        </p:txBody>
      </p:sp>
      <p:sp>
        <p:nvSpPr>
          <p:cNvPr id="33" name="SK-37-text-32"/>
          <p:cNvSpPr/>
          <p:nvPr/>
        </p:nvSpPr>
        <p:spPr>
          <a:xfrm>
            <a:off x="3571875" y="222885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증명: POC 시연</a:t>
            </a:r>
            <a:endParaRPr lang="en-US" sz="1500" dirty="0"/>
          </a:p>
        </p:txBody>
      </p:sp>
      <p:sp>
        <p:nvSpPr>
          <p:cNvPr id="34" name="SK-37-text-33"/>
          <p:cNvSpPr/>
          <p:nvPr/>
        </p:nvSpPr>
        <p:spPr>
          <a:xfrm>
            <a:off x="3743325" y="2609850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Before(ALL GREEN) vs After(위험 감지) 대조</a:t>
            </a:r>
            <a:endParaRPr lang="en-US" sz="1125" dirty="0"/>
          </a:p>
        </p:txBody>
      </p:sp>
      <p:sp>
        <p:nvSpPr>
          <p:cNvPr id="35" name="SK-37-text-34"/>
          <p:cNvSpPr/>
          <p:nvPr/>
        </p:nvSpPr>
        <p:spPr>
          <a:xfrm>
            <a:off x="3743325" y="3133725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수박 껍질을 벗기는 데이터 교차 검증 시연</a:t>
            </a:r>
            <a:endParaRPr lang="en-US" sz="1125" dirty="0"/>
          </a:p>
        </p:txBody>
      </p:sp>
      <p:sp>
        <p:nvSpPr>
          <p:cNvPr id="36" name="SK-37-text-35"/>
          <p:cNvSpPr/>
          <p:nvPr/>
        </p:nvSpPr>
        <p:spPr>
          <a:xfrm>
            <a:off x="3743325" y="3657600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EOL 등 누락된 리스크의 자동 포착</a:t>
            </a:r>
            <a:endParaRPr lang="en-US" sz="1125" dirty="0"/>
          </a:p>
        </p:txBody>
      </p:sp>
      <p:sp>
        <p:nvSpPr>
          <p:cNvPr id="37" name="SK-37-text-36"/>
          <p:cNvSpPr/>
          <p:nvPr/>
        </p:nvSpPr>
        <p:spPr>
          <a:xfrm>
            <a:off x="3533775" y="4529138"/>
            <a:ext cx="2124075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정합성 및 투명성 확보</a:t>
            </a:r>
            <a:endParaRPr lang="en-US" sz="975" dirty="0"/>
          </a:p>
        </p:txBody>
      </p:sp>
      <p:sp>
        <p:nvSpPr>
          <p:cNvPr id="38" name="SK-37-text-37"/>
          <p:cNvSpPr/>
          <p:nvPr/>
        </p:nvSpPr>
        <p:spPr>
          <a:xfrm>
            <a:off x="6877050" y="178593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CA3AF"/>
                </a:solidFill>
              </a:rPr>
              <a:t>STEP 06</a:t>
            </a:r>
            <a:endParaRPr lang="en-US" sz="1050" dirty="0"/>
          </a:p>
        </p:txBody>
      </p:sp>
      <p:sp>
        <p:nvSpPr>
          <p:cNvPr id="39" name="SK-37-text-38"/>
          <p:cNvSpPr/>
          <p:nvPr/>
        </p:nvSpPr>
        <p:spPr>
          <a:xfrm>
            <a:off x="6381750" y="222885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확장: 현업 적용</a:t>
            </a:r>
            <a:endParaRPr lang="en-US" sz="1500" dirty="0"/>
          </a:p>
        </p:txBody>
      </p:sp>
      <p:sp>
        <p:nvSpPr>
          <p:cNvPr id="40" name="SK-37-text-39"/>
          <p:cNvSpPr/>
          <p:nvPr/>
        </p:nvSpPr>
        <p:spPr>
          <a:xfrm>
            <a:off x="6553200" y="2609850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맹목을 걷어내는 구체적 로드맵</a:t>
            </a:r>
            <a:endParaRPr lang="en-US" sz="1125" dirty="0"/>
          </a:p>
        </p:txBody>
      </p:sp>
      <p:sp>
        <p:nvSpPr>
          <p:cNvPr id="41" name="SK-37-text-40"/>
          <p:cNvSpPr/>
          <p:nvPr/>
        </p:nvSpPr>
        <p:spPr>
          <a:xfrm>
            <a:off x="6553200" y="3133725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 간 의사결정 동기화(Decision Sync)</a:t>
            </a:r>
            <a:endParaRPr lang="en-US" sz="1125" dirty="0"/>
          </a:p>
        </p:txBody>
      </p:sp>
      <p:sp>
        <p:nvSpPr>
          <p:cNvPr id="42" name="SK-37-text-41"/>
          <p:cNvSpPr/>
          <p:nvPr/>
        </p:nvSpPr>
        <p:spPr>
          <a:xfrm>
            <a:off x="6553200" y="3657600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프로젝트 확산을 위한 기술적 기반 검토</a:t>
            </a:r>
            <a:endParaRPr lang="en-US" sz="1125" dirty="0"/>
          </a:p>
        </p:txBody>
      </p:sp>
      <p:sp>
        <p:nvSpPr>
          <p:cNvPr id="43" name="SK-37-text-42"/>
          <p:cNvSpPr/>
          <p:nvPr/>
        </p:nvSpPr>
        <p:spPr>
          <a:xfrm>
            <a:off x="6343650" y="4529138"/>
            <a:ext cx="2124075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조직적 관리 역량의 상향 평준화</a:t>
            </a:r>
            <a:endParaRPr lang="en-US" sz="975" dirty="0"/>
          </a:p>
        </p:txBody>
      </p:sp>
      <p:sp>
        <p:nvSpPr>
          <p:cNvPr id="44" name="SK-37-text-43"/>
          <p:cNvSpPr/>
          <p:nvPr/>
        </p:nvSpPr>
        <p:spPr>
          <a:xfrm>
            <a:off x="9686925" y="178593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CA3AF"/>
                </a:solidFill>
              </a:rPr>
              <a:t>STEP 07</a:t>
            </a:r>
            <a:endParaRPr lang="en-US" sz="1050" dirty="0"/>
          </a:p>
        </p:txBody>
      </p:sp>
      <p:sp>
        <p:nvSpPr>
          <p:cNvPr id="45" name="SK-37-text-44"/>
          <p:cNvSpPr/>
          <p:nvPr/>
        </p:nvSpPr>
        <p:spPr>
          <a:xfrm>
            <a:off x="9191625" y="2228850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Closing</a:t>
            </a:r>
            <a:endParaRPr lang="en-US" sz="1500" dirty="0"/>
          </a:p>
        </p:txBody>
      </p:sp>
      <p:sp>
        <p:nvSpPr>
          <p:cNvPr id="46" name="SK-37-text-45"/>
          <p:cNvSpPr/>
          <p:nvPr/>
        </p:nvSpPr>
        <p:spPr>
          <a:xfrm>
            <a:off x="9363075" y="2609850"/>
            <a:ext cx="2828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"질문하는 PM"의 중요성 재확인</a:t>
            </a:r>
            <a:endParaRPr lang="en-US" sz="1125" dirty="0"/>
          </a:p>
        </p:txBody>
      </p:sp>
      <p:sp>
        <p:nvSpPr>
          <p:cNvPr id="47" name="SK-37-text-46"/>
          <p:cNvSpPr/>
          <p:nvPr/>
        </p:nvSpPr>
        <p:spPr>
          <a:xfrm>
            <a:off x="9363075" y="2919413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아닌 '인간의 판단'이 핵심임을 강조</a:t>
            </a:r>
            <a:endParaRPr lang="en-US" sz="1125" dirty="0"/>
          </a:p>
        </p:txBody>
      </p:sp>
      <p:sp>
        <p:nvSpPr>
          <p:cNvPr id="48" name="SK-37-text-47"/>
          <p:cNvSpPr/>
          <p:nvPr/>
        </p:nvSpPr>
        <p:spPr>
          <a:xfrm>
            <a:off x="9363075" y="3443288"/>
            <a:ext cx="2066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 프로젝트 관리의 미래 비전</a:t>
            </a:r>
            <a:endParaRPr lang="en-US" sz="1125" dirty="0"/>
          </a:p>
        </p:txBody>
      </p:sp>
      <p:sp>
        <p:nvSpPr>
          <p:cNvPr id="49" name="SK-37-text-48"/>
          <p:cNvSpPr/>
          <p:nvPr/>
        </p:nvSpPr>
        <p:spPr>
          <a:xfrm>
            <a:off x="9153525" y="4529138"/>
            <a:ext cx="2124075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Human-in-the-Loop 거버넌스</a:t>
            </a:r>
            <a:endParaRPr lang="en-US" sz="975" dirty="0"/>
          </a:p>
        </p:txBody>
      </p:sp>
      <p:sp>
        <p:nvSpPr>
          <p:cNvPr id="50" name="SK-37-text-49"/>
          <p:cNvSpPr/>
          <p:nvPr/>
        </p:nvSpPr>
        <p:spPr>
          <a:xfrm>
            <a:off x="1466850" y="5514975"/>
            <a:ext cx="5705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MESSAGE</a:t>
            </a:r>
            <a:endParaRPr lang="en-US" sz="1050" dirty="0"/>
          </a:p>
        </p:txBody>
      </p:sp>
      <p:sp>
        <p:nvSpPr>
          <p:cNvPr id="51" name="SK-37-text-50"/>
          <p:cNvSpPr/>
          <p:nvPr/>
        </p:nvSpPr>
        <p:spPr>
          <a:xfrm>
            <a:off x="1466850" y="5753100"/>
            <a:ext cx="56292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거짓말을 하지 않았습니다. 단지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받지 않았을 뿐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설계하고 가치를 추적하는 것은 결국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인간(PM)의 몫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8600"/>
            <a:ext cx="2122289" cy="276225"/>
          </a:xfrm>
          <a:prstGeom prst="rect">
            <a:avLst/>
          </a:prstGeom>
        </p:spPr>
      </p:pic>
      <p:pic>
        <p:nvPicPr>
          <p:cNvPr id="5" name="SK-3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61950"/>
            <a:ext cx="8812411" cy="9525"/>
          </a:xfrm>
          <a:prstGeom prst="rect">
            <a:avLst/>
          </a:prstGeom>
        </p:spPr>
      </p:pic>
      <p:pic>
        <p:nvPicPr>
          <p:cNvPr id="6" name="SK-3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38250"/>
            <a:ext cx="5429250" cy="2405063"/>
          </a:xfrm>
          <a:prstGeom prst="rect">
            <a:avLst/>
          </a:prstGeom>
        </p:spPr>
      </p:pic>
      <p:pic>
        <p:nvPicPr>
          <p:cNvPr id="7" name="SK-3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238125" cy="198388"/>
          </a:xfrm>
          <a:prstGeom prst="rect">
            <a:avLst/>
          </a:prstGeom>
        </p:spPr>
      </p:pic>
      <p:pic>
        <p:nvPicPr>
          <p:cNvPr id="8" name="SK-3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927622"/>
            <a:ext cx="5048250" cy="1452563"/>
          </a:xfrm>
          <a:prstGeom prst="rect">
            <a:avLst/>
          </a:prstGeom>
        </p:spPr>
      </p:pic>
      <p:pic>
        <p:nvPicPr>
          <p:cNvPr id="9" name="SK-3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2047131"/>
            <a:ext cx="166688" cy="137220"/>
          </a:xfrm>
          <a:prstGeom prst="rect">
            <a:avLst/>
          </a:prstGeom>
        </p:spPr>
      </p:pic>
      <p:pic>
        <p:nvPicPr>
          <p:cNvPr id="10" name="SK-3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075384"/>
            <a:ext cx="1666875" cy="209550"/>
          </a:xfrm>
          <a:prstGeom prst="rect">
            <a:avLst/>
          </a:prstGeom>
        </p:spPr>
      </p:pic>
      <p:pic>
        <p:nvPicPr>
          <p:cNvPr id="11" name="SK-3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7475" y="3075384"/>
            <a:ext cx="933450" cy="209550"/>
          </a:xfrm>
          <a:prstGeom prst="rect">
            <a:avLst/>
          </a:prstGeom>
        </p:spPr>
      </p:pic>
      <p:pic>
        <p:nvPicPr>
          <p:cNvPr id="12" name="SK-3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0" y="1238250"/>
            <a:ext cx="5429250" cy="2405063"/>
          </a:xfrm>
          <a:prstGeom prst="rect">
            <a:avLst/>
          </a:prstGeom>
        </p:spPr>
      </p:pic>
      <p:pic>
        <p:nvPicPr>
          <p:cNvPr id="13" name="SK-3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1371600"/>
            <a:ext cx="238125" cy="207020"/>
          </a:xfrm>
          <a:prstGeom prst="rect">
            <a:avLst/>
          </a:prstGeom>
        </p:spPr>
      </p:pic>
      <p:pic>
        <p:nvPicPr>
          <p:cNvPr id="14" name="SK-3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1927622"/>
            <a:ext cx="5048250" cy="1452563"/>
          </a:xfrm>
          <a:prstGeom prst="rect">
            <a:avLst/>
          </a:prstGeom>
        </p:spPr>
      </p:pic>
      <p:pic>
        <p:nvPicPr>
          <p:cNvPr id="15" name="SK-3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150" y="2047131"/>
            <a:ext cx="166688" cy="137220"/>
          </a:xfrm>
          <a:prstGeom prst="rect">
            <a:avLst/>
          </a:prstGeom>
        </p:spPr>
      </p:pic>
      <p:pic>
        <p:nvPicPr>
          <p:cNvPr id="16" name="SK-3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150" y="3075384"/>
            <a:ext cx="1819275" cy="209550"/>
          </a:xfrm>
          <a:prstGeom prst="rect">
            <a:avLst/>
          </a:prstGeom>
        </p:spPr>
      </p:pic>
      <p:pic>
        <p:nvPicPr>
          <p:cNvPr id="17" name="SK-3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9625" y="3075384"/>
            <a:ext cx="1095375" cy="209550"/>
          </a:xfrm>
          <a:prstGeom prst="rect">
            <a:avLst/>
          </a:prstGeom>
        </p:spPr>
      </p:pic>
      <p:pic>
        <p:nvPicPr>
          <p:cNvPr id="18" name="SK-3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757613"/>
            <a:ext cx="5429250" cy="2405063"/>
          </a:xfrm>
          <a:prstGeom prst="rect">
            <a:avLst/>
          </a:prstGeom>
        </p:spPr>
      </p:pic>
      <p:pic>
        <p:nvPicPr>
          <p:cNvPr id="19" name="SK-3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3890962"/>
            <a:ext cx="238125" cy="198388"/>
          </a:xfrm>
          <a:prstGeom prst="rect">
            <a:avLst/>
          </a:prstGeom>
        </p:spPr>
      </p:pic>
      <p:pic>
        <p:nvPicPr>
          <p:cNvPr id="20" name="SK-3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4446984"/>
            <a:ext cx="5048250" cy="1452563"/>
          </a:xfrm>
          <a:prstGeom prst="rect">
            <a:avLst/>
          </a:prstGeom>
        </p:spPr>
      </p:pic>
      <p:pic>
        <p:nvPicPr>
          <p:cNvPr id="21" name="SK-3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400" y="4566493"/>
            <a:ext cx="166688" cy="137220"/>
          </a:xfrm>
          <a:prstGeom prst="rect">
            <a:avLst/>
          </a:prstGeom>
        </p:spPr>
      </p:pic>
      <p:pic>
        <p:nvPicPr>
          <p:cNvPr id="22" name="SK-3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400" y="5594747"/>
            <a:ext cx="771525" cy="209550"/>
          </a:xfrm>
          <a:prstGeom prst="rect">
            <a:avLst/>
          </a:prstGeom>
        </p:spPr>
      </p:pic>
      <p:pic>
        <p:nvPicPr>
          <p:cNvPr id="23" name="SK-3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62125" y="5594747"/>
            <a:ext cx="1190625" cy="209550"/>
          </a:xfrm>
          <a:prstGeom prst="rect">
            <a:avLst/>
          </a:prstGeom>
        </p:spPr>
      </p:pic>
      <p:pic>
        <p:nvPicPr>
          <p:cNvPr id="24" name="SK-3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91250" y="3757613"/>
            <a:ext cx="5429250" cy="2405063"/>
          </a:xfrm>
          <a:prstGeom prst="rect">
            <a:avLst/>
          </a:prstGeom>
        </p:spPr>
      </p:pic>
      <p:pic>
        <p:nvPicPr>
          <p:cNvPr id="25" name="SK-3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1750" y="3890962"/>
            <a:ext cx="238125" cy="190500"/>
          </a:xfrm>
          <a:prstGeom prst="rect">
            <a:avLst/>
          </a:prstGeom>
        </p:spPr>
      </p:pic>
      <p:pic>
        <p:nvPicPr>
          <p:cNvPr id="26" name="SK-3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81750" y="4446984"/>
            <a:ext cx="5048250" cy="1452563"/>
          </a:xfrm>
          <a:prstGeom prst="rect">
            <a:avLst/>
          </a:prstGeom>
        </p:spPr>
      </p:pic>
      <p:pic>
        <p:nvPicPr>
          <p:cNvPr id="27" name="SK-3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4150" y="4566493"/>
            <a:ext cx="166688" cy="137220"/>
          </a:xfrm>
          <a:prstGeom prst="rect">
            <a:avLst/>
          </a:prstGeom>
        </p:spPr>
      </p:pic>
      <p:pic>
        <p:nvPicPr>
          <p:cNvPr id="28" name="SK-3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4150" y="5594747"/>
            <a:ext cx="1609725" cy="209550"/>
          </a:xfrm>
          <a:prstGeom prst="rect">
            <a:avLst/>
          </a:prstGeom>
        </p:spPr>
      </p:pic>
      <p:pic>
        <p:nvPicPr>
          <p:cNvPr id="29" name="SK-3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20075" y="5594747"/>
            <a:ext cx="1143000" cy="209550"/>
          </a:xfrm>
          <a:prstGeom prst="rect">
            <a:avLst/>
          </a:prstGeom>
        </p:spPr>
      </p:pic>
      <p:pic>
        <p:nvPicPr>
          <p:cNvPr id="30" name="SK-3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6296025"/>
            <a:ext cx="11049000" cy="333375"/>
          </a:xfrm>
          <a:prstGeom prst="rect">
            <a:avLst/>
          </a:prstGeom>
        </p:spPr>
      </p:pic>
      <p:pic>
        <p:nvPicPr>
          <p:cNvPr id="31" name="SK-38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2000" y="6386513"/>
            <a:ext cx="190500" cy="152400"/>
          </a:xfrm>
          <a:prstGeom prst="rect">
            <a:avLst/>
          </a:prstGeom>
        </p:spPr>
      </p:pic>
      <p:sp>
        <p:nvSpPr>
          <p:cNvPr id="32" name="SK-38-text-31"/>
          <p:cNvSpPr/>
          <p:nvPr/>
        </p:nvSpPr>
        <p:spPr>
          <a:xfrm>
            <a:off x="647700" y="2286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3" name="SK-38-text-32"/>
          <p:cNvSpPr/>
          <p:nvPr/>
        </p:nvSpPr>
        <p:spPr>
          <a:xfrm>
            <a:off x="571500" y="5810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E-2. 예상 질의응답(Q&amp;A) 대비</a:t>
            </a:r>
            <a:endParaRPr lang="en-US" sz="2550" dirty="0"/>
          </a:p>
        </p:txBody>
      </p:sp>
      <p:sp>
        <p:nvSpPr>
          <p:cNvPr id="34" name="SK-38-text-33"/>
          <p:cNvSpPr/>
          <p:nvPr/>
        </p:nvSpPr>
        <p:spPr>
          <a:xfrm>
            <a:off x="1114425" y="1352550"/>
            <a:ext cx="469582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"이것은 PM의 의도적인 데이터 은폐(수박 프로젝트)가 아닌가?"</a:t>
            </a:r>
            <a:endParaRPr lang="en-US" sz="1350" dirty="0"/>
          </a:p>
        </p:txBody>
      </p:sp>
      <p:sp>
        <p:nvSpPr>
          <p:cNvPr id="35" name="SK-38-text-34"/>
          <p:cNvSpPr/>
          <p:nvPr/>
        </p:nvSpPr>
        <p:spPr>
          <a:xfrm>
            <a:off x="1157288" y="2022872"/>
            <a:ext cx="24536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</a:rPr>
              <a:t>DEFENSE STRATEGY</a:t>
            </a:r>
            <a:endParaRPr lang="en-US" sz="975" dirty="0"/>
          </a:p>
        </p:txBody>
      </p:sp>
      <p:sp>
        <p:nvSpPr>
          <p:cNvPr id="36" name="SK-38-text-35"/>
          <p:cNvSpPr/>
          <p:nvPr/>
        </p:nvSpPr>
        <p:spPr>
          <a:xfrm>
            <a:off x="914400" y="2284809"/>
            <a:ext cx="4743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악의적 은폐보다는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'구조적 맹목'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임을 강조합니다. PM이 지표를 조작한 것이 아니라, 측정 체계 자체를 Output 중심으로 설계하여 시스템이 진실을 보지 못하게 된 PMBOK 8판 원칙 4(책임감)의 실패입니다.</a:t>
            </a:r>
            <a:endParaRPr lang="en-US" sz="1125" dirty="0"/>
          </a:p>
        </p:txBody>
      </p:sp>
      <p:sp>
        <p:nvSpPr>
          <p:cNvPr id="37" name="SK-38-text-36"/>
          <p:cNvSpPr/>
          <p:nvPr/>
        </p:nvSpPr>
        <p:spPr>
          <a:xfrm>
            <a:off x="990600" y="3075384"/>
            <a:ext cx="3357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PMBOK §3.6 Accountability</a:t>
            </a:r>
            <a:endParaRPr lang="en-US" sz="900" dirty="0"/>
          </a:p>
        </p:txBody>
      </p:sp>
      <p:sp>
        <p:nvSpPr>
          <p:cNvPr id="38" name="SK-38-text-37"/>
          <p:cNvSpPr/>
          <p:nvPr/>
        </p:nvSpPr>
        <p:spPr>
          <a:xfrm>
            <a:off x="2733675" y="3075384"/>
            <a:ext cx="17211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M-01 Decision</a:t>
            </a:r>
            <a:endParaRPr lang="en-US" sz="900" dirty="0"/>
          </a:p>
        </p:txBody>
      </p:sp>
      <p:sp>
        <p:nvSpPr>
          <p:cNvPr id="39" name="SK-38-text-38"/>
          <p:cNvSpPr/>
          <p:nvPr/>
        </p:nvSpPr>
        <p:spPr>
          <a:xfrm>
            <a:off x="6734175" y="1352550"/>
            <a:ext cx="469582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Agent 도입이 인간 PM의 무능력을 완전히 대체할 수 있는가?"</a:t>
            </a:r>
            <a:endParaRPr lang="en-US" sz="1350" dirty="0"/>
          </a:p>
        </p:txBody>
      </p:sp>
      <p:sp>
        <p:nvSpPr>
          <p:cNvPr id="40" name="SK-38-text-39"/>
          <p:cNvSpPr/>
          <p:nvPr/>
        </p:nvSpPr>
        <p:spPr>
          <a:xfrm>
            <a:off x="6777038" y="2022872"/>
            <a:ext cx="24536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</a:rPr>
              <a:t>DEFENSE STRATEGY</a:t>
            </a:r>
            <a:endParaRPr lang="en-US" sz="975" dirty="0"/>
          </a:p>
        </p:txBody>
      </p:sp>
      <p:sp>
        <p:nvSpPr>
          <p:cNvPr id="41" name="SK-38-text-40"/>
          <p:cNvSpPr/>
          <p:nvPr/>
        </p:nvSpPr>
        <p:spPr>
          <a:xfrm>
            <a:off x="6534150" y="2284809"/>
            <a:ext cx="4743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대체가 아닌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'거버넌스 가드레일'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AI는 거짓말을 하지 않으나 질문을 하지 않습니다. 개선안은 AI가 지표 간 괴리를 자동으로 크로스체크하여 PM이 올바른 질문을 던지도록 강제하는 구조입니다.</a:t>
            </a:r>
            <a:endParaRPr lang="en-US" sz="1125" dirty="0"/>
          </a:p>
        </p:txBody>
      </p:sp>
      <p:sp>
        <p:nvSpPr>
          <p:cNvPr id="42" name="SK-38-text-41"/>
          <p:cNvSpPr/>
          <p:nvPr/>
        </p:nvSpPr>
        <p:spPr>
          <a:xfrm>
            <a:off x="6610350" y="3075384"/>
            <a:ext cx="35949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Architecture</a:t>
            </a:r>
            <a:endParaRPr lang="en-US" sz="900" dirty="0"/>
          </a:p>
        </p:txBody>
      </p:sp>
      <p:sp>
        <p:nvSpPr>
          <p:cNvPr id="43" name="SK-38-text-42"/>
          <p:cNvSpPr/>
          <p:nvPr/>
        </p:nvSpPr>
        <p:spPr>
          <a:xfrm>
            <a:off x="8505825" y="3075384"/>
            <a:ext cx="20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</a:t>
            </a:r>
            <a:endParaRPr lang="en-US" sz="900" dirty="0"/>
          </a:p>
        </p:txBody>
      </p:sp>
      <p:sp>
        <p:nvSpPr>
          <p:cNvPr id="44" name="SK-38-text-43"/>
          <p:cNvSpPr/>
          <p:nvPr/>
        </p:nvSpPr>
        <p:spPr>
          <a:xfrm>
            <a:off x="1114425" y="3871913"/>
            <a:ext cx="469582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16주 동안 스폰서나 리더십은 이상징후를 감지하지 못했나?"</a:t>
            </a:r>
            <a:endParaRPr lang="en-US" sz="1350" dirty="0"/>
          </a:p>
        </p:txBody>
      </p:sp>
      <p:sp>
        <p:nvSpPr>
          <p:cNvPr id="45" name="SK-38-text-44"/>
          <p:cNvSpPr/>
          <p:nvPr/>
        </p:nvSpPr>
        <p:spPr>
          <a:xfrm>
            <a:off x="1157288" y="4542234"/>
            <a:ext cx="24536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</a:rPr>
              <a:t>DEFENSE STRATEGY</a:t>
            </a:r>
            <a:endParaRPr lang="en-US" sz="975" dirty="0"/>
          </a:p>
        </p:txBody>
      </p:sp>
      <p:sp>
        <p:nvSpPr>
          <p:cNvPr id="46" name="SK-38-text-45"/>
          <p:cNvSpPr/>
          <p:nvPr/>
        </p:nvSpPr>
        <p:spPr>
          <a:xfrm>
            <a:off x="914400" y="4804172"/>
            <a:ext cx="4743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SSOT(단일 진실 원천)의 부재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'검토 없는 자동화'의 맹점 때문입니다. 주간보고에 사람의 검토/승인 단계가 누락되었고, 파일럿 데이터가 PM/스폰서에게 공유되지 않는 구조적 격리가 원인입니다.</a:t>
            </a:r>
            <a:endParaRPr lang="en-US" sz="1125" dirty="0"/>
          </a:p>
        </p:txBody>
      </p:sp>
      <p:sp>
        <p:nvSpPr>
          <p:cNvPr id="47" name="SK-38-text-46"/>
          <p:cNvSpPr/>
          <p:nvPr/>
        </p:nvSpPr>
        <p:spPr>
          <a:xfrm>
            <a:off x="990600" y="5594747"/>
            <a:ext cx="1433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16_org_raci</a:t>
            </a:r>
            <a:endParaRPr lang="en-US" sz="900" dirty="0"/>
          </a:p>
        </p:txBody>
      </p:sp>
      <p:sp>
        <p:nvSpPr>
          <p:cNvPr id="48" name="SK-38-text-47"/>
          <p:cNvSpPr/>
          <p:nvPr/>
        </p:nvSpPr>
        <p:spPr>
          <a:xfrm>
            <a:off x="1838325" y="5594747"/>
            <a:ext cx="22689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15_governance_log</a:t>
            </a:r>
            <a:endParaRPr lang="en-US" sz="900" dirty="0"/>
          </a:p>
        </p:txBody>
      </p:sp>
      <p:sp>
        <p:nvSpPr>
          <p:cNvPr id="49" name="SK-38-text-48"/>
          <p:cNvSpPr/>
          <p:nvPr/>
        </p:nvSpPr>
        <p:spPr>
          <a:xfrm>
            <a:off x="6734175" y="3871913"/>
            <a:ext cx="469582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단계에서 Outcome(편익)을 측정하는 것이 현실적으로 가능한가?"</a:t>
            </a:r>
            <a:endParaRPr lang="en-US" sz="1350" dirty="0"/>
          </a:p>
        </p:txBody>
      </p:sp>
      <p:sp>
        <p:nvSpPr>
          <p:cNvPr id="50" name="SK-38-text-49"/>
          <p:cNvSpPr/>
          <p:nvPr/>
        </p:nvSpPr>
        <p:spPr>
          <a:xfrm>
            <a:off x="6777038" y="4542234"/>
            <a:ext cx="24536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B5563"/>
                </a:solidFill>
              </a:rPr>
              <a:t>DEFENSE STRATEGY</a:t>
            </a:r>
            <a:endParaRPr lang="en-US" sz="975" dirty="0"/>
          </a:p>
        </p:txBody>
      </p:sp>
      <p:sp>
        <p:nvSpPr>
          <p:cNvPr id="51" name="SK-38-text-50"/>
          <p:cNvSpPr/>
          <p:nvPr/>
        </p:nvSpPr>
        <p:spPr>
          <a:xfrm>
            <a:off x="6534150" y="4804172"/>
            <a:ext cx="4743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편익이 아닌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'선행지표(Leading Indicators)'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측정합니다. 무개입완주율 6.1%는 계약유지율 45% 달성이 불가능함을 알리는 강력한 선행 신호이며, 이를 관리 범위에 포함하는 것이 Value-driven의 핵심입니다.</a:t>
            </a:r>
            <a:endParaRPr lang="en-US" sz="1125" dirty="0"/>
          </a:p>
        </p:txBody>
      </p:sp>
      <p:sp>
        <p:nvSpPr>
          <p:cNvPr id="52" name="SK-38-text-51"/>
          <p:cNvSpPr/>
          <p:nvPr/>
        </p:nvSpPr>
        <p:spPr>
          <a:xfrm>
            <a:off x="6610350" y="5594747"/>
            <a:ext cx="31805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 Leading Indicator Map</a:t>
            </a:r>
            <a:endParaRPr lang="en-US" sz="900" dirty="0"/>
          </a:p>
        </p:txBody>
      </p:sp>
      <p:sp>
        <p:nvSpPr>
          <p:cNvPr id="53" name="SK-38-text-52"/>
          <p:cNvSpPr/>
          <p:nvPr/>
        </p:nvSpPr>
        <p:spPr>
          <a:xfrm>
            <a:off x="8296275" y="5594747"/>
            <a:ext cx="21366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PMBOK §2.1 Value</a:t>
            </a:r>
            <a:endParaRPr lang="en-US" sz="900" dirty="0"/>
          </a:p>
        </p:txBody>
      </p:sp>
      <p:sp>
        <p:nvSpPr>
          <p:cNvPr id="54" name="SK-38-text-53"/>
          <p:cNvSpPr/>
          <p:nvPr/>
        </p:nvSpPr>
        <p:spPr>
          <a:xfrm>
            <a:off x="1066800" y="6362700"/>
            <a:ext cx="11125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9FA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답변은 프로젝트 데이터(사건번호 PMB-2026-0826)와 PMBOK 8판의 원칙에 근거하여 논리적 일관성을 유지합니다.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2026-08-26T03:11:13Z</dcterms:created>
  <dcterms:modified xsi:type="dcterms:W3CDTF">2026-08-26T03:11:13Z</dcterms:modified>
</cp:coreProperties>
</file>
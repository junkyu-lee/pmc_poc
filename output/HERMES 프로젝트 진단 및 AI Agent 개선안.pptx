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embeddedFontLst>
    <p:embeddedFont>
      <p:font typeface="Noto Sans KR"/>
      <p:regular r:id="rId201314"/>
      <p:bold r:id="rId3013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01314" Target="fonts/201314.fntdata" Type="http://schemas.openxmlformats.org/officeDocument/2006/relationships/font"/><Relationship Id="rId301314" Target="fonts/30131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image" Target="../media/image-2-23.png"/><Relationship Id="rId24" Type="http://schemas.openxmlformats.org/officeDocument/2006/relationships/image" Target="../media/image-2-24.png"/><Relationship Id="rId25" Type="http://schemas.openxmlformats.org/officeDocument/2006/relationships/image" Target="../media/image-2-25.png"/><Relationship Id="rId26" Type="http://schemas.openxmlformats.org/officeDocument/2006/relationships/image" Target="../media/image-2-26.png"/><Relationship Id="rId27" Type="http://schemas.openxmlformats.org/officeDocument/2006/relationships/image" Target="../media/image-2-27.png"/><Relationship Id="rId28" Type="http://schemas.openxmlformats.org/officeDocument/2006/relationships/image" Target="../media/image-2-28.png"/><Relationship Id="rId29" Type="http://schemas.openxmlformats.org/officeDocument/2006/relationships/image" Target="../media/image-2-29.png"/><Relationship Id="rId30" Type="http://schemas.openxmlformats.org/officeDocument/2006/relationships/image" Target="../media/image-2-30.png"/><Relationship Id="rId31" Type="http://schemas.openxmlformats.org/officeDocument/2006/relationships/image" Target="../media/image-2-31.png"/><Relationship Id="rId32" Type="http://schemas.openxmlformats.org/officeDocument/2006/relationships/image" Target="../media/image-2-32.png"/><Relationship Id="rId33" Type="http://schemas.openxmlformats.org/officeDocument/2006/relationships/image" Target="../media/image-2-33.png"/><Relationship Id="rId34" Type="http://schemas.openxmlformats.org/officeDocument/2006/relationships/image" Target="../media/image-2-34.png"/><Relationship Id="rId35" Type="http://schemas.openxmlformats.org/officeDocument/2006/relationships/image" Target="../media/image-2-35.png"/><Relationship Id="rId36" Type="http://schemas.openxmlformats.org/officeDocument/2006/relationships/image" Target="../media/image-2-36.png"/><Relationship Id="rId37" Type="http://schemas.openxmlformats.org/officeDocument/2006/relationships/image" Target="../media/image-2-37.png"/><Relationship Id="rId38" Type="http://schemas.openxmlformats.org/officeDocument/2006/relationships/image" Target="../media/image-2-38.png"/><Relationship Id="rId39" Type="http://schemas.openxmlformats.org/officeDocument/2006/relationships/image" Target="../media/image-2-39.png"/><Relationship Id="rId40" Type="http://schemas.openxmlformats.org/officeDocument/2006/relationships/image" Target="../media/image-2-40.png"/><Relationship Id="rId41" Type="http://schemas.openxmlformats.org/officeDocument/2006/relationships/image" Target="../media/image-2-41.png"/><Relationship Id="rId42" Type="http://schemas.openxmlformats.org/officeDocument/2006/relationships/image" Target="../media/image-2-42.png"/><Relationship Id="rId43" Type="http://schemas.openxmlformats.org/officeDocument/2006/relationships/image" Target="../media/image-2-43.png"/><Relationship Id="rId44" Type="http://schemas.openxmlformats.org/officeDocument/2006/relationships/image" Target="../media/image-2-44.png"/><Relationship Id="rId45" Type="http://schemas.openxmlformats.org/officeDocument/2006/relationships/image" Target="../media/image-2-45.png"/><Relationship Id="rId46" Type="http://schemas.openxmlformats.org/officeDocument/2006/relationships/image" Target="../media/image-2-46.png"/><Relationship Id="rId47" Type="http://schemas.openxmlformats.org/officeDocument/2006/relationships/image" Target="../media/image-2-47.png"/><Relationship Id="rId48" Type="http://schemas.openxmlformats.org/officeDocument/2006/relationships/image" Target="../media/image-2-48.png"/><Relationship Id="rId49" Type="http://schemas.openxmlformats.org/officeDocument/2006/relationships/image" Target="../media/image-2-49.png"/><Relationship Id="rId50" Type="http://schemas.openxmlformats.org/officeDocument/2006/relationships/image" Target="../media/image-2-50.png"/><Relationship Id="rId51" Type="http://schemas.openxmlformats.org/officeDocument/2006/relationships/image" Target="../media/image-2-51.png"/><Relationship Id="rId52" Type="http://schemas.openxmlformats.org/officeDocument/2006/relationships/image" Target="../media/image-2-52.png"/><Relationship Id="rId53" Type="http://schemas.openxmlformats.org/officeDocument/2006/relationships/image" Target="../media/image-2-53.png"/><Relationship Id="rId54" Type="http://schemas.openxmlformats.org/officeDocument/2006/relationships/image" Target="../media/image-2-54.png"/><Relationship Id="rId55" Type="http://schemas.openxmlformats.org/officeDocument/2006/relationships/image" Target="../media/image-2-55.png"/><Relationship Id="rId56" Type="http://schemas.openxmlformats.org/officeDocument/2006/relationships/image" Target="../media/image-2-56.png"/><Relationship Id="rId57" Type="http://schemas.openxmlformats.org/officeDocument/2006/relationships/slideLayout" Target="../slideLayouts/slideLayout1.xml"/><Relationship Id="rId5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image" Target="../media/image-3-25.png"/><Relationship Id="rId26" Type="http://schemas.openxmlformats.org/officeDocument/2006/relationships/image" Target="../media/image-3-26.png"/><Relationship Id="rId27" Type="http://schemas.openxmlformats.org/officeDocument/2006/relationships/image" Target="../media/image-3-27.png"/><Relationship Id="rId28" Type="http://schemas.openxmlformats.org/officeDocument/2006/relationships/image" Target="../media/image-3-28.png"/><Relationship Id="rId29" Type="http://schemas.openxmlformats.org/officeDocument/2006/relationships/image" Target="../media/image-3-29.png"/><Relationship Id="rId30" Type="http://schemas.openxmlformats.org/officeDocument/2006/relationships/image" Target="../media/image-3-30.png"/><Relationship Id="rId31" Type="http://schemas.openxmlformats.org/officeDocument/2006/relationships/slideLayout" Target="../slideLayouts/slideLayout1.xml"/><Relationship Id="rId3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image" Target="../media/image-4-22.png"/><Relationship Id="rId23" Type="http://schemas.openxmlformats.org/officeDocument/2006/relationships/image" Target="../media/image-4-23.png"/><Relationship Id="rId24" Type="http://schemas.openxmlformats.org/officeDocument/2006/relationships/image" Target="../media/image-4-24.png"/><Relationship Id="rId25" Type="http://schemas.openxmlformats.org/officeDocument/2006/relationships/image" Target="../media/image-4-25.png"/><Relationship Id="rId26" Type="http://schemas.openxmlformats.org/officeDocument/2006/relationships/image" Target="../media/image-4-26.png"/><Relationship Id="rId27" Type="http://schemas.openxmlformats.org/officeDocument/2006/relationships/image" Target="../media/image-4-27.png"/><Relationship Id="rId28" Type="http://schemas.openxmlformats.org/officeDocument/2006/relationships/image" Target="../media/image-4-28.pn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image" Target="../media/image-5-21.png"/><Relationship Id="rId22" Type="http://schemas.openxmlformats.org/officeDocument/2006/relationships/image" Target="../media/image-5-22.png"/><Relationship Id="rId23" Type="http://schemas.openxmlformats.org/officeDocument/2006/relationships/image" Target="../media/image-5-23.png"/><Relationship Id="rId24" Type="http://schemas.openxmlformats.org/officeDocument/2006/relationships/image" Target="../media/image-5-24.png"/><Relationship Id="rId25" Type="http://schemas.openxmlformats.org/officeDocument/2006/relationships/image" Target="../media/image-5-25.png"/><Relationship Id="rId26" Type="http://schemas.openxmlformats.org/officeDocument/2006/relationships/image" Target="../media/image-5-26.png"/><Relationship Id="rId27" Type="http://schemas.openxmlformats.org/officeDocument/2006/relationships/image" Target="../media/image-5-27.png"/><Relationship Id="rId28" Type="http://schemas.openxmlformats.org/officeDocument/2006/relationships/image" Target="../media/image-5-28.png"/><Relationship Id="rId29" Type="http://schemas.openxmlformats.org/officeDocument/2006/relationships/image" Target="../media/image-5-29.png"/><Relationship Id="rId30" Type="http://schemas.openxmlformats.org/officeDocument/2006/relationships/image" Target="../media/image-5-30.png"/><Relationship Id="rId31" Type="http://schemas.openxmlformats.org/officeDocument/2006/relationships/image" Target="../media/image-5-31.png"/><Relationship Id="rId32" Type="http://schemas.openxmlformats.org/officeDocument/2006/relationships/slideLayout" Target="../slideLayouts/slideLayout1.xml"/><Relationship Id="rId3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image" Target="../media/image-6-20.png"/><Relationship Id="rId21" Type="http://schemas.openxmlformats.org/officeDocument/2006/relationships/image" Target="../media/image-6-21.png"/><Relationship Id="rId22" Type="http://schemas.openxmlformats.org/officeDocument/2006/relationships/image" Target="../media/image-6-22.png"/><Relationship Id="rId23" Type="http://schemas.openxmlformats.org/officeDocument/2006/relationships/image" Target="../media/image-6-23.png"/><Relationship Id="rId24" Type="http://schemas.openxmlformats.org/officeDocument/2006/relationships/image" Target="../media/image-6-24.png"/><Relationship Id="rId25" Type="http://schemas.openxmlformats.org/officeDocument/2006/relationships/image" Target="../media/image-6-25.png"/><Relationship Id="rId26" Type="http://schemas.openxmlformats.org/officeDocument/2006/relationships/image" Target="../media/image-6-26.png"/><Relationship Id="rId27" Type="http://schemas.openxmlformats.org/officeDocument/2006/relationships/image" Target="../media/image-6-27.png"/><Relationship Id="rId28" Type="http://schemas.openxmlformats.org/officeDocument/2006/relationships/image" Target="../media/image-6-28.png"/><Relationship Id="rId29" Type="http://schemas.openxmlformats.org/officeDocument/2006/relationships/image" Target="../media/image-6-29.png"/><Relationship Id="rId30" Type="http://schemas.openxmlformats.org/officeDocument/2006/relationships/image" Target="../media/image-6-30.png"/><Relationship Id="rId31" Type="http://schemas.openxmlformats.org/officeDocument/2006/relationships/image" Target="../media/image-6-31.png"/><Relationship Id="rId32" Type="http://schemas.openxmlformats.org/officeDocument/2006/relationships/image" Target="../media/image-6-32.png"/><Relationship Id="rId33" Type="http://schemas.openxmlformats.org/officeDocument/2006/relationships/image" Target="../media/image-6-33.png"/><Relationship Id="rId34" Type="http://schemas.openxmlformats.org/officeDocument/2006/relationships/image" Target="../media/image-6-34.png"/><Relationship Id="rId35" Type="http://schemas.openxmlformats.org/officeDocument/2006/relationships/slideLayout" Target="../slideLayouts/slideLayout1.xml"/><Relationship Id="rId3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image" Target="../media/image-7-20.png"/><Relationship Id="rId21" Type="http://schemas.openxmlformats.org/officeDocument/2006/relationships/image" Target="../media/image-7-21.png"/><Relationship Id="rId22" Type="http://schemas.openxmlformats.org/officeDocument/2006/relationships/image" Target="../media/image-7-22.png"/><Relationship Id="rId23" Type="http://schemas.openxmlformats.org/officeDocument/2006/relationships/image" Target="../media/image-7-23.png"/><Relationship Id="rId24" Type="http://schemas.openxmlformats.org/officeDocument/2006/relationships/image" Target="../media/image-7-24.png"/><Relationship Id="rId25" Type="http://schemas.openxmlformats.org/officeDocument/2006/relationships/image" Target="../media/image-7-25.png"/><Relationship Id="rId26" Type="http://schemas.openxmlformats.org/officeDocument/2006/relationships/image" Target="../media/image-7-26.png"/><Relationship Id="rId27" Type="http://schemas.openxmlformats.org/officeDocument/2006/relationships/image" Target="../media/image-7-27.png"/><Relationship Id="rId28" Type="http://schemas.openxmlformats.org/officeDocument/2006/relationships/image" Target="../media/image-7-28.png"/><Relationship Id="rId29" Type="http://schemas.openxmlformats.org/officeDocument/2006/relationships/image" Target="../media/image-7-29.png"/><Relationship Id="rId30" Type="http://schemas.openxmlformats.org/officeDocument/2006/relationships/image" Target="../media/image-7-30.png"/><Relationship Id="rId31" Type="http://schemas.openxmlformats.org/officeDocument/2006/relationships/image" Target="../media/image-7-31.png"/><Relationship Id="rId32" Type="http://schemas.openxmlformats.org/officeDocument/2006/relationships/slideLayout" Target="../slideLayouts/slideLayout1.xml"/><Relationship Id="rId3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image" Target="../media/image-8-20.png"/><Relationship Id="rId21" Type="http://schemas.openxmlformats.org/officeDocument/2006/relationships/image" Target="../media/image-8-21.png"/><Relationship Id="rId22" Type="http://schemas.openxmlformats.org/officeDocument/2006/relationships/image" Target="../media/image-8-22.png"/><Relationship Id="rId23" Type="http://schemas.openxmlformats.org/officeDocument/2006/relationships/image" Target="../media/image-8-23.png"/><Relationship Id="rId24" Type="http://schemas.openxmlformats.org/officeDocument/2006/relationships/image" Target="../media/image-8-24.png"/><Relationship Id="rId25" Type="http://schemas.openxmlformats.org/officeDocument/2006/relationships/image" Target="../media/image-8-25.png"/><Relationship Id="rId26" Type="http://schemas.openxmlformats.org/officeDocument/2006/relationships/image" Target="../media/image-8-26.png"/><Relationship Id="rId27" Type="http://schemas.openxmlformats.org/officeDocument/2006/relationships/image" Target="../media/image-8-27.png"/><Relationship Id="rId28" Type="http://schemas.openxmlformats.org/officeDocument/2006/relationships/image" Target="../media/image-8-28.png"/><Relationship Id="rId29" Type="http://schemas.openxmlformats.org/officeDocument/2006/relationships/image" Target="../media/image-8-29.png"/><Relationship Id="rId30" Type="http://schemas.openxmlformats.org/officeDocument/2006/relationships/image" Target="../media/image-8-30.png"/><Relationship Id="rId31" Type="http://schemas.openxmlformats.org/officeDocument/2006/relationships/image" Target="../media/image-8-31.png"/><Relationship Id="rId32" Type="http://schemas.openxmlformats.org/officeDocument/2006/relationships/image" Target="../media/image-8-32.png"/><Relationship Id="rId33" Type="http://schemas.openxmlformats.org/officeDocument/2006/relationships/image" Target="../media/image-8-33.png"/><Relationship Id="rId34" Type="http://schemas.openxmlformats.org/officeDocument/2006/relationships/image" Target="../media/image-8-34.png"/><Relationship Id="rId35" Type="http://schemas.openxmlformats.org/officeDocument/2006/relationships/image" Target="../media/image-8-35.png"/><Relationship Id="rId36" Type="http://schemas.openxmlformats.org/officeDocument/2006/relationships/image" Target="../media/image-8-36.png"/><Relationship Id="rId37" Type="http://schemas.openxmlformats.org/officeDocument/2006/relationships/image" Target="../media/image-8-37.png"/><Relationship Id="rId38" Type="http://schemas.openxmlformats.org/officeDocument/2006/relationships/image" Target="../media/image-8-38.png"/><Relationship Id="rId39" Type="http://schemas.openxmlformats.org/officeDocument/2006/relationships/image" Target="../media/image-8-39.png"/><Relationship Id="rId40" Type="http://schemas.openxmlformats.org/officeDocument/2006/relationships/image" Target="../media/image-8-40.png"/><Relationship Id="rId41" Type="http://schemas.openxmlformats.org/officeDocument/2006/relationships/slideLayout" Target="../slideLayouts/slideLayout1.xml"/><Relationship Id="rId4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image" Target="../media/image-9-19.png"/><Relationship Id="rId20" Type="http://schemas.openxmlformats.org/officeDocument/2006/relationships/image" Target="../media/image-9-20.png"/><Relationship Id="rId21" Type="http://schemas.openxmlformats.org/officeDocument/2006/relationships/image" Target="../media/image-9-21.png"/><Relationship Id="rId22" Type="http://schemas.openxmlformats.org/officeDocument/2006/relationships/image" Target="../media/image-9-22.png"/><Relationship Id="rId23" Type="http://schemas.openxmlformats.org/officeDocument/2006/relationships/image" Target="../media/image-9-23.png"/><Relationship Id="rId24" Type="http://schemas.openxmlformats.org/officeDocument/2006/relationships/image" Target="../media/image-9-24.png"/><Relationship Id="rId25" Type="http://schemas.openxmlformats.org/officeDocument/2006/relationships/image" Target="../media/image-9-25.png"/><Relationship Id="rId26" Type="http://schemas.openxmlformats.org/officeDocument/2006/relationships/image" Target="../media/image-9-26.png"/><Relationship Id="rId27" Type="http://schemas.openxmlformats.org/officeDocument/2006/relationships/image" Target="../media/image-9-27.png"/><Relationship Id="rId28" Type="http://schemas.openxmlformats.org/officeDocument/2006/relationships/image" Target="../media/image-9-28.png"/><Relationship Id="rId29" Type="http://schemas.openxmlformats.org/officeDocument/2006/relationships/image" Target="../media/image-9-29.png"/><Relationship Id="rId30" Type="http://schemas.openxmlformats.org/officeDocument/2006/relationships/image" Target="../media/image-9-30.png"/><Relationship Id="rId31" Type="http://schemas.openxmlformats.org/officeDocument/2006/relationships/image" Target="../media/image-9-31.png"/><Relationship Id="rId32" Type="http://schemas.openxmlformats.org/officeDocument/2006/relationships/image" Target="../media/image-9-32.png"/><Relationship Id="rId33" Type="http://schemas.openxmlformats.org/officeDocument/2006/relationships/image" Target="../media/image-9-33.png"/><Relationship Id="rId34" Type="http://schemas.openxmlformats.org/officeDocument/2006/relationships/image" Target="../media/image-9-34.png"/><Relationship Id="rId35" Type="http://schemas.openxmlformats.org/officeDocument/2006/relationships/image" Target="../media/image-9-35.png"/><Relationship Id="rId36" Type="http://schemas.openxmlformats.org/officeDocument/2006/relationships/slideLayout" Target="../slideLayouts/slideLayout1.xml"/><Relationship Id="rId3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png"/><Relationship Id="rId19" Type="http://schemas.openxmlformats.org/officeDocument/2006/relationships/image" Target="../media/image-10-19.png"/><Relationship Id="rId20" Type="http://schemas.openxmlformats.org/officeDocument/2006/relationships/image" Target="../media/image-10-20.png"/><Relationship Id="rId21" Type="http://schemas.openxmlformats.org/officeDocument/2006/relationships/image" Target="../media/image-10-21.png"/><Relationship Id="rId22" Type="http://schemas.openxmlformats.org/officeDocument/2006/relationships/image" Target="../media/image-10-22.png"/><Relationship Id="rId23" Type="http://schemas.openxmlformats.org/officeDocument/2006/relationships/image" Target="../media/image-10-23.png"/><Relationship Id="rId24" Type="http://schemas.openxmlformats.org/officeDocument/2006/relationships/image" Target="../media/image-10-24.png"/><Relationship Id="rId25" Type="http://schemas.openxmlformats.org/officeDocument/2006/relationships/image" Target="../media/image-10-25.png"/><Relationship Id="rId26" Type="http://schemas.openxmlformats.org/officeDocument/2006/relationships/image" Target="../media/image-10-26.png"/><Relationship Id="rId27" Type="http://schemas.openxmlformats.org/officeDocument/2006/relationships/image" Target="../media/image-10-27.png"/><Relationship Id="rId28" Type="http://schemas.openxmlformats.org/officeDocument/2006/relationships/image" Target="../media/image-10-28.png"/><Relationship Id="rId29" Type="http://schemas.openxmlformats.org/officeDocument/2006/relationships/image" Target="../media/image-10-29.png"/><Relationship Id="rId30" Type="http://schemas.openxmlformats.org/officeDocument/2006/relationships/image" Target="../media/image-10-30.png"/><Relationship Id="rId31" Type="http://schemas.openxmlformats.org/officeDocument/2006/relationships/image" Target="../media/image-10-31.png"/><Relationship Id="rId32" Type="http://schemas.openxmlformats.org/officeDocument/2006/relationships/image" Target="../media/image-10-32.png"/><Relationship Id="rId33" Type="http://schemas.openxmlformats.org/officeDocument/2006/relationships/image" Target="../media/image-10-33.png"/><Relationship Id="rId34" Type="http://schemas.openxmlformats.org/officeDocument/2006/relationships/image" Target="../media/image-10-34.png"/><Relationship Id="rId35" Type="http://schemas.openxmlformats.org/officeDocument/2006/relationships/image" Target="../media/image-10-35.png"/><Relationship Id="rId36" Type="http://schemas.openxmlformats.org/officeDocument/2006/relationships/image" Target="../media/image-10-36.png"/><Relationship Id="rId37" Type="http://schemas.openxmlformats.org/officeDocument/2006/relationships/image" Target="../media/image-10-37.png"/><Relationship Id="rId38" Type="http://schemas.openxmlformats.org/officeDocument/2006/relationships/image" Target="../media/image-10-38.png"/><Relationship Id="rId39" Type="http://schemas.openxmlformats.org/officeDocument/2006/relationships/image" Target="../media/image-10-39.png"/><Relationship Id="rId40" Type="http://schemas.openxmlformats.org/officeDocument/2006/relationships/image" Target="../media/image-10-40.png"/><Relationship Id="rId41" Type="http://schemas.openxmlformats.org/officeDocument/2006/relationships/image" Target="../media/image-10-41.png"/><Relationship Id="rId42" Type="http://schemas.openxmlformats.org/officeDocument/2006/relationships/image" Target="../media/image-10-42.png"/><Relationship Id="rId43" Type="http://schemas.openxmlformats.org/officeDocument/2006/relationships/image" Target="../media/image-10-43.png"/><Relationship Id="rId44" Type="http://schemas.openxmlformats.org/officeDocument/2006/relationships/image" Target="../media/image-10-44.png"/><Relationship Id="rId45" Type="http://schemas.openxmlformats.org/officeDocument/2006/relationships/image" Target="../media/image-10-45.png"/><Relationship Id="rId46" Type="http://schemas.openxmlformats.org/officeDocument/2006/relationships/image" Target="../media/image-10-46.png"/><Relationship Id="rId47" Type="http://schemas.openxmlformats.org/officeDocument/2006/relationships/image" Target="../media/image-10-47.png"/><Relationship Id="rId48" Type="http://schemas.openxmlformats.org/officeDocument/2006/relationships/image" Target="../media/image-10-48.png"/><Relationship Id="rId49" Type="http://schemas.openxmlformats.org/officeDocument/2006/relationships/slideLayout" Target="../slideLayouts/slideLayout1.xml"/><Relationship Id="rId5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image" Target="../media/image-11-17.png"/><Relationship Id="rId18" Type="http://schemas.openxmlformats.org/officeDocument/2006/relationships/image" Target="../media/image-11-18.png"/><Relationship Id="rId19" Type="http://schemas.openxmlformats.org/officeDocument/2006/relationships/image" Target="../media/image-11-19.png"/><Relationship Id="rId20" Type="http://schemas.openxmlformats.org/officeDocument/2006/relationships/image" Target="../media/image-11-20.png"/><Relationship Id="rId21" Type="http://schemas.openxmlformats.org/officeDocument/2006/relationships/image" Target="../media/image-11-21.png"/><Relationship Id="rId22" Type="http://schemas.openxmlformats.org/officeDocument/2006/relationships/image" Target="../media/image-11-22.png"/><Relationship Id="rId23" Type="http://schemas.openxmlformats.org/officeDocument/2006/relationships/image" Target="../media/image-11-23.png"/><Relationship Id="rId24" Type="http://schemas.openxmlformats.org/officeDocument/2006/relationships/image" Target="../media/image-11-24.png"/><Relationship Id="rId25" Type="http://schemas.openxmlformats.org/officeDocument/2006/relationships/image" Target="../media/image-11-25.png"/><Relationship Id="rId26" Type="http://schemas.openxmlformats.org/officeDocument/2006/relationships/image" Target="../media/image-11-26.png"/><Relationship Id="rId27" Type="http://schemas.openxmlformats.org/officeDocument/2006/relationships/image" Target="../media/image-11-27.png"/><Relationship Id="rId28" Type="http://schemas.openxmlformats.org/officeDocument/2006/relationships/image" Target="../media/image-11-28.png"/><Relationship Id="rId29" Type="http://schemas.openxmlformats.org/officeDocument/2006/relationships/image" Target="../media/image-11-29.png"/><Relationship Id="rId30" Type="http://schemas.openxmlformats.org/officeDocument/2006/relationships/image" Target="../media/image-11-30.png"/><Relationship Id="rId31" Type="http://schemas.openxmlformats.org/officeDocument/2006/relationships/image" Target="../media/image-11-31.png"/><Relationship Id="rId32" Type="http://schemas.openxmlformats.org/officeDocument/2006/relationships/image" Target="../media/image-11-32.png"/><Relationship Id="rId33" Type="http://schemas.openxmlformats.org/officeDocument/2006/relationships/image" Target="../media/image-11-33.png"/><Relationship Id="rId34" Type="http://schemas.openxmlformats.org/officeDocument/2006/relationships/image" Target="../media/image-11-34.png"/><Relationship Id="rId35" Type="http://schemas.openxmlformats.org/officeDocument/2006/relationships/image" Target="../media/image-11-35.png"/><Relationship Id="rId36" Type="http://schemas.openxmlformats.org/officeDocument/2006/relationships/image" Target="../media/image-11-36.png"/><Relationship Id="rId37" Type="http://schemas.openxmlformats.org/officeDocument/2006/relationships/image" Target="../media/image-11-37.png"/><Relationship Id="rId38" Type="http://schemas.openxmlformats.org/officeDocument/2006/relationships/image" Target="../media/image-11-38.png"/><Relationship Id="rId39" Type="http://schemas.openxmlformats.org/officeDocument/2006/relationships/image" Target="../media/image-11-39.png"/><Relationship Id="rId40" Type="http://schemas.openxmlformats.org/officeDocument/2006/relationships/image" Target="../media/image-11-40.png"/><Relationship Id="rId41" Type="http://schemas.openxmlformats.org/officeDocument/2006/relationships/image" Target="../media/image-11-41.png"/><Relationship Id="rId42" Type="http://schemas.openxmlformats.org/officeDocument/2006/relationships/image" Target="../media/image-11-42.png"/><Relationship Id="rId43" Type="http://schemas.openxmlformats.org/officeDocument/2006/relationships/image" Target="../media/image-11-43.png"/><Relationship Id="rId44" Type="http://schemas.openxmlformats.org/officeDocument/2006/relationships/slideLayout" Target="../slideLayouts/slideLayout1.xml"/><Relationship Id="rId4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pn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png"/><Relationship Id="rId17" Type="http://schemas.openxmlformats.org/officeDocument/2006/relationships/image" Target="../media/image-12-17.png"/><Relationship Id="rId18" Type="http://schemas.openxmlformats.org/officeDocument/2006/relationships/image" Target="../media/image-12-18.png"/><Relationship Id="rId19" Type="http://schemas.openxmlformats.org/officeDocument/2006/relationships/image" Target="../media/image-12-19.png"/><Relationship Id="rId20" Type="http://schemas.openxmlformats.org/officeDocument/2006/relationships/image" Target="../media/image-12-20.png"/><Relationship Id="rId21" Type="http://schemas.openxmlformats.org/officeDocument/2006/relationships/image" Target="../media/image-12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image" Target="../media/image-13-15.png"/><Relationship Id="rId16" Type="http://schemas.openxmlformats.org/officeDocument/2006/relationships/image" Target="../media/image-13-16.png"/><Relationship Id="rId17" Type="http://schemas.openxmlformats.org/officeDocument/2006/relationships/image" Target="../media/image-13-17.png"/><Relationship Id="rId18" Type="http://schemas.openxmlformats.org/officeDocument/2006/relationships/image" Target="../media/image-13-18.png"/><Relationship Id="rId19" Type="http://schemas.openxmlformats.org/officeDocument/2006/relationships/image" Target="../media/image-13-19.png"/><Relationship Id="rId20" Type="http://schemas.openxmlformats.org/officeDocument/2006/relationships/image" Target="../media/image-13-20.png"/><Relationship Id="rId21" Type="http://schemas.openxmlformats.org/officeDocument/2006/relationships/image" Target="../media/image-13-21.png"/><Relationship Id="rId22" Type="http://schemas.openxmlformats.org/officeDocument/2006/relationships/image" Target="../media/image-13-22.png"/><Relationship Id="rId23" Type="http://schemas.openxmlformats.org/officeDocument/2006/relationships/image" Target="../media/image-13-23.png"/><Relationship Id="rId24" Type="http://schemas.openxmlformats.org/officeDocument/2006/relationships/image" Target="../media/image-13-24.png"/><Relationship Id="rId25" Type="http://schemas.openxmlformats.org/officeDocument/2006/relationships/image" Target="../media/image-13-25.png"/><Relationship Id="rId26" Type="http://schemas.openxmlformats.org/officeDocument/2006/relationships/image" Target="../media/image-13-26.png"/><Relationship Id="rId27" Type="http://schemas.openxmlformats.org/officeDocument/2006/relationships/image" Target="../media/image-13-27.png"/><Relationship Id="rId28" Type="http://schemas.openxmlformats.org/officeDocument/2006/relationships/image" Target="../media/image-13-28.png"/><Relationship Id="rId29" Type="http://schemas.openxmlformats.org/officeDocument/2006/relationships/image" Target="../media/image-13-29.png"/><Relationship Id="rId30" Type="http://schemas.openxmlformats.org/officeDocument/2006/relationships/image" Target="../media/image-13-30.png"/><Relationship Id="rId31" Type="http://schemas.openxmlformats.org/officeDocument/2006/relationships/image" Target="../media/image-13-31.png"/><Relationship Id="rId32" Type="http://schemas.openxmlformats.org/officeDocument/2006/relationships/image" Target="../media/image-13-32.png"/><Relationship Id="rId33" Type="http://schemas.openxmlformats.org/officeDocument/2006/relationships/image" Target="../media/image-13-33.png"/><Relationship Id="rId34" Type="http://schemas.openxmlformats.org/officeDocument/2006/relationships/image" Target="../media/image-13-34.png"/><Relationship Id="rId35" Type="http://schemas.openxmlformats.org/officeDocument/2006/relationships/image" Target="../media/image-13-35.png"/><Relationship Id="rId36" Type="http://schemas.openxmlformats.org/officeDocument/2006/relationships/image" Target="../media/image-13-36.png"/><Relationship Id="rId37" Type="http://schemas.openxmlformats.org/officeDocument/2006/relationships/image" Target="../media/image-13-37.png"/><Relationship Id="rId38" Type="http://schemas.openxmlformats.org/officeDocument/2006/relationships/image" Target="../media/image-13-38.png"/><Relationship Id="rId39" Type="http://schemas.openxmlformats.org/officeDocument/2006/relationships/image" Target="../media/image-13-39.png"/><Relationship Id="rId40" Type="http://schemas.openxmlformats.org/officeDocument/2006/relationships/image" Target="../media/image-13-40.png"/><Relationship Id="rId41" Type="http://schemas.openxmlformats.org/officeDocument/2006/relationships/image" Target="../media/image-13-41.png"/><Relationship Id="rId42" Type="http://schemas.openxmlformats.org/officeDocument/2006/relationships/image" Target="../media/image-13-42.png"/><Relationship Id="rId43" Type="http://schemas.openxmlformats.org/officeDocument/2006/relationships/slideLayout" Target="../slideLayouts/slideLayout1.xml"/><Relationship Id="rId4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png"/><Relationship Id="rId15" Type="http://schemas.openxmlformats.org/officeDocument/2006/relationships/image" Target="../media/image-14-15.png"/><Relationship Id="rId16" Type="http://schemas.openxmlformats.org/officeDocument/2006/relationships/image" Target="../media/image-14-16.png"/><Relationship Id="rId17" Type="http://schemas.openxmlformats.org/officeDocument/2006/relationships/image" Target="../media/image-14-17.png"/><Relationship Id="rId18" Type="http://schemas.openxmlformats.org/officeDocument/2006/relationships/image" Target="../media/image-14-18.png"/><Relationship Id="rId19" Type="http://schemas.openxmlformats.org/officeDocument/2006/relationships/image" Target="../media/image-14-19.png"/><Relationship Id="rId20" Type="http://schemas.openxmlformats.org/officeDocument/2006/relationships/image" Target="../media/image-14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png"/><Relationship Id="rId13" Type="http://schemas.openxmlformats.org/officeDocument/2006/relationships/image" Target="../media/image-15-13.png"/><Relationship Id="rId14" Type="http://schemas.openxmlformats.org/officeDocument/2006/relationships/image" Target="../media/image-15-14.png"/><Relationship Id="rId15" Type="http://schemas.openxmlformats.org/officeDocument/2006/relationships/image" Target="../media/image-15-15.png"/><Relationship Id="rId16" Type="http://schemas.openxmlformats.org/officeDocument/2006/relationships/image" Target="../media/image-15-16.png"/><Relationship Id="rId17" Type="http://schemas.openxmlformats.org/officeDocument/2006/relationships/image" Target="../media/image-15-17.png"/><Relationship Id="rId18" Type="http://schemas.openxmlformats.org/officeDocument/2006/relationships/image" Target="../media/image-15-18.png"/><Relationship Id="rId19" Type="http://schemas.openxmlformats.org/officeDocument/2006/relationships/image" Target="../media/image-15-19.png"/><Relationship Id="rId20" Type="http://schemas.openxmlformats.org/officeDocument/2006/relationships/image" Target="../media/image-15-20.png"/><Relationship Id="rId21" Type="http://schemas.openxmlformats.org/officeDocument/2006/relationships/image" Target="../media/image-15-21.png"/><Relationship Id="rId22" Type="http://schemas.openxmlformats.org/officeDocument/2006/relationships/image" Target="../media/image-15-22.png"/><Relationship Id="rId23" Type="http://schemas.openxmlformats.org/officeDocument/2006/relationships/image" Target="../media/image-15-2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762000"/>
            <a:ext cx="3432870" cy="342900"/>
          </a:xfrm>
          <a:prstGeom prst="rect">
            <a:avLst/>
          </a:prstGeom>
        </p:spPr>
      </p:pic>
      <p:sp>
        <p:nvSpPr>
          <p:cNvPr id="5" name="SK-1-text-4"/>
          <p:cNvSpPr/>
          <p:nvPr/>
        </p:nvSpPr>
        <p:spPr>
          <a:xfrm>
            <a:off x="876300" y="762000"/>
            <a:ext cx="50265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spc="96" kern="0" dirty="0">
                <a:solidFill>
                  <a:srgbClr val="005AEE"/>
                </a:solidFill>
              </a:rPr>
              <a:t>DIAGNOSTIC &amp; STRATEGIC REPORT</a:t>
            </a:r>
            <a:endParaRPr lang="en-US" sz="1200" dirty="0"/>
          </a:p>
        </p:txBody>
      </p:sp>
      <p:sp>
        <p:nvSpPr>
          <p:cNvPr id="6" name="SK-1-text-5"/>
          <p:cNvSpPr/>
          <p:nvPr/>
        </p:nvSpPr>
        <p:spPr>
          <a:xfrm>
            <a:off x="762000" y="2381250"/>
            <a:ext cx="9601200" cy="142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5610"/>
              </a:lnSpc>
              <a:buNone/>
            </a:pPr>
            <a:r>
              <a:rPr lang="en-US" sz="5100" b="1" spc="-122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HERMES 프로젝트 진단 및</a:t>
            </a:r>
            <a:endParaRPr lang="en-US" sz="5100" dirty="0"/>
          </a:p>
          <a:p>
            <a:pPr indent="0" marL="0">
              <a:lnSpc>
                <a:spcPts val="5610"/>
              </a:lnSpc>
              <a:buNone/>
            </a:pPr>
            <a:r>
              <a:rPr lang="en-US" sz="5100" b="1" spc="-122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Agent 개선안</a:t>
            </a:r>
            <a:endParaRPr lang="en-US" sz="5100" dirty="0"/>
          </a:p>
        </p:txBody>
      </p:sp>
      <p:sp>
        <p:nvSpPr>
          <p:cNvPr id="7" name="SK-1-text-6"/>
          <p:cNvSpPr/>
          <p:nvPr/>
        </p:nvSpPr>
        <p:spPr>
          <a:xfrm>
            <a:off x="762000" y="4034730"/>
            <a:ext cx="10908030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730"/>
              </a:lnSpc>
              <a:buNone/>
            </a:pPr>
            <a:r>
              <a:rPr lang="en-US" sz="2100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SW PM Competition 2026 본선 발표</a:t>
            </a:r>
            <a:endParaRPr lang="en-US" sz="2100" dirty="0"/>
          </a:p>
        </p:txBody>
      </p:sp>
      <p:sp>
        <p:nvSpPr>
          <p:cNvPr id="8" name="SK-1-text-7"/>
          <p:cNvSpPr/>
          <p:nvPr/>
        </p:nvSpPr>
        <p:spPr>
          <a:xfrm>
            <a:off x="762000" y="5657701"/>
            <a:ext cx="15849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spc="36" kern="0" dirty="0">
                <a:solidFill>
                  <a:srgbClr val="9CA3AF"/>
                </a:solidFill>
              </a:rPr>
              <a:t>CASE NUMBER</a:t>
            </a:r>
            <a:endParaRPr lang="en-US" sz="900" dirty="0"/>
          </a:p>
        </p:txBody>
      </p:sp>
      <p:sp>
        <p:nvSpPr>
          <p:cNvPr id="9" name="SK-1-text-8"/>
          <p:cNvSpPr/>
          <p:nvPr/>
        </p:nvSpPr>
        <p:spPr>
          <a:xfrm>
            <a:off x="762000" y="5867251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</a:rPr>
              <a:t>PMB-2026-0826</a:t>
            </a:r>
            <a:endParaRPr lang="en-US" sz="1200" dirty="0"/>
          </a:p>
        </p:txBody>
      </p:sp>
      <p:sp>
        <p:nvSpPr>
          <p:cNvPr id="10" name="SK-1-text-9"/>
          <p:cNvSpPr/>
          <p:nvPr/>
        </p:nvSpPr>
        <p:spPr>
          <a:xfrm>
            <a:off x="2381250" y="5657701"/>
            <a:ext cx="1219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spc="36" kern="0" dirty="0">
                <a:solidFill>
                  <a:srgbClr val="9CA3AF"/>
                </a:solidFill>
              </a:rPr>
              <a:t>DATE</a:t>
            </a:r>
            <a:endParaRPr lang="en-US" sz="900" dirty="0"/>
          </a:p>
        </p:txBody>
      </p:sp>
      <p:sp>
        <p:nvSpPr>
          <p:cNvPr id="11" name="SK-1-text-10"/>
          <p:cNvSpPr/>
          <p:nvPr/>
        </p:nvSpPr>
        <p:spPr>
          <a:xfrm>
            <a:off x="2381250" y="5867251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</a:rPr>
              <a:t>2026. 08. 26</a:t>
            </a:r>
            <a:endParaRPr lang="en-US" sz="1200" dirty="0"/>
          </a:p>
        </p:txBody>
      </p:sp>
      <p:sp>
        <p:nvSpPr>
          <p:cNvPr id="12" name="SK-1-text-11"/>
          <p:cNvSpPr/>
          <p:nvPr/>
        </p:nvSpPr>
        <p:spPr>
          <a:xfrm>
            <a:off x="3905250" y="5657701"/>
            <a:ext cx="25527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spc="36" kern="0" dirty="0">
                <a:solidFill>
                  <a:srgbClr val="9CA3AF"/>
                </a:solidFill>
              </a:rPr>
              <a:t>FOCUS AREA</a:t>
            </a:r>
            <a:endParaRPr lang="en-US" sz="900" dirty="0"/>
          </a:p>
        </p:txBody>
      </p:sp>
      <p:sp>
        <p:nvSpPr>
          <p:cNvPr id="13" name="SK-1-text-12"/>
          <p:cNvSpPr/>
          <p:nvPr/>
        </p:nvSpPr>
        <p:spPr>
          <a:xfrm>
            <a:off x="3905250" y="5867251"/>
            <a:ext cx="4831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</a:rPr>
              <a:t>Value-Driven AI Governance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4800"/>
            <a:ext cx="2122289" cy="276225"/>
          </a:xfrm>
          <a:prstGeom prst="rect">
            <a:avLst/>
          </a:prstGeom>
        </p:spPr>
      </p:pic>
      <p:pic>
        <p:nvPicPr>
          <p:cNvPr id="4" name="SK-2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8089" y="438150"/>
            <a:ext cx="8812411" cy="9525"/>
          </a:xfrm>
          <a:prstGeom prst="rect">
            <a:avLst/>
          </a:prstGeom>
        </p:spPr>
      </p:pic>
      <p:pic>
        <p:nvPicPr>
          <p:cNvPr id="5" name="SK-2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412528"/>
            <a:ext cx="214313" cy="175320"/>
          </a:xfrm>
          <a:prstGeom prst="rect">
            <a:avLst/>
          </a:prstGeom>
        </p:spPr>
      </p:pic>
      <p:pic>
        <p:nvPicPr>
          <p:cNvPr id="6" name="SK-2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752600"/>
            <a:ext cx="11049000" cy="4800600"/>
          </a:xfrm>
          <a:prstGeom prst="rect">
            <a:avLst/>
          </a:prstGeom>
        </p:spPr>
      </p:pic>
      <p:pic>
        <p:nvPicPr>
          <p:cNvPr id="7" name="SK-2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752600"/>
            <a:ext cx="409129" cy="390525"/>
          </a:xfrm>
          <a:prstGeom prst="rect">
            <a:avLst/>
          </a:prstGeom>
        </p:spPr>
      </p:pic>
      <p:pic>
        <p:nvPicPr>
          <p:cNvPr id="8" name="SK-2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0629" y="1752600"/>
            <a:ext cx="2250579" cy="390525"/>
          </a:xfrm>
          <a:prstGeom prst="rect">
            <a:avLst/>
          </a:prstGeom>
        </p:spPr>
      </p:pic>
      <p:pic>
        <p:nvPicPr>
          <p:cNvPr id="9" name="SK-2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31207" y="1752600"/>
            <a:ext cx="2659856" cy="390525"/>
          </a:xfrm>
          <a:prstGeom prst="rect">
            <a:avLst/>
          </a:prstGeom>
        </p:spPr>
      </p:pic>
      <p:pic>
        <p:nvPicPr>
          <p:cNvPr id="10" name="SK-2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91064" y="1752600"/>
            <a:ext cx="3273772" cy="390525"/>
          </a:xfrm>
          <a:prstGeom prst="rect">
            <a:avLst/>
          </a:prstGeom>
        </p:spPr>
      </p:pic>
      <p:pic>
        <p:nvPicPr>
          <p:cNvPr id="11" name="SK-2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64836" y="1752600"/>
            <a:ext cx="2455664" cy="390525"/>
          </a:xfrm>
          <a:prstGeom prst="rect">
            <a:avLst/>
          </a:prstGeom>
        </p:spPr>
      </p:pic>
      <p:pic>
        <p:nvPicPr>
          <p:cNvPr id="12" name="SK-2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2143125"/>
            <a:ext cx="409129" cy="393055"/>
          </a:xfrm>
          <a:prstGeom prst="rect">
            <a:avLst/>
          </a:prstGeom>
        </p:spPr>
      </p:pic>
      <p:pic>
        <p:nvPicPr>
          <p:cNvPr id="13" name="SK-2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0629" y="2143125"/>
            <a:ext cx="2250579" cy="393055"/>
          </a:xfrm>
          <a:prstGeom prst="rect">
            <a:avLst/>
          </a:prstGeom>
        </p:spPr>
      </p:pic>
      <p:pic>
        <p:nvPicPr>
          <p:cNvPr id="14" name="SK-2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31207" y="2143125"/>
            <a:ext cx="2659856" cy="393055"/>
          </a:xfrm>
          <a:prstGeom prst="rect">
            <a:avLst/>
          </a:prstGeom>
        </p:spPr>
      </p:pic>
      <p:pic>
        <p:nvPicPr>
          <p:cNvPr id="15" name="SK-2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891064" y="2143125"/>
            <a:ext cx="3273772" cy="393055"/>
          </a:xfrm>
          <a:prstGeom prst="rect">
            <a:avLst/>
          </a:prstGeom>
        </p:spPr>
      </p:pic>
      <p:pic>
        <p:nvPicPr>
          <p:cNvPr id="16" name="SK-2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64836" y="2143125"/>
            <a:ext cx="2455664" cy="393055"/>
          </a:xfrm>
          <a:prstGeom prst="rect">
            <a:avLst/>
          </a:prstGeom>
        </p:spPr>
      </p:pic>
      <p:pic>
        <p:nvPicPr>
          <p:cNvPr id="17" name="SK-2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1500" y="2536180"/>
            <a:ext cx="409129" cy="539055"/>
          </a:xfrm>
          <a:prstGeom prst="rect">
            <a:avLst/>
          </a:prstGeom>
        </p:spPr>
      </p:pic>
      <p:pic>
        <p:nvPicPr>
          <p:cNvPr id="18" name="SK-2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80629" y="2536180"/>
            <a:ext cx="2250579" cy="539055"/>
          </a:xfrm>
          <a:prstGeom prst="rect">
            <a:avLst/>
          </a:prstGeom>
        </p:spPr>
      </p:pic>
      <p:pic>
        <p:nvPicPr>
          <p:cNvPr id="19" name="SK-2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231207" y="2536180"/>
            <a:ext cx="2659856" cy="539055"/>
          </a:xfrm>
          <a:prstGeom prst="rect">
            <a:avLst/>
          </a:prstGeom>
        </p:spPr>
      </p:pic>
      <p:pic>
        <p:nvPicPr>
          <p:cNvPr id="20" name="SK-2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891064" y="2536180"/>
            <a:ext cx="3273772" cy="539055"/>
          </a:xfrm>
          <a:prstGeom prst="rect">
            <a:avLst/>
          </a:prstGeom>
        </p:spPr>
      </p:pic>
      <p:pic>
        <p:nvPicPr>
          <p:cNvPr id="21" name="SK-2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164836" y="2536180"/>
            <a:ext cx="2455664" cy="539055"/>
          </a:xfrm>
          <a:prstGeom prst="rect">
            <a:avLst/>
          </a:prstGeom>
        </p:spPr>
      </p:pic>
      <p:pic>
        <p:nvPicPr>
          <p:cNvPr id="22" name="SK-2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71500" y="3075236"/>
            <a:ext cx="409129" cy="393055"/>
          </a:xfrm>
          <a:prstGeom prst="rect">
            <a:avLst/>
          </a:prstGeom>
        </p:spPr>
      </p:pic>
      <p:pic>
        <p:nvPicPr>
          <p:cNvPr id="23" name="SK-2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80629" y="3075236"/>
            <a:ext cx="2250579" cy="393055"/>
          </a:xfrm>
          <a:prstGeom prst="rect">
            <a:avLst/>
          </a:prstGeom>
        </p:spPr>
      </p:pic>
      <p:pic>
        <p:nvPicPr>
          <p:cNvPr id="24" name="SK-2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231207" y="3075236"/>
            <a:ext cx="2659856" cy="393055"/>
          </a:xfrm>
          <a:prstGeom prst="rect">
            <a:avLst/>
          </a:prstGeom>
        </p:spPr>
      </p:pic>
      <p:pic>
        <p:nvPicPr>
          <p:cNvPr id="25" name="SK-2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891064" y="3075236"/>
            <a:ext cx="3273772" cy="393055"/>
          </a:xfrm>
          <a:prstGeom prst="rect">
            <a:avLst/>
          </a:prstGeom>
        </p:spPr>
      </p:pic>
      <p:pic>
        <p:nvPicPr>
          <p:cNvPr id="26" name="SK-2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164836" y="3075236"/>
            <a:ext cx="2455664" cy="393055"/>
          </a:xfrm>
          <a:prstGeom prst="rect">
            <a:avLst/>
          </a:prstGeom>
        </p:spPr>
      </p:pic>
      <p:pic>
        <p:nvPicPr>
          <p:cNvPr id="27" name="SK-2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71500" y="3468291"/>
            <a:ext cx="409129" cy="393055"/>
          </a:xfrm>
          <a:prstGeom prst="rect">
            <a:avLst/>
          </a:prstGeom>
        </p:spPr>
      </p:pic>
      <p:pic>
        <p:nvPicPr>
          <p:cNvPr id="28" name="SK-2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80629" y="3468291"/>
            <a:ext cx="2250579" cy="393055"/>
          </a:xfrm>
          <a:prstGeom prst="rect">
            <a:avLst/>
          </a:prstGeom>
        </p:spPr>
      </p:pic>
      <p:pic>
        <p:nvPicPr>
          <p:cNvPr id="29" name="SK-2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231207" y="3468291"/>
            <a:ext cx="2659856" cy="393055"/>
          </a:xfrm>
          <a:prstGeom prst="rect">
            <a:avLst/>
          </a:prstGeom>
        </p:spPr>
      </p:pic>
      <p:pic>
        <p:nvPicPr>
          <p:cNvPr id="30" name="SK-2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891064" y="3468291"/>
            <a:ext cx="3273772" cy="393055"/>
          </a:xfrm>
          <a:prstGeom prst="rect">
            <a:avLst/>
          </a:prstGeom>
        </p:spPr>
      </p:pic>
      <p:pic>
        <p:nvPicPr>
          <p:cNvPr id="31" name="SK-2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164836" y="3468291"/>
            <a:ext cx="2455664" cy="393055"/>
          </a:xfrm>
          <a:prstGeom prst="rect">
            <a:avLst/>
          </a:prstGeom>
        </p:spPr>
      </p:pic>
      <p:pic>
        <p:nvPicPr>
          <p:cNvPr id="32" name="SK-2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71500" y="3861346"/>
            <a:ext cx="409129" cy="393055"/>
          </a:xfrm>
          <a:prstGeom prst="rect">
            <a:avLst/>
          </a:prstGeom>
        </p:spPr>
      </p:pic>
      <p:pic>
        <p:nvPicPr>
          <p:cNvPr id="33" name="SK-2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80629" y="3861346"/>
            <a:ext cx="2250579" cy="393055"/>
          </a:xfrm>
          <a:prstGeom prst="rect">
            <a:avLst/>
          </a:prstGeom>
        </p:spPr>
      </p:pic>
      <p:pic>
        <p:nvPicPr>
          <p:cNvPr id="34" name="SK-2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231207" y="3861346"/>
            <a:ext cx="2659856" cy="393055"/>
          </a:xfrm>
          <a:prstGeom prst="rect">
            <a:avLst/>
          </a:prstGeom>
        </p:spPr>
      </p:pic>
      <p:pic>
        <p:nvPicPr>
          <p:cNvPr id="35" name="SK-2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891064" y="3861346"/>
            <a:ext cx="3273772" cy="393055"/>
          </a:xfrm>
          <a:prstGeom prst="rect">
            <a:avLst/>
          </a:prstGeom>
        </p:spPr>
      </p:pic>
      <p:pic>
        <p:nvPicPr>
          <p:cNvPr id="36" name="SK-2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164836" y="3861346"/>
            <a:ext cx="2455664" cy="393055"/>
          </a:xfrm>
          <a:prstGeom prst="rect">
            <a:avLst/>
          </a:prstGeom>
        </p:spPr>
      </p:pic>
      <p:pic>
        <p:nvPicPr>
          <p:cNvPr id="37" name="SK-2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571500" y="4254401"/>
            <a:ext cx="409129" cy="393055"/>
          </a:xfrm>
          <a:prstGeom prst="rect">
            <a:avLst/>
          </a:prstGeom>
        </p:spPr>
      </p:pic>
      <p:pic>
        <p:nvPicPr>
          <p:cNvPr id="38" name="SK-2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980629" y="4254401"/>
            <a:ext cx="2250579" cy="393055"/>
          </a:xfrm>
          <a:prstGeom prst="rect">
            <a:avLst/>
          </a:prstGeom>
        </p:spPr>
      </p:pic>
      <p:pic>
        <p:nvPicPr>
          <p:cNvPr id="39" name="SK-2-img-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231207" y="4254401"/>
            <a:ext cx="2659856" cy="393055"/>
          </a:xfrm>
          <a:prstGeom prst="rect">
            <a:avLst/>
          </a:prstGeom>
        </p:spPr>
      </p:pic>
      <p:pic>
        <p:nvPicPr>
          <p:cNvPr id="40" name="SK-2-img-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5891064" y="4254401"/>
            <a:ext cx="3273772" cy="393055"/>
          </a:xfrm>
          <a:prstGeom prst="rect">
            <a:avLst/>
          </a:prstGeom>
        </p:spPr>
      </p:pic>
      <p:pic>
        <p:nvPicPr>
          <p:cNvPr id="41" name="SK-2-img-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9164836" y="4254401"/>
            <a:ext cx="2455664" cy="393055"/>
          </a:xfrm>
          <a:prstGeom prst="rect">
            <a:avLst/>
          </a:prstGeom>
        </p:spPr>
      </p:pic>
      <p:pic>
        <p:nvPicPr>
          <p:cNvPr id="42" name="SK-2-img-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571500" y="4647456"/>
            <a:ext cx="409129" cy="393055"/>
          </a:xfrm>
          <a:prstGeom prst="rect">
            <a:avLst/>
          </a:prstGeom>
        </p:spPr>
      </p:pic>
      <p:pic>
        <p:nvPicPr>
          <p:cNvPr id="43" name="SK-2-img-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980629" y="4647456"/>
            <a:ext cx="2250579" cy="393055"/>
          </a:xfrm>
          <a:prstGeom prst="rect">
            <a:avLst/>
          </a:prstGeom>
        </p:spPr>
      </p:pic>
      <p:pic>
        <p:nvPicPr>
          <p:cNvPr id="44" name="SK-2-img-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3231207" y="4647456"/>
            <a:ext cx="2659856" cy="393055"/>
          </a:xfrm>
          <a:prstGeom prst="rect">
            <a:avLst/>
          </a:prstGeom>
        </p:spPr>
      </p:pic>
      <p:pic>
        <p:nvPicPr>
          <p:cNvPr id="45" name="SK-2-img-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5891064" y="4647456"/>
            <a:ext cx="3273772" cy="393055"/>
          </a:xfrm>
          <a:prstGeom prst="rect">
            <a:avLst/>
          </a:prstGeom>
        </p:spPr>
      </p:pic>
      <p:pic>
        <p:nvPicPr>
          <p:cNvPr id="46" name="SK-2-img-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9164836" y="4647456"/>
            <a:ext cx="2455664" cy="393055"/>
          </a:xfrm>
          <a:prstGeom prst="rect">
            <a:avLst/>
          </a:prstGeom>
        </p:spPr>
      </p:pic>
      <p:pic>
        <p:nvPicPr>
          <p:cNvPr id="47" name="SK-2-img-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571500" y="5040511"/>
            <a:ext cx="409129" cy="580281"/>
          </a:xfrm>
          <a:prstGeom prst="rect">
            <a:avLst/>
          </a:prstGeom>
        </p:spPr>
      </p:pic>
      <p:pic>
        <p:nvPicPr>
          <p:cNvPr id="48" name="SK-2-img-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980629" y="5040511"/>
            <a:ext cx="2250579" cy="580281"/>
          </a:xfrm>
          <a:prstGeom prst="rect">
            <a:avLst/>
          </a:prstGeom>
        </p:spPr>
      </p:pic>
      <p:pic>
        <p:nvPicPr>
          <p:cNvPr id="49" name="SK-2-img-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3231207" y="5040511"/>
            <a:ext cx="2659856" cy="580281"/>
          </a:xfrm>
          <a:prstGeom prst="rect">
            <a:avLst/>
          </a:prstGeom>
        </p:spPr>
      </p:pic>
      <p:pic>
        <p:nvPicPr>
          <p:cNvPr id="50" name="SK-2-img-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5891064" y="5040511"/>
            <a:ext cx="3273772" cy="580281"/>
          </a:xfrm>
          <a:prstGeom prst="rect">
            <a:avLst/>
          </a:prstGeom>
        </p:spPr>
      </p:pic>
      <p:pic>
        <p:nvPicPr>
          <p:cNvPr id="51" name="SK-2-img-50" descr="preencoded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9164836" y="5040511"/>
            <a:ext cx="2455664" cy="580281"/>
          </a:xfrm>
          <a:prstGeom prst="rect">
            <a:avLst/>
          </a:prstGeom>
        </p:spPr>
      </p:pic>
      <p:pic>
        <p:nvPicPr>
          <p:cNvPr id="52" name="SK-2-img-51" descr="preencoded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571500" y="5620792"/>
            <a:ext cx="409129" cy="539055"/>
          </a:xfrm>
          <a:prstGeom prst="rect">
            <a:avLst/>
          </a:prstGeom>
        </p:spPr>
      </p:pic>
      <p:pic>
        <p:nvPicPr>
          <p:cNvPr id="53" name="SK-2-img-52" descr="preencoded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980629" y="5620792"/>
            <a:ext cx="2250579" cy="539055"/>
          </a:xfrm>
          <a:prstGeom prst="rect">
            <a:avLst/>
          </a:prstGeom>
        </p:spPr>
      </p:pic>
      <p:pic>
        <p:nvPicPr>
          <p:cNvPr id="54" name="SK-2-img-53" descr="preencoded.png">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3231207" y="5620792"/>
            <a:ext cx="2659856" cy="539055"/>
          </a:xfrm>
          <a:prstGeom prst="rect">
            <a:avLst/>
          </a:prstGeom>
        </p:spPr>
      </p:pic>
      <p:pic>
        <p:nvPicPr>
          <p:cNvPr id="55" name="SK-2-img-54" descr="preencoded.png">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5891064" y="5620792"/>
            <a:ext cx="3273772" cy="539055"/>
          </a:xfrm>
          <a:prstGeom prst="rect">
            <a:avLst/>
          </a:prstGeom>
        </p:spPr>
      </p:pic>
      <p:pic>
        <p:nvPicPr>
          <p:cNvPr id="56" name="SK-2-img-55" descr="preencoded.png">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9164836" y="5620792"/>
            <a:ext cx="2455664" cy="539055"/>
          </a:xfrm>
          <a:prstGeom prst="rect">
            <a:avLst/>
          </a:prstGeom>
        </p:spPr>
      </p:pic>
      <p:sp>
        <p:nvSpPr>
          <p:cNvPr id="57" name="SK-2-text-56"/>
          <p:cNvSpPr/>
          <p:nvPr/>
        </p:nvSpPr>
        <p:spPr>
          <a:xfrm>
            <a:off x="647700" y="30480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58" name="SK-2-text-57"/>
          <p:cNvSpPr/>
          <p:nvPr/>
        </p:nvSpPr>
        <p:spPr>
          <a:xfrm>
            <a:off x="571500" y="657225"/>
            <a:ext cx="11620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A-1. 이상징후 식별: 수박 프로젝트의 실태</a:t>
            </a:r>
            <a:endParaRPr lang="en-US" sz="2550" dirty="0"/>
          </a:p>
        </p:txBody>
      </p:sp>
      <p:sp>
        <p:nvSpPr>
          <p:cNvPr id="59" name="SK-2-text-58"/>
          <p:cNvSpPr/>
          <p:nvPr/>
        </p:nvSpPr>
        <p:spPr>
          <a:xfrm>
            <a:off x="862013" y="1371600"/>
            <a:ext cx="110490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이상: "수박 프로젝트" — 겉은 Green, 속은 Red</a:t>
            </a:r>
            <a:endParaRPr lang="en-US" sz="1350" dirty="0"/>
          </a:p>
        </p:txBody>
      </p:sp>
      <p:sp>
        <p:nvSpPr>
          <p:cNvPr id="60" name="SK-2-text-59"/>
          <p:cNvSpPr/>
          <p:nvPr/>
        </p:nvSpPr>
        <p:spPr>
          <a:xfrm>
            <a:off x="685800" y="1752600"/>
            <a:ext cx="25672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</a:rPr>
              <a:t>#</a:t>
            </a:r>
            <a:endParaRPr lang="en-US" sz="1050" dirty="0"/>
          </a:p>
        </p:txBody>
      </p:sp>
      <p:sp>
        <p:nvSpPr>
          <p:cNvPr id="61" name="SK-2-text-60"/>
          <p:cNvSpPr/>
          <p:nvPr/>
        </p:nvSpPr>
        <p:spPr>
          <a:xfrm>
            <a:off x="1094929" y="1752600"/>
            <a:ext cx="209817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이상징후</a:t>
            </a:r>
            <a:endParaRPr lang="en-US" sz="1050" dirty="0"/>
          </a:p>
        </p:txBody>
      </p:sp>
      <p:sp>
        <p:nvSpPr>
          <p:cNvPr id="62" name="SK-2-text-61"/>
          <p:cNvSpPr/>
          <p:nvPr/>
        </p:nvSpPr>
        <p:spPr>
          <a:xfrm>
            <a:off x="3345507" y="1752600"/>
            <a:ext cx="250745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보고(겉)</a:t>
            </a:r>
            <a:endParaRPr lang="en-US" sz="1050" dirty="0"/>
          </a:p>
        </p:txBody>
      </p:sp>
      <p:sp>
        <p:nvSpPr>
          <p:cNvPr id="63" name="SK-2-text-62"/>
          <p:cNvSpPr/>
          <p:nvPr/>
        </p:nvSpPr>
        <p:spPr>
          <a:xfrm>
            <a:off x="6005364" y="1752600"/>
            <a:ext cx="3121372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실제(속)</a:t>
            </a:r>
            <a:endParaRPr lang="en-US" sz="1050" dirty="0"/>
          </a:p>
        </p:txBody>
      </p:sp>
      <p:sp>
        <p:nvSpPr>
          <p:cNvPr id="64" name="SK-2-text-63"/>
          <p:cNvSpPr/>
          <p:nvPr/>
        </p:nvSpPr>
        <p:spPr>
          <a:xfrm>
            <a:off x="9279136" y="1752600"/>
            <a:ext cx="230326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</a:rPr>
              <a:t>출처</a:t>
            </a:r>
            <a:endParaRPr lang="en-US" sz="1050" dirty="0"/>
          </a:p>
        </p:txBody>
      </p:sp>
      <p:sp>
        <p:nvSpPr>
          <p:cNvPr id="65" name="SK-2-text-64"/>
          <p:cNvSpPr/>
          <p:nvPr/>
        </p:nvSpPr>
        <p:spPr>
          <a:xfrm>
            <a:off x="533400" y="2143125"/>
            <a:ext cx="256729" cy="39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CA3AF"/>
                </a:solidFill>
              </a:rPr>
              <a:t>1</a:t>
            </a:r>
            <a:endParaRPr lang="en-US" sz="975" dirty="0"/>
          </a:p>
        </p:txBody>
      </p:sp>
      <p:sp>
        <p:nvSpPr>
          <p:cNvPr id="66" name="SK-2-text-65"/>
          <p:cNvSpPr/>
          <p:nvPr/>
        </p:nvSpPr>
        <p:spPr>
          <a:xfrm>
            <a:off x="1094929" y="2143125"/>
            <a:ext cx="3057636" cy="39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주간보고 16주 연속 ALL GREEN</a:t>
            </a:r>
            <a:endParaRPr lang="en-US" sz="975" dirty="0"/>
          </a:p>
        </p:txBody>
      </p:sp>
      <p:sp>
        <p:nvSpPr>
          <p:cNvPr id="67" name="SK-2-textBg-66"/>
          <p:cNvSpPr/>
          <p:nvPr/>
        </p:nvSpPr>
        <p:spPr>
          <a:xfrm>
            <a:off x="3345507" y="2233910"/>
            <a:ext cx="1543050" cy="211336"/>
          </a:xfrm>
          <a:prstGeom prst="roundRect">
            <a:avLst>
              <a:gd name="adj" fmla="val 9014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8" name="SK-2-text-67"/>
          <p:cNvSpPr/>
          <p:nvPr/>
        </p:nvSpPr>
        <p:spPr>
          <a:xfrm>
            <a:off x="3402657" y="2233910"/>
            <a:ext cx="2338917" cy="2113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"전 지표 정상. 이상 없음."</a:t>
            </a:r>
            <a:endParaRPr lang="en-US" sz="975" dirty="0"/>
          </a:p>
        </p:txBody>
      </p:sp>
      <p:sp>
        <p:nvSpPr>
          <p:cNvPr id="69" name="SK-2-textBg-68"/>
          <p:cNvSpPr/>
          <p:nvPr/>
        </p:nvSpPr>
        <p:spPr>
          <a:xfrm>
            <a:off x="6005364" y="2233910"/>
            <a:ext cx="2047875" cy="211336"/>
          </a:xfrm>
          <a:prstGeom prst="roundRect">
            <a:avLst>
              <a:gd name="adj" fmla="val 9014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0" name="SK-2-text-69"/>
          <p:cNvSpPr/>
          <p:nvPr/>
        </p:nvSpPr>
        <p:spPr>
          <a:xfrm>
            <a:off x="6062514" y="2233910"/>
            <a:ext cx="3413884" cy="2113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파일럿 무개입완주율 18.4%→6.1%</a:t>
            </a:r>
            <a:endParaRPr lang="en-US" sz="975" dirty="0"/>
          </a:p>
        </p:txBody>
      </p:sp>
      <p:sp>
        <p:nvSpPr>
          <p:cNvPr id="71" name="SK-2-text-70"/>
          <p:cNvSpPr/>
          <p:nvPr/>
        </p:nvSpPr>
        <p:spPr>
          <a:xfrm>
            <a:off x="9279136" y="2143125"/>
            <a:ext cx="2912864" cy="39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CA3AF"/>
                </a:solidFill>
              </a:rPr>
              <a:t>08_ai_weekly, 09_telemetry</a:t>
            </a:r>
            <a:endParaRPr lang="en-US" sz="975" dirty="0"/>
          </a:p>
        </p:txBody>
      </p:sp>
      <p:sp>
        <p:nvSpPr>
          <p:cNvPr id="72" name="SK-2-text-71"/>
          <p:cNvSpPr/>
          <p:nvPr/>
        </p:nvSpPr>
        <p:spPr>
          <a:xfrm>
            <a:off x="533400" y="2536180"/>
            <a:ext cx="256729" cy="53905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CA3AF"/>
                </a:solidFill>
              </a:rPr>
              <a:t>2</a:t>
            </a:r>
            <a:endParaRPr lang="en-US" sz="975" dirty="0"/>
          </a:p>
        </p:txBody>
      </p:sp>
      <p:sp>
        <p:nvSpPr>
          <p:cNvPr id="73" name="SK-2-text-72"/>
          <p:cNvSpPr/>
          <p:nvPr/>
        </p:nvSpPr>
        <p:spPr>
          <a:xfrm>
            <a:off x="1094929" y="2536180"/>
            <a:ext cx="2098179" cy="53905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자율주행 성공률</a:t>
            </a:r>
            <a:endParaRPr lang="en-US" sz="975" dirty="0"/>
          </a:p>
        </p:txBody>
      </p:sp>
      <p:sp>
        <p:nvSpPr>
          <p:cNvPr id="74" name="SK-2-textBg-73"/>
          <p:cNvSpPr/>
          <p:nvPr/>
        </p:nvSpPr>
        <p:spPr>
          <a:xfrm>
            <a:off x="3345507" y="2700040"/>
            <a:ext cx="1057275" cy="211336"/>
          </a:xfrm>
          <a:prstGeom prst="roundRect">
            <a:avLst>
              <a:gd name="adj" fmla="val 9014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5" name="SK-2-text-74"/>
          <p:cNvSpPr/>
          <p:nvPr/>
        </p:nvSpPr>
        <p:spPr>
          <a:xfrm>
            <a:off x="3402657" y="2700040"/>
            <a:ext cx="1987893" cy="2113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93.4% (GREEN)</a:t>
            </a:r>
            <a:endParaRPr lang="en-US" sz="975" dirty="0"/>
          </a:p>
        </p:txBody>
      </p:sp>
      <p:sp>
        <p:nvSpPr>
          <p:cNvPr id="76" name="SK-2-textBg-75"/>
          <p:cNvSpPr/>
          <p:nvPr/>
        </p:nvSpPr>
        <p:spPr>
          <a:xfrm>
            <a:off x="6005364" y="2700040"/>
            <a:ext cx="1028700" cy="211336"/>
          </a:xfrm>
          <a:prstGeom prst="roundRect">
            <a:avLst>
              <a:gd name="adj" fmla="val 9014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7" name="SK-2-text-76"/>
          <p:cNvSpPr/>
          <p:nvPr/>
        </p:nvSpPr>
        <p:spPr>
          <a:xfrm>
            <a:off x="6062514" y="2700040"/>
            <a:ext cx="1584960" cy="2113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실사업장 58.6%</a:t>
            </a:r>
            <a:endParaRPr lang="en-US" sz="975" dirty="0"/>
          </a:p>
        </p:txBody>
      </p:sp>
      <p:sp>
        <p:nvSpPr>
          <p:cNvPr id="78" name="SK-2-text-77"/>
          <p:cNvSpPr/>
          <p:nvPr/>
        </p:nvSpPr>
        <p:spPr>
          <a:xfrm>
            <a:off x="9279136" y="2536180"/>
            <a:ext cx="2227064" cy="53905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CA3AF"/>
                </a:solidFill>
              </a:rPr>
              <a:t>01_charter SC-03 vs 10_navigation</a:t>
            </a:r>
            <a:endParaRPr lang="en-US" sz="975" dirty="0"/>
          </a:p>
        </p:txBody>
      </p:sp>
      <p:sp>
        <p:nvSpPr>
          <p:cNvPr id="79" name="SK-2-text-78"/>
          <p:cNvSpPr/>
          <p:nvPr/>
        </p:nvSpPr>
        <p:spPr>
          <a:xfrm>
            <a:off x="533400" y="3075236"/>
            <a:ext cx="256729" cy="39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CA3AF"/>
                </a:solidFill>
              </a:rPr>
              <a:t>3</a:t>
            </a:r>
            <a:endParaRPr lang="en-US" sz="975" dirty="0"/>
          </a:p>
        </p:txBody>
      </p:sp>
      <p:sp>
        <p:nvSpPr>
          <p:cNvPr id="80" name="SK-2-text-79"/>
          <p:cNvSpPr/>
          <p:nvPr/>
        </p:nvSpPr>
        <p:spPr>
          <a:xfrm>
            <a:off x="1094929" y="3075236"/>
            <a:ext cx="2098179" cy="39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EVM 지표 정상</a:t>
            </a:r>
            <a:endParaRPr lang="en-US" sz="975" dirty="0"/>
          </a:p>
        </p:txBody>
      </p:sp>
      <p:sp>
        <p:nvSpPr>
          <p:cNvPr id="81" name="SK-2-textBg-80"/>
          <p:cNvSpPr/>
          <p:nvPr/>
        </p:nvSpPr>
        <p:spPr>
          <a:xfrm>
            <a:off x="3345507" y="3166021"/>
            <a:ext cx="1162050" cy="211336"/>
          </a:xfrm>
          <a:prstGeom prst="roundRect">
            <a:avLst>
              <a:gd name="adj" fmla="val 9014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2" name="SK-2-text-81"/>
          <p:cNvSpPr/>
          <p:nvPr/>
        </p:nvSpPr>
        <p:spPr>
          <a:xfrm>
            <a:off x="3402657" y="3166021"/>
            <a:ext cx="2947441" cy="2113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SPI 1.02, CPI 0.98</a:t>
            </a:r>
            <a:endParaRPr lang="en-US" sz="975" dirty="0"/>
          </a:p>
        </p:txBody>
      </p:sp>
      <p:sp>
        <p:nvSpPr>
          <p:cNvPr id="83" name="SK-2-textBg-82"/>
          <p:cNvSpPr/>
          <p:nvPr/>
        </p:nvSpPr>
        <p:spPr>
          <a:xfrm>
            <a:off x="6005364" y="3166021"/>
            <a:ext cx="2476500" cy="211336"/>
          </a:xfrm>
          <a:prstGeom prst="roundRect">
            <a:avLst>
              <a:gd name="adj" fmla="val 9014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4" name="SK-2-text-83"/>
          <p:cNvSpPr/>
          <p:nvPr/>
        </p:nvSpPr>
        <p:spPr>
          <a:xfrm>
            <a:off x="6062514" y="3166021"/>
            <a:ext cx="5196840" cy="2113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인프라 비용 21.4억 별도 (총 CPI 0.944)</a:t>
            </a:r>
            <a:endParaRPr lang="en-US" sz="975" dirty="0"/>
          </a:p>
        </p:txBody>
      </p:sp>
      <p:sp>
        <p:nvSpPr>
          <p:cNvPr id="85" name="SK-2-text-84"/>
          <p:cNvSpPr/>
          <p:nvPr/>
        </p:nvSpPr>
        <p:spPr>
          <a:xfrm>
            <a:off x="9279136" y="3075236"/>
            <a:ext cx="2681514" cy="39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CA3AF"/>
                </a:solidFill>
              </a:rPr>
              <a:t>06_evm "개발 부문만 게시"</a:t>
            </a:r>
            <a:endParaRPr lang="en-US" sz="975" dirty="0"/>
          </a:p>
        </p:txBody>
      </p:sp>
      <p:sp>
        <p:nvSpPr>
          <p:cNvPr id="86" name="SK-2-text-85"/>
          <p:cNvSpPr/>
          <p:nvPr/>
        </p:nvSpPr>
        <p:spPr>
          <a:xfrm>
            <a:off x="533400" y="3468291"/>
            <a:ext cx="256729" cy="39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CA3AF"/>
                </a:solidFill>
              </a:rPr>
              <a:t>4</a:t>
            </a:r>
            <a:endParaRPr lang="en-US" sz="975" dirty="0"/>
          </a:p>
        </p:txBody>
      </p:sp>
      <p:sp>
        <p:nvSpPr>
          <p:cNvPr id="87" name="SK-2-text-86"/>
          <p:cNvSpPr/>
          <p:nvPr/>
        </p:nvSpPr>
        <p:spPr>
          <a:xfrm>
            <a:off x="1094929" y="3468291"/>
            <a:ext cx="2098179" cy="39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리스크 0건</a:t>
            </a:r>
            <a:endParaRPr lang="en-US" sz="975" dirty="0"/>
          </a:p>
        </p:txBody>
      </p:sp>
      <p:sp>
        <p:nvSpPr>
          <p:cNvPr id="88" name="SK-2-textBg-87"/>
          <p:cNvSpPr/>
          <p:nvPr/>
        </p:nvSpPr>
        <p:spPr>
          <a:xfrm>
            <a:off x="3345507" y="3559076"/>
            <a:ext cx="533400" cy="211336"/>
          </a:xfrm>
          <a:prstGeom prst="roundRect">
            <a:avLst>
              <a:gd name="adj" fmla="val 9014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9" name="SK-2-text-88"/>
          <p:cNvSpPr/>
          <p:nvPr/>
        </p:nvSpPr>
        <p:spPr>
          <a:xfrm>
            <a:off x="3402657" y="3559076"/>
            <a:ext cx="583746" cy="2113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GREEN</a:t>
            </a:r>
            <a:endParaRPr lang="en-US" sz="975" dirty="0"/>
          </a:p>
        </p:txBody>
      </p:sp>
      <p:sp>
        <p:nvSpPr>
          <p:cNvPr id="90" name="SK-2-textBg-89"/>
          <p:cNvSpPr/>
          <p:nvPr/>
        </p:nvSpPr>
        <p:spPr>
          <a:xfrm>
            <a:off x="6005364" y="3559076"/>
            <a:ext cx="1905000" cy="211336"/>
          </a:xfrm>
          <a:prstGeom prst="roundRect">
            <a:avLst>
              <a:gd name="adj" fmla="val 9014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1" name="SK-2-text-90"/>
          <p:cNvSpPr/>
          <p:nvPr/>
        </p:nvSpPr>
        <p:spPr>
          <a:xfrm>
            <a:off x="6062514" y="3559076"/>
            <a:ext cx="2886608" cy="2113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3건이 근거 없이 Medium 하향됨</a:t>
            </a:r>
            <a:endParaRPr lang="en-US" sz="975" dirty="0"/>
          </a:p>
        </p:txBody>
      </p:sp>
      <p:sp>
        <p:nvSpPr>
          <p:cNvPr id="92" name="SK-2-text-91"/>
          <p:cNvSpPr/>
          <p:nvPr/>
        </p:nvSpPr>
        <p:spPr>
          <a:xfrm>
            <a:off x="9279136" y="3468291"/>
            <a:ext cx="2912864" cy="39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CA3AF"/>
                </a:solidFill>
              </a:rPr>
              <a:t>11_risk_register, M-02</a:t>
            </a:r>
            <a:endParaRPr lang="en-US" sz="975" dirty="0"/>
          </a:p>
        </p:txBody>
      </p:sp>
      <p:sp>
        <p:nvSpPr>
          <p:cNvPr id="93" name="SK-2-text-92"/>
          <p:cNvSpPr/>
          <p:nvPr/>
        </p:nvSpPr>
        <p:spPr>
          <a:xfrm>
            <a:off x="533400" y="3861346"/>
            <a:ext cx="256729" cy="39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CA3AF"/>
                </a:solidFill>
              </a:rPr>
              <a:t>5</a:t>
            </a:r>
            <a:endParaRPr lang="en-US" sz="975" dirty="0"/>
          </a:p>
        </p:txBody>
      </p:sp>
      <p:sp>
        <p:nvSpPr>
          <p:cNvPr id="94" name="SK-2-text-93"/>
          <p:cNvSpPr/>
          <p:nvPr/>
        </p:nvSpPr>
        <p:spPr>
          <a:xfrm>
            <a:off x="1094929" y="3861346"/>
            <a:ext cx="2212154" cy="39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요구사항 완료율 92.9%</a:t>
            </a:r>
            <a:endParaRPr lang="en-US" sz="975" dirty="0"/>
          </a:p>
        </p:txBody>
      </p:sp>
      <p:sp>
        <p:nvSpPr>
          <p:cNvPr id="95" name="SK-2-textBg-94"/>
          <p:cNvSpPr/>
          <p:nvPr/>
        </p:nvSpPr>
        <p:spPr>
          <a:xfrm>
            <a:off x="3345507" y="3952131"/>
            <a:ext cx="933450" cy="211336"/>
          </a:xfrm>
          <a:prstGeom prst="roundRect">
            <a:avLst>
              <a:gd name="adj" fmla="val 9014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6" name="SK-2-text-95"/>
          <p:cNvSpPr/>
          <p:nvPr/>
        </p:nvSpPr>
        <p:spPr>
          <a:xfrm>
            <a:off x="3402657" y="3952131"/>
            <a:ext cx="1782069" cy="2113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78/84건 Done</a:t>
            </a:r>
            <a:endParaRPr lang="en-US" sz="975" dirty="0"/>
          </a:p>
        </p:txBody>
      </p:sp>
      <p:sp>
        <p:nvSpPr>
          <p:cNvPr id="97" name="SK-2-textBg-96"/>
          <p:cNvSpPr/>
          <p:nvPr/>
        </p:nvSpPr>
        <p:spPr>
          <a:xfrm>
            <a:off x="6005364" y="3952131"/>
            <a:ext cx="2771775" cy="211336"/>
          </a:xfrm>
          <a:prstGeom prst="roundRect">
            <a:avLst>
              <a:gd name="adj" fmla="val 9014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8" name="SK-2-text-97"/>
          <p:cNvSpPr/>
          <p:nvPr/>
        </p:nvSpPr>
        <p:spPr>
          <a:xfrm>
            <a:off x="6062514" y="3952131"/>
            <a:ext cx="4273877" cy="2113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DoD에서 QA 통과 삭제 → 코드 머지만으로 Done</a:t>
            </a:r>
            <a:endParaRPr lang="en-US" sz="975" dirty="0"/>
          </a:p>
        </p:txBody>
      </p:sp>
      <p:sp>
        <p:nvSpPr>
          <p:cNvPr id="99" name="SK-2-text-98"/>
          <p:cNvSpPr/>
          <p:nvPr/>
        </p:nvSpPr>
        <p:spPr>
          <a:xfrm>
            <a:off x="9279136" y="3861346"/>
            <a:ext cx="2303264" cy="39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CA3AF"/>
                </a:solidFill>
              </a:rPr>
              <a:t>CR-012, M-03</a:t>
            </a:r>
            <a:endParaRPr lang="en-US" sz="975" dirty="0"/>
          </a:p>
        </p:txBody>
      </p:sp>
      <p:sp>
        <p:nvSpPr>
          <p:cNvPr id="100" name="SK-2-text-99"/>
          <p:cNvSpPr/>
          <p:nvPr/>
        </p:nvSpPr>
        <p:spPr>
          <a:xfrm>
            <a:off x="533400" y="4254401"/>
            <a:ext cx="256729" cy="39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CA3AF"/>
                </a:solidFill>
              </a:rPr>
              <a:t>6</a:t>
            </a:r>
            <a:endParaRPr lang="en-US" sz="975" dirty="0"/>
          </a:p>
        </p:txBody>
      </p:sp>
      <p:sp>
        <p:nvSpPr>
          <p:cNvPr id="101" name="SK-2-text-100"/>
          <p:cNvSpPr/>
          <p:nvPr/>
        </p:nvSpPr>
        <p:spPr>
          <a:xfrm>
            <a:off x="1094929" y="4254401"/>
            <a:ext cx="2098179" cy="39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 통제 정상</a:t>
            </a:r>
            <a:endParaRPr lang="en-US" sz="975" dirty="0"/>
          </a:p>
        </p:txBody>
      </p:sp>
      <p:sp>
        <p:nvSpPr>
          <p:cNvPr id="102" name="SK-2-textBg-101"/>
          <p:cNvSpPr/>
          <p:nvPr/>
        </p:nvSpPr>
        <p:spPr>
          <a:xfrm>
            <a:off x="3345507" y="4345186"/>
            <a:ext cx="838200" cy="211336"/>
          </a:xfrm>
          <a:prstGeom prst="roundRect">
            <a:avLst>
              <a:gd name="adj" fmla="val 9014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3" name="SK-2-text-102"/>
          <p:cNvSpPr/>
          <p:nvPr/>
        </p:nvSpPr>
        <p:spPr>
          <a:xfrm>
            <a:off x="3402657" y="4345186"/>
            <a:ext cx="1326053" cy="2113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정식 CR 12건</a:t>
            </a:r>
            <a:endParaRPr lang="en-US" sz="975" dirty="0"/>
          </a:p>
        </p:txBody>
      </p:sp>
      <p:sp>
        <p:nvSpPr>
          <p:cNvPr id="104" name="SK-2-textBg-103"/>
          <p:cNvSpPr/>
          <p:nvPr/>
        </p:nvSpPr>
        <p:spPr>
          <a:xfrm>
            <a:off x="6005364" y="4345186"/>
            <a:ext cx="2438400" cy="211336"/>
          </a:xfrm>
          <a:prstGeom prst="roundRect">
            <a:avLst>
              <a:gd name="adj" fmla="val 9014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5" name="SK-2-text-104"/>
          <p:cNvSpPr/>
          <p:nvPr/>
        </p:nvSpPr>
        <p:spPr>
          <a:xfrm>
            <a:off x="6062514" y="4345186"/>
            <a:ext cx="4107120" cy="2113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비공식 변경 35건 (CR 미등록, 영향평가 0)</a:t>
            </a:r>
            <a:endParaRPr lang="en-US" sz="975" dirty="0"/>
          </a:p>
        </p:txBody>
      </p:sp>
      <p:sp>
        <p:nvSpPr>
          <p:cNvPr id="106" name="SK-2-text-105"/>
          <p:cNvSpPr/>
          <p:nvPr/>
        </p:nvSpPr>
        <p:spPr>
          <a:xfrm>
            <a:off x="9279136" y="4254401"/>
            <a:ext cx="2681514" cy="39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CA3AF"/>
                </a:solidFill>
              </a:rPr>
              <a:t>05_change_requests</a:t>
            </a:r>
            <a:endParaRPr lang="en-US" sz="975" dirty="0"/>
          </a:p>
        </p:txBody>
      </p:sp>
      <p:sp>
        <p:nvSpPr>
          <p:cNvPr id="107" name="SK-2-text-106"/>
          <p:cNvSpPr/>
          <p:nvPr/>
        </p:nvSpPr>
        <p:spPr>
          <a:xfrm>
            <a:off x="533400" y="4647456"/>
            <a:ext cx="256729" cy="39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CA3AF"/>
                </a:solidFill>
              </a:rPr>
              <a:t>7</a:t>
            </a:r>
            <a:endParaRPr lang="en-US" sz="975" dirty="0"/>
          </a:p>
        </p:txBody>
      </p:sp>
      <p:sp>
        <p:nvSpPr>
          <p:cNvPr id="108" name="SK-2-text-107"/>
          <p:cNvSpPr/>
          <p:nvPr/>
        </p:nvSpPr>
        <p:spPr>
          <a:xfrm>
            <a:off x="1094929" y="4647456"/>
            <a:ext cx="2098179" cy="39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편익(BEN) 관리</a:t>
            </a:r>
            <a:endParaRPr lang="en-US" sz="975" dirty="0"/>
          </a:p>
        </p:txBody>
      </p:sp>
      <p:sp>
        <p:nvSpPr>
          <p:cNvPr id="109" name="SK-2-text-108"/>
          <p:cNvSpPr/>
          <p:nvPr/>
        </p:nvSpPr>
        <p:spPr>
          <a:xfrm>
            <a:off x="3345507" y="4647456"/>
            <a:ext cx="2507456" cy="39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975" dirty="0"/>
          </a:p>
        </p:txBody>
      </p:sp>
      <p:sp>
        <p:nvSpPr>
          <p:cNvPr id="110" name="SK-2-textBg-109"/>
          <p:cNvSpPr/>
          <p:nvPr/>
        </p:nvSpPr>
        <p:spPr>
          <a:xfrm>
            <a:off x="6005364" y="4738241"/>
            <a:ext cx="2228850" cy="211336"/>
          </a:xfrm>
          <a:prstGeom prst="roundRect">
            <a:avLst>
              <a:gd name="adj" fmla="val 9014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1" name="SK-2-text-110"/>
          <p:cNvSpPr/>
          <p:nvPr/>
        </p:nvSpPr>
        <p:spPr>
          <a:xfrm>
            <a:off x="6062514" y="4738241"/>
            <a:ext cx="3195320" cy="2113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5건 전부 미측정, 측정체계 자체가 없음</a:t>
            </a:r>
            <a:endParaRPr lang="en-US" sz="975" dirty="0"/>
          </a:p>
        </p:txBody>
      </p:sp>
      <p:sp>
        <p:nvSpPr>
          <p:cNvPr id="112" name="SK-2-text-111"/>
          <p:cNvSpPr/>
          <p:nvPr/>
        </p:nvSpPr>
        <p:spPr>
          <a:xfrm>
            <a:off x="9279136" y="4647456"/>
            <a:ext cx="2816272" cy="39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CA3AF"/>
                </a:solidFill>
              </a:rPr>
              <a:t>02_benefit_register</a:t>
            </a:r>
            <a:endParaRPr lang="en-US" sz="975" dirty="0"/>
          </a:p>
        </p:txBody>
      </p:sp>
      <p:sp>
        <p:nvSpPr>
          <p:cNvPr id="113" name="SK-2-text-112"/>
          <p:cNvSpPr/>
          <p:nvPr/>
        </p:nvSpPr>
        <p:spPr>
          <a:xfrm>
            <a:off x="533400" y="5040511"/>
            <a:ext cx="256729" cy="5802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CA3AF"/>
                </a:solidFill>
              </a:rPr>
              <a:t>8</a:t>
            </a:r>
            <a:endParaRPr lang="en-US" sz="975" dirty="0"/>
          </a:p>
        </p:txBody>
      </p:sp>
      <p:sp>
        <p:nvSpPr>
          <p:cNvPr id="114" name="SK-2-text-113"/>
          <p:cNvSpPr/>
          <p:nvPr/>
        </p:nvSpPr>
        <p:spPr>
          <a:xfrm>
            <a:off x="1094929" y="5040511"/>
            <a:ext cx="2098179" cy="5802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리스크</a:t>
            </a:r>
            <a:endParaRPr lang="en-US" sz="975" dirty="0"/>
          </a:p>
        </p:txBody>
      </p:sp>
      <p:sp>
        <p:nvSpPr>
          <p:cNvPr id="115" name="SK-2-text-114"/>
          <p:cNvSpPr/>
          <p:nvPr/>
        </p:nvSpPr>
        <p:spPr>
          <a:xfrm>
            <a:off x="3345507" y="5040511"/>
            <a:ext cx="2507456" cy="5802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975" dirty="0"/>
          </a:p>
        </p:txBody>
      </p:sp>
      <p:sp>
        <p:nvSpPr>
          <p:cNvPr id="116" name="SK-2-text-115"/>
          <p:cNvSpPr/>
          <p:nvPr/>
        </p:nvSpPr>
        <p:spPr>
          <a:xfrm>
            <a:off x="6062514" y="5138291"/>
            <a:ext cx="2930872" cy="3845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F4444"/>
                </a:solidFill>
                <a:highlight>
                  <a:srgbClr val="EF4444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Helion v3 EOL = 배포일(9/30), 마이그레이션 2~4주</a:t>
            </a:r>
            <a:endParaRPr lang="en-US" sz="975" dirty="0"/>
          </a:p>
        </p:txBody>
      </p:sp>
      <p:sp>
        <p:nvSpPr>
          <p:cNvPr id="117" name="SK-2-text-116"/>
          <p:cNvSpPr/>
          <p:nvPr/>
        </p:nvSpPr>
        <p:spPr>
          <a:xfrm>
            <a:off x="9279136" y="5040511"/>
            <a:ext cx="2411999" cy="5802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CA3AF"/>
                </a:solidFill>
              </a:rPr>
              <a:t>E-02 (리스크대장 미등록)</a:t>
            </a:r>
            <a:endParaRPr lang="en-US" sz="975" dirty="0"/>
          </a:p>
        </p:txBody>
      </p:sp>
      <p:sp>
        <p:nvSpPr>
          <p:cNvPr id="118" name="SK-2-text-117"/>
          <p:cNvSpPr/>
          <p:nvPr/>
        </p:nvSpPr>
        <p:spPr>
          <a:xfrm>
            <a:off x="533400" y="5620792"/>
            <a:ext cx="256729" cy="53905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CA3AF"/>
                </a:solidFill>
              </a:rPr>
              <a:t>9</a:t>
            </a:r>
            <a:endParaRPr lang="en-US" sz="975" dirty="0"/>
          </a:p>
        </p:txBody>
      </p:sp>
      <p:sp>
        <p:nvSpPr>
          <p:cNvPr id="119" name="SK-2-text-118"/>
          <p:cNvSpPr/>
          <p:nvPr/>
        </p:nvSpPr>
        <p:spPr>
          <a:xfrm>
            <a:off x="1094929" y="5620792"/>
            <a:ext cx="2098179" cy="53905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소통</a:t>
            </a:r>
            <a:endParaRPr lang="en-US" sz="975" dirty="0"/>
          </a:p>
        </p:txBody>
      </p:sp>
      <p:sp>
        <p:nvSpPr>
          <p:cNvPr id="120" name="SK-2-text-119"/>
          <p:cNvSpPr/>
          <p:nvPr/>
        </p:nvSpPr>
        <p:spPr>
          <a:xfrm>
            <a:off x="3345507" y="5620792"/>
            <a:ext cx="2507456" cy="53905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975" dirty="0"/>
          </a:p>
        </p:txBody>
      </p:sp>
      <p:sp>
        <p:nvSpPr>
          <p:cNvPr id="121" name="SK-2-textBg-120"/>
          <p:cNvSpPr/>
          <p:nvPr/>
        </p:nvSpPr>
        <p:spPr>
          <a:xfrm>
            <a:off x="6005364" y="5784652"/>
            <a:ext cx="1743075" cy="211336"/>
          </a:xfrm>
          <a:prstGeom prst="roundRect">
            <a:avLst>
              <a:gd name="adj" fmla="val 9014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2" name="SK-2-text-121"/>
          <p:cNvSpPr/>
          <p:nvPr/>
        </p:nvSpPr>
        <p:spPr>
          <a:xfrm>
            <a:off x="6062514" y="5784652"/>
            <a:ext cx="2545517" cy="2113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 리전 의사결정 불일치 5건</a:t>
            </a:r>
            <a:endParaRPr lang="en-US" sz="975" dirty="0"/>
          </a:p>
        </p:txBody>
      </p:sp>
      <p:sp>
        <p:nvSpPr>
          <p:cNvPr id="123" name="SK-2-text-122"/>
          <p:cNvSpPr/>
          <p:nvPr/>
        </p:nvSpPr>
        <p:spPr>
          <a:xfrm>
            <a:off x="9279136" y="5620792"/>
            <a:ext cx="2227064" cy="53905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CA3AF"/>
                </a:solidFill>
              </a:rPr>
              <a:t>12_decision_log DEC-04,05,06,07,11</a:t>
            </a:r>
            <a:endParaRPr lang="en-US" sz="975" dirty="0"/>
          </a:p>
        </p:txBody>
      </p:sp>
      <p:sp>
        <p:nvSpPr>
          <p:cNvPr id="124" name="SK-2-text-123"/>
          <p:cNvSpPr/>
          <p:nvPr/>
        </p:nvSpPr>
        <p:spPr>
          <a:xfrm>
            <a:off x="533400" y="6159847"/>
            <a:ext cx="256729" cy="39335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CA3AF"/>
                </a:solidFill>
              </a:rPr>
              <a:t>10</a:t>
            </a:r>
            <a:endParaRPr lang="en-US" sz="975" dirty="0"/>
          </a:p>
        </p:txBody>
      </p:sp>
      <p:sp>
        <p:nvSpPr>
          <p:cNvPr id="125" name="SK-2-text-124"/>
          <p:cNvSpPr/>
          <p:nvPr/>
        </p:nvSpPr>
        <p:spPr>
          <a:xfrm>
            <a:off x="1094929" y="6159847"/>
            <a:ext cx="2098179" cy="39335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파일럿 보고</a:t>
            </a:r>
            <a:endParaRPr lang="en-US" sz="975" dirty="0"/>
          </a:p>
        </p:txBody>
      </p:sp>
      <p:sp>
        <p:nvSpPr>
          <p:cNvPr id="126" name="SK-2-text-125"/>
          <p:cNvSpPr/>
          <p:nvPr/>
        </p:nvSpPr>
        <p:spPr>
          <a:xfrm>
            <a:off x="3345507" y="6159847"/>
            <a:ext cx="2507456" cy="39335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975" dirty="0"/>
          </a:p>
        </p:txBody>
      </p:sp>
      <p:sp>
        <p:nvSpPr>
          <p:cNvPr id="127" name="SK-2-textBg-126"/>
          <p:cNvSpPr/>
          <p:nvPr/>
        </p:nvSpPr>
        <p:spPr>
          <a:xfrm>
            <a:off x="6005364" y="6250781"/>
            <a:ext cx="2676525" cy="211336"/>
          </a:xfrm>
          <a:prstGeom prst="roundRect">
            <a:avLst>
              <a:gd name="adj" fmla="val 9014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8" name="SK-2-text-127"/>
          <p:cNvSpPr/>
          <p:nvPr/>
        </p:nvSpPr>
        <p:spPr>
          <a:xfrm>
            <a:off x="6062514" y="6250781"/>
            <a:ext cx="5073388" cy="2113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사업장 로봇 전원 Off (임무시도 2,140→573건)</a:t>
            </a:r>
            <a:endParaRPr lang="en-US" sz="975" dirty="0"/>
          </a:p>
        </p:txBody>
      </p:sp>
      <p:sp>
        <p:nvSpPr>
          <p:cNvPr id="129" name="SK-2-text-128"/>
          <p:cNvSpPr/>
          <p:nvPr/>
        </p:nvSpPr>
        <p:spPr>
          <a:xfrm>
            <a:off x="9279136" y="6159847"/>
            <a:ext cx="2912864" cy="39335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CA3AF"/>
                </a:solidFill>
              </a:rPr>
              <a:t>09_telemetry, 15_governance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3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3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3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5" name="SK-3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pic>
        <p:nvPicPr>
          <p:cNvPr id="6" name="SK-3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2087910"/>
            <a:ext cx="381000" cy="381000"/>
          </a:xfrm>
          <a:prstGeom prst="rect">
            <a:avLst/>
          </a:prstGeom>
        </p:spPr>
      </p:pic>
      <p:pic>
        <p:nvPicPr>
          <p:cNvPr id="7" name="SK-3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338" y="2468910"/>
            <a:ext cx="9525" cy="190500"/>
          </a:xfrm>
          <a:prstGeom prst="rect">
            <a:avLst/>
          </a:prstGeom>
        </p:spPr>
      </p:pic>
      <p:pic>
        <p:nvPicPr>
          <p:cNvPr id="8" name="SK-3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2773710"/>
            <a:ext cx="381000" cy="381000"/>
          </a:xfrm>
          <a:prstGeom prst="rect">
            <a:avLst/>
          </a:prstGeom>
        </p:spPr>
      </p:pic>
      <p:pic>
        <p:nvPicPr>
          <p:cNvPr id="9" name="SK-3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5338" y="3154710"/>
            <a:ext cx="9525" cy="190500"/>
          </a:xfrm>
          <a:prstGeom prst="rect">
            <a:avLst/>
          </a:prstGeom>
        </p:spPr>
      </p:pic>
      <p:pic>
        <p:nvPicPr>
          <p:cNvPr id="10" name="SK-3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3459510"/>
            <a:ext cx="381000" cy="381000"/>
          </a:xfrm>
          <a:prstGeom prst="rect">
            <a:avLst/>
          </a:prstGeom>
        </p:spPr>
      </p:pic>
      <p:pic>
        <p:nvPicPr>
          <p:cNvPr id="11" name="SK-3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5338" y="3840510"/>
            <a:ext cx="9525" cy="190500"/>
          </a:xfrm>
          <a:prstGeom prst="rect">
            <a:avLst/>
          </a:prstGeom>
        </p:spPr>
      </p:pic>
      <p:pic>
        <p:nvPicPr>
          <p:cNvPr id="12" name="SK-3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4145310"/>
            <a:ext cx="381000" cy="381000"/>
          </a:xfrm>
          <a:prstGeom prst="rect">
            <a:avLst/>
          </a:prstGeom>
        </p:spPr>
      </p:pic>
      <p:pic>
        <p:nvPicPr>
          <p:cNvPr id="13" name="SK-3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5338" y="4526310"/>
            <a:ext cx="9525" cy="190500"/>
          </a:xfrm>
          <a:prstGeom prst="rect">
            <a:avLst/>
          </a:prstGeom>
        </p:spPr>
      </p:pic>
      <p:pic>
        <p:nvPicPr>
          <p:cNvPr id="14" name="SK-3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9600" y="4831110"/>
            <a:ext cx="381000" cy="381000"/>
          </a:xfrm>
          <a:prstGeom prst="rect">
            <a:avLst/>
          </a:prstGeom>
        </p:spPr>
      </p:pic>
      <p:pic>
        <p:nvPicPr>
          <p:cNvPr id="15" name="SK-3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19200" y="5131147"/>
            <a:ext cx="5478810" cy="981075"/>
          </a:xfrm>
          <a:prstGeom prst="rect">
            <a:avLst/>
          </a:prstGeom>
        </p:spPr>
      </p:pic>
      <p:pic>
        <p:nvPicPr>
          <p:cNvPr id="16" name="SK-3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79010" y="1504950"/>
            <a:ext cx="4541490" cy="5190232"/>
          </a:xfrm>
          <a:prstGeom prst="rect">
            <a:avLst/>
          </a:prstGeom>
        </p:spPr>
      </p:pic>
      <p:pic>
        <p:nvPicPr>
          <p:cNvPr id="17" name="SK-3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07610" y="1733550"/>
            <a:ext cx="4084290" cy="400050"/>
          </a:xfrm>
          <a:prstGeom prst="rect">
            <a:avLst/>
          </a:prstGeom>
        </p:spPr>
      </p:pic>
      <p:pic>
        <p:nvPicPr>
          <p:cNvPr id="18" name="SK-3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307610" y="1781175"/>
            <a:ext cx="238125" cy="190500"/>
          </a:xfrm>
          <a:prstGeom prst="rect">
            <a:avLst/>
          </a:prstGeom>
        </p:spPr>
      </p:pic>
      <p:pic>
        <p:nvPicPr>
          <p:cNvPr id="19" name="SK-3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307610" y="2571750"/>
            <a:ext cx="2003971" cy="312390"/>
          </a:xfrm>
          <a:prstGeom prst="rect">
            <a:avLst/>
          </a:prstGeom>
        </p:spPr>
      </p:pic>
      <p:pic>
        <p:nvPicPr>
          <p:cNvPr id="20" name="SK-3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387780" y="2571750"/>
            <a:ext cx="2004120" cy="312390"/>
          </a:xfrm>
          <a:prstGeom prst="rect">
            <a:avLst/>
          </a:prstGeom>
        </p:spPr>
      </p:pic>
      <p:pic>
        <p:nvPicPr>
          <p:cNvPr id="21" name="SK-3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307610" y="2960340"/>
            <a:ext cx="2003971" cy="312390"/>
          </a:xfrm>
          <a:prstGeom prst="rect">
            <a:avLst/>
          </a:prstGeom>
        </p:spPr>
      </p:pic>
      <p:pic>
        <p:nvPicPr>
          <p:cNvPr id="22" name="SK-3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387780" y="2960340"/>
            <a:ext cx="2004120" cy="312390"/>
          </a:xfrm>
          <a:prstGeom prst="rect">
            <a:avLst/>
          </a:prstGeom>
        </p:spPr>
      </p:pic>
      <p:pic>
        <p:nvPicPr>
          <p:cNvPr id="23" name="SK-3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242524" y="3463230"/>
            <a:ext cx="214313" cy="175320"/>
          </a:xfrm>
          <a:prstGeom prst="rect">
            <a:avLst/>
          </a:prstGeom>
        </p:spPr>
      </p:pic>
      <p:pic>
        <p:nvPicPr>
          <p:cNvPr id="24" name="SK-3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307610" y="3829050"/>
            <a:ext cx="4084290" cy="633413"/>
          </a:xfrm>
          <a:prstGeom prst="rect">
            <a:avLst/>
          </a:prstGeom>
        </p:spPr>
      </p:pic>
      <p:pic>
        <p:nvPicPr>
          <p:cNvPr id="25" name="SK-3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242524" y="4652963"/>
            <a:ext cx="214313" cy="175320"/>
          </a:xfrm>
          <a:prstGeom prst="rect">
            <a:avLst/>
          </a:prstGeom>
        </p:spPr>
      </p:pic>
      <p:pic>
        <p:nvPicPr>
          <p:cNvPr id="26" name="SK-3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307610" y="5018782"/>
            <a:ext cx="4084290" cy="1447800"/>
          </a:xfrm>
          <a:prstGeom prst="rect">
            <a:avLst/>
          </a:prstGeom>
        </p:spPr>
      </p:pic>
      <p:pic>
        <p:nvPicPr>
          <p:cNvPr id="27" name="SK-3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421910" y="5171182"/>
            <a:ext cx="190500" cy="152400"/>
          </a:xfrm>
          <a:prstGeom prst="rect">
            <a:avLst/>
          </a:prstGeom>
        </p:spPr>
      </p:pic>
      <p:pic>
        <p:nvPicPr>
          <p:cNvPr id="28" name="SK-3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421910" y="5418832"/>
            <a:ext cx="3855690" cy="204788"/>
          </a:xfrm>
          <a:prstGeom prst="rect">
            <a:avLst/>
          </a:prstGeom>
        </p:spPr>
      </p:pic>
      <p:pic>
        <p:nvPicPr>
          <p:cNvPr id="29" name="SK-3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421910" y="5661720"/>
            <a:ext cx="3855690" cy="204788"/>
          </a:xfrm>
          <a:prstGeom prst="rect">
            <a:avLst/>
          </a:prstGeom>
        </p:spPr>
      </p:pic>
      <p:pic>
        <p:nvPicPr>
          <p:cNvPr id="30" name="SK-3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421910" y="5904607"/>
            <a:ext cx="3855690" cy="204788"/>
          </a:xfrm>
          <a:prstGeom prst="rect">
            <a:avLst/>
          </a:prstGeom>
        </p:spPr>
      </p:pic>
      <p:sp>
        <p:nvSpPr>
          <p:cNvPr id="31" name="SK-3-text-30"/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32" name="SK-3-text-31"/>
          <p:cNvSpPr/>
          <p:nvPr/>
        </p:nvSpPr>
        <p:spPr>
          <a:xfrm>
            <a:off x="571500" y="733425"/>
            <a:ext cx="11620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A-2 &amp; A-3. 근본원인 분석 및 시스템 인과관계</a:t>
            </a:r>
            <a:endParaRPr lang="en-US" sz="2550" dirty="0"/>
          </a:p>
        </p:txBody>
      </p:sp>
      <p:sp>
        <p:nvSpPr>
          <p:cNvPr id="33" name="SK-3-text-32"/>
          <p:cNvSpPr/>
          <p:nvPr/>
        </p:nvSpPr>
        <p:spPr>
          <a:xfrm>
            <a:off x="742950" y="2087910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05AEE"/>
                </a:solidFill>
              </a:rPr>
              <a:t>1</a:t>
            </a:r>
            <a:endParaRPr lang="en-US" sz="1500" dirty="0"/>
          </a:p>
        </p:txBody>
      </p:sp>
      <p:sp>
        <p:nvSpPr>
          <p:cNvPr id="34" name="SK-3-text-33"/>
          <p:cNvSpPr/>
          <p:nvPr/>
        </p:nvSpPr>
        <p:spPr>
          <a:xfrm>
            <a:off x="1219200" y="2126010"/>
            <a:ext cx="555501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9CA3AF"/>
                </a:solidFill>
              </a:rPr>
              <a:t>LEVEL 1</a:t>
            </a:r>
            <a:endParaRPr lang="en-US" sz="975" dirty="0"/>
          </a:p>
        </p:txBody>
      </p:sp>
      <p:sp>
        <p:nvSpPr>
          <p:cNvPr id="35" name="SK-3-text-34"/>
          <p:cNvSpPr/>
          <p:nvPr/>
        </p:nvSpPr>
        <p:spPr>
          <a:xfrm>
            <a:off x="1219200" y="2330797"/>
            <a:ext cx="7966710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실사업장 미학습 상황 </a:t>
            </a:r>
            <a:pPr indent="0" marL="0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36.9%</a:t>
            </a:r>
            <a:pPr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발생 (양재 테스트베드 시나리오 부재)</a:t>
            </a:r>
            <a:endParaRPr lang="en-US" sz="1275" dirty="0"/>
          </a:p>
        </p:txBody>
      </p:sp>
      <p:sp>
        <p:nvSpPr>
          <p:cNvPr id="36" name="SK-3-text-35"/>
          <p:cNvSpPr/>
          <p:nvPr/>
        </p:nvSpPr>
        <p:spPr>
          <a:xfrm>
            <a:off x="742950" y="2773710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05AEE"/>
                </a:solidFill>
              </a:rPr>
              <a:t>2</a:t>
            </a:r>
            <a:endParaRPr lang="en-US" sz="1500" dirty="0"/>
          </a:p>
        </p:txBody>
      </p:sp>
      <p:sp>
        <p:nvSpPr>
          <p:cNvPr id="37" name="SK-3-text-36"/>
          <p:cNvSpPr/>
          <p:nvPr/>
        </p:nvSpPr>
        <p:spPr>
          <a:xfrm>
            <a:off x="1219200" y="2811810"/>
            <a:ext cx="555501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9CA3AF"/>
                </a:solidFill>
              </a:rPr>
              <a:t>LEVEL 2</a:t>
            </a:r>
            <a:endParaRPr lang="en-US" sz="975" dirty="0"/>
          </a:p>
        </p:txBody>
      </p:sp>
      <p:sp>
        <p:nvSpPr>
          <p:cNvPr id="38" name="SK-3-text-37"/>
          <p:cNvSpPr/>
          <p:nvPr/>
        </p:nvSpPr>
        <p:spPr>
          <a:xfrm>
            <a:off x="1219200" y="3016597"/>
            <a:ext cx="8225790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성공기준(SC-03)이 정형 테스트베드만 측정 + </a:t>
            </a:r>
            <a:pPr indent="0" marL="0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편익(BEN) 측정 방기</a:t>
            </a:r>
            <a:endParaRPr lang="en-US" sz="1275" dirty="0"/>
          </a:p>
        </p:txBody>
      </p:sp>
      <p:sp>
        <p:nvSpPr>
          <p:cNvPr id="39" name="SK-3-text-38"/>
          <p:cNvSpPr/>
          <p:nvPr/>
        </p:nvSpPr>
        <p:spPr>
          <a:xfrm>
            <a:off x="742950" y="3459510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05AEE"/>
                </a:solidFill>
              </a:rPr>
              <a:t>3</a:t>
            </a:r>
            <a:endParaRPr lang="en-US" sz="1500" dirty="0"/>
          </a:p>
        </p:txBody>
      </p:sp>
      <p:sp>
        <p:nvSpPr>
          <p:cNvPr id="40" name="SK-3-text-39"/>
          <p:cNvSpPr/>
          <p:nvPr/>
        </p:nvSpPr>
        <p:spPr>
          <a:xfrm>
            <a:off x="1219200" y="3497610"/>
            <a:ext cx="555501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9CA3AF"/>
                </a:solidFill>
              </a:rPr>
              <a:t>LEVEL 3</a:t>
            </a:r>
            <a:endParaRPr lang="en-US" sz="975" dirty="0"/>
          </a:p>
        </p:txBody>
      </p:sp>
      <p:sp>
        <p:nvSpPr>
          <p:cNvPr id="41" name="SK-3-text-40"/>
          <p:cNvSpPr/>
          <p:nvPr/>
        </p:nvSpPr>
        <p:spPr>
          <a:xfrm>
            <a:off x="1219200" y="3702397"/>
            <a:ext cx="7383780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PM이 </a:t>
            </a:r>
            <a:pPr indent="0" marL="0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"측정 가능한 것만 측정"</a:t>
            </a:r>
            <a:pPr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하고 관리 — 불편한 현장 신호 차단</a:t>
            </a:r>
            <a:endParaRPr lang="en-US" sz="1275" dirty="0"/>
          </a:p>
        </p:txBody>
      </p:sp>
      <p:sp>
        <p:nvSpPr>
          <p:cNvPr id="42" name="SK-3-text-41"/>
          <p:cNvSpPr/>
          <p:nvPr/>
        </p:nvSpPr>
        <p:spPr>
          <a:xfrm>
            <a:off x="742950" y="4145310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05AEE"/>
                </a:solidFill>
              </a:rPr>
              <a:t>4</a:t>
            </a:r>
            <a:endParaRPr lang="en-US" sz="1500" dirty="0"/>
          </a:p>
        </p:txBody>
      </p:sp>
      <p:sp>
        <p:nvSpPr>
          <p:cNvPr id="43" name="SK-3-text-42"/>
          <p:cNvSpPr/>
          <p:nvPr/>
        </p:nvSpPr>
        <p:spPr>
          <a:xfrm>
            <a:off x="1219200" y="4183410"/>
            <a:ext cx="555501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9CA3AF"/>
                </a:solidFill>
              </a:rPr>
              <a:t>LEVEL 4</a:t>
            </a:r>
            <a:endParaRPr lang="en-US" sz="975" dirty="0"/>
          </a:p>
        </p:txBody>
      </p:sp>
      <p:sp>
        <p:nvSpPr>
          <p:cNvPr id="44" name="SK-3-text-43"/>
          <p:cNvSpPr/>
          <p:nvPr/>
        </p:nvSpPr>
        <p:spPr>
          <a:xfrm>
            <a:off x="1219200" y="4388197"/>
            <a:ext cx="6412230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분산(메신저/구두) + </a:t>
            </a:r>
            <a:pPr indent="0" marL="0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자동보고를 무비판 수용</a:t>
            </a:r>
            <a:endParaRPr lang="en-US" sz="1275" dirty="0"/>
          </a:p>
        </p:txBody>
      </p:sp>
      <p:sp>
        <p:nvSpPr>
          <p:cNvPr id="45" name="SK-3-text-44"/>
          <p:cNvSpPr/>
          <p:nvPr/>
        </p:nvSpPr>
        <p:spPr>
          <a:xfrm>
            <a:off x="742652" y="4831110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★</a:t>
            </a:r>
            <a:endParaRPr lang="en-US" sz="1500" dirty="0"/>
          </a:p>
        </p:txBody>
      </p:sp>
      <p:sp>
        <p:nvSpPr>
          <p:cNvPr id="46" name="SK-3-text-45"/>
          <p:cNvSpPr/>
          <p:nvPr/>
        </p:nvSpPr>
        <p:spPr>
          <a:xfrm>
            <a:off x="1219200" y="4869210"/>
            <a:ext cx="555501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005AEE"/>
                </a:solidFill>
              </a:rPr>
              <a:t>ROOT CAUSE</a:t>
            </a:r>
            <a:endParaRPr lang="en-US" sz="975" dirty="0"/>
          </a:p>
        </p:txBody>
      </p:sp>
      <p:sp>
        <p:nvSpPr>
          <p:cNvPr id="47" name="SK-3-text-46"/>
          <p:cNvSpPr/>
          <p:nvPr/>
        </p:nvSpPr>
        <p:spPr>
          <a:xfrm>
            <a:off x="1333500" y="5245447"/>
            <a:ext cx="605218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측정이 관리를 대체했다 (Goodhart's Law)</a:t>
            </a:r>
            <a:endParaRPr lang="en-US" sz="1350" dirty="0"/>
          </a:p>
        </p:txBody>
      </p:sp>
      <p:sp>
        <p:nvSpPr>
          <p:cNvPr id="48" name="SK-3-text-47"/>
          <p:cNvSpPr/>
          <p:nvPr/>
        </p:nvSpPr>
        <p:spPr>
          <a:xfrm>
            <a:off x="1333500" y="5540722"/>
            <a:ext cx="52502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"지표가 목표가 되면, 좋은 지표이기를 멈춘다" — 프로젝트의 진짜 목적이 아닌 보고 체계 유지가 목적이 됨</a:t>
            </a:r>
            <a:endParaRPr lang="en-US" sz="1200" dirty="0"/>
          </a:p>
        </p:txBody>
      </p:sp>
      <p:sp>
        <p:nvSpPr>
          <p:cNvPr id="49" name="SK-3-text-48"/>
          <p:cNvSpPr/>
          <p:nvPr/>
        </p:nvSpPr>
        <p:spPr>
          <a:xfrm>
            <a:off x="7640985" y="1733550"/>
            <a:ext cx="408429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인과관계 진단</a:t>
            </a:r>
            <a:endParaRPr lang="en-US" sz="1500" dirty="0"/>
          </a:p>
        </p:txBody>
      </p:sp>
      <p:sp>
        <p:nvSpPr>
          <p:cNvPr id="50" name="SK-3-text-49"/>
          <p:cNvSpPr/>
          <p:nvPr/>
        </p:nvSpPr>
        <p:spPr>
          <a:xfrm>
            <a:off x="7307610" y="2324100"/>
            <a:ext cx="41604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spc="36" kern="0" dirty="0">
                <a:solidFill>
                  <a:srgbClr val="9CA3AF"/>
                </a:solidFill>
              </a:rPr>
              <a:t>STRUCTURE DEFECTS</a:t>
            </a:r>
            <a:endParaRPr lang="en-US" sz="900" dirty="0"/>
          </a:p>
        </p:txBody>
      </p:sp>
      <p:sp>
        <p:nvSpPr>
          <p:cNvPr id="51" name="SK-3-text-50"/>
          <p:cNvSpPr/>
          <p:nvPr/>
        </p:nvSpPr>
        <p:spPr>
          <a:xfrm>
            <a:off x="7402860" y="2571750"/>
            <a:ext cx="1889671" cy="3123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4B5563"/>
                </a:solidFill>
              </a:rPr>
              <a:t>측정 체계의 왜곡</a:t>
            </a:r>
            <a:endParaRPr lang="en-US" sz="1050" dirty="0"/>
          </a:p>
        </p:txBody>
      </p:sp>
      <p:sp>
        <p:nvSpPr>
          <p:cNvPr id="52" name="SK-3-text-51"/>
          <p:cNvSpPr/>
          <p:nvPr/>
        </p:nvSpPr>
        <p:spPr>
          <a:xfrm>
            <a:off x="9483030" y="2571750"/>
            <a:ext cx="1889820" cy="3123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4B5563"/>
                </a:solidFill>
              </a:rPr>
              <a:t>변경 통제의 붕괴</a:t>
            </a:r>
            <a:endParaRPr lang="en-US" sz="1050" dirty="0"/>
          </a:p>
        </p:txBody>
      </p:sp>
      <p:sp>
        <p:nvSpPr>
          <p:cNvPr id="53" name="SK-3-text-52"/>
          <p:cNvSpPr/>
          <p:nvPr/>
        </p:nvSpPr>
        <p:spPr>
          <a:xfrm>
            <a:off x="7402860" y="2960340"/>
            <a:ext cx="1889671" cy="3123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4B5563"/>
                </a:solidFill>
              </a:rPr>
              <a:t>AI 자동화 무검토</a:t>
            </a:r>
            <a:endParaRPr lang="en-US" sz="1050" dirty="0"/>
          </a:p>
        </p:txBody>
      </p:sp>
      <p:sp>
        <p:nvSpPr>
          <p:cNvPr id="54" name="SK-3-text-53"/>
          <p:cNvSpPr/>
          <p:nvPr/>
        </p:nvSpPr>
        <p:spPr>
          <a:xfrm>
            <a:off x="9483030" y="2960340"/>
            <a:ext cx="1889820" cy="3123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4B5563"/>
                </a:solidFill>
              </a:rPr>
              <a:t>EVM 분리 보고</a:t>
            </a:r>
            <a:endParaRPr lang="en-US" sz="1050" dirty="0"/>
          </a:p>
        </p:txBody>
      </p:sp>
      <p:sp>
        <p:nvSpPr>
          <p:cNvPr id="55" name="SK-3-text-54"/>
          <p:cNvSpPr/>
          <p:nvPr/>
        </p:nvSpPr>
        <p:spPr>
          <a:xfrm>
            <a:off x="7383810" y="3943350"/>
            <a:ext cx="393189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ALL GREEN 보고의 항상성 유지</a:t>
            </a:r>
            <a:endParaRPr lang="en-US" sz="1125" dirty="0"/>
          </a:p>
        </p:txBody>
      </p:sp>
      <p:sp>
        <p:nvSpPr>
          <p:cNvPr id="56" name="SK-3-text-55"/>
          <p:cNvSpPr/>
          <p:nvPr/>
        </p:nvSpPr>
        <p:spPr>
          <a:xfrm>
            <a:off x="7383810" y="4176712"/>
            <a:ext cx="39318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CA3AF"/>
                </a:solidFill>
              </a:rPr>
              <a:t>(수박 프로젝트의 완성: 16주 반복)</a:t>
            </a:r>
            <a:endParaRPr lang="en-US" sz="900" dirty="0"/>
          </a:p>
        </p:txBody>
      </p:sp>
      <p:sp>
        <p:nvSpPr>
          <p:cNvPr id="57" name="SK-3-text-56"/>
          <p:cNvSpPr/>
          <p:nvPr/>
        </p:nvSpPr>
        <p:spPr>
          <a:xfrm>
            <a:off x="7688610" y="5133082"/>
            <a:ext cx="38556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결과: 고객 가치 미전달</a:t>
            </a:r>
            <a:endParaRPr lang="en-US" sz="1200" dirty="0"/>
          </a:p>
        </p:txBody>
      </p:sp>
      <p:sp>
        <p:nvSpPr>
          <p:cNvPr id="58" name="SK-3-text-57"/>
          <p:cNvSpPr/>
          <p:nvPr/>
        </p:nvSpPr>
        <p:spPr>
          <a:xfrm>
            <a:off x="7421910" y="5418832"/>
            <a:ext cx="96774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/>
                </a:solidFill>
              </a:rPr>
              <a:t>무개입완주율</a:t>
            </a:r>
            <a:endParaRPr lang="en-US" sz="975" dirty="0"/>
          </a:p>
        </p:txBody>
      </p:sp>
      <p:sp>
        <p:nvSpPr>
          <p:cNvPr id="59" name="SK-3-text-58"/>
          <p:cNvSpPr/>
          <p:nvPr/>
        </p:nvSpPr>
        <p:spPr>
          <a:xfrm>
            <a:off x="10934105" y="5418832"/>
            <a:ext cx="86868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FFFFFF"/>
                </a:solidFill>
              </a:rPr>
              <a:t>6.1%</a:t>
            </a:r>
            <a:endParaRPr lang="en-US" sz="975" dirty="0"/>
          </a:p>
        </p:txBody>
      </p:sp>
      <p:sp>
        <p:nvSpPr>
          <p:cNvPr id="60" name="SK-3-text-59"/>
          <p:cNvSpPr/>
          <p:nvPr/>
        </p:nvSpPr>
        <p:spPr>
          <a:xfrm>
            <a:off x="7421910" y="5661720"/>
            <a:ext cx="126492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/>
                </a:solidFill>
              </a:rPr>
              <a:t>임무시도 감소율</a:t>
            </a:r>
            <a:endParaRPr lang="en-US" sz="975" dirty="0"/>
          </a:p>
        </p:txBody>
      </p:sp>
      <p:sp>
        <p:nvSpPr>
          <p:cNvPr id="61" name="SK-3-text-60"/>
          <p:cNvSpPr/>
          <p:nvPr/>
        </p:nvSpPr>
        <p:spPr>
          <a:xfrm>
            <a:off x="10929789" y="5661720"/>
            <a:ext cx="86868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FFFFFF"/>
                </a:solidFill>
              </a:rPr>
              <a:t>-73%</a:t>
            </a:r>
            <a:endParaRPr lang="en-US" sz="975" dirty="0"/>
          </a:p>
        </p:txBody>
      </p:sp>
      <p:sp>
        <p:nvSpPr>
          <p:cNvPr id="62" name="SK-3-text-61"/>
          <p:cNvSpPr/>
          <p:nvPr/>
        </p:nvSpPr>
        <p:spPr>
          <a:xfrm>
            <a:off x="7421910" y="5904607"/>
            <a:ext cx="200787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/>
                </a:solidFill>
              </a:rPr>
              <a:t>Helion EOL 대응</a:t>
            </a:r>
            <a:endParaRPr lang="en-US" sz="975" dirty="0"/>
          </a:p>
        </p:txBody>
      </p:sp>
      <p:sp>
        <p:nvSpPr>
          <p:cNvPr id="63" name="SK-3-text-62"/>
          <p:cNvSpPr/>
          <p:nvPr/>
        </p:nvSpPr>
        <p:spPr>
          <a:xfrm>
            <a:off x="10544770" y="5904607"/>
            <a:ext cx="161163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FFFFFF"/>
                </a:solidFill>
              </a:rPr>
              <a:t>불가 (D-37)</a:t>
            </a:r>
            <a:endParaRPr lang="en-US" sz="975" dirty="0"/>
          </a:p>
        </p:txBody>
      </p:sp>
      <p:sp>
        <p:nvSpPr>
          <p:cNvPr id="64" name="SK-3-text-63"/>
          <p:cNvSpPr/>
          <p:nvPr/>
        </p:nvSpPr>
        <p:spPr>
          <a:xfrm>
            <a:off x="7421910" y="6147495"/>
            <a:ext cx="156210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/>
                </a:solidFill>
              </a:rPr>
              <a:t>편익(BEN) 달성</a:t>
            </a:r>
            <a:endParaRPr lang="en-US" sz="975" dirty="0"/>
          </a:p>
        </p:txBody>
      </p:sp>
      <p:sp>
        <p:nvSpPr>
          <p:cNvPr id="65" name="SK-3-text-64"/>
          <p:cNvSpPr/>
          <p:nvPr/>
        </p:nvSpPr>
        <p:spPr>
          <a:xfrm>
            <a:off x="10906125" y="6147495"/>
            <a:ext cx="52197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FFFFFF"/>
                </a:solidFill>
              </a:rPr>
              <a:t>불확실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4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4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4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04800"/>
            <a:ext cx="2122289" cy="276225"/>
          </a:xfrm>
          <a:prstGeom prst="rect">
            <a:avLst/>
          </a:prstGeom>
        </p:spPr>
      </p:pic>
      <p:pic>
        <p:nvPicPr>
          <p:cNvPr id="5" name="SK-4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438150"/>
            <a:ext cx="8812411" cy="9525"/>
          </a:xfrm>
          <a:prstGeom prst="rect">
            <a:avLst/>
          </a:prstGeom>
        </p:spPr>
      </p:pic>
      <p:pic>
        <p:nvPicPr>
          <p:cNvPr id="6" name="SK-4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295400"/>
            <a:ext cx="11049000" cy="2619375"/>
          </a:xfrm>
          <a:prstGeom prst="rect">
            <a:avLst/>
          </a:prstGeom>
        </p:spPr>
      </p:pic>
      <p:pic>
        <p:nvPicPr>
          <p:cNvPr id="7" name="SK-4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295400"/>
            <a:ext cx="1657350" cy="390525"/>
          </a:xfrm>
          <a:prstGeom prst="rect">
            <a:avLst/>
          </a:prstGeom>
        </p:spPr>
      </p:pic>
      <p:pic>
        <p:nvPicPr>
          <p:cNvPr id="8" name="SK-4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28850" y="1295400"/>
            <a:ext cx="2209800" cy="390525"/>
          </a:xfrm>
          <a:prstGeom prst="rect">
            <a:avLst/>
          </a:prstGeom>
        </p:spPr>
      </p:pic>
      <p:pic>
        <p:nvPicPr>
          <p:cNvPr id="9" name="SK-4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38650" y="1295400"/>
            <a:ext cx="5524500" cy="390525"/>
          </a:xfrm>
          <a:prstGeom prst="rect">
            <a:avLst/>
          </a:prstGeom>
        </p:spPr>
      </p:pic>
      <p:pic>
        <p:nvPicPr>
          <p:cNvPr id="10" name="SK-4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63150" y="1295400"/>
            <a:ext cx="1657350" cy="390525"/>
          </a:xfrm>
          <a:prstGeom prst="rect">
            <a:avLst/>
          </a:prstGeom>
        </p:spPr>
      </p:pic>
      <p:pic>
        <p:nvPicPr>
          <p:cNvPr id="11" name="SK-4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1685925"/>
            <a:ext cx="1657350" cy="557213"/>
          </a:xfrm>
          <a:prstGeom prst="rect">
            <a:avLst/>
          </a:prstGeom>
        </p:spPr>
      </p:pic>
      <p:pic>
        <p:nvPicPr>
          <p:cNvPr id="12" name="SK-4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28850" y="1685925"/>
            <a:ext cx="2209800" cy="557213"/>
          </a:xfrm>
          <a:prstGeom prst="rect">
            <a:avLst/>
          </a:prstGeom>
        </p:spPr>
      </p:pic>
      <p:pic>
        <p:nvPicPr>
          <p:cNvPr id="13" name="SK-4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38650" y="1685925"/>
            <a:ext cx="5524500" cy="557213"/>
          </a:xfrm>
          <a:prstGeom prst="rect">
            <a:avLst/>
          </a:prstGeom>
        </p:spPr>
      </p:pic>
      <p:pic>
        <p:nvPicPr>
          <p:cNvPr id="14" name="SK-4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63150" y="1685925"/>
            <a:ext cx="1657350" cy="557213"/>
          </a:xfrm>
          <a:prstGeom prst="rect">
            <a:avLst/>
          </a:prstGeom>
        </p:spPr>
      </p:pic>
      <p:pic>
        <p:nvPicPr>
          <p:cNvPr id="15" name="SK-4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500" y="2243138"/>
            <a:ext cx="1657350" cy="557213"/>
          </a:xfrm>
          <a:prstGeom prst="rect">
            <a:avLst/>
          </a:prstGeom>
        </p:spPr>
      </p:pic>
      <p:pic>
        <p:nvPicPr>
          <p:cNvPr id="16" name="SK-4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228850" y="2243138"/>
            <a:ext cx="2209800" cy="557213"/>
          </a:xfrm>
          <a:prstGeom prst="rect">
            <a:avLst/>
          </a:prstGeom>
        </p:spPr>
      </p:pic>
      <p:pic>
        <p:nvPicPr>
          <p:cNvPr id="17" name="SK-4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38650" y="2243138"/>
            <a:ext cx="5524500" cy="557213"/>
          </a:xfrm>
          <a:prstGeom prst="rect">
            <a:avLst/>
          </a:prstGeom>
        </p:spPr>
      </p:pic>
      <p:pic>
        <p:nvPicPr>
          <p:cNvPr id="18" name="SK-4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963150" y="2243138"/>
            <a:ext cx="1657350" cy="557213"/>
          </a:xfrm>
          <a:prstGeom prst="rect">
            <a:avLst/>
          </a:prstGeom>
        </p:spPr>
      </p:pic>
      <p:pic>
        <p:nvPicPr>
          <p:cNvPr id="19" name="SK-4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1500" y="2800350"/>
            <a:ext cx="1657350" cy="557213"/>
          </a:xfrm>
          <a:prstGeom prst="rect">
            <a:avLst/>
          </a:prstGeom>
        </p:spPr>
      </p:pic>
      <p:pic>
        <p:nvPicPr>
          <p:cNvPr id="20" name="SK-4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228850" y="2800350"/>
            <a:ext cx="2209800" cy="557213"/>
          </a:xfrm>
          <a:prstGeom prst="rect">
            <a:avLst/>
          </a:prstGeom>
        </p:spPr>
      </p:pic>
      <p:pic>
        <p:nvPicPr>
          <p:cNvPr id="21" name="SK-4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438650" y="2800350"/>
            <a:ext cx="5524500" cy="557213"/>
          </a:xfrm>
          <a:prstGeom prst="rect">
            <a:avLst/>
          </a:prstGeom>
        </p:spPr>
      </p:pic>
      <p:pic>
        <p:nvPicPr>
          <p:cNvPr id="22" name="SK-4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963150" y="2800350"/>
            <a:ext cx="1657350" cy="557213"/>
          </a:xfrm>
          <a:prstGeom prst="rect">
            <a:avLst/>
          </a:prstGeom>
        </p:spPr>
      </p:pic>
      <p:pic>
        <p:nvPicPr>
          <p:cNvPr id="23" name="SK-4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71500" y="4067175"/>
            <a:ext cx="11049000" cy="1085850"/>
          </a:xfrm>
          <a:prstGeom prst="rect">
            <a:avLst/>
          </a:prstGeom>
        </p:spPr>
      </p:pic>
      <p:pic>
        <p:nvPicPr>
          <p:cNvPr id="24" name="SK-4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62000" y="4219575"/>
            <a:ext cx="285750" cy="228600"/>
          </a:xfrm>
          <a:prstGeom prst="rect">
            <a:avLst/>
          </a:prstGeom>
        </p:spPr>
      </p:pic>
      <p:pic>
        <p:nvPicPr>
          <p:cNvPr id="25" name="SK-4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71500" y="5305425"/>
            <a:ext cx="5429250" cy="1247775"/>
          </a:xfrm>
          <a:prstGeom prst="rect">
            <a:avLst/>
          </a:prstGeom>
        </p:spPr>
      </p:pic>
      <p:pic>
        <p:nvPicPr>
          <p:cNvPr id="26" name="SK-4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23900" y="5467350"/>
            <a:ext cx="190500" cy="152400"/>
          </a:xfrm>
          <a:prstGeom prst="rect">
            <a:avLst/>
          </a:prstGeom>
        </p:spPr>
      </p:pic>
      <p:pic>
        <p:nvPicPr>
          <p:cNvPr id="27" name="SK-4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191250" y="5305425"/>
            <a:ext cx="5429250" cy="1247775"/>
          </a:xfrm>
          <a:prstGeom prst="rect">
            <a:avLst/>
          </a:prstGeom>
        </p:spPr>
      </p:pic>
      <p:pic>
        <p:nvPicPr>
          <p:cNvPr id="28" name="SK-4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343650" y="5483423"/>
            <a:ext cx="190500" cy="152400"/>
          </a:xfrm>
          <a:prstGeom prst="rect">
            <a:avLst/>
          </a:prstGeom>
        </p:spPr>
      </p:pic>
      <p:sp>
        <p:nvSpPr>
          <p:cNvPr id="29" name="SK-4-text-28"/>
          <p:cNvSpPr/>
          <p:nvPr/>
        </p:nvSpPr>
        <p:spPr>
          <a:xfrm>
            <a:off x="647700" y="30480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30" name="SK-4-text-29"/>
          <p:cNvSpPr/>
          <p:nvPr/>
        </p:nvSpPr>
        <p:spPr>
          <a:xfrm>
            <a:off x="571500" y="657225"/>
            <a:ext cx="11620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A-4. 용의자 책임 규명 및 구조적 맹목 진단</a:t>
            </a:r>
            <a:endParaRPr lang="en-US" sz="2550" dirty="0"/>
          </a:p>
        </p:txBody>
      </p:sp>
      <p:sp>
        <p:nvSpPr>
          <p:cNvPr id="31" name="SK-4-text-30"/>
          <p:cNvSpPr/>
          <p:nvPr/>
        </p:nvSpPr>
        <p:spPr>
          <a:xfrm>
            <a:off x="685800" y="1295400"/>
            <a:ext cx="15049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용의자</a:t>
            </a:r>
            <a:endParaRPr lang="en-US" sz="1050" dirty="0"/>
          </a:p>
        </p:txBody>
      </p:sp>
      <p:sp>
        <p:nvSpPr>
          <p:cNvPr id="32" name="SK-4-text-31"/>
          <p:cNvSpPr/>
          <p:nvPr/>
        </p:nvSpPr>
        <p:spPr>
          <a:xfrm>
            <a:off x="2343150" y="1295400"/>
            <a:ext cx="20574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주장</a:t>
            </a:r>
            <a:endParaRPr lang="en-US" sz="1050" dirty="0"/>
          </a:p>
        </p:txBody>
      </p:sp>
      <p:sp>
        <p:nvSpPr>
          <p:cNvPr id="33" name="SK-4-text-32"/>
          <p:cNvSpPr/>
          <p:nvPr/>
        </p:nvSpPr>
        <p:spPr>
          <a:xfrm>
            <a:off x="4552950" y="1295400"/>
            <a:ext cx="53721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데이터가 증명하는 사실</a:t>
            </a:r>
            <a:endParaRPr lang="en-US" sz="1050" dirty="0"/>
          </a:p>
        </p:txBody>
      </p:sp>
      <p:sp>
        <p:nvSpPr>
          <p:cNvPr id="34" name="SK-4-text-33"/>
          <p:cNvSpPr/>
          <p:nvPr/>
        </p:nvSpPr>
        <p:spPr>
          <a:xfrm>
            <a:off x="10077450" y="1295400"/>
            <a:ext cx="15049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 수준</a:t>
            </a:r>
            <a:endParaRPr lang="en-US" sz="1050" dirty="0"/>
          </a:p>
        </p:txBody>
      </p:sp>
      <p:sp>
        <p:nvSpPr>
          <p:cNvPr id="35" name="SK-4-text-34"/>
          <p:cNvSpPr/>
          <p:nvPr/>
        </p:nvSpPr>
        <p:spPr>
          <a:xfrm>
            <a:off x="685800" y="1771650"/>
            <a:ext cx="10363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 한도경</a:t>
            </a:r>
            <a:endParaRPr lang="en-US" sz="1050" dirty="0"/>
          </a:p>
        </p:txBody>
      </p:sp>
      <p:sp>
        <p:nvSpPr>
          <p:cNvPr id="36" name="SK-4-text-35"/>
          <p:cNvSpPr/>
          <p:nvPr/>
        </p:nvSpPr>
        <p:spPr>
          <a:xfrm>
            <a:off x="2343150" y="1685925"/>
            <a:ext cx="2371659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"EVM으로 철저히 관리했다"</a:t>
            </a:r>
            <a:endParaRPr lang="en-US" sz="1050" dirty="0"/>
          </a:p>
        </p:txBody>
      </p:sp>
      <p:sp>
        <p:nvSpPr>
          <p:cNvPr id="37" name="SK-4-text-36"/>
          <p:cNvSpPr/>
          <p:nvPr/>
        </p:nvSpPr>
        <p:spPr>
          <a:xfrm>
            <a:off x="4552950" y="1685925"/>
            <a:ext cx="529590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인프라 비용 분리 보고 ② DoD 변경으로 완료율 부풀림 ③ 리스크 근거 없이 하향 ④ 편익 측정 방기 ⑤ 파일럿 데이터 미수신 ⑥ G3 조건 미추적 ⑦ Daniel Suh 무회신</a:t>
            </a:r>
            <a:endParaRPr lang="en-US" sz="1050" dirty="0"/>
          </a:p>
        </p:txBody>
      </p:sp>
      <p:sp>
        <p:nvSpPr>
          <p:cNvPr id="38" name="SK-4-text-37"/>
          <p:cNvSpPr/>
          <p:nvPr/>
        </p:nvSpPr>
        <p:spPr>
          <a:xfrm>
            <a:off x="10077450" y="1685925"/>
            <a:ext cx="150495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★ 주범</a:t>
            </a:r>
            <a:endParaRPr lang="en-US" sz="1050" dirty="0"/>
          </a:p>
        </p:txBody>
      </p:sp>
      <p:sp>
        <p:nvSpPr>
          <p:cNvPr id="39" name="SK-4-text-38"/>
          <p:cNvSpPr/>
          <p:nvPr/>
        </p:nvSpPr>
        <p:spPr>
          <a:xfrm>
            <a:off x="685800" y="2328863"/>
            <a:ext cx="10363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 노유진</a:t>
            </a:r>
            <a:endParaRPr lang="en-US" sz="1050" dirty="0"/>
          </a:p>
        </p:txBody>
      </p:sp>
      <p:sp>
        <p:nvSpPr>
          <p:cNvPr id="40" name="SK-4-text-39"/>
          <p:cNvSpPr/>
          <p:nvPr/>
        </p:nvSpPr>
        <p:spPr>
          <a:xfrm>
            <a:off x="2343150" y="2243138"/>
            <a:ext cx="2228193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"백로그 조정은 PO 권한"</a:t>
            </a:r>
            <a:endParaRPr lang="en-US" sz="1050" dirty="0"/>
          </a:p>
        </p:txBody>
      </p:sp>
      <p:sp>
        <p:nvSpPr>
          <p:cNvPr id="41" name="SK-4-text-40"/>
          <p:cNvSpPr/>
          <p:nvPr/>
        </p:nvSpPr>
        <p:spPr>
          <a:xfrm>
            <a:off x="4552950" y="2243138"/>
            <a:ext cx="529590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편익 성공기준 포함 제안 기각(M-01), 파일럿 착수 시 성공기준 불요 동의(M-05). 8/14에 "계약유지율이 약속"이라며 뒤늦게 문제제기.</a:t>
            </a:r>
            <a:endParaRPr lang="en-US" sz="1050" dirty="0"/>
          </a:p>
        </p:txBody>
      </p:sp>
      <p:sp>
        <p:nvSpPr>
          <p:cNvPr id="42" name="SK-4-text-41"/>
          <p:cNvSpPr/>
          <p:nvPr/>
        </p:nvSpPr>
        <p:spPr>
          <a:xfrm>
            <a:off x="10077450" y="2243138"/>
            <a:ext cx="150495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공동책임(일부)</a:t>
            </a:r>
            <a:endParaRPr lang="en-US" sz="1050" dirty="0"/>
          </a:p>
        </p:txBody>
      </p:sp>
      <p:sp>
        <p:nvSpPr>
          <p:cNvPr id="43" name="SK-4-text-42"/>
          <p:cNvSpPr/>
          <p:nvPr/>
        </p:nvSpPr>
        <p:spPr>
          <a:xfrm>
            <a:off x="685800" y="2886075"/>
            <a:ext cx="215646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 Lead 임태오</a:t>
            </a:r>
            <a:endParaRPr lang="en-US" sz="1050" dirty="0"/>
          </a:p>
        </p:txBody>
      </p:sp>
      <p:sp>
        <p:nvSpPr>
          <p:cNvPr id="44" name="SK-4-text-43"/>
          <p:cNvSpPr/>
          <p:nvPr/>
        </p:nvSpPr>
        <p:spPr>
          <a:xfrm>
            <a:off x="2343150" y="2800350"/>
            <a:ext cx="205740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"Jira에 다 올렸다"</a:t>
            </a:r>
            <a:endParaRPr lang="en-US" sz="1050" dirty="0"/>
          </a:p>
        </p:txBody>
      </p:sp>
      <p:sp>
        <p:nvSpPr>
          <p:cNvPr id="45" name="SK-4-text-44"/>
          <p:cNvSpPr/>
          <p:nvPr/>
        </p:nvSpPr>
        <p:spPr>
          <a:xfrm>
            <a:off x="4552950" y="2800350"/>
            <a:ext cx="529590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HER-188(리스크), E-02(Helion EOL) 등 보고는 수행함. 단, VLM 최고티어 고정 결정에 동의(E-06)하여 비용 초과 일조.</a:t>
            </a:r>
            <a:endParaRPr lang="en-US" sz="1050" dirty="0"/>
          </a:p>
        </p:txBody>
      </p:sp>
      <p:sp>
        <p:nvSpPr>
          <p:cNvPr id="46" name="SK-4-text-45"/>
          <p:cNvSpPr/>
          <p:nvPr/>
        </p:nvSpPr>
        <p:spPr>
          <a:xfrm>
            <a:off x="10077450" y="2800350"/>
            <a:ext cx="150495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제한적</a:t>
            </a:r>
            <a:endParaRPr lang="en-US" sz="1050" dirty="0"/>
          </a:p>
        </p:txBody>
      </p:sp>
      <p:sp>
        <p:nvSpPr>
          <p:cNvPr id="47" name="SK-4-text-46"/>
          <p:cNvSpPr/>
          <p:nvPr/>
        </p:nvSpPr>
        <p:spPr>
          <a:xfrm>
            <a:off x="685800" y="3443288"/>
            <a:ext cx="10363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스폰서/SM</a:t>
            </a:r>
            <a:endParaRPr lang="en-US" sz="1050" dirty="0"/>
          </a:p>
        </p:txBody>
      </p:sp>
      <p:sp>
        <p:nvSpPr>
          <p:cNvPr id="48" name="SK-4-text-47"/>
          <p:cNvSpPr/>
          <p:nvPr/>
        </p:nvSpPr>
        <p:spPr>
          <a:xfrm>
            <a:off x="2343150" y="3357563"/>
            <a:ext cx="205740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"스크럼 원칙 준수"</a:t>
            </a:r>
            <a:endParaRPr lang="en-US" sz="1050" dirty="0"/>
          </a:p>
        </p:txBody>
      </p:sp>
      <p:sp>
        <p:nvSpPr>
          <p:cNvPr id="49" name="SK-4-text-48"/>
          <p:cNvSpPr/>
          <p:nvPr/>
        </p:nvSpPr>
        <p:spPr>
          <a:xfrm>
            <a:off x="4552950" y="3357563"/>
            <a:ext cx="529590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스폰서: 편익 측정 "추후 지정" 결정(M-01), G3 조건부 통과 후 사후 관리 부재. 구조적 실패 방치.</a:t>
            </a:r>
            <a:endParaRPr lang="en-US" sz="1050" dirty="0"/>
          </a:p>
        </p:txBody>
      </p:sp>
      <p:sp>
        <p:nvSpPr>
          <p:cNvPr id="50" name="SK-4-text-49"/>
          <p:cNvSpPr/>
          <p:nvPr/>
        </p:nvSpPr>
        <p:spPr>
          <a:xfrm>
            <a:off x="10077450" y="3357563"/>
            <a:ext cx="150495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구조적 공모</a:t>
            </a:r>
            <a:endParaRPr lang="en-US" sz="1050" dirty="0"/>
          </a:p>
        </p:txBody>
      </p:sp>
      <p:sp>
        <p:nvSpPr>
          <p:cNvPr id="51" name="SK-4-text-50"/>
          <p:cNvSpPr/>
          <p:nvPr/>
        </p:nvSpPr>
        <p:spPr>
          <a:xfrm>
            <a:off x="1162050" y="4191000"/>
            <a:ext cx="75628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판결: PM 한도경 — 1차 책임, 본질은 [구조적 맹목]</a:t>
            </a:r>
            <a:endParaRPr lang="en-US" sz="1500" dirty="0"/>
          </a:p>
        </p:txBody>
      </p:sp>
      <p:sp>
        <p:nvSpPr>
          <p:cNvPr id="52" name="SK-4-text-51"/>
          <p:cNvSpPr/>
          <p:nvPr/>
        </p:nvSpPr>
        <p:spPr>
          <a:xfrm>
            <a:off x="762000" y="4572000"/>
            <a:ext cx="1066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한도경 PM은 의도적 은폐보다는 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"보이지 않는 것을 모르는 상태"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방치했다. 편익 측정 체계 부재, AI 보고서 무검토 수용, 불편한 신호 차단은 PM의 의사결정 결과이다.</a:t>
            </a:r>
            <a:endParaRPr lang="en-US" sz="1200" dirty="0"/>
          </a:p>
        </p:txBody>
      </p:sp>
      <p:sp>
        <p:nvSpPr>
          <p:cNvPr id="53" name="SK-4-text-52"/>
          <p:cNvSpPr/>
          <p:nvPr/>
        </p:nvSpPr>
        <p:spPr>
          <a:xfrm>
            <a:off x="990600" y="5429250"/>
            <a:ext cx="5124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HERMES ≠ 전형적 수박 프로젝트</a:t>
            </a:r>
            <a:endParaRPr lang="en-US" sz="1200" dirty="0"/>
          </a:p>
        </p:txBody>
      </p:sp>
      <p:sp>
        <p:nvSpPr>
          <p:cNvPr id="54" name="SK-4-text-53"/>
          <p:cNvSpPr/>
          <p:nvPr/>
        </p:nvSpPr>
        <p:spPr>
          <a:xfrm>
            <a:off x="723900" y="5734050"/>
            <a:ext cx="11963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전형적 수박:</a:t>
            </a:r>
            <a:endParaRPr lang="en-US" sz="1050" dirty="0"/>
          </a:p>
        </p:txBody>
      </p:sp>
      <p:sp>
        <p:nvSpPr>
          <p:cNvPr id="55" name="SK-4-text-54"/>
          <p:cNvSpPr/>
          <p:nvPr/>
        </p:nvSpPr>
        <p:spPr>
          <a:xfrm>
            <a:off x="1771650" y="5734050"/>
            <a:ext cx="4000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PM이 </a:t>
            </a:r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의도적으로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실적을 위장 (악의적 은폐)</a:t>
            </a:r>
            <a:endParaRPr lang="en-US" sz="1050" dirty="0"/>
          </a:p>
        </p:txBody>
      </p:sp>
      <p:sp>
        <p:nvSpPr>
          <p:cNvPr id="56" name="SK-4-text-55"/>
          <p:cNvSpPr/>
          <p:nvPr/>
        </p:nvSpPr>
        <p:spPr>
          <a:xfrm>
            <a:off x="723900" y="5991225"/>
            <a:ext cx="11963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HERMES:</a:t>
            </a:r>
            <a:endParaRPr lang="en-US" sz="1050" dirty="0"/>
          </a:p>
        </p:txBody>
      </p:sp>
      <p:sp>
        <p:nvSpPr>
          <p:cNvPr id="57" name="SK-4-text-56"/>
          <p:cNvSpPr/>
          <p:nvPr/>
        </p:nvSpPr>
        <p:spPr>
          <a:xfrm>
            <a:off x="1771650" y="5991225"/>
            <a:ext cx="52806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 체계 자체의 결함으로 </a:t>
            </a:r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아무도 보지 못함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(구조적 맹목)</a:t>
            </a:r>
            <a:endParaRPr lang="en-US" sz="1050" dirty="0"/>
          </a:p>
        </p:txBody>
      </p:sp>
      <p:sp>
        <p:nvSpPr>
          <p:cNvPr id="58" name="SK-4-text-57"/>
          <p:cNvSpPr/>
          <p:nvPr/>
        </p:nvSpPr>
        <p:spPr>
          <a:xfrm>
            <a:off x="6534150" y="5429250"/>
            <a:ext cx="5124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본질적 원인 — 구조 3중 부재</a:t>
            </a:r>
            <a:endParaRPr lang="en-US" sz="1200" dirty="0"/>
          </a:p>
        </p:txBody>
      </p:sp>
      <p:sp>
        <p:nvSpPr>
          <p:cNvPr id="59" name="SK-4-text-58"/>
          <p:cNvSpPr/>
          <p:nvPr/>
        </p:nvSpPr>
        <p:spPr>
          <a:xfrm>
            <a:off x="6461671" y="5734050"/>
            <a:ext cx="57303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자동 보고에</a:t>
            </a:r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 검토(Human-in-the-loop)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없는 구조</a:t>
            </a:r>
            <a:endParaRPr lang="en-US" sz="1050" dirty="0"/>
          </a:p>
        </p:txBody>
      </p:sp>
      <p:sp>
        <p:nvSpPr>
          <p:cNvPr id="60" name="SK-4-text-59"/>
          <p:cNvSpPr/>
          <p:nvPr/>
        </p:nvSpPr>
        <p:spPr>
          <a:xfrm>
            <a:off x="6461671" y="5981700"/>
            <a:ext cx="57303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편익 측정</a:t>
            </a:r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책임(Accountability)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누구에게도 할당되지 않은 구조</a:t>
            </a:r>
            <a:endParaRPr lang="en-US" sz="1050" dirty="0"/>
          </a:p>
        </p:txBody>
      </p:sp>
      <p:sp>
        <p:nvSpPr>
          <p:cNvPr id="61" name="SK-4-text-60"/>
          <p:cNvSpPr/>
          <p:nvPr/>
        </p:nvSpPr>
        <p:spPr>
          <a:xfrm>
            <a:off x="6461671" y="6229350"/>
            <a:ext cx="57303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의사결정의</a:t>
            </a:r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원천(SSOT)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없는 구조 (3개 리전 불일치 양산)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5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5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5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28600"/>
            <a:ext cx="2122289" cy="276225"/>
          </a:xfrm>
          <a:prstGeom prst="rect">
            <a:avLst/>
          </a:prstGeom>
        </p:spPr>
      </p:pic>
      <p:pic>
        <p:nvPicPr>
          <p:cNvPr id="5" name="SK-5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361950"/>
            <a:ext cx="8812411" cy="9525"/>
          </a:xfrm>
          <a:prstGeom prst="rect">
            <a:avLst/>
          </a:prstGeom>
        </p:spPr>
      </p:pic>
      <p:pic>
        <p:nvPicPr>
          <p:cNvPr id="6" name="SK-5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200150"/>
            <a:ext cx="3581400" cy="1001911"/>
          </a:xfrm>
          <a:prstGeom prst="rect">
            <a:avLst/>
          </a:prstGeom>
        </p:spPr>
      </p:pic>
      <p:pic>
        <p:nvPicPr>
          <p:cNvPr id="7" name="SK-5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1150" y="1459706"/>
            <a:ext cx="857250" cy="252413"/>
          </a:xfrm>
          <a:prstGeom prst="rect">
            <a:avLst/>
          </a:prstGeom>
        </p:spPr>
      </p:pic>
      <p:pic>
        <p:nvPicPr>
          <p:cNvPr id="8" name="SK-5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05300" y="1200150"/>
            <a:ext cx="3581400" cy="1001911"/>
          </a:xfrm>
          <a:prstGeom prst="rect">
            <a:avLst/>
          </a:prstGeom>
        </p:spPr>
      </p:pic>
      <p:pic>
        <p:nvPicPr>
          <p:cNvPr id="9" name="SK-5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38775" y="1459706"/>
            <a:ext cx="1571625" cy="252413"/>
          </a:xfrm>
          <a:prstGeom prst="rect">
            <a:avLst/>
          </a:prstGeom>
        </p:spPr>
      </p:pic>
      <p:pic>
        <p:nvPicPr>
          <p:cNvPr id="10" name="SK-5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39100" y="1200150"/>
            <a:ext cx="3581400" cy="1001911"/>
          </a:xfrm>
          <a:prstGeom prst="rect">
            <a:avLst/>
          </a:prstGeom>
        </p:spPr>
      </p:pic>
      <p:pic>
        <p:nvPicPr>
          <p:cNvPr id="11" name="SK-5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34500" y="1459706"/>
            <a:ext cx="1209675" cy="252413"/>
          </a:xfrm>
          <a:prstGeom prst="rect">
            <a:avLst/>
          </a:prstGeom>
        </p:spPr>
      </p:pic>
      <p:pic>
        <p:nvPicPr>
          <p:cNvPr id="12" name="SK-5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2316361"/>
            <a:ext cx="7581900" cy="595313"/>
          </a:xfrm>
          <a:prstGeom prst="rect">
            <a:avLst/>
          </a:prstGeom>
        </p:spPr>
      </p:pic>
      <p:pic>
        <p:nvPicPr>
          <p:cNvPr id="13" name="SK-5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" y="2461617"/>
            <a:ext cx="304800" cy="304800"/>
          </a:xfrm>
          <a:prstGeom prst="rect">
            <a:avLst/>
          </a:prstGeom>
        </p:spPr>
      </p:pic>
      <p:pic>
        <p:nvPicPr>
          <p:cNvPr id="14" name="SK-5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2968823"/>
            <a:ext cx="7581900" cy="595313"/>
          </a:xfrm>
          <a:prstGeom prst="rect">
            <a:avLst/>
          </a:prstGeom>
        </p:spPr>
      </p:pic>
      <p:pic>
        <p:nvPicPr>
          <p:cNvPr id="15" name="SK-5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800" y="3114080"/>
            <a:ext cx="304800" cy="304800"/>
          </a:xfrm>
          <a:prstGeom prst="rect">
            <a:avLst/>
          </a:prstGeom>
        </p:spPr>
      </p:pic>
      <p:pic>
        <p:nvPicPr>
          <p:cNvPr id="16" name="SK-5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3621286"/>
            <a:ext cx="7581900" cy="595313"/>
          </a:xfrm>
          <a:prstGeom prst="rect">
            <a:avLst/>
          </a:prstGeom>
        </p:spPr>
      </p:pic>
      <p:pic>
        <p:nvPicPr>
          <p:cNvPr id="17" name="SK-5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5800" y="3766542"/>
            <a:ext cx="304800" cy="304800"/>
          </a:xfrm>
          <a:prstGeom prst="rect">
            <a:avLst/>
          </a:prstGeom>
        </p:spPr>
      </p:pic>
      <p:pic>
        <p:nvPicPr>
          <p:cNvPr id="18" name="SK-5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1500" y="4273748"/>
            <a:ext cx="7581900" cy="595313"/>
          </a:xfrm>
          <a:prstGeom prst="rect">
            <a:avLst/>
          </a:prstGeom>
        </p:spPr>
      </p:pic>
      <p:pic>
        <p:nvPicPr>
          <p:cNvPr id="19" name="SK-5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5800" y="4419005"/>
            <a:ext cx="304800" cy="304800"/>
          </a:xfrm>
          <a:prstGeom prst="rect">
            <a:avLst/>
          </a:prstGeom>
        </p:spPr>
      </p:pic>
      <p:pic>
        <p:nvPicPr>
          <p:cNvPr id="20" name="SK-5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1500" y="4926211"/>
            <a:ext cx="7581900" cy="595313"/>
          </a:xfrm>
          <a:prstGeom prst="rect">
            <a:avLst/>
          </a:prstGeom>
        </p:spPr>
      </p:pic>
      <p:pic>
        <p:nvPicPr>
          <p:cNvPr id="21" name="SK-5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85800" y="5071467"/>
            <a:ext cx="304800" cy="304800"/>
          </a:xfrm>
          <a:prstGeom prst="rect">
            <a:avLst/>
          </a:prstGeom>
        </p:spPr>
      </p:pic>
      <p:pic>
        <p:nvPicPr>
          <p:cNvPr id="22" name="SK-5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71500" y="5578673"/>
            <a:ext cx="7581900" cy="595313"/>
          </a:xfrm>
          <a:prstGeom prst="rect">
            <a:avLst/>
          </a:prstGeom>
        </p:spPr>
      </p:pic>
      <p:pic>
        <p:nvPicPr>
          <p:cNvPr id="23" name="SK-5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85800" y="5723930"/>
            <a:ext cx="304800" cy="304800"/>
          </a:xfrm>
          <a:prstGeom prst="rect">
            <a:avLst/>
          </a:prstGeom>
        </p:spPr>
      </p:pic>
      <p:pic>
        <p:nvPicPr>
          <p:cNvPr id="24" name="SK-5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382000" y="2316361"/>
            <a:ext cx="3238500" cy="4313039"/>
          </a:xfrm>
          <a:prstGeom prst="rect">
            <a:avLst/>
          </a:prstGeom>
        </p:spPr>
      </p:pic>
      <p:pic>
        <p:nvPicPr>
          <p:cNvPr id="25" name="SK-5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534400" y="2411611"/>
            <a:ext cx="2933700" cy="257175"/>
          </a:xfrm>
          <a:prstGeom prst="rect">
            <a:avLst/>
          </a:prstGeom>
        </p:spPr>
      </p:pic>
      <p:pic>
        <p:nvPicPr>
          <p:cNvPr id="26" name="SK-5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534400" y="2443014"/>
            <a:ext cx="166688" cy="137220"/>
          </a:xfrm>
          <a:prstGeom prst="rect">
            <a:avLst/>
          </a:prstGeom>
        </p:spPr>
      </p:pic>
      <p:pic>
        <p:nvPicPr>
          <p:cNvPr id="27" name="SK-5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534400" y="2754511"/>
            <a:ext cx="2933700" cy="661988"/>
          </a:xfrm>
          <a:prstGeom prst="rect">
            <a:avLst/>
          </a:prstGeom>
        </p:spPr>
      </p:pic>
      <p:pic>
        <p:nvPicPr>
          <p:cNvPr id="28" name="SK-5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534400" y="3483173"/>
            <a:ext cx="2933700" cy="661988"/>
          </a:xfrm>
          <a:prstGeom prst="rect">
            <a:avLst/>
          </a:prstGeom>
        </p:spPr>
      </p:pic>
      <p:pic>
        <p:nvPicPr>
          <p:cNvPr id="29" name="SK-5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534400" y="4211836"/>
            <a:ext cx="2933700" cy="661988"/>
          </a:xfrm>
          <a:prstGeom prst="rect">
            <a:avLst/>
          </a:prstGeom>
        </p:spPr>
      </p:pic>
      <p:pic>
        <p:nvPicPr>
          <p:cNvPr id="30" name="SK-5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534400" y="4940498"/>
            <a:ext cx="2933700" cy="661988"/>
          </a:xfrm>
          <a:prstGeom prst="rect">
            <a:avLst/>
          </a:prstGeom>
        </p:spPr>
      </p:pic>
      <p:pic>
        <p:nvPicPr>
          <p:cNvPr id="31" name="SK-5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534400" y="5881092"/>
            <a:ext cx="2933700" cy="653058"/>
          </a:xfrm>
          <a:prstGeom prst="rect">
            <a:avLst/>
          </a:prstGeom>
        </p:spPr>
      </p:pic>
      <p:sp>
        <p:nvSpPr>
          <p:cNvPr id="32" name="SK-5-text-31"/>
          <p:cNvSpPr/>
          <p:nvPr/>
        </p:nvSpPr>
        <p:spPr>
          <a:xfrm>
            <a:off x="647700" y="22860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33" name="SK-5-text-32"/>
          <p:cNvSpPr/>
          <p:nvPr/>
        </p:nvSpPr>
        <p:spPr>
          <a:xfrm>
            <a:off x="571500" y="581025"/>
            <a:ext cx="11620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B-1. Mindset 및 6대 원칙 위반 진단</a:t>
            </a:r>
            <a:endParaRPr lang="en-US" sz="2550" dirty="0"/>
          </a:p>
        </p:txBody>
      </p:sp>
      <p:sp>
        <p:nvSpPr>
          <p:cNvPr id="34" name="SK-5-text-33"/>
          <p:cNvSpPr/>
          <p:nvPr/>
        </p:nvSpPr>
        <p:spPr>
          <a:xfrm>
            <a:off x="723900" y="1266825"/>
            <a:ext cx="3352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MINDSET 01</a:t>
            </a:r>
            <a:endParaRPr lang="en-US" sz="900" dirty="0"/>
          </a:p>
        </p:txBody>
      </p:sp>
      <p:sp>
        <p:nvSpPr>
          <p:cNvPr id="35" name="SK-5-text-34"/>
          <p:cNvSpPr/>
          <p:nvPr/>
        </p:nvSpPr>
        <p:spPr>
          <a:xfrm>
            <a:off x="723900" y="1457325"/>
            <a:ext cx="425196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Proactive</a:t>
            </a:r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❌ Reactive</a:t>
            </a:r>
            <a:endParaRPr lang="en-US" sz="1350" dirty="0"/>
          </a:p>
        </p:txBody>
      </p:sp>
      <p:sp>
        <p:nvSpPr>
          <p:cNvPr id="36" name="SK-5-text-35"/>
          <p:cNvSpPr/>
          <p:nvPr/>
        </p:nvSpPr>
        <p:spPr>
          <a:xfrm>
            <a:off x="723900" y="1762125"/>
            <a:ext cx="327660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리스크를 예방하는 것이 아니라, 문제가 터진 후 수습하는 패턴. "일단 넘어갑시다"의 반복.</a:t>
            </a:r>
            <a:endParaRPr lang="en-US" sz="1050" dirty="0"/>
          </a:p>
        </p:txBody>
      </p:sp>
      <p:sp>
        <p:nvSpPr>
          <p:cNvPr id="37" name="SK-5-text-36"/>
          <p:cNvSpPr/>
          <p:nvPr/>
        </p:nvSpPr>
        <p:spPr>
          <a:xfrm>
            <a:off x="4457700" y="1266825"/>
            <a:ext cx="3352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MINDSET 02</a:t>
            </a:r>
            <a:endParaRPr lang="en-US" sz="900" dirty="0"/>
          </a:p>
        </p:txBody>
      </p:sp>
      <p:sp>
        <p:nvSpPr>
          <p:cNvPr id="38" name="SK-5-text-37"/>
          <p:cNvSpPr/>
          <p:nvPr/>
        </p:nvSpPr>
        <p:spPr>
          <a:xfrm>
            <a:off x="4457700" y="1457325"/>
            <a:ext cx="65151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Ownership</a:t>
            </a:r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❌ accountability Void</a:t>
            </a:r>
            <a:endParaRPr lang="en-US" sz="1350" dirty="0"/>
          </a:p>
        </p:txBody>
      </p:sp>
      <p:sp>
        <p:nvSpPr>
          <p:cNvPr id="39" name="SK-5-text-38"/>
          <p:cNvSpPr/>
          <p:nvPr/>
        </p:nvSpPr>
        <p:spPr>
          <a:xfrm>
            <a:off x="4457700" y="1762125"/>
            <a:ext cx="327660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RACI 공란 및 책임 소재 불분명 구역에서 실패 발생. 주간보고 승인 주체 부재.</a:t>
            </a:r>
            <a:endParaRPr lang="en-US" sz="1050" dirty="0"/>
          </a:p>
        </p:txBody>
      </p:sp>
      <p:sp>
        <p:nvSpPr>
          <p:cNvPr id="40" name="SK-5-text-39"/>
          <p:cNvSpPr/>
          <p:nvPr/>
        </p:nvSpPr>
        <p:spPr>
          <a:xfrm>
            <a:off x="8191500" y="1266825"/>
            <a:ext cx="3352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MINDSET 03</a:t>
            </a:r>
            <a:endParaRPr lang="en-US" sz="900" dirty="0"/>
          </a:p>
        </p:txBody>
      </p:sp>
      <p:sp>
        <p:nvSpPr>
          <p:cNvPr id="41" name="SK-5-text-40"/>
          <p:cNvSpPr/>
          <p:nvPr/>
        </p:nvSpPr>
        <p:spPr>
          <a:xfrm>
            <a:off x="8191500" y="1457325"/>
            <a:ext cx="40005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Value-driven</a:t>
            </a:r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❌ Output-driven</a:t>
            </a:r>
            <a:endParaRPr lang="en-US" sz="1350" dirty="0"/>
          </a:p>
        </p:txBody>
      </p:sp>
      <p:sp>
        <p:nvSpPr>
          <p:cNvPr id="42" name="SK-5-text-41"/>
          <p:cNvSpPr/>
          <p:nvPr/>
        </p:nvSpPr>
        <p:spPr>
          <a:xfrm>
            <a:off x="8191500" y="1762125"/>
            <a:ext cx="327660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프로젝트의 존재 이유(Outcome)와 PM의 관리 초점(Output)이 완전히 분리된 상태.</a:t>
            </a:r>
            <a:endParaRPr lang="en-US" sz="1050" dirty="0"/>
          </a:p>
        </p:txBody>
      </p:sp>
      <p:sp>
        <p:nvSpPr>
          <p:cNvPr id="43" name="SK-5-text-42"/>
          <p:cNvSpPr/>
          <p:nvPr/>
        </p:nvSpPr>
        <p:spPr>
          <a:xfrm>
            <a:off x="762000" y="2461617"/>
            <a:ext cx="60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</a:rPr>
              <a:t>01</a:t>
            </a:r>
            <a:endParaRPr lang="en-US" sz="1050" dirty="0"/>
          </a:p>
        </p:txBody>
      </p:sp>
      <p:sp>
        <p:nvSpPr>
          <p:cNvPr id="44" name="SK-5-text-43"/>
          <p:cNvSpPr/>
          <p:nvPr/>
        </p:nvSpPr>
        <p:spPr>
          <a:xfrm>
            <a:off x="1143000" y="2402086"/>
            <a:ext cx="2024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전체론적 관점 채택</a:t>
            </a:r>
            <a:endParaRPr lang="en-US" sz="1275" dirty="0"/>
          </a:p>
        </p:txBody>
      </p:sp>
      <p:sp>
        <p:nvSpPr>
          <p:cNvPr id="45" name="SK-5-textBg-44"/>
          <p:cNvSpPr/>
          <p:nvPr/>
        </p:nvSpPr>
        <p:spPr>
          <a:xfrm>
            <a:off x="2628900" y="2411611"/>
            <a:ext cx="514350" cy="19050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6" name="SK-5-text-45"/>
          <p:cNvSpPr/>
          <p:nvPr/>
        </p:nvSpPr>
        <p:spPr>
          <a:xfrm>
            <a:off x="2705100" y="2411611"/>
            <a:ext cx="4879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🔴 위반</a:t>
            </a:r>
            <a:endParaRPr lang="en-US" sz="975" dirty="0"/>
          </a:p>
        </p:txBody>
      </p:sp>
      <p:sp>
        <p:nvSpPr>
          <p:cNvPr id="47" name="SK-5-text-46"/>
          <p:cNvSpPr/>
          <p:nvPr/>
        </p:nvSpPr>
        <p:spPr>
          <a:xfrm>
            <a:off x="1143000" y="2644973"/>
            <a:ext cx="69723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부문만 보고, AI 인프라 비용 분리 등 시스템 상호작용 무시</a:t>
            </a:r>
            <a:endParaRPr lang="en-US" sz="1050" dirty="0"/>
          </a:p>
        </p:txBody>
      </p:sp>
      <p:sp>
        <p:nvSpPr>
          <p:cNvPr id="48" name="SK-5-text-47"/>
          <p:cNvSpPr/>
          <p:nvPr/>
        </p:nvSpPr>
        <p:spPr>
          <a:xfrm>
            <a:off x="762000" y="3114080"/>
            <a:ext cx="60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</a:rPr>
              <a:t>02</a:t>
            </a:r>
            <a:endParaRPr lang="en-US" sz="1050" dirty="0"/>
          </a:p>
        </p:txBody>
      </p:sp>
      <p:sp>
        <p:nvSpPr>
          <p:cNvPr id="49" name="SK-5-text-48"/>
          <p:cNvSpPr/>
          <p:nvPr/>
        </p:nvSpPr>
        <p:spPr>
          <a:xfrm>
            <a:off x="1143000" y="3054548"/>
            <a:ext cx="182975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가치에 대한 집중</a:t>
            </a:r>
            <a:endParaRPr lang="en-US" sz="1275" dirty="0"/>
          </a:p>
        </p:txBody>
      </p:sp>
      <p:sp>
        <p:nvSpPr>
          <p:cNvPr id="50" name="SK-5-textBg-49"/>
          <p:cNvSpPr/>
          <p:nvPr/>
        </p:nvSpPr>
        <p:spPr>
          <a:xfrm>
            <a:off x="2466975" y="3064073"/>
            <a:ext cx="514350" cy="19050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1" name="SK-5-text-50"/>
          <p:cNvSpPr/>
          <p:nvPr/>
        </p:nvSpPr>
        <p:spPr>
          <a:xfrm>
            <a:off x="2543175" y="3064073"/>
            <a:ext cx="4879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🔴 위반</a:t>
            </a:r>
            <a:endParaRPr lang="en-US" sz="975" dirty="0"/>
          </a:p>
        </p:txBody>
      </p:sp>
      <p:sp>
        <p:nvSpPr>
          <p:cNvPr id="52" name="SK-5-text-51"/>
          <p:cNvSpPr/>
          <p:nvPr/>
        </p:nvSpPr>
        <p:spPr>
          <a:xfrm>
            <a:off x="1143000" y="3297436"/>
            <a:ext cx="69723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Output(완료율) 집착, Outcome(편익) 방기. 고객 가치 신호 차단</a:t>
            </a:r>
            <a:endParaRPr lang="en-US" sz="1050" dirty="0"/>
          </a:p>
        </p:txBody>
      </p:sp>
      <p:sp>
        <p:nvSpPr>
          <p:cNvPr id="53" name="SK-5-text-52"/>
          <p:cNvSpPr/>
          <p:nvPr/>
        </p:nvSpPr>
        <p:spPr>
          <a:xfrm>
            <a:off x="762000" y="3766542"/>
            <a:ext cx="60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</a:rPr>
              <a:t>03</a:t>
            </a:r>
            <a:endParaRPr lang="en-US" sz="1050" dirty="0"/>
          </a:p>
        </p:txBody>
      </p:sp>
      <p:sp>
        <p:nvSpPr>
          <p:cNvPr id="54" name="SK-5-text-53"/>
          <p:cNvSpPr/>
          <p:nvPr/>
        </p:nvSpPr>
        <p:spPr>
          <a:xfrm>
            <a:off x="1143000" y="3707011"/>
            <a:ext cx="12468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내재화</a:t>
            </a:r>
            <a:endParaRPr lang="en-US" sz="1275" dirty="0"/>
          </a:p>
        </p:txBody>
      </p:sp>
      <p:sp>
        <p:nvSpPr>
          <p:cNvPr id="55" name="SK-5-textBg-54"/>
          <p:cNvSpPr/>
          <p:nvPr/>
        </p:nvSpPr>
        <p:spPr>
          <a:xfrm>
            <a:off x="2105025" y="3716536"/>
            <a:ext cx="762000" cy="19050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6" name="SK-5-text-55"/>
          <p:cNvSpPr/>
          <p:nvPr/>
        </p:nvSpPr>
        <p:spPr>
          <a:xfrm>
            <a:off x="2181225" y="3716536"/>
            <a:ext cx="792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🟠 간접위반</a:t>
            </a:r>
            <a:endParaRPr lang="en-US" sz="975" dirty="0"/>
          </a:p>
        </p:txBody>
      </p:sp>
      <p:sp>
        <p:nvSpPr>
          <p:cNvPr id="57" name="SK-5-text-56"/>
          <p:cNvSpPr/>
          <p:nvPr/>
        </p:nvSpPr>
        <p:spPr>
          <a:xfrm>
            <a:off x="1143000" y="3949898"/>
            <a:ext cx="72237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DoD v2에서 QA 통과 삭제. 실물 검증 없이 코드 머지만으로 Done 판정</a:t>
            </a:r>
            <a:endParaRPr lang="en-US" sz="1050" dirty="0"/>
          </a:p>
        </p:txBody>
      </p:sp>
      <p:sp>
        <p:nvSpPr>
          <p:cNvPr id="58" name="SK-5-text-57"/>
          <p:cNvSpPr/>
          <p:nvPr/>
        </p:nvSpPr>
        <p:spPr>
          <a:xfrm>
            <a:off x="762000" y="4419005"/>
            <a:ext cx="60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04</a:t>
            </a:r>
            <a:endParaRPr lang="en-US" sz="1050" dirty="0"/>
          </a:p>
        </p:txBody>
      </p:sp>
      <p:sp>
        <p:nvSpPr>
          <p:cNvPr id="59" name="SK-5-text-58"/>
          <p:cNvSpPr/>
          <p:nvPr/>
        </p:nvSpPr>
        <p:spPr>
          <a:xfrm>
            <a:off x="1143000" y="4359473"/>
            <a:ext cx="182975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책임감 있는 리더</a:t>
            </a:r>
            <a:endParaRPr lang="en-US" sz="1275" dirty="0"/>
          </a:p>
        </p:txBody>
      </p:sp>
      <p:sp>
        <p:nvSpPr>
          <p:cNvPr id="60" name="SK-5-textBg-59"/>
          <p:cNvSpPr/>
          <p:nvPr/>
        </p:nvSpPr>
        <p:spPr>
          <a:xfrm>
            <a:off x="2466975" y="4368998"/>
            <a:ext cx="762000" cy="19050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1" name="SK-5-text-60"/>
          <p:cNvSpPr/>
          <p:nvPr/>
        </p:nvSpPr>
        <p:spPr>
          <a:xfrm>
            <a:off x="2543175" y="4368998"/>
            <a:ext cx="792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🔴 핵심위반</a:t>
            </a:r>
            <a:endParaRPr lang="en-US" sz="975" dirty="0"/>
          </a:p>
        </p:txBody>
      </p:sp>
      <p:sp>
        <p:nvSpPr>
          <p:cNvPr id="62" name="SK-5-text-61"/>
          <p:cNvSpPr/>
          <p:nvPr/>
        </p:nvSpPr>
        <p:spPr>
          <a:xfrm>
            <a:off x="1143000" y="4602361"/>
            <a:ext cx="69723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RACI 공란 4건, 에스컬레이션 미수행, 리스크 근거 없는 하향 조작</a:t>
            </a:r>
            <a:endParaRPr lang="en-US" sz="1050" dirty="0"/>
          </a:p>
        </p:txBody>
      </p:sp>
      <p:sp>
        <p:nvSpPr>
          <p:cNvPr id="63" name="SK-5-text-62"/>
          <p:cNvSpPr/>
          <p:nvPr/>
        </p:nvSpPr>
        <p:spPr>
          <a:xfrm>
            <a:off x="762000" y="5071467"/>
            <a:ext cx="60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</a:rPr>
              <a:t>05</a:t>
            </a:r>
            <a:endParaRPr lang="en-US" sz="1050" dirty="0"/>
          </a:p>
        </p:txBody>
      </p:sp>
      <p:sp>
        <p:nvSpPr>
          <p:cNvPr id="64" name="SK-5-text-63"/>
          <p:cNvSpPr/>
          <p:nvPr/>
        </p:nvSpPr>
        <p:spPr>
          <a:xfrm>
            <a:off x="1143000" y="5011936"/>
            <a:ext cx="163544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지속가능성 통합</a:t>
            </a:r>
            <a:endParaRPr lang="en-US" sz="1275" dirty="0"/>
          </a:p>
        </p:txBody>
      </p:sp>
      <p:sp>
        <p:nvSpPr>
          <p:cNvPr id="65" name="SK-5-textBg-64"/>
          <p:cNvSpPr/>
          <p:nvPr/>
        </p:nvSpPr>
        <p:spPr>
          <a:xfrm>
            <a:off x="2428875" y="5021461"/>
            <a:ext cx="762000" cy="190500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6" name="SK-5-text-65"/>
          <p:cNvSpPr/>
          <p:nvPr/>
        </p:nvSpPr>
        <p:spPr>
          <a:xfrm>
            <a:off x="2505075" y="5021461"/>
            <a:ext cx="792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🟡 간접위반</a:t>
            </a:r>
            <a:endParaRPr lang="en-US" sz="975" dirty="0"/>
          </a:p>
        </p:txBody>
      </p:sp>
      <p:sp>
        <p:nvSpPr>
          <p:cNvPr id="67" name="SK-5-text-66"/>
          <p:cNvSpPr/>
          <p:nvPr/>
        </p:nvSpPr>
        <p:spPr>
          <a:xfrm>
            <a:off x="1143000" y="5254823"/>
            <a:ext cx="69723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단기 지표 유지를 위해 장기 가치(편익, Helion 마이그레이션) 희생</a:t>
            </a:r>
            <a:endParaRPr lang="en-US" sz="1050" dirty="0"/>
          </a:p>
        </p:txBody>
      </p:sp>
      <p:sp>
        <p:nvSpPr>
          <p:cNvPr id="68" name="SK-5-text-67"/>
          <p:cNvSpPr/>
          <p:nvPr/>
        </p:nvSpPr>
        <p:spPr>
          <a:xfrm>
            <a:off x="762000" y="5723930"/>
            <a:ext cx="60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</a:rPr>
              <a:t>06</a:t>
            </a:r>
            <a:endParaRPr lang="en-US" sz="1050" dirty="0"/>
          </a:p>
        </p:txBody>
      </p:sp>
      <p:sp>
        <p:nvSpPr>
          <p:cNvPr id="69" name="SK-5-text-68"/>
          <p:cNvSpPr/>
          <p:nvPr/>
        </p:nvSpPr>
        <p:spPr>
          <a:xfrm>
            <a:off x="1143000" y="5664398"/>
            <a:ext cx="182975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자율성/권한 문화</a:t>
            </a:r>
            <a:endParaRPr lang="en-US" sz="1275" dirty="0"/>
          </a:p>
        </p:txBody>
      </p:sp>
      <p:sp>
        <p:nvSpPr>
          <p:cNvPr id="70" name="SK-5-textBg-69"/>
          <p:cNvSpPr/>
          <p:nvPr/>
        </p:nvSpPr>
        <p:spPr>
          <a:xfrm>
            <a:off x="2486025" y="5673923"/>
            <a:ext cx="762000" cy="19050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1" name="SK-5-text-70"/>
          <p:cNvSpPr/>
          <p:nvPr/>
        </p:nvSpPr>
        <p:spPr>
          <a:xfrm>
            <a:off x="2562225" y="5673923"/>
            <a:ext cx="792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🟢 해당없음</a:t>
            </a:r>
            <a:endParaRPr lang="en-US" sz="975" dirty="0"/>
          </a:p>
        </p:txBody>
      </p:sp>
      <p:sp>
        <p:nvSpPr>
          <p:cNvPr id="72" name="SK-5-text-71"/>
          <p:cNvSpPr/>
          <p:nvPr/>
        </p:nvSpPr>
        <p:spPr>
          <a:xfrm>
            <a:off x="1143000" y="5907286"/>
            <a:ext cx="69723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만족도 3.9, 번아웃 7%. 구조적 맹목이 문제이지 질책 문화는 아님</a:t>
            </a:r>
            <a:endParaRPr lang="en-US" sz="1050" dirty="0"/>
          </a:p>
        </p:txBody>
      </p:sp>
      <p:sp>
        <p:nvSpPr>
          <p:cNvPr id="73" name="SK-5-text-72"/>
          <p:cNvSpPr/>
          <p:nvPr/>
        </p:nvSpPr>
        <p:spPr>
          <a:xfrm>
            <a:off x="8777288" y="2411611"/>
            <a:ext cx="304038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42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DIAGNOSTIC EVIDENCE</a:t>
            </a:r>
            <a:endParaRPr lang="en-US" sz="1050" dirty="0"/>
          </a:p>
        </p:txBody>
      </p:sp>
      <p:sp>
        <p:nvSpPr>
          <p:cNvPr id="74" name="SK-5-text-73"/>
          <p:cNvSpPr/>
          <p:nvPr/>
        </p:nvSpPr>
        <p:spPr>
          <a:xfrm>
            <a:off x="8629650" y="2811661"/>
            <a:ext cx="28194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05AEE"/>
                </a:solidFill>
              </a:rPr>
              <a:t>RISK MANAGEMENT</a:t>
            </a:r>
            <a:endParaRPr lang="en-US" sz="825" dirty="0"/>
          </a:p>
        </p:txBody>
      </p:sp>
      <p:sp>
        <p:nvSpPr>
          <p:cNvPr id="75" name="SK-5-text-74"/>
          <p:cNvSpPr/>
          <p:nvPr/>
        </p:nvSpPr>
        <p:spPr>
          <a:xfrm>
            <a:off x="8629650" y="2987873"/>
            <a:ext cx="27432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대장 4/11 이후 </a:t>
            </a:r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갱신 0회</a:t>
            </a:r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Helion EOL(D-37) 미등록 방치.</a:t>
            </a:r>
            <a:endParaRPr lang="en-US" sz="975" dirty="0"/>
          </a:p>
        </p:txBody>
      </p:sp>
      <p:sp>
        <p:nvSpPr>
          <p:cNvPr id="76" name="SK-5-text-75"/>
          <p:cNvSpPr/>
          <p:nvPr/>
        </p:nvSpPr>
        <p:spPr>
          <a:xfrm>
            <a:off x="8629650" y="3540323"/>
            <a:ext cx="28194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05AEE"/>
                </a:solidFill>
              </a:rPr>
              <a:t>ACCOUNTABILITY</a:t>
            </a:r>
            <a:endParaRPr lang="en-US" sz="825" dirty="0"/>
          </a:p>
        </p:txBody>
      </p:sp>
      <p:sp>
        <p:nvSpPr>
          <p:cNvPr id="77" name="SK-5-text-76"/>
          <p:cNvSpPr/>
          <p:nvPr/>
        </p:nvSpPr>
        <p:spPr>
          <a:xfrm>
            <a:off x="8629650" y="3716536"/>
            <a:ext cx="27432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인프라 예산 및 편익 측정 </a:t>
            </a:r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RACI 전체 공란</a:t>
            </a:r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최종 책임자 부재.</a:t>
            </a:r>
            <a:endParaRPr lang="en-US" sz="975" dirty="0"/>
          </a:p>
        </p:txBody>
      </p:sp>
      <p:sp>
        <p:nvSpPr>
          <p:cNvPr id="78" name="SK-5-text-77"/>
          <p:cNvSpPr/>
          <p:nvPr/>
        </p:nvSpPr>
        <p:spPr>
          <a:xfrm>
            <a:off x="8629650" y="4268986"/>
            <a:ext cx="28194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05AEE"/>
                </a:solidFill>
              </a:rPr>
              <a:t>VALUE FOCUS</a:t>
            </a:r>
            <a:endParaRPr lang="en-US" sz="825" dirty="0"/>
          </a:p>
        </p:txBody>
      </p:sp>
      <p:sp>
        <p:nvSpPr>
          <p:cNvPr id="79" name="SK-5-text-78"/>
          <p:cNvSpPr/>
          <p:nvPr/>
        </p:nvSpPr>
        <p:spPr>
          <a:xfrm>
            <a:off x="8629650" y="4445198"/>
            <a:ext cx="27432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"계약유지율이 약속"이라는 PO 제안 무시. </a:t>
            </a:r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완료율 100%</a:t>
            </a:r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라는 수치적 목표에만 매몰.</a:t>
            </a:r>
            <a:endParaRPr lang="en-US" sz="975" dirty="0"/>
          </a:p>
        </p:txBody>
      </p:sp>
      <p:sp>
        <p:nvSpPr>
          <p:cNvPr id="80" name="SK-5-text-79"/>
          <p:cNvSpPr/>
          <p:nvPr/>
        </p:nvSpPr>
        <p:spPr>
          <a:xfrm>
            <a:off x="8629650" y="4997648"/>
            <a:ext cx="28194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05AEE"/>
                </a:solidFill>
              </a:rPr>
              <a:t>GOVERNANCE AI</a:t>
            </a:r>
            <a:endParaRPr lang="en-US" sz="825" dirty="0"/>
          </a:p>
        </p:txBody>
      </p:sp>
      <p:sp>
        <p:nvSpPr>
          <p:cNvPr id="81" name="SK-5-text-80"/>
          <p:cNvSpPr/>
          <p:nvPr/>
        </p:nvSpPr>
        <p:spPr>
          <a:xfrm>
            <a:off x="8629650" y="5173861"/>
            <a:ext cx="27432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자동 보고서를 </a:t>
            </a:r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 검토 없이</a:t>
            </a:r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16주간 배포. "전 지표 정상"의 항상성 유지.</a:t>
            </a:r>
            <a:endParaRPr lang="en-US" sz="975" dirty="0"/>
          </a:p>
        </p:txBody>
      </p:sp>
      <p:sp>
        <p:nvSpPr>
          <p:cNvPr id="82" name="SK-5-text-81"/>
          <p:cNvSpPr/>
          <p:nvPr/>
        </p:nvSpPr>
        <p:spPr>
          <a:xfrm>
            <a:off x="8648700" y="5947767"/>
            <a:ext cx="2705100" cy="51970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i="1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"Mindset이 무너지면 모든 메커니즘이 형식화된다. AI는 거짓말을 하지 않았다. 질문을 안 했을 뿐이다."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6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6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6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7650"/>
            <a:ext cx="2122289" cy="276225"/>
          </a:xfrm>
          <a:prstGeom prst="rect">
            <a:avLst/>
          </a:prstGeom>
        </p:spPr>
      </p:pic>
      <p:pic>
        <p:nvPicPr>
          <p:cNvPr id="5" name="SK-6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381000"/>
            <a:ext cx="8812411" cy="9525"/>
          </a:xfrm>
          <a:prstGeom prst="rect">
            <a:avLst/>
          </a:prstGeom>
        </p:spPr>
      </p:pic>
      <p:pic>
        <p:nvPicPr>
          <p:cNvPr id="6" name="SK-6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228725"/>
            <a:ext cx="4029075" cy="4205288"/>
          </a:xfrm>
          <a:prstGeom prst="rect">
            <a:avLst/>
          </a:prstGeom>
        </p:spPr>
      </p:pic>
      <p:pic>
        <p:nvPicPr>
          <p:cNvPr id="7" name="SK-6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323975"/>
            <a:ext cx="3800475" cy="571500"/>
          </a:xfrm>
          <a:prstGeom prst="rect">
            <a:avLst/>
          </a:prstGeom>
        </p:spPr>
      </p:pic>
      <p:pic>
        <p:nvPicPr>
          <p:cNvPr id="8" name="SK-6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1447800"/>
            <a:ext cx="252413" cy="266700"/>
          </a:xfrm>
          <a:prstGeom prst="rect">
            <a:avLst/>
          </a:prstGeom>
        </p:spPr>
      </p:pic>
      <p:pic>
        <p:nvPicPr>
          <p:cNvPr id="9" name="SK-6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4850" y="1493490"/>
            <a:ext cx="214313" cy="175320"/>
          </a:xfrm>
          <a:prstGeom prst="rect">
            <a:avLst/>
          </a:prstGeom>
        </p:spPr>
      </p:pic>
      <p:pic>
        <p:nvPicPr>
          <p:cNvPr id="10" name="SK-6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04047" y="1390650"/>
            <a:ext cx="682228" cy="381000"/>
          </a:xfrm>
          <a:prstGeom prst="rect">
            <a:avLst/>
          </a:prstGeom>
        </p:spPr>
      </p:pic>
      <p:pic>
        <p:nvPicPr>
          <p:cNvPr id="11" name="SK-6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52975" y="1228725"/>
            <a:ext cx="3357563" cy="2055019"/>
          </a:xfrm>
          <a:prstGeom prst="rect">
            <a:avLst/>
          </a:prstGeom>
        </p:spPr>
      </p:pic>
      <p:pic>
        <p:nvPicPr>
          <p:cNvPr id="12" name="SK-6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67275" y="1323975"/>
            <a:ext cx="3128963" cy="323850"/>
          </a:xfrm>
          <a:prstGeom prst="rect">
            <a:avLst/>
          </a:prstGeom>
        </p:spPr>
      </p:pic>
      <p:pic>
        <p:nvPicPr>
          <p:cNvPr id="13" name="SK-6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67275" y="1323975"/>
            <a:ext cx="266700" cy="266700"/>
          </a:xfrm>
          <a:prstGeom prst="rect">
            <a:avLst/>
          </a:prstGeom>
        </p:spPr>
      </p:pic>
      <p:pic>
        <p:nvPicPr>
          <p:cNvPr id="14" name="SK-6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93469" y="1369665"/>
            <a:ext cx="214313" cy="175320"/>
          </a:xfrm>
          <a:prstGeom prst="rect">
            <a:avLst/>
          </a:prstGeom>
        </p:spPr>
      </p:pic>
      <p:pic>
        <p:nvPicPr>
          <p:cNvPr id="15" name="SK-6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39037" y="1352550"/>
            <a:ext cx="457200" cy="209550"/>
          </a:xfrm>
          <a:prstGeom prst="rect">
            <a:avLst/>
          </a:prstGeom>
        </p:spPr>
      </p:pic>
      <p:pic>
        <p:nvPicPr>
          <p:cNvPr id="16" name="SK-6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52975" y="3378994"/>
            <a:ext cx="3357563" cy="2055019"/>
          </a:xfrm>
          <a:prstGeom prst="rect">
            <a:avLst/>
          </a:prstGeom>
        </p:spPr>
      </p:pic>
      <p:pic>
        <p:nvPicPr>
          <p:cNvPr id="17" name="SK-6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867275" y="3474244"/>
            <a:ext cx="3128963" cy="323850"/>
          </a:xfrm>
          <a:prstGeom prst="rect">
            <a:avLst/>
          </a:prstGeom>
        </p:spPr>
      </p:pic>
      <p:pic>
        <p:nvPicPr>
          <p:cNvPr id="18" name="SK-6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867275" y="3474244"/>
            <a:ext cx="266700" cy="266700"/>
          </a:xfrm>
          <a:prstGeom prst="rect">
            <a:avLst/>
          </a:prstGeom>
        </p:spPr>
      </p:pic>
      <p:pic>
        <p:nvPicPr>
          <p:cNvPr id="19" name="SK-6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893469" y="3519934"/>
            <a:ext cx="214313" cy="175320"/>
          </a:xfrm>
          <a:prstGeom prst="rect">
            <a:avLst/>
          </a:prstGeom>
        </p:spPr>
      </p:pic>
      <p:pic>
        <p:nvPicPr>
          <p:cNvPr id="20" name="SK-6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653337" y="3502819"/>
            <a:ext cx="342900" cy="209550"/>
          </a:xfrm>
          <a:prstGeom prst="rect">
            <a:avLst/>
          </a:prstGeom>
        </p:spPr>
      </p:pic>
      <p:pic>
        <p:nvPicPr>
          <p:cNvPr id="21" name="SK-6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62938" y="1228725"/>
            <a:ext cx="3357563" cy="2055019"/>
          </a:xfrm>
          <a:prstGeom prst="rect">
            <a:avLst/>
          </a:prstGeom>
        </p:spPr>
      </p:pic>
      <p:pic>
        <p:nvPicPr>
          <p:cNvPr id="22" name="SK-6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77238" y="1323975"/>
            <a:ext cx="3128963" cy="323850"/>
          </a:xfrm>
          <a:prstGeom prst="rect">
            <a:avLst/>
          </a:prstGeom>
        </p:spPr>
      </p:pic>
      <p:pic>
        <p:nvPicPr>
          <p:cNvPr id="23" name="SK-6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77238" y="1323975"/>
            <a:ext cx="266700" cy="266700"/>
          </a:xfrm>
          <a:prstGeom prst="rect">
            <a:avLst/>
          </a:prstGeom>
        </p:spPr>
      </p:pic>
      <p:pic>
        <p:nvPicPr>
          <p:cNvPr id="24" name="SK-6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403431" y="1369665"/>
            <a:ext cx="214313" cy="175320"/>
          </a:xfrm>
          <a:prstGeom prst="rect">
            <a:avLst/>
          </a:prstGeom>
        </p:spPr>
      </p:pic>
      <p:pic>
        <p:nvPicPr>
          <p:cNvPr id="25" name="SK-6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1163300" y="1352550"/>
            <a:ext cx="342900" cy="209550"/>
          </a:xfrm>
          <a:prstGeom prst="rect">
            <a:avLst/>
          </a:prstGeom>
        </p:spPr>
      </p:pic>
      <p:pic>
        <p:nvPicPr>
          <p:cNvPr id="26" name="SK-6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262938" y="3378994"/>
            <a:ext cx="3357563" cy="2055019"/>
          </a:xfrm>
          <a:prstGeom prst="rect">
            <a:avLst/>
          </a:prstGeom>
        </p:spPr>
      </p:pic>
      <p:pic>
        <p:nvPicPr>
          <p:cNvPr id="27" name="SK-6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377238" y="3474244"/>
            <a:ext cx="3128963" cy="323850"/>
          </a:xfrm>
          <a:prstGeom prst="rect">
            <a:avLst/>
          </a:prstGeom>
        </p:spPr>
      </p:pic>
      <p:pic>
        <p:nvPicPr>
          <p:cNvPr id="28" name="SK-6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377238" y="3474244"/>
            <a:ext cx="266700" cy="266700"/>
          </a:xfrm>
          <a:prstGeom prst="rect">
            <a:avLst/>
          </a:prstGeom>
        </p:spPr>
      </p:pic>
      <p:pic>
        <p:nvPicPr>
          <p:cNvPr id="29" name="SK-6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403431" y="3519934"/>
            <a:ext cx="214313" cy="175320"/>
          </a:xfrm>
          <a:prstGeom prst="rect">
            <a:avLst/>
          </a:prstGeom>
        </p:spPr>
      </p:pic>
      <p:pic>
        <p:nvPicPr>
          <p:cNvPr id="30" name="SK-6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1163300" y="3502819"/>
            <a:ext cx="342900" cy="209550"/>
          </a:xfrm>
          <a:prstGeom prst="rect">
            <a:avLst/>
          </a:prstGeom>
        </p:spPr>
      </p:pic>
      <p:pic>
        <p:nvPicPr>
          <p:cNvPr id="31" name="SK-6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71500" y="5529263"/>
            <a:ext cx="11049000" cy="1081088"/>
          </a:xfrm>
          <a:prstGeom prst="rect">
            <a:avLst/>
          </a:prstGeom>
        </p:spPr>
      </p:pic>
      <p:pic>
        <p:nvPicPr>
          <p:cNvPr id="32" name="SK-6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62000" y="6001196"/>
            <a:ext cx="166688" cy="137220"/>
          </a:xfrm>
          <a:prstGeom prst="rect">
            <a:avLst/>
          </a:prstGeom>
        </p:spPr>
      </p:pic>
      <p:pic>
        <p:nvPicPr>
          <p:cNvPr id="33" name="SK-6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205163" y="6001196"/>
            <a:ext cx="166688" cy="137220"/>
          </a:xfrm>
          <a:prstGeom prst="rect">
            <a:avLst/>
          </a:prstGeom>
        </p:spPr>
      </p:pic>
      <p:pic>
        <p:nvPicPr>
          <p:cNvPr id="34" name="SK-6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734175" y="6001196"/>
            <a:ext cx="166688" cy="137220"/>
          </a:xfrm>
          <a:prstGeom prst="rect">
            <a:avLst/>
          </a:prstGeom>
        </p:spPr>
      </p:pic>
      <p:sp>
        <p:nvSpPr>
          <p:cNvPr id="35" name="SK-6-text-34"/>
          <p:cNvSpPr/>
          <p:nvPr/>
        </p:nvSpPr>
        <p:spPr>
          <a:xfrm>
            <a:off x="647700" y="24765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36" name="SK-6-text-35"/>
          <p:cNvSpPr/>
          <p:nvPr/>
        </p:nvSpPr>
        <p:spPr>
          <a:xfrm>
            <a:off x="571500" y="600075"/>
            <a:ext cx="11620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B-2. Performance Domain 분석 (성과 영역별 진단)</a:t>
            </a:r>
            <a:endParaRPr lang="en-US" sz="2550" dirty="0"/>
          </a:p>
        </p:txBody>
      </p:sp>
      <p:sp>
        <p:nvSpPr>
          <p:cNvPr id="37" name="SK-6-text-36"/>
          <p:cNvSpPr/>
          <p:nvPr/>
        </p:nvSpPr>
        <p:spPr>
          <a:xfrm>
            <a:off x="1014413" y="1323975"/>
            <a:ext cx="271343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성과영역 2.1: 거버넌스 (Governance)</a:t>
            </a:r>
            <a:endParaRPr lang="en-US" sz="1350" dirty="0"/>
          </a:p>
        </p:txBody>
      </p:sp>
      <p:sp>
        <p:nvSpPr>
          <p:cNvPr id="38" name="SK-6-text-37"/>
          <p:cNvSpPr/>
          <p:nvPr/>
        </p:nvSpPr>
        <p:spPr>
          <a:xfrm>
            <a:off x="3861197" y="1390650"/>
            <a:ext cx="5679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치명적 결함</a:t>
            </a:r>
            <a:endParaRPr lang="en-US" sz="900" dirty="0"/>
          </a:p>
        </p:txBody>
      </p:sp>
      <p:sp>
        <p:nvSpPr>
          <p:cNvPr id="39" name="SK-6-text-38"/>
          <p:cNvSpPr/>
          <p:nvPr/>
        </p:nvSpPr>
        <p:spPr>
          <a:xfrm>
            <a:off x="838200" y="1971675"/>
            <a:ext cx="364807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EVM 부분 보고 (투명성 실패):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 인프라(24억) 분리 보고. CPI 0.98(보고) vs 0.944(실제)</a:t>
            </a:r>
            <a:endParaRPr lang="en-US" sz="1050" dirty="0"/>
          </a:p>
        </p:txBody>
      </p:sp>
      <p:sp>
        <p:nvSpPr>
          <p:cNvPr id="40" name="SK-6-text-39"/>
          <p:cNvSpPr/>
          <p:nvPr/>
        </p:nvSpPr>
        <p:spPr>
          <a:xfrm>
            <a:off x="838200" y="2392561"/>
            <a:ext cx="364807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불일치 (추적성 실패):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3개 리전 기록 상이, 단일 원천(SSOT) 부재</a:t>
            </a:r>
            <a:endParaRPr lang="en-US" sz="1050" dirty="0"/>
          </a:p>
        </p:txBody>
      </p:sp>
      <p:sp>
        <p:nvSpPr>
          <p:cNvPr id="41" name="SK-6-text-40"/>
          <p:cNvSpPr/>
          <p:nvPr/>
        </p:nvSpPr>
        <p:spPr>
          <a:xfrm>
            <a:off x="838200" y="2813447"/>
            <a:ext cx="364807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자동보고 무검토 (승인 부재):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16주간 사람 검토 없이 "전 지표 정상" 반복 배포</a:t>
            </a:r>
            <a:endParaRPr lang="en-US" sz="1050" dirty="0"/>
          </a:p>
        </p:txBody>
      </p:sp>
      <p:sp>
        <p:nvSpPr>
          <p:cNvPr id="42" name="SK-6-text-41"/>
          <p:cNvSpPr/>
          <p:nvPr/>
        </p:nvSpPr>
        <p:spPr>
          <a:xfrm>
            <a:off x="838200" y="3234333"/>
            <a:ext cx="650253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변경통제 형식화: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정식 CR 12건 vs 비공식 35건. 영향평가 0회</a:t>
            </a:r>
            <a:endParaRPr lang="en-US" sz="1050" dirty="0"/>
          </a:p>
        </p:txBody>
      </p:sp>
      <p:sp>
        <p:nvSpPr>
          <p:cNvPr id="43" name="SK-6-text-42"/>
          <p:cNvSpPr/>
          <p:nvPr/>
        </p:nvSpPr>
        <p:spPr>
          <a:xfrm>
            <a:off x="838200" y="3468588"/>
            <a:ext cx="364807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성공기준 범위 조작: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SC-03을 정형 시나리오로 한정하여 실사업장 결함(36.9%) 배제</a:t>
            </a:r>
            <a:endParaRPr lang="en-US" sz="1050" dirty="0"/>
          </a:p>
        </p:txBody>
      </p:sp>
      <p:sp>
        <p:nvSpPr>
          <p:cNvPr id="44" name="SK-6-text-43"/>
          <p:cNvSpPr/>
          <p:nvPr/>
        </p:nvSpPr>
        <p:spPr>
          <a:xfrm>
            <a:off x="838200" y="3889474"/>
            <a:ext cx="364807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DoD 완료기준 하향: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QA 통과 삭제 후 "코드 머지=Done"으로 완료율 92.9% 부풀림</a:t>
            </a:r>
            <a:endParaRPr lang="en-US" sz="1050" dirty="0"/>
          </a:p>
        </p:txBody>
      </p:sp>
      <p:sp>
        <p:nvSpPr>
          <p:cNvPr id="45" name="SK-6-text-44"/>
          <p:cNvSpPr/>
          <p:nvPr/>
        </p:nvSpPr>
        <p:spPr>
          <a:xfrm>
            <a:off x="685800" y="4338935"/>
            <a:ext cx="387667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EF4444"/>
                </a:solidFill>
              </a:rPr>
              <a:t>→ 의사결정 투명성과 추적성이 완전히 붕괴된 상태</a:t>
            </a:r>
            <a:endParaRPr lang="en-US" sz="825" dirty="0"/>
          </a:p>
        </p:txBody>
      </p:sp>
      <p:sp>
        <p:nvSpPr>
          <p:cNvPr id="46" name="SK-6-text-45"/>
          <p:cNvSpPr/>
          <p:nvPr/>
        </p:nvSpPr>
        <p:spPr>
          <a:xfrm>
            <a:off x="5210175" y="1328738"/>
            <a:ext cx="344614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2.7: 리스크 (Risk)</a:t>
            </a:r>
            <a:endParaRPr lang="en-US" sz="1350" dirty="0"/>
          </a:p>
        </p:txBody>
      </p:sp>
      <p:sp>
        <p:nvSpPr>
          <p:cNvPr id="47" name="SK-6-text-46"/>
          <p:cNvSpPr/>
          <p:nvPr/>
        </p:nvSpPr>
        <p:spPr>
          <a:xfrm>
            <a:off x="7596187" y="1352550"/>
            <a:ext cx="419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치명적</a:t>
            </a:r>
            <a:endParaRPr lang="en-US" sz="900" dirty="0"/>
          </a:p>
        </p:txBody>
      </p:sp>
      <p:sp>
        <p:nvSpPr>
          <p:cNvPr id="48" name="SK-6-text-47"/>
          <p:cNvSpPr/>
          <p:nvPr/>
        </p:nvSpPr>
        <p:spPr>
          <a:xfrm>
            <a:off x="5019675" y="1724025"/>
            <a:ext cx="482049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갱신 중단: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4/11 이후 리스크 대장 업데이트 0회</a:t>
            </a:r>
            <a:endParaRPr lang="en-US" sz="1050" dirty="0"/>
          </a:p>
        </p:txBody>
      </p:sp>
      <p:sp>
        <p:nvSpPr>
          <p:cNvPr id="49" name="SK-6-text-48"/>
          <p:cNvSpPr/>
          <p:nvPr/>
        </p:nvSpPr>
        <p:spPr>
          <a:xfrm>
            <a:off x="5019675" y="1958280"/>
            <a:ext cx="482049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등급 조작: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High 3건을 근거 없이 Medium 하향</a:t>
            </a:r>
            <a:endParaRPr lang="en-US" sz="1050" dirty="0"/>
          </a:p>
        </p:txBody>
      </p:sp>
      <p:sp>
        <p:nvSpPr>
          <p:cNvPr id="50" name="SK-6-text-49"/>
          <p:cNvSpPr/>
          <p:nvPr/>
        </p:nvSpPr>
        <p:spPr>
          <a:xfrm>
            <a:off x="5019675" y="2192536"/>
            <a:ext cx="548013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위협 방치: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Helion EOL(9/30) 미등록/미대응</a:t>
            </a:r>
            <a:endParaRPr lang="en-US" sz="1050" dirty="0"/>
          </a:p>
        </p:txBody>
      </p:sp>
      <p:sp>
        <p:nvSpPr>
          <p:cNvPr id="51" name="SK-6-text-50"/>
          <p:cNvSpPr/>
          <p:nvPr/>
        </p:nvSpPr>
        <p:spPr>
          <a:xfrm>
            <a:off x="5210175" y="3479006"/>
            <a:ext cx="245268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2.5: 이해관계자</a:t>
            </a:r>
            <a:endParaRPr lang="en-US" sz="1350" dirty="0"/>
          </a:p>
        </p:txBody>
      </p:sp>
      <p:sp>
        <p:nvSpPr>
          <p:cNvPr id="52" name="SK-6-text-51"/>
          <p:cNvSpPr/>
          <p:nvPr/>
        </p:nvSpPr>
        <p:spPr>
          <a:xfrm>
            <a:off x="7710487" y="3502819"/>
            <a:ext cx="304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</a:t>
            </a:r>
            <a:endParaRPr lang="en-US" sz="900" dirty="0"/>
          </a:p>
        </p:txBody>
      </p:sp>
      <p:sp>
        <p:nvSpPr>
          <p:cNvPr id="53" name="SK-6-text-52"/>
          <p:cNvSpPr/>
          <p:nvPr/>
        </p:nvSpPr>
        <p:spPr>
          <a:xfrm>
            <a:off x="5019675" y="3874294"/>
            <a:ext cx="456678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소통 단절: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3개 리전 불일치로 2.3MM 중복개발</a:t>
            </a:r>
            <a:endParaRPr lang="en-US" sz="1050" dirty="0"/>
          </a:p>
        </p:txBody>
      </p:sp>
      <p:sp>
        <p:nvSpPr>
          <p:cNvPr id="54" name="SK-6-text-53"/>
          <p:cNvSpPr/>
          <p:nvPr/>
        </p:nvSpPr>
        <p:spPr>
          <a:xfrm>
            <a:off x="5019675" y="4108549"/>
            <a:ext cx="527716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신호 차단: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Daniel Suh(QA) 3차 메일 무회신</a:t>
            </a:r>
            <a:endParaRPr lang="en-US" sz="1050" dirty="0"/>
          </a:p>
        </p:txBody>
      </p:sp>
      <p:sp>
        <p:nvSpPr>
          <p:cNvPr id="55" name="SK-6-text-54"/>
          <p:cNvSpPr/>
          <p:nvPr/>
        </p:nvSpPr>
        <p:spPr>
          <a:xfrm>
            <a:off x="5019675" y="4342805"/>
            <a:ext cx="297656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 공유 누락: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파일럿 리포트 대상에서 PM/PO 제외</a:t>
            </a:r>
            <a:endParaRPr lang="en-US" sz="1050" dirty="0"/>
          </a:p>
        </p:txBody>
      </p:sp>
      <p:sp>
        <p:nvSpPr>
          <p:cNvPr id="56" name="SK-6-text-55"/>
          <p:cNvSpPr/>
          <p:nvPr/>
        </p:nvSpPr>
        <p:spPr>
          <a:xfrm>
            <a:off x="8720138" y="1328738"/>
            <a:ext cx="344614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2.2: 범위 (Scope)</a:t>
            </a:r>
            <a:endParaRPr lang="en-US" sz="1350" dirty="0"/>
          </a:p>
        </p:txBody>
      </p:sp>
      <p:sp>
        <p:nvSpPr>
          <p:cNvPr id="57" name="SK-6-text-56"/>
          <p:cNvSpPr/>
          <p:nvPr/>
        </p:nvSpPr>
        <p:spPr>
          <a:xfrm>
            <a:off x="11220450" y="1352550"/>
            <a:ext cx="304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심각</a:t>
            </a:r>
            <a:endParaRPr lang="en-US" sz="900" dirty="0"/>
          </a:p>
        </p:txBody>
      </p:sp>
      <p:sp>
        <p:nvSpPr>
          <p:cNvPr id="58" name="SK-6-text-57"/>
          <p:cNvSpPr/>
          <p:nvPr/>
        </p:nvSpPr>
        <p:spPr>
          <a:xfrm>
            <a:off x="8529638" y="1724025"/>
            <a:ext cx="366236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비공식 변경: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35건의 baseline 미갱신 변경</a:t>
            </a:r>
            <a:endParaRPr lang="en-US" sz="1050" dirty="0"/>
          </a:p>
        </p:txBody>
      </p:sp>
      <p:sp>
        <p:nvSpPr>
          <p:cNvPr id="59" name="SK-6-text-58"/>
          <p:cNvSpPr/>
          <p:nvPr/>
        </p:nvSpPr>
        <p:spPr>
          <a:xfrm>
            <a:off x="8529638" y="1958280"/>
            <a:ext cx="297656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편익(Outcome) 부재: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BEN 5건 측정체계 8개월 방치</a:t>
            </a:r>
            <a:endParaRPr lang="en-US" sz="1050" dirty="0"/>
          </a:p>
        </p:txBody>
      </p:sp>
      <p:sp>
        <p:nvSpPr>
          <p:cNvPr id="60" name="SK-6-text-59"/>
          <p:cNvSpPr/>
          <p:nvPr/>
        </p:nvSpPr>
        <p:spPr>
          <a:xfrm>
            <a:off x="8529638" y="2379166"/>
            <a:ext cx="366236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스코프 크립: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지원기종 확대(6→8종) 예산 미반영</a:t>
            </a:r>
            <a:endParaRPr lang="en-US" sz="1050" dirty="0"/>
          </a:p>
        </p:txBody>
      </p:sp>
      <p:sp>
        <p:nvSpPr>
          <p:cNvPr id="61" name="SK-6-text-60"/>
          <p:cNvSpPr/>
          <p:nvPr/>
        </p:nvSpPr>
        <p:spPr>
          <a:xfrm>
            <a:off x="8720138" y="3479006"/>
            <a:ext cx="347186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2.4: 재무 (Financial)</a:t>
            </a:r>
            <a:endParaRPr lang="en-US" sz="1350" dirty="0"/>
          </a:p>
        </p:txBody>
      </p:sp>
      <p:sp>
        <p:nvSpPr>
          <p:cNvPr id="62" name="SK-6-text-61"/>
          <p:cNvSpPr/>
          <p:nvPr/>
        </p:nvSpPr>
        <p:spPr>
          <a:xfrm>
            <a:off x="11220450" y="3502819"/>
            <a:ext cx="304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심각</a:t>
            </a:r>
            <a:endParaRPr lang="en-US" sz="900" dirty="0"/>
          </a:p>
        </p:txBody>
      </p:sp>
      <p:sp>
        <p:nvSpPr>
          <p:cNvPr id="63" name="SK-6-text-62"/>
          <p:cNvSpPr/>
          <p:nvPr/>
        </p:nvSpPr>
        <p:spPr>
          <a:xfrm>
            <a:off x="8529638" y="3874294"/>
            <a:ext cx="366236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통제 실패: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 예산 89% 조기 소진</a:t>
            </a:r>
            <a:endParaRPr lang="en-US" sz="1050" dirty="0"/>
          </a:p>
        </p:txBody>
      </p:sp>
      <p:sp>
        <p:nvSpPr>
          <p:cNvPr id="64" name="SK-6-text-63"/>
          <p:cNvSpPr/>
          <p:nvPr/>
        </p:nvSpPr>
        <p:spPr>
          <a:xfrm>
            <a:off x="8529638" y="4108549"/>
            <a:ext cx="366236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 공백: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인프라 예산 Accountable 미지정</a:t>
            </a:r>
            <a:endParaRPr lang="en-US" sz="1050" dirty="0"/>
          </a:p>
        </p:txBody>
      </p:sp>
      <p:sp>
        <p:nvSpPr>
          <p:cNvPr id="65" name="SK-6-text-64"/>
          <p:cNvSpPr/>
          <p:nvPr/>
        </p:nvSpPr>
        <p:spPr>
          <a:xfrm>
            <a:off x="8529638" y="4342805"/>
            <a:ext cx="366236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은폐 보고: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악화된 전체 CPI(0.944)를 분리 보고</a:t>
            </a:r>
            <a:endParaRPr lang="en-US" sz="1050" dirty="0"/>
          </a:p>
        </p:txBody>
      </p:sp>
      <p:sp>
        <p:nvSpPr>
          <p:cNvPr id="66" name="SK-6-text-65"/>
          <p:cNvSpPr/>
          <p:nvPr/>
        </p:nvSpPr>
        <p:spPr>
          <a:xfrm>
            <a:off x="1004887" y="5969794"/>
            <a:ext cx="38404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건강한 영역 (Healthy Domains)</a:t>
            </a:r>
            <a:endParaRPr lang="en-US" sz="1050" dirty="0"/>
          </a:p>
        </p:txBody>
      </p:sp>
      <p:sp>
        <p:nvSpPr>
          <p:cNvPr id="67" name="SK-6-text-66"/>
          <p:cNvSpPr/>
          <p:nvPr/>
        </p:nvSpPr>
        <p:spPr>
          <a:xfrm>
            <a:off x="3448050" y="5969794"/>
            <a:ext cx="73609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2.3 일정: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SPI 1.02, G1~G4 정시 통과, CI 빌드 89%</a:t>
            </a:r>
            <a:endParaRPr lang="en-US" sz="1050" dirty="0"/>
          </a:p>
        </p:txBody>
      </p:sp>
      <p:sp>
        <p:nvSpPr>
          <p:cNvPr id="68" name="SK-6-text-67"/>
          <p:cNvSpPr/>
          <p:nvPr/>
        </p:nvSpPr>
        <p:spPr>
          <a:xfrm>
            <a:off x="6977063" y="5969794"/>
            <a:ext cx="52149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2.6 자원: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충원 100%, 만족도 3.9/5, 번아웃 7% (안정적)</a:t>
            </a:r>
            <a:endParaRPr lang="en-US" sz="1050" dirty="0"/>
          </a:p>
        </p:txBody>
      </p:sp>
      <p:sp>
        <p:nvSpPr>
          <p:cNvPr id="69" name="SK-6-text-68"/>
          <p:cNvSpPr/>
          <p:nvPr/>
        </p:nvSpPr>
        <p:spPr>
          <a:xfrm>
            <a:off x="10577513" y="5605463"/>
            <a:ext cx="852488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*개발 프로세스 및 인력은 정상이나 관리 체계(거버넌스)가 기능하지 않음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7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7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7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5" name="SK-7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pic>
        <p:nvPicPr>
          <p:cNvPr id="6" name="SK-7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504950"/>
            <a:ext cx="4328220" cy="690563"/>
          </a:xfrm>
          <a:prstGeom prst="rect">
            <a:avLst/>
          </a:prstGeom>
        </p:spPr>
      </p:pic>
      <p:pic>
        <p:nvPicPr>
          <p:cNvPr id="7" name="SK-7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650653"/>
            <a:ext cx="166688" cy="137220"/>
          </a:xfrm>
          <a:prstGeom prst="rect">
            <a:avLst/>
          </a:prstGeom>
        </p:spPr>
      </p:pic>
      <p:pic>
        <p:nvPicPr>
          <p:cNvPr id="8" name="SK-7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2347913"/>
            <a:ext cx="4328220" cy="4129088"/>
          </a:xfrm>
          <a:prstGeom prst="rect">
            <a:avLst/>
          </a:prstGeom>
        </p:spPr>
      </p:pic>
      <p:pic>
        <p:nvPicPr>
          <p:cNvPr id="9" name="SK-7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2347913"/>
            <a:ext cx="1514773" cy="361950"/>
          </a:xfrm>
          <a:prstGeom prst="rect">
            <a:avLst/>
          </a:prstGeom>
        </p:spPr>
      </p:pic>
      <p:pic>
        <p:nvPicPr>
          <p:cNvPr id="10" name="SK-7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86273" y="2347913"/>
            <a:ext cx="1081980" cy="361950"/>
          </a:xfrm>
          <a:prstGeom prst="rect">
            <a:avLst/>
          </a:prstGeom>
        </p:spPr>
      </p:pic>
      <p:pic>
        <p:nvPicPr>
          <p:cNvPr id="11" name="SK-7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68253" y="2347913"/>
            <a:ext cx="1731466" cy="361950"/>
          </a:xfrm>
          <a:prstGeom prst="rect">
            <a:avLst/>
          </a:prstGeom>
        </p:spPr>
      </p:pic>
      <p:pic>
        <p:nvPicPr>
          <p:cNvPr id="12" name="SK-7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2709863"/>
            <a:ext cx="1514773" cy="753368"/>
          </a:xfrm>
          <a:prstGeom prst="rect">
            <a:avLst/>
          </a:prstGeom>
        </p:spPr>
      </p:pic>
      <p:pic>
        <p:nvPicPr>
          <p:cNvPr id="13" name="SK-7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86273" y="2709863"/>
            <a:ext cx="1081980" cy="753368"/>
          </a:xfrm>
          <a:prstGeom prst="rect">
            <a:avLst/>
          </a:prstGeom>
        </p:spPr>
      </p:pic>
      <p:pic>
        <p:nvPicPr>
          <p:cNvPr id="14" name="SK-7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168253" y="2709863"/>
            <a:ext cx="1731466" cy="753368"/>
          </a:xfrm>
          <a:prstGeom prst="rect">
            <a:avLst/>
          </a:prstGeom>
        </p:spPr>
      </p:pic>
      <p:pic>
        <p:nvPicPr>
          <p:cNvPr id="15" name="SK-7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500" y="3463230"/>
            <a:ext cx="1514773" cy="753368"/>
          </a:xfrm>
          <a:prstGeom prst="rect">
            <a:avLst/>
          </a:prstGeom>
        </p:spPr>
      </p:pic>
      <p:pic>
        <p:nvPicPr>
          <p:cNvPr id="16" name="SK-7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086273" y="3463230"/>
            <a:ext cx="1081980" cy="753368"/>
          </a:xfrm>
          <a:prstGeom prst="rect">
            <a:avLst/>
          </a:prstGeom>
        </p:spPr>
      </p:pic>
      <p:pic>
        <p:nvPicPr>
          <p:cNvPr id="17" name="SK-7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168253" y="3463230"/>
            <a:ext cx="1731466" cy="753368"/>
          </a:xfrm>
          <a:prstGeom prst="rect">
            <a:avLst/>
          </a:prstGeom>
        </p:spPr>
      </p:pic>
      <p:pic>
        <p:nvPicPr>
          <p:cNvPr id="18" name="SK-7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1500" y="4216598"/>
            <a:ext cx="1514773" cy="753368"/>
          </a:xfrm>
          <a:prstGeom prst="rect">
            <a:avLst/>
          </a:prstGeom>
        </p:spPr>
      </p:pic>
      <p:pic>
        <p:nvPicPr>
          <p:cNvPr id="19" name="SK-7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086273" y="4216598"/>
            <a:ext cx="1081980" cy="753368"/>
          </a:xfrm>
          <a:prstGeom prst="rect">
            <a:avLst/>
          </a:prstGeom>
        </p:spPr>
      </p:pic>
      <p:pic>
        <p:nvPicPr>
          <p:cNvPr id="20" name="SK-7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168253" y="4216598"/>
            <a:ext cx="1731466" cy="753368"/>
          </a:xfrm>
          <a:prstGeom prst="rect">
            <a:avLst/>
          </a:prstGeom>
        </p:spPr>
      </p:pic>
      <p:pic>
        <p:nvPicPr>
          <p:cNvPr id="21" name="SK-7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1500" y="4969966"/>
            <a:ext cx="1514773" cy="753368"/>
          </a:xfrm>
          <a:prstGeom prst="rect">
            <a:avLst/>
          </a:prstGeom>
        </p:spPr>
      </p:pic>
      <p:pic>
        <p:nvPicPr>
          <p:cNvPr id="22" name="SK-7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086273" y="4969966"/>
            <a:ext cx="1081980" cy="753368"/>
          </a:xfrm>
          <a:prstGeom prst="rect">
            <a:avLst/>
          </a:prstGeom>
        </p:spPr>
      </p:pic>
      <p:pic>
        <p:nvPicPr>
          <p:cNvPr id="23" name="SK-7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168253" y="4969966"/>
            <a:ext cx="1731466" cy="753368"/>
          </a:xfrm>
          <a:prstGeom prst="rect">
            <a:avLst/>
          </a:prstGeom>
        </p:spPr>
      </p:pic>
      <p:pic>
        <p:nvPicPr>
          <p:cNvPr id="24" name="SK-7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1500" y="5723334"/>
            <a:ext cx="1514773" cy="753666"/>
          </a:xfrm>
          <a:prstGeom prst="rect">
            <a:avLst/>
          </a:prstGeom>
        </p:spPr>
      </p:pic>
      <p:pic>
        <p:nvPicPr>
          <p:cNvPr id="25" name="SK-7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086273" y="5723334"/>
            <a:ext cx="1081980" cy="753666"/>
          </a:xfrm>
          <a:prstGeom prst="rect">
            <a:avLst/>
          </a:prstGeom>
        </p:spPr>
      </p:pic>
      <p:pic>
        <p:nvPicPr>
          <p:cNvPr id="26" name="SK-7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168253" y="5723334"/>
            <a:ext cx="1731466" cy="753666"/>
          </a:xfrm>
          <a:prstGeom prst="rect">
            <a:avLst/>
          </a:prstGeom>
        </p:spPr>
      </p:pic>
      <p:pic>
        <p:nvPicPr>
          <p:cNvPr id="27" name="SK-7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128320" y="1504950"/>
            <a:ext cx="6492180" cy="839391"/>
          </a:xfrm>
          <a:prstGeom prst="rect">
            <a:avLst/>
          </a:prstGeom>
        </p:spPr>
      </p:pic>
      <p:pic>
        <p:nvPicPr>
          <p:cNvPr id="28" name="SK-7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128320" y="2458641"/>
            <a:ext cx="6492180" cy="839391"/>
          </a:xfrm>
          <a:prstGeom prst="rect">
            <a:avLst/>
          </a:prstGeom>
        </p:spPr>
      </p:pic>
      <p:pic>
        <p:nvPicPr>
          <p:cNvPr id="29" name="SK-7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128320" y="3412331"/>
            <a:ext cx="6492180" cy="839391"/>
          </a:xfrm>
          <a:prstGeom prst="rect">
            <a:avLst/>
          </a:prstGeom>
        </p:spPr>
      </p:pic>
      <p:pic>
        <p:nvPicPr>
          <p:cNvPr id="30" name="SK-7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128320" y="4366022"/>
            <a:ext cx="6492180" cy="839391"/>
          </a:xfrm>
          <a:prstGeom prst="rect">
            <a:avLst/>
          </a:prstGeom>
        </p:spPr>
      </p:pic>
      <p:pic>
        <p:nvPicPr>
          <p:cNvPr id="31" name="SK-7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128320" y="5395913"/>
            <a:ext cx="6492180" cy="1081088"/>
          </a:xfrm>
          <a:prstGeom prst="rect">
            <a:avLst/>
          </a:prstGeom>
        </p:spPr>
      </p:pic>
      <p:sp>
        <p:nvSpPr>
          <p:cNvPr id="32" name="SK-7-text-31"/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33" name="SK-7-text-32"/>
          <p:cNvSpPr/>
          <p:nvPr/>
        </p:nvSpPr>
        <p:spPr>
          <a:xfrm>
            <a:off x="571500" y="733425"/>
            <a:ext cx="11620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Use Case 분석: 현행 AI PM Assistant의 한계</a:t>
            </a:r>
            <a:endParaRPr lang="en-US" sz="2550" dirty="0"/>
          </a:p>
        </p:txBody>
      </p:sp>
      <p:sp>
        <p:nvSpPr>
          <p:cNvPr id="34" name="SK-7-text-33"/>
          <p:cNvSpPr/>
          <p:nvPr/>
        </p:nvSpPr>
        <p:spPr>
          <a:xfrm>
            <a:off x="928688" y="1619250"/>
            <a:ext cx="40996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인프라 활용 현황 (W33)</a:t>
            </a:r>
            <a:endParaRPr lang="en-US" sz="1050" dirty="0"/>
          </a:p>
        </p:txBody>
      </p:sp>
      <p:sp>
        <p:nvSpPr>
          <p:cNvPr id="35" name="SK-7-text-34"/>
          <p:cNvSpPr/>
          <p:nvPr/>
        </p:nvSpPr>
        <p:spPr>
          <a:xfrm>
            <a:off x="685800" y="1895475"/>
            <a:ext cx="443484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누적 비용 21.4억 소진 (예산 89% 도달)</a:t>
            </a:r>
            <a:endParaRPr lang="en-US" sz="975" dirty="0"/>
          </a:p>
        </p:txBody>
      </p:sp>
      <p:sp>
        <p:nvSpPr>
          <p:cNvPr id="36" name="SK-7-text-35"/>
          <p:cNvSpPr/>
          <p:nvPr/>
        </p:nvSpPr>
        <p:spPr>
          <a:xfrm>
            <a:off x="685800" y="2347913"/>
            <a:ext cx="1362373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용도</a:t>
            </a:r>
            <a:endParaRPr lang="en-US" sz="900" dirty="0"/>
          </a:p>
        </p:txBody>
      </p:sp>
      <p:sp>
        <p:nvSpPr>
          <p:cNvPr id="37" name="SK-7-text-36"/>
          <p:cNvSpPr/>
          <p:nvPr/>
        </p:nvSpPr>
        <p:spPr>
          <a:xfrm>
            <a:off x="2010073" y="2347913"/>
            <a:ext cx="92958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주간 비용</a:t>
            </a:r>
            <a:endParaRPr lang="en-US" sz="900" dirty="0"/>
          </a:p>
        </p:txBody>
      </p:sp>
      <p:sp>
        <p:nvSpPr>
          <p:cNvPr id="38" name="SK-7-text-37"/>
          <p:cNvSpPr/>
          <p:nvPr/>
        </p:nvSpPr>
        <p:spPr>
          <a:xfrm>
            <a:off x="3282553" y="2347913"/>
            <a:ext cx="1579066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역할</a:t>
            </a:r>
            <a:endParaRPr lang="en-US" sz="900" dirty="0"/>
          </a:p>
        </p:txBody>
      </p:sp>
      <p:sp>
        <p:nvSpPr>
          <p:cNvPr id="39" name="SK-7-text-38"/>
          <p:cNvSpPr/>
          <p:nvPr/>
        </p:nvSpPr>
        <p:spPr>
          <a:xfrm>
            <a:off x="685800" y="2709863"/>
            <a:ext cx="1362373" cy="75336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에이전트</a:t>
            </a:r>
            <a:endParaRPr lang="en-US" sz="975" dirty="0"/>
          </a:p>
        </p:txBody>
      </p:sp>
      <p:sp>
        <p:nvSpPr>
          <p:cNvPr id="40" name="SK-7-text-39"/>
          <p:cNvSpPr/>
          <p:nvPr/>
        </p:nvSpPr>
        <p:spPr>
          <a:xfrm>
            <a:off x="2010073" y="2709863"/>
            <a:ext cx="929580" cy="75336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11827"/>
                </a:solidFill>
              </a:rPr>
              <a:t>54.5M</a:t>
            </a:r>
            <a:endParaRPr lang="en-US" sz="975" dirty="0"/>
          </a:p>
        </p:txBody>
      </p:sp>
      <p:sp>
        <p:nvSpPr>
          <p:cNvPr id="41" name="SK-7-text-40"/>
          <p:cNvSpPr/>
          <p:nvPr/>
        </p:nvSpPr>
        <p:spPr>
          <a:xfrm>
            <a:off x="3282553" y="2709863"/>
            <a:ext cx="1752838" cy="75336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자동 생성 및 리뷰</a:t>
            </a:r>
            <a:endParaRPr lang="en-US" sz="975" dirty="0"/>
          </a:p>
        </p:txBody>
      </p:sp>
      <p:sp>
        <p:nvSpPr>
          <p:cNvPr id="42" name="SK-7-text-41"/>
          <p:cNvSpPr/>
          <p:nvPr/>
        </p:nvSpPr>
        <p:spPr>
          <a:xfrm>
            <a:off x="685800" y="3463230"/>
            <a:ext cx="1362373" cy="75336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Automation</a:t>
            </a:r>
            <a:endParaRPr lang="en-US" sz="975" dirty="0"/>
          </a:p>
        </p:txBody>
      </p:sp>
      <p:sp>
        <p:nvSpPr>
          <p:cNvPr id="43" name="SK-7-text-42"/>
          <p:cNvSpPr/>
          <p:nvPr/>
        </p:nvSpPr>
        <p:spPr>
          <a:xfrm>
            <a:off x="2010073" y="3463230"/>
            <a:ext cx="929580" cy="75336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11827"/>
                </a:solidFill>
              </a:rPr>
              <a:t>30.8M</a:t>
            </a:r>
            <a:endParaRPr lang="en-US" sz="975" dirty="0"/>
          </a:p>
        </p:txBody>
      </p:sp>
      <p:sp>
        <p:nvSpPr>
          <p:cNvPr id="44" name="SK-7-text-43"/>
          <p:cNvSpPr/>
          <p:nvPr/>
        </p:nvSpPr>
        <p:spPr>
          <a:xfrm>
            <a:off x="3282553" y="3463230"/>
            <a:ext cx="2010782" cy="75336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주간보고 생성 / 시뮬레이션</a:t>
            </a:r>
            <a:endParaRPr lang="en-US" sz="975" dirty="0"/>
          </a:p>
        </p:txBody>
      </p:sp>
      <p:sp>
        <p:nvSpPr>
          <p:cNvPr id="45" name="SK-7-text-44"/>
          <p:cNvSpPr/>
          <p:nvPr/>
        </p:nvSpPr>
        <p:spPr>
          <a:xfrm>
            <a:off x="685800" y="4216598"/>
            <a:ext cx="1362373" cy="75336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 원격 추론</a:t>
            </a:r>
            <a:endParaRPr lang="en-US" sz="975" dirty="0"/>
          </a:p>
        </p:txBody>
      </p:sp>
      <p:sp>
        <p:nvSpPr>
          <p:cNvPr id="46" name="SK-7-text-45"/>
          <p:cNvSpPr/>
          <p:nvPr/>
        </p:nvSpPr>
        <p:spPr>
          <a:xfrm>
            <a:off x="2010073" y="4216598"/>
            <a:ext cx="929580" cy="75336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11827"/>
                </a:solidFill>
              </a:rPr>
              <a:t>24.9M</a:t>
            </a:r>
            <a:endParaRPr lang="en-US" sz="975" dirty="0"/>
          </a:p>
        </p:txBody>
      </p:sp>
      <p:sp>
        <p:nvSpPr>
          <p:cNvPr id="47" name="SK-7-text-46"/>
          <p:cNvSpPr/>
          <p:nvPr/>
        </p:nvSpPr>
        <p:spPr>
          <a:xfrm>
            <a:off x="3282553" y="4216598"/>
            <a:ext cx="1623866" cy="75336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VLM 기반 객체 인식</a:t>
            </a:r>
            <a:endParaRPr lang="en-US" sz="975" dirty="0"/>
          </a:p>
        </p:txBody>
      </p:sp>
      <p:sp>
        <p:nvSpPr>
          <p:cNvPr id="48" name="SK-7-text-47"/>
          <p:cNvSpPr/>
          <p:nvPr/>
        </p:nvSpPr>
        <p:spPr>
          <a:xfrm>
            <a:off x="685800" y="4969966"/>
            <a:ext cx="1362373" cy="75336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Assistance</a:t>
            </a:r>
            <a:endParaRPr lang="en-US" sz="975" dirty="0"/>
          </a:p>
        </p:txBody>
      </p:sp>
      <p:sp>
        <p:nvSpPr>
          <p:cNvPr id="49" name="SK-7-text-48"/>
          <p:cNvSpPr/>
          <p:nvPr/>
        </p:nvSpPr>
        <p:spPr>
          <a:xfrm>
            <a:off x="2010073" y="4969966"/>
            <a:ext cx="929580" cy="75336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11827"/>
                </a:solidFill>
              </a:rPr>
              <a:t>8.2M</a:t>
            </a:r>
            <a:endParaRPr lang="en-US" sz="975" dirty="0"/>
          </a:p>
        </p:txBody>
      </p:sp>
      <p:sp>
        <p:nvSpPr>
          <p:cNvPr id="50" name="SK-7-text-49"/>
          <p:cNvSpPr/>
          <p:nvPr/>
        </p:nvSpPr>
        <p:spPr>
          <a:xfrm>
            <a:off x="3282553" y="4969966"/>
            <a:ext cx="1579066" cy="75336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 초안 작성</a:t>
            </a:r>
            <a:endParaRPr lang="en-US" sz="975" dirty="0"/>
          </a:p>
        </p:txBody>
      </p:sp>
      <p:sp>
        <p:nvSpPr>
          <p:cNvPr id="51" name="SK-7-text-50"/>
          <p:cNvSpPr/>
          <p:nvPr/>
        </p:nvSpPr>
        <p:spPr>
          <a:xfrm>
            <a:off x="685800" y="6016823"/>
            <a:ext cx="17106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총계 (Weekly)</a:t>
            </a:r>
            <a:endParaRPr lang="en-US" sz="975" dirty="0"/>
          </a:p>
        </p:txBody>
      </p:sp>
      <p:sp>
        <p:nvSpPr>
          <p:cNvPr id="52" name="SK-7-text-51"/>
          <p:cNvSpPr/>
          <p:nvPr/>
        </p:nvSpPr>
        <p:spPr>
          <a:xfrm>
            <a:off x="2520553" y="6016823"/>
            <a:ext cx="533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11827"/>
                </a:solidFill>
              </a:rPr>
              <a:t>118.4M</a:t>
            </a:r>
            <a:endParaRPr lang="en-US" sz="975" dirty="0"/>
          </a:p>
        </p:txBody>
      </p:sp>
      <p:sp>
        <p:nvSpPr>
          <p:cNvPr id="53" name="SK-7-text-52"/>
          <p:cNvSpPr/>
          <p:nvPr/>
        </p:nvSpPr>
        <p:spPr>
          <a:xfrm>
            <a:off x="3282553" y="6016823"/>
            <a:ext cx="14135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인프라 통합 운영</a:t>
            </a:r>
            <a:endParaRPr lang="en-US" sz="975" dirty="0"/>
          </a:p>
        </p:txBody>
      </p:sp>
      <p:sp>
        <p:nvSpPr>
          <p:cNvPr id="54" name="SK-7-text-53"/>
          <p:cNvSpPr/>
          <p:nvPr/>
        </p:nvSpPr>
        <p:spPr>
          <a:xfrm>
            <a:off x="5299770" y="1619250"/>
            <a:ext cx="626358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</a:t>
            </a:r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"자동화"만 있고 "판단"이 없다</a:t>
            </a:r>
            <a:endParaRPr lang="en-US" sz="1125" dirty="0"/>
          </a:p>
        </p:txBody>
      </p:sp>
      <p:sp>
        <p:nvSpPr>
          <p:cNvPr id="55" name="SK-7-text-54"/>
          <p:cNvSpPr/>
          <p:nvPr/>
        </p:nvSpPr>
        <p:spPr>
          <a:xfrm>
            <a:off x="5242620" y="1871663"/>
            <a:ext cx="694938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보고서를 생성하나 내용의 타당성을 검증하지 않음. 16주 연속 "전 지표 정상" 반복의 근본 원인.</a:t>
            </a:r>
            <a:endParaRPr lang="en-US" sz="1050" dirty="0"/>
          </a:p>
        </p:txBody>
      </p:sp>
      <p:sp>
        <p:nvSpPr>
          <p:cNvPr id="56" name="SK-7-text-55"/>
          <p:cNvSpPr/>
          <p:nvPr/>
        </p:nvSpPr>
        <p:spPr>
          <a:xfrm>
            <a:off x="5299770" y="2572941"/>
            <a:ext cx="626358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</a:t>
            </a:r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참조 데이터 범위의 치명적 제한</a:t>
            </a:r>
            <a:endParaRPr lang="en-US" sz="1125" dirty="0"/>
          </a:p>
        </p:txBody>
      </p:sp>
      <p:sp>
        <p:nvSpPr>
          <p:cNvPr id="57" name="SK-7-text-56"/>
          <p:cNvSpPr/>
          <p:nvPr/>
        </p:nvSpPr>
        <p:spPr>
          <a:xfrm>
            <a:off x="5242620" y="2825353"/>
            <a:ext cx="694938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정해진 SC-01~08 지표만 참조. 파일럿 하락 및 편익(BEN) 데이터는 분석 대상에서 배제됨.</a:t>
            </a:r>
            <a:endParaRPr lang="en-US" sz="1050" dirty="0"/>
          </a:p>
        </p:txBody>
      </p:sp>
      <p:sp>
        <p:nvSpPr>
          <p:cNvPr id="58" name="SK-7-text-57"/>
          <p:cNvSpPr/>
          <p:nvPr/>
        </p:nvSpPr>
        <p:spPr>
          <a:xfrm>
            <a:off x="5299770" y="3526631"/>
            <a:ext cx="626358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</a:t>
            </a:r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사람 검토 루프(Human-in-the-loop) 부재</a:t>
            </a:r>
            <a:endParaRPr lang="en-US" sz="1125" dirty="0"/>
          </a:p>
        </p:txBody>
      </p:sp>
      <p:sp>
        <p:nvSpPr>
          <p:cNvPr id="59" name="SK-7-text-58"/>
          <p:cNvSpPr/>
          <p:nvPr/>
        </p:nvSpPr>
        <p:spPr>
          <a:xfrm>
            <a:off x="5242620" y="3779044"/>
            <a:ext cx="694938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자동 생성 후 즉시 배포. RACI 상 검토자/승인자 공란으로 인해 잘못된 정보가 무한 전파됨.</a:t>
            </a:r>
            <a:endParaRPr lang="en-US" sz="1050" dirty="0"/>
          </a:p>
        </p:txBody>
      </p:sp>
      <p:sp>
        <p:nvSpPr>
          <p:cNvPr id="60" name="SK-7-text-59"/>
          <p:cNvSpPr/>
          <p:nvPr/>
        </p:nvSpPr>
        <p:spPr>
          <a:xfrm>
            <a:off x="5299770" y="4480322"/>
            <a:ext cx="626358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INFO</a:t>
            </a:r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비용 관리 체계 없는 운영</a:t>
            </a:r>
            <a:endParaRPr lang="en-US" sz="1125" dirty="0"/>
          </a:p>
        </p:txBody>
      </p:sp>
      <p:sp>
        <p:nvSpPr>
          <p:cNvPr id="61" name="SK-7-text-60"/>
          <p:cNvSpPr/>
          <p:nvPr/>
        </p:nvSpPr>
        <p:spPr>
          <a:xfrm>
            <a:off x="5242620" y="4732734"/>
            <a:ext cx="694938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VLM 최고티어 단일 고정, 엣지캐시 미적용 등 최적화 부재로 예산 조기 소진(89%).</a:t>
            </a:r>
            <a:endParaRPr lang="en-US" sz="1050" dirty="0"/>
          </a:p>
        </p:txBody>
      </p:sp>
      <p:sp>
        <p:nvSpPr>
          <p:cNvPr id="62" name="SK-7-text-61"/>
          <p:cNvSpPr/>
          <p:nvPr/>
        </p:nvSpPr>
        <p:spPr>
          <a:xfrm>
            <a:off x="5280720" y="5548313"/>
            <a:ext cx="61873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"AI는 거짓말을 하지 않았다. 단 한 번도.</a:t>
            </a:r>
            <a:endParaRPr lang="en-US" sz="1350" dirty="0"/>
          </a:p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그리고 진실도 말하지 않았다. 질문을 안 했을 뿐이다."</a:t>
            </a:r>
            <a:endParaRPr lang="en-US" sz="1350" dirty="0"/>
          </a:p>
        </p:txBody>
      </p:sp>
      <p:sp>
        <p:nvSpPr>
          <p:cNvPr id="63" name="SK-7-text-62"/>
          <p:cNvSpPr/>
          <p:nvPr/>
        </p:nvSpPr>
        <p:spPr>
          <a:xfrm>
            <a:off x="5204520" y="6138863"/>
            <a:ext cx="626358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HERMES 프로젝트 핵심 교훈 (E-04 기반)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8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8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8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80975"/>
            <a:ext cx="2122289" cy="276225"/>
          </a:xfrm>
          <a:prstGeom prst="rect">
            <a:avLst/>
          </a:prstGeom>
        </p:spPr>
      </p:pic>
      <p:pic>
        <p:nvPicPr>
          <p:cNvPr id="5" name="SK-8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314325"/>
            <a:ext cx="8812411" cy="9525"/>
          </a:xfrm>
          <a:prstGeom prst="rect">
            <a:avLst/>
          </a:prstGeom>
        </p:spPr>
      </p:pic>
      <p:pic>
        <p:nvPicPr>
          <p:cNvPr id="6" name="SK-8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152525"/>
            <a:ext cx="3093690" cy="5524500"/>
          </a:xfrm>
          <a:prstGeom prst="rect">
            <a:avLst/>
          </a:prstGeom>
        </p:spPr>
      </p:pic>
      <p:pic>
        <p:nvPicPr>
          <p:cNvPr id="7" name="SK-8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46190" y="1152525"/>
            <a:ext cx="7574310" cy="1666875"/>
          </a:xfrm>
          <a:prstGeom prst="rect">
            <a:avLst/>
          </a:prstGeom>
        </p:spPr>
      </p:pic>
      <p:pic>
        <p:nvPicPr>
          <p:cNvPr id="8" name="SK-8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60490" y="1241078"/>
            <a:ext cx="166688" cy="137220"/>
          </a:xfrm>
          <a:prstGeom prst="rect">
            <a:avLst/>
          </a:prstGeom>
        </p:spPr>
      </p:pic>
      <p:pic>
        <p:nvPicPr>
          <p:cNvPr id="9" name="SK-8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60490" y="1457325"/>
            <a:ext cx="2518470" cy="276225"/>
          </a:xfrm>
          <a:prstGeom prst="rect">
            <a:avLst/>
          </a:prstGeom>
        </p:spPr>
      </p:pic>
      <p:pic>
        <p:nvPicPr>
          <p:cNvPr id="10" name="SK-8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78960" y="1457325"/>
            <a:ext cx="2716709" cy="276225"/>
          </a:xfrm>
          <a:prstGeom prst="rect">
            <a:avLst/>
          </a:prstGeom>
        </p:spPr>
      </p:pic>
      <p:pic>
        <p:nvPicPr>
          <p:cNvPr id="11" name="SK-8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95668" y="1457325"/>
            <a:ext cx="2110532" cy="276225"/>
          </a:xfrm>
          <a:prstGeom prst="rect">
            <a:avLst/>
          </a:prstGeom>
        </p:spPr>
      </p:pic>
      <p:pic>
        <p:nvPicPr>
          <p:cNvPr id="12" name="SK-8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60490" y="1733550"/>
            <a:ext cx="2518470" cy="257175"/>
          </a:xfrm>
          <a:prstGeom prst="rect">
            <a:avLst/>
          </a:prstGeom>
        </p:spPr>
      </p:pic>
      <p:pic>
        <p:nvPicPr>
          <p:cNvPr id="13" name="SK-8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78960" y="1733550"/>
            <a:ext cx="2716709" cy="257175"/>
          </a:xfrm>
          <a:prstGeom prst="rect">
            <a:avLst/>
          </a:prstGeom>
        </p:spPr>
      </p:pic>
      <p:pic>
        <p:nvPicPr>
          <p:cNvPr id="14" name="SK-8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95668" y="1733550"/>
            <a:ext cx="2110532" cy="257175"/>
          </a:xfrm>
          <a:prstGeom prst="rect">
            <a:avLst/>
          </a:prstGeom>
        </p:spPr>
      </p:pic>
      <p:pic>
        <p:nvPicPr>
          <p:cNvPr id="15" name="SK-8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160490" y="1990725"/>
            <a:ext cx="2518470" cy="257175"/>
          </a:xfrm>
          <a:prstGeom prst="rect">
            <a:avLst/>
          </a:prstGeom>
        </p:spPr>
      </p:pic>
      <p:pic>
        <p:nvPicPr>
          <p:cNvPr id="16" name="SK-8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78960" y="1990725"/>
            <a:ext cx="2716709" cy="257175"/>
          </a:xfrm>
          <a:prstGeom prst="rect">
            <a:avLst/>
          </a:prstGeom>
        </p:spPr>
      </p:pic>
      <p:pic>
        <p:nvPicPr>
          <p:cNvPr id="17" name="SK-8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95668" y="1990725"/>
            <a:ext cx="2110532" cy="257175"/>
          </a:xfrm>
          <a:prstGeom prst="rect">
            <a:avLst/>
          </a:prstGeom>
        </p:spPr>
      </p:pic>
      <p:pic>
        <p:nvPicPr>
          <p:cNvPr id="18" name="SK-8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160490" y="2247900"/>
            <a:ext cx="2518470" cy="257175"/>
          </a:xfrm>
          <a:prstGeom prst="rect">
            <a:avLst/>
          </a:prstGeom>
        </p:spPr>
      </p:pic>
      <p:pic>
        <p:nvPicPr>
          <p:cNvPr id="19" name="SK-8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78960" y="2247900"/>
            <a:ext cx="2716709" cy="257175"/>
          </a:xfrm>
          <a:prstGeom prst="rect">
            <a:avLst/>
          </a:prstGeom>
        </p:spPr>
      </p:pic>
      <p:pic>
        <p:nvPicPr>
          <p:cNvPr id="20" name="SK-8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395668" y="2247900"/>
            <a:ext cx="2110532" cy="257175"/>
          </a:xfrm>
          <a:prstGeom prst="rect">
            <a:avLst/>
          </a:prstGeom>
        </p:spPr>
      </p:pic>
      <p:pic>
        <p:nvPicPr>
          <p:cNvPr id="21" name="SK-8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60490" y="2505075"/>
            <a:ext cx="2518470" cy="257175"/>
          </a:xfrm>
          <a:prstGeom prst="rect">
            <a:avLst/>
          </a:prstGeom>
        </p:spPr>
      </p:pic>
      <p:pic>
        <p:nvPicPr>
          <p:cNvPr id="22" name="SK-8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678960" y="2505075"/>
            <a:ext cx="2716709" cy="257175"/>
          </a:xfrm>
          <a:prstGeom prst="rect">
            <a:avLst/>
          </a:prstGeom>
        </p:spPr>
      </p:pic>
      <p:pic>
        <p:nvPicPr>
          <p:cNvPr id="23" name="SK-8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395668" y="2505075"/>
            <a:ext cx="2110532" cy="257175"/>
          </a:xfrm>
          <a:prstGeom prst="rect">
            <a:avLst/>
          </a:prstGeom>
        </p:spPr>
      </p:pic>
      <p:pic>
        <p:nvPicPr>
          <p:cNvPr id="24" name="SK-8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046190" y="2914650"/>
            <a:ext cx="7574310" cy="3762375"/>
          </a:xfrm>
          <a:prstGeom prst="rect">
            <a:avLst/>
          </a:prstGeom>
        </p:spPr>
      </p:pic>
      <p:pic>
        <p:nvPicPr>
          <p:cNvPr id="25" name="SK-8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160490" y="3003203"/>
            <a:ext cx="166688" cy="137220"/>
          </a:xfrm>
          <a:prstGeom prst="rect">
            <a:avLst/>
          </a:prstGeom>
        </p:spPr>
      </p:pic>
      <p:pic>
        <p:nvPicPr>
          <p:cNvPr id="26" name="SK-8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160490" y="3286125"/>
            <a:ext cx="7345710" cy="692348"/>
          </a:xfrm>
          <a:prstGeom prst="rect">
            <a:avLst/>
          </a:prstGeom>
        </p:spPr>
      </p:pic>
      <p:pic>
        <p:nvPicPr>
          <p:cNvPr id="27" name="SK-8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160490" y="4026098"/>
            <a:ext cx="7345710" cy="985838"/>
          </a:xfrm>
          <a:prstGeom prst="rect">
            <a:avLst/>
          </a:prstGeom>
        </p:spPr>
      </p:pic>
      <p:pic>
        <p:nvPicPr>
          <p:cNvPr id="28" name="SK-8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255740" y="4288036"/>
            <a:ext cx="2334220" cy="676275"/>
          </a:xfrm>
          <a:prstGeom prst="rect">
            <a:avLst/>
          </a:prstGeom>
        </p:spPr>
      </p:pic>
      <p:pic>
        <p:nvPicPr>
          <p:cNvPr id="29" name="SK-8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327600" y="4370784"/>
            <a:ext cx="190500" cy="152400"/>
          </a:xfrm>
          <a:prstGeom prst="rect">
            <a:avLst/>
          </a:prstGeom>
        </p:spPr>
      </p:pic>
      <p:pic>
        <p:nvPicPr>
          <p:cNvPr id="30" name="SK-8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666161" y="4288036"/>
            <a:ext cx="2334220" cy="676275"/>
          </a:xfrm>
          <a:prstGeom prst="rect">
            <a:avLst/>
          </a:prstGeom>
        </p:spPr>
      </p:pic>
      <p:pic>
        <p:nvPicPr>
          <p:cNvPr id="31" name="SK-8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738021" y="4370784"/>
            <a:ext cx="190500" cy="152400"/>
          </a:xfrm>
          <a:prstGeom prst="rect">
            <a:avLst/>
          </a:prstGeom>
        </p:spPr>
      </p:pic>
      <p:pic>
        <p:nvPicPr>
          <p:cNvPr id="32" name="SK-8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076581" y="4288036"/>
            <a:ext cx="2334220" cy="676275"/>
          </a:xfrm>
          <a:prstGeom prst="rect">
            <a:avLst/>
          </a:prstGeom>
        </p:spPr>
      </p:pic>
      <p:pic>
        <p:nvPicPr>
          <p:cNvPr id="33" name="SK-8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148441" y="4370784"/>
            <a:ext cx="190500" cy="152400"/>
          </a:xfrm>
          <a:prstGeom prst="rect">
            <a:avLst/>
          </a:prstGeom>
        </p:spPr>
      </p:pic>
      <p:pic>
        <p:nvPicPr>
          <p:cNvPr id="34" name="SK-8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160490" y="5059561"/>
            <a:ext cx="7345710" cy="692348"/>
          </a:xfrm>
          <a:prstGeom prst="rect">
            <a:avLst/>
          </a:prstGeom>
        </p:spPr>
      </p:pic>
      <p:pic>
        <p:nvPicPr>
          <p:cNvPr id="35" name="SK-8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160490" y="6153150"/>
            <a:ext cx="2385120" cy="228600"/>
          </a:xfrm>
          <a:prstGeom prst="rect">
            <a:avLst/>
          </a:prstGeom>
        </p:spPr>
      </p:pic>
      <p:pic>
        <p:nvPicPr>
          <p:cNvPr id="36" name="SK-8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795838" y="6217593"/>
            <a:ext cx="142875" cy="114300"/>
          </a:xfrm>
          <a:prstGeom prst="rect">
            <a:avLst/>
          </a:prstGeom>
        </p:spPr>
      </p:pic>
      <p:pic>
        <p:nvPicPr>
          <p:cNvPr id="37" name="SK-8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640860" y="6153150"/>
            <a:ext cx="2385120" cy="228600"/>
          </a:xfrm>
          <a:prstGeom prst="rect">
            <a:avLst/>
          </a:prstGeom>
        </p:spPr>
      </p:pic>
      <p:pic>
        <p:nvPicPr>
          <p:cNvPr id="38" name="SK-8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133332" y="6217593"/>
            <a:ext cx="142875" cy="114300"/>
          </a:xfrm>
          <a:prstGeom prst="rect">
            <a:avLst/>
          </a:prstGeom>
        </p:spPr>
      </p:pic>
      <p:pic>
        <p:nvPicPr>
          <p:cNvPr id="39" name="SK-8-img-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9121229" y="6153150"/>
            <a:ext cx="2385120" cy="228600"/>
          </a:xfrm>
          <a:prstGeom prst="rect">
            <a:avLst/>
          </a:prstGeom>
        </p:spPr>
      </p:pic>
      <p:pic>
        <p:nvPicPr>
          <p:cNvPr id="40" name="SK-8-img-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661327" y="6217593"/>
            <a:ext cx="142875" cy="114300"/>
          </a:xfrm>
          <a:prstGeom prst="rect">
            <a:avLst/>
          </a:prstGeom>
        </p:spPr>
      </p:pic>
      <p:sp>
        <p:nvSpPr>
          <p:cNvPr id="41" name="SK-8-text-40"/>
          <p:cNvSpPr/>
          <p:nvPr/>
        </p:nvSpPr>
        <p:spPr>
          <a:xfrm>
            <a:off x="647700" y="180975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42" name="SK-8-text-41"/>
          <p:cNvSpPr/>
          <p:nvPr/>
        </p:nvSpPr>
        <p:spPr>
          <a:xfrm>
            <a:off x="571500" y="533400"/>
            <a:ext cx="11620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C-1 &amp; C-2. Value-Driven AI Agent 개선안 및 아키텍처</a:t>
            </a:r>
            <a:endParaRPr lang="en-US" sz="2550" dirty="0"/>
          </a:p>
        </p:txBody>
      </p:sp>
      <p:sp>
        <p:nvSpPr>
          <p:cNvPr id="43" name="SK-8-text-42"/>
          <p:cNvSpPr/>
          <p:nvPr/>
        </p:nvSpPr>
        <p:spPr>
          <a:xfrm>
            <a:off x="1171426" y="2504629"/>
            <a:ext cx="189368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spc="216" kern="0" dirty="0">
                <a:solidFill>
                  <a:srgbClr val="FFFFFF">
                    <a:alpha val="80000"/>
                  </a:srgbClr>
                </a:solidFill>
              </a:rPr>
              <a:t>CORE SOLUTION</a:t>
            </a:r>
            <a:endParaRPr lang="en-US" sz="1350" dirty="0"/>
          </a:p>
        </p:txBody>
      </p:sp>
      <p:sp>
        <p:nvSpPr>
          <p:cNvPr id="44" name="SK-8-text-43"/>
          <p:cNvSpPr/>
          <p:nvPr/>
        </p:nvSpPr>
        <p:spPr>
          <a:xfrm>
            <a:off x="963513" y="2876104"/>
            <a:ext cx="2309664" cy="100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3960"/>
              </a:lnSpc>
              <a:buNone/>
            </a:pPr>
            <a:r>
              <a:rPr lang="en-US" sz="3600" b="1" spc="-86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VALUE</a:t>
            </a:r>
            <a:endParaRPr lang="en-US" sz="3600" dirty="0"/>
          </a:p>
          <a:p>
            <a:pPr algn="ctr" indent="0" marL="0">
              <a:lnSpc>
                <a:spcPts val="3960"/>
              </a:lnSpc>
              <a:buNone/>
            </a:pPr>
            <a:r>
              <a:rPr lang="en-US" sz="3600" b="1" spc="-86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GUARDIAN</a:t>
            </a:r>
            <a:endParaRPr lang="en-US" sz="3600" dirty="0"/>
          </a:p>
        </p:txBody>
      </p:sp>
      <p:sp>
        <p:nvSpPr>
          <p:cNvPr id="45" name="SK-8-text-44"/>
          <p:cNvSpPr/>
          <p:nvPr/>
        </p:nvSpPr>
        <p:spPr>
          <a:xfrm>
            <a:off x="952500" y="4110484"/>
            <a:ext cx="2331690" cy="121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프로젝트의 진짜 목적(고객 가치)을 감시하고,</a:t>
            </a:r>
            <a:endParaRPr lang="en-US" sz="1275" dirty="0"/>
          </a:p>
          <a:p>
            <a:pPr algn="ctr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보고된 지표의 진실성을 3중 검증하는</a:t>
            </a:r>
            <a:endParaRPr lang="en-US" sz="1275" dirty="0"/>
          </a:p>
          <a:p>
            <a:pPr algn="ctr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 중심 AI PM Assistant</a:t>
            </a:r>
            <a:endParaRPr lang="en-US" sz="1275" dirty="0"/>
          </a:p>
        </p:txBody>
      </p:sp>
      <p:sp>
        <p:nvSpPr>
          <p:cNvPr id="46" name="SK-8-text-45"/>
          <p:cNvSpPr/>
          <p:nvPr/>
        </p:nvSpPr>
        <p:spPr>
          <a:xfrm>
            <a:off x="4403378" y="1209675"/>
            <a:ext cx="73457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C-1. 문제-원인-해결 연결 맵</a:t>
            </a:r>
            <a:endParaRPr lang="en-US" sz="1050" dirty="0"/>
          </a:p>
        </p:txBody>
      </p:sp>
      <p:sp>
        <p:nvSpPr>
          <p:cNvPr id="47" name="SK-8-text-46"/>
          <p:cNvSpPr/>
          <p:nvPr/>
        </p:nvSpPr>
        <p:spPr>
          <a:xfrm>
            <a:off x="4274790" y="1457325"/>
            <a:ext cx="254961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근본원인 (Root Cause)</a:t>
            </a:r>
            <a:endParaRPr lang="en-US" sz="1050" dirty="0"/>
          </a:p>
        </p:txBody>
      </p:sp>
      <p:sp>
        <p:nvSpPr>
          <p:cNvPr id="48" name="SK-8-text-47"/>
          <p:cNvSpPr/>
          <p:nvPr/>
        </p:nvSpPr>
        <p:spPr>
          <a:xfrm>
            <a:off x="6793260" y="1457325"/>
            <a:ext cx="256430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해결 방향 (Strategy)</a:t>
            </a:r>
            <a:endParaRPr lang="en-US" sz="1050" dirty="0"/>
          </a:p>
        </p:txBody>
      </p:sp>
      <p:sp>
        <p:nvSpPr>
          <p:cNvPr id="49" name="SK-8-text-48"/>
          <p:cNvSpPr/>
          <p:nvPr/>
        </p:nvSpPr>
        <p:spPr>
          <a:xfrm>
            <a:off x="9509968" y="1457325"/>
            <a:ext cx="264457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Agent 역할 (Role)</a:t>
            </a:r>
            <a:endParaRPr lang="en-US" sz="1050" dirty="0"/>
          </a:p>
        </p:txBody>
      </p:sp>
      <p:sp>
        <p:nvSpPr>
          <p:cNvPr id="50" name="SK-8-text-49"/>
          <p:cNvSpPr/>
          <p:nvPr/>
        </p:nvSpPr>
        <p:spPr>
          <a:xfrm>
            <a:off x="4274790" y="1733550"/>
            <a:ext cx="254961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 체계가 Output만 측정</a:t>
            </a:r>
            <a:endParaRPr lang="en-US" sz="1050" dirty="0"/>
          </a:p>
        </p:txBody>
      </p:sp>
      <p:sp>
        <p:nvSpPr>
          <p:cNvPr id="51" name="SK-8-text-50"/>
          <p:cNvSpPr/>
          <p:nvPr/>
        </p:nvSpPr>
        <p:spPr>
          <a:xfrm>
            <a:off x="6793260" y="1733550"/>
            <a:ext cx="271418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Outcome(편익) 실시간 추적</a:t>
            </a:r>
            <a:endParaRPr lang="en-US" sz="1050" dirty="0"/>
          </a:p>
        </p:txBody>
      </p:sp>
      <p:sp>
        <p:nvSpPr>
          <p:cNvPr id="52" name="SK-8-text-51"/>
          <p:cNvSpPr/>
          <p:nvPr/>
        </p:nvSpPr>
        <p:spPr>
          <a:xfrm>
            <a:off x="9509968" y="1733550"/>
            <a:ext cx="268203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Value Guardian Agent</a:t>
            </a:r>
            <a:endParaRPr lang="en-US" sz="1050" dirty="0"/>
          </a:p>
        </p:txBody>
      </p:sp>
      <p:sp>
        <p:nvSpPr>
          <p:cNvPr id="53" name="SK-8-text-52"/>
          <p:cNvSpPr/>
          <p:nvPr/>
        </p:nvSpPr>
        <p:spPr>
          <a:xfrm>
            <a:off x="4274790" y="1990725"/>
            <a:ext cx="240412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보고서와 원자료의 괴리 미감지</a:t>
            </a:r>
            <a:endParaRPr lang="en-US" sz="1050" dirty="0"/>
          </a:p>
        </p:txBody>
      </p:sp>
      <p:sp>
        <p:nvSpPr>
          <p:cNvPr id="54" name="SK-8-text-53"/>
          <p:cNvSpPr/>
          <p:nvPr/>
        </p:nvSpPr>
        <p:spPr>
          <a:xfrm>
            <a:off x="6793260" y="1990725"/>
            <a:ext cx="256430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크로스체크 + 이상 탐지</a:t>
            </a:r>
            <a:endParaRPr lang="en-US" sz="1050" dirty="0"/>
          </a:p>
        </p:txBody>
      </p:sp>
      <p:sp>
        <p:nvSpPr>
          <p:cNvPr id="55" name="SK-8-text-54"/>
          <p:cNvSpPr/>
          <p:nvPr/>
        </p:nvSpPr>
        <p:spPr>
          <a:xfrm>
            <a:off x="9509968" y="1990725"/>
            <a:ext cx="268203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Integrity Checker Agent</a:t>
            </a:r>
            <a:endParaRPr lang="en-US" sz="1050" dirty="0"/>
          </a:p>
        </p:txBody>
      </p:sp>
      <p:sp>
        <p:nvSpPr>
          <p:cNvPr id="56" name="SK-8-text-55"/>
          <p:cNvSpPr/>
          <p:nvPr/>
        </p:nvSpPr>
        <p:spPr>
          <a:xfrm>
            <a:off x="4274790" y="2247900"/>
            <a:ext cx="250111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불일치 (3개 리전)</a:t>
            </a:r>
            <a:endParaRPr lang="en-US" sz="1050" dirty="0"/>
          </a:p>
        </p:txBody>
      </p:sp>
      <p:sp>
        <p:nvSpPr>
          <p:cNvPr id="57" name="SK-8-text-56"/>
          <p:cNvSpPr/>
          <p:nvPr/>
        </p:nvSpPr>
        <p:spPr>
          <a:xfrm>
            <a:off x="6793260" y="2247900"/>
            <a:ext cx="256763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결정 기록 대조 + 불일치 알림</a:t>
            </a:r>
            <a:endParaRPr lang="en-US" sz="1050" dirty="0"/>
          </a:p>
        </p:txBody>
      </p:sp>
      <p:sp>
        <p:nvSpPr>
          <p:cNvPr id="58" name="SK-8-text-57"/>
          <p:cNvSpPr/>
          <p:nvPr/>
        </p:nvSpPr>
        <p:spPr>
          <a:xfrm>
            <a:off x="9509968" y="2247900"/>
            <a:ext cx="268203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Decision Sync Agent</a:t>
            </a:r>
            <a:endParaRPr lang="en-US" sz="1050" dirty="0"/>
          </a:p>
        </p:txBody>
      </p:sp>
      <p:sp>
        <p:nvSpPr>
          <p:cNvPr id="59" name="SK-8-text-58"/>
          <p:cNvSpPr/>
          <p:nvPr/>
        </p:nvSpPr>
        <p:spPr>
          <a:xfrm>
            <a:off x="4274790" y="2505075"/>
            <a:ext cx="269511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방치 + 외부 변경 미대응</a:t>
            </a:r>
            <a:endParaRPr lang="en-US" sz="1050" dirty="0"/>
          </a:p>
        </p:txBody>
      </p:sp>
      <p:sp>
        <p:nvSpPr>
          <p:cNvPr id="60" name="SK-8-text-59"/>
          <p:cNvSpPr/>
          <p:nvPr/>
        </p:nvSpPr>
        <p:spPr>
          <a:xfrm>
            <a:off x="6793260" y="2505075"/>
            <a:ext cx="300729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신호 감지 + 리스크 자동 등록</a:t>
            </a:r>
            <a:endParaRPr lang="en-US" sz="1050" dirty="0"/>
          </a:p>
        </p:txBody>
      </p:sp>
      <p:sp>
        <p:nvSpPr>
          <p:cNvPr id="61" name="SK-8-text-60"/>
          <p:cNvSpPr/>
          <p:nvPr/>
        </p:nvSpPr>
        <p:spPr>
          <a:xfrm>
            <a:off x="9509968" y="2505075"/>
            <a:ext cx="235920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Risk Radar Agent</a:t>
            </a:r>
            <a:endParaRPr lang="en-US" sz="1050" dirty="0"/>
          </a:p>
        </p:txBody>
      </p:sp>
      <p:sp>
        <p:nvSpPr>
          <p:cNvPr id="62" name="SK-8-text-61"/>
          <p:cNvSpPr/>
          <p:nvPr/>
        </p:nvSpPr>
        <p:spPr>
          <a:xfrm>
            <a:off x="4403378" y="2971800"/>
            <a:ext cx="73457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C-2. HERMES Value Guardian 아키텍처</a:t>
            </a:r>
            <a:endParaRPr lang="en-US" sz="1050" dirty="0"/>
          </a:p>
        </p:txBody>
      </p:sp>
      <p:sp>
        <p:nvSpPr>
          <p:cNvPr id="63" name="SK-8-text-62"/>
          <p:cNvSpPr/>
          <p:nvPr/>
        </p:nvSpPr>
        <p:spPr>
          <a:xfrm>
            <a:off x="4255740" y="3333750"/>
            <a:ext cx="72314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INPUT LAYER</a:t>
            </a:r>
            <a:endParaRPr lang="en-US" sz="900" dirty="0"/>
          </a:p>
        </p:txBody>
      </p:sp>
      <p:sp>
        <p:nvSpPr>
          <p:cNvPr id="64" name="SK-8-text-63"/>
          <p:cNvSpPr/>
          <p:nvPr/>
        </p:nvSpPr>
        <p:spPr>
          <a:xfrm>
            <a:off x="4255740" y="3524250"/>
            <a:ext cx="723141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Multi-Source Data</a:t>
            </a:r>
            <a:endParaRPr lang="en-US" sz="1125" dirty="0"/>
          </a:p>
        </p:txBody>
      </p:sp>
      <p:sp>
        <p:nvSpPr>
          <p:cNvPr id="65" name="SK-8-text-64"/>
          <p:cNvSpPr/>
          <p:nvPr/>
        </p:nvSpPr>
        <p:spPr>
          <a:xfrm>
            <a:off x="4255740" y="3757613"/>
            <a:ext cx="723141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Jira/EVM, 파일럿 텔레메트리, 메신저 로그, 외부 파트너(Helion) 일정</a:t>
            </a:r>
            <a:endParaRPr lang="en-US" sz="975" dirty="0"/>
          </a:p>
        </p:txBody>
      </p:sp>
      <p:sp>
        <p:nvSpPr>
          <p:cNvPr id="66" name="SK-8-text-65"/>
          <p:cNvSpPr/>
          <p:nvPr/>
        </p:nvSpPr>
        <p:spPr>
          <a:xfrm>
            <a:off x="4217640" y="4073723"/>
            <a:ext cx="723141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PROCESSING LAYER: 3중 검증 엔진</a:t>
            </a:r>
            <a:endParaRPr lang="en-US" sz="825" dirty="0"/>
          </a:p>
        </p:txBody>
      </p:sp>
      <p:sp>
        <p:nvSpPr>
          <p:cNvPr id="67" name="SK-8-text-66"/>
          <p:cNvSpPr/>
          <p:nvPr/>
        </p:nvSpPr>
        <p:spPr>
          <a:xfrm>
            <a:off x="4331940" y="4554736"/>
            <a:ext cx="218182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Cross-Check</a:t>
            </a:r>
            <a:endParaRPr lang="en-US" sz="975" dirty="0"/>
          </a:p>
          <a:p>
            <a:pPr algn="ctr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보고지표 vs 원자료 대조</a:t>
            </a:r>
            <a:endParaRPr lang="en-US" sz="975" dirty="0"/>
          </a:p>
        </p:txBody>
      </p:sp>
      <p:sp>
        <p:nvSpPr>
          <p:cNvPr id="68" name="SK-8-text-67"/>
          <p:cNvSpPr/>
          <p:nvPr/>
        </p:nvSpPr>
        <p:spPr>
          <a:xfrm>
            <a:off x="6742361" y="4554736"/>
            <a:ext cx="218182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Value Tracker</a:t>
            </a:r>
            <a:endParaRPr lang="en-US" sz="975" dirty="0"/>
          </a:p>
          <a:p>
            <a:pPr algn="ctr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편익 선행지표 추적</a:t>
            </a:r>
            <a:endParaRPr lang="en-US" sz="975" dirty="0"/>
          </a:p>
        </p:txBody>
      </p:sp>
      <p:sp>
        <p:nvSpPr>
          <p:cNvPr id="69" name="SK-8-text-68"/>
          <p:cNvSpPr/>
          <p:nvPr/>
        </p:nvSpPr>
        <p:spPr>
          <a:xfrm>
            <a:off x="9152781" y="4554736"/>
            <a:ext cx="218182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Decision Sync</a:t>
            </a:r>
            <a:endParaRPr lang="en-US" sz="975" dirty="0"/>
          </a:p>
          <a:p>
            <a:pPr algn="ctr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 리전 기록 정합성</a:t>
            </a:r>
            <a:endParaRPr lang="en-US" sz="975" dirty="0"/>
          </a:p>
        </p:txBody>
      </p:sp>
      <p:sp>
        <p:nvSpPr>
          <p:cNvPr id="70" name="SK-8-text-69"/>
          <p:cNvSpPr/>
          <p:nvPr/>
        </p:nvSpPr>
        <p:spPr>
          <a:xfrm>
            <a:off x="4255740" y="5107186"/>
            <a:ext cx="72314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 &amp; ACTION</a:t>
            </a:r>
            <a:endParaRPr lang="en-US" sz="900" dirty="0"/>
          </a:p>
        </p:txBody>
      </p:sp>
      <p:sp>
        <p:nvSpPr>
          <p:cNvPr id="71" name="SK-8-text-70"/>
          <p:cNvSpPr/>
          <p:nvPr/>
        </p:nvSpPr>
        <p:spPr>
          <a:xfrm>
            <a:off x="4255740" y="5297686"/>
            <a:ext cx="723141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Integrated Health Report</a:t>
            </a:r>
            <a:endParaRPr lang="en-US" sz="1125" dirty="0"/>
          </a:p>
        </p:txBody>
      </p:sp>
      <p:sp>
        <p:nvSpPr>
          <p:cNvPr id="72" name="SK-8-text-71"/>
          <p:cNvSpPr/>
          <p:nvPr/>
        </p:nvSpPr>
        <p:spPr>
          <a:xfrm>
            <a:off x="4255740" y="5531048"/>
            <a:ext cx="723141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괴리 발견 시 즉시 알림, CR 초안 자동 생성, 리스크 자동 등록 제안</a:t>
            </a:r>
            <a:endParaRPr lang="en-US" sz="975" dirty="0"/>
          </a:p>
        </p:txBody>
      </p:sp>
      <p:sp>
        <p:nvSpPr>
          <p:cNvPr id="73" name="SK-8-text-72"/>
          <p:cNvSpPr/>
          <p:nvPr/>
        </p:nvSpPr>
        <p:spPr>
          <a:xfrm>
            <a:off x="4160490" y="6153150"/>
            <a:ext cx="22708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자동 에스컬레이션</a:t>
            </a:r>
            <a:endParaRPr lang="en-US" sz="900" dirty="0"/>
          </a:p>
        </p:txBody>
      </p:sp>
      <p:sp>
        <p:nvSpPr>
          <p:cNvPr id="74" name="SK-8-text-73"/>
          <p:cNvSpPr/>
          <p:nvPr/>
        </p:nvSpPr>
        <p:spPr>
          <a:xfrm>
            <a:off x="6640860" y="6153150"/>
            <a:ext cx="22708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사람 검토 프로세스 강제</a:t>
            </a:r>
            <a:endParaRPr lang="en-US" sz="900" dirty="0"/>
          </a:p>
        </p:txBody>
      </p:sp>
      <p:sp>
        <p:nvSpPr>
          <p:cNvPr id="75" name="SK-8-text-74"/>
          <p:cNvSpPr/>
          <p:nvPr/>
        </p:nvSpPr>
        <p:spPr>
          <a:xfrm>
            <a:off x="9121229" y="6153150"/>
            <a:ext cx="22708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SSOT(단일 원천) 구축</a:t>
            </a:r>
            <a:endParaRPr lang="en-US" sz="900" dirty="0"/>
          </a:p>
        </p:txBody>
      </p:sp>
      <p:sp>
        <p:nvSpPr>
          <p:cNvPr id="76" name="SK-8-text-75"/>
          <p:cNvSpPr/>
          <p:nvPr/>
        </p:nvSpPr>
        <p:spPr>
          <a:xfrm>
            <a:off x="4084290" y="6448425"/>
            <a:ext cx="74219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900" i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Governance: AI는 감시 및 제안만 수행하며, 최종 의사결정은 반드시 인간(PM/스폰서)이 서명함.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9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9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9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5" name="SK-9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pic>
        <p:nvPicPr>
          <p:cNvPr id="6" name="SK-9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504950"/>
            <a:ext cx="2087910" cy="4972050"/>
          </a:xfrm>
          <a:prstGeom prst="rect">
            <a:avLst/>
          </a:prstGeom>
        </p:spPr>
      </p:pic>
      <p:pic>
        <p:nvPicPr>
          <p:cNvPr id="7" name="SK-9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619250"/>
            <a:ext cx="381000" cy="381000"/>
          </a:xfrm>
          <a:prstGeom prst="rect">
            <a:avLst/>
          </a:prstGeom>
        </p:spPr>
      </p:pic>
      <p:pic>
        <p:nvPicPr>
          <p:cNvPr id="8" name="SK-9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7238" y="1714500"/>
            <a:ext cx="238125" cy="190500"/>
          </a:xfrm>
          <a:prstGeom prst="rect">
            <a:avLst/>
          </a:prstGeom>
        </p:spPr>
      </p:pic>
      <p:pic>
        <p:nvPicPr>
          <p:cNvPr id="9" name="SK-9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2409825"/>
            <a:ext cx="904875" cy="247650"/>
          </a:xfrm>
          <a:prstGeom prst="rect">
            <a:avLst/>
          </a:prstGeom>
        </p:spPr>
      </p:pic>
      <p:pic>
        <p:nvPicPr>
          <p:cNvPr id="10" name="SK-9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5876925"/>
            <a:ext cx="1859310" cy="485775"/>
          </a:xfrm>
          <a:prstGeom prst="rect">
            <a:avLst/>
          </a:prstGeom>
        </p:spPr>
      </p:pic>
      <p:pic>
        <p:nvPicPr>
          <p:cNvPr id="11" name="SK-9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6028283"/>
            <a:ext cx="154781" cy="125760"/>
          </a:xfrm>
          <a:prstGeom prst="rect">
            <a:avLst/>
          </a:prstGeom>
        </p:spPr>
      </p:pic>
      <p:pic>
        <p:nvPicPr>
          <p:cNvPr id="12" name="SK-9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11810" y="1504950"/>
            <a:ext cx="2087910" cy="4972050"/>
          </a:xfrm>
          <a:prstGeom prst="rect">
            <a:avLst/>
          </a:prstGeom>
        </p:spPr>
      </p:pic>
      <p:pic>
        <p:nvPicPr>
          <p:cNvPr id="13" name="SK-9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26110" y="1619250"/>
            <a:ext cx="381000" cy="381000"/>
          </a:xfrm>
          <a:prstGeom prst="rect">
            <a:avLst/>
          </a:prstGeom>
        </p:spPr>
      </p:pic>
      <p:pic>
        <p:nvPicPr>
          <p:cNvPr id="14" name="SK-9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97547" y="1714500"/>
            <a:ext cx="238125" cy="190500"/>
          </a:xfrm>
          <a:prstGeom prst="rect">
            <a:avLst/>
          </a:prstGeom>
        </p:spPr>
      </p:pic>
      <p:pic>
        <p:nvPicPr>
          <p:cNvPr id="15" name="SK-9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926110" y="2409825"/>
            <a:ext cx="1123950" cy="247650"/>
          </a:xfrm>
          <a:prstGeom prst="rect">
            <a:avLst/>
          </a:prstGeom>
        </p:spPr>
      </p:pic>
      <p:pic>
        <p:nvPicPr>
          <p:cNvPr id="16" name="SK-9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26110" y="5876925"/>
            <a:ext cx="1859310" cy="485775"/>
          </a:xfrm>
          <a:prstGeom prst="rect">
            <a:avLst/>
          </a:prstGeom>
        </p:spPr>
      </p:pic>
      <p:pic>
        <p:nvPicPr>
          <p:cNvPr id="17" name="SK-9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926110" y="6028283"/>
            <a:ext cx="154781" cy="125760"/>
          </a:xfrm>
          <a:prstGeom prst="rect">
            <a:avLst/>
          </a:prstGeom>
        </p:spPr>
      </p:pic>
      <p:pic>
        <p:nvPicPr>
          <p:cNvPr id="18" name="SK-9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052120" y="1504950"/>
            <a:ext cx="2087910" cy="4972050"/>
          </a:xfrm>
          <a:prstGeom prst="rect">
            <a:avLst/>
          </a:prstGeom>
        </p:spPr>
      </p:pic>
      <p:pic>
        <p:nvPicPr>
          <p:cNvPr id="19" name="SK-9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166420" y="1619250"/>
            <a:ext cx="381000" cy="381000"/>
          </a:xfrm>
          <a:prstGeom prst="rect">
            <a:avLst/>
          </a:prstGeom>
        </p:spPr>
      </p:pic>
      <p:pic>
        <p:nvPicPr>
          <p:cNvPr id="20" name="SK-9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237857" y="1714500"/>
            <a:ext cx="238125" cy="190500"/>
          </a:xfrm>
          <a:prstGeom prst="rect">
            <a:avLst/>
          </a:prstGeom>
        </p:spPr>
      </p:pic>
      <p:pic>
        <p:nvPicPr>
          <p:cNvPr id="21" name="SK-9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166420" y="2409825"/>
            <a:ext cx="1009650" cy="247650"/>
          </a:xfrm>
          <a:prstGeom prst="rect">
            <a:avLst/>
          </a:prstGeom>
        </p:spPr>
      </p:pic>
      <p:pic>
        <p:nvPicPr>
          <p:cNvPr id="22" name="SK-9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166420" y="5876925"/>
            <a:ext cx="1859310" cy="485775"/>
          </a:xfrm>
          <a:prstGeom prst="rect">
            <a:avLst/>
          </a:prstGeom>
        </p:spPr>
      </p:pic>
      <p:pic>
        <p:nvPicPr>
          <p:cNvPr id="23" name="SK-9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166420" y="6028283"/>
            <a:ext cx="154781" cy="125760"/>
          </a:xfrm>
          <a:prstGeom prst="rect">
            <a:avLst/>
          </a:prstGeom>
        </p:spPr>
      </p:pic>
      <p:pic>
        <p:nvPicPr>
          <p:cNvPr id="24" name="SK-9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292429" y="1504950"/>
            <a:ext cx="2087910" cy="4972050"/>
          </a:xfrm>
          <a:prstGeom prst="rect">
            <a:avLst/>
          </a:prstGeom>
        </p:spPr>
      </p:pic>
      <p:pic>
        <p:nvPicPr>
          <p:cNvPr id="25" name="SK-9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06729" y="1619250"/>
            <a:ext cx="381000" cy="381000"/>
          </a:xfrm>
          <a:prstGeom prst="rect">
            <a:avLst/>
          </a:prstGeom>
        </p:spPr>
      </p:pic>
      <p:pic>
        <p:nvPicPr>
          <p:cNvPr id="26" name="SK-9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478167" y="1714500"/>
            <a:ext cx="238125" cy="190500"/>
          </a:xfrm>
          <a:prstGeom prst="rect">
            <a:avLst/>
          </a:prstGeom>
        </p:spPr>
      </p:pic>
      <p:pic>
        <p:nvPicPr>
          <p:cNvPr id="27" name="SK-9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406729" y="2409825"/>
            <a:ext cx="981075" cy="247650"/>
          </a:xfrm>
          <a:prstGeom prst="rect">
            <a:avLst/>
          </a:prstGeom>
        </p:spPr>
      </p:pic>
      <p:pic>
        <p:nvPicPr>
          <p:cNvPr id="28" name="SK-9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406729" y="5876925"/>
            <a:ext cx="1859310" cy="485775"/>
          </a:xfrm>
          <a:prstGeom prst="rect">
            <a:avLst/>
          </a:prstGeom>
        </p:spPr>
      </p:pic>
      <p:pic>
        <p:nvPicPr>
          <p:cNvPr id="29" name="SK-9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406729" y="6028283"/>
            <a:ext cx="154781" cy="125760"/>
          </a:xfrm>
          <a:prstGeom prst="rect">
            <a:avLst/>
          </a:prstGeom>
        </p:spPr>
      </p:pic>
      <p:pic>
        <p:nvPicPr>
          <p:cNvPr id="30" name="SK-9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532739" y="1504950"/>
            <a:ext cx="2087910" cy="4972050"/>
          </a:xfrm>
          <a:prstGeom prst="rect">
            <a:avLst/>
          </a:prstGeom>
        </p:spPr>
      </p:pic>
      <p:pic>
        <p:nvPicPr>
          <p:cNvPr id="31" name="SK-9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647039" y="1619250"/>
            <a:ext cx="381000" cy="381000"/>
          </a:xfrm>
          <a:prstGeom prst="rect">
            <a:avLst/>
          </a:prstGeom>
        </p:spPr>
      </p:pic>
      <p:pic>
        <p:nvPicPr>
          <p:cNvPr id="32" name="SK-9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718477" y="1714500"/>
            <a:ext cx="238125" cy="190500"/>
          </a:xfrm>
          <a:prstGeom prst="rect">
            <a:avLst/>
          </a:prstGeom>
        </p:spPr>
      </p:pic>
      <p:pic>
        <p:nvPicPr>
          <p:cNvPr id="33" name="SK-9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647039" y="2409825"/>
            <a:ext cx="1009650" cy="247650"/>
          </a:xfrm>
          <a:prstGeom prst="rect">
            <a:avLst/>
          </a:prstGeom>
        </p:spPr>
      </p:pic>
      <p:pic>
        <p:nvPicPr>
          <p:cNvPr id="34" name="SK-9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647039" y="6062663"/>
            <a:ext cx="1859310" cy="300038"/>
          </a:xfrm>
          <a:prstGeom prst="rect">
            <a:avLst/>
          </a:prstGeom>
        </p:spPr>
      </p:pic>
      <p:pic>
        <p:nvPicPr>
          <p:cNvPr id="35" name="SK-9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647039" y="6214021"/>
            <a:ext cx="154781" cy="125760"/>
          </a:xfrm>
          <a:prstGeom prst="rect">
            <a:avLst/>
          </a:prstGeom>
        </p:spPr>
      </p:pic>
      <p:sp>
        <p:nvSpPr>
          <p:cNvPr id="36" name="SK-9-text-35"/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37" name="SK-9-text-36"/>
          <p:cNvSpPr/>
          <p:nvPr/>
        </p:nvSpPr>
        <p:spPr>
          <a:xfrm>
            <a:off x="571500" y="733425"/>
            <a:ext cx="11620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C-3. 5대 핵심 AI Agent 상세 설계</a:t>
            </a:r>
            <a:endParaRPr lang="en-US" sz="2550" dirty="0"/>
          </a:p>
        </p:txBody>
      </p:sp>
      <p:sp>
        <p:nvSpPr>
          <p:cNvPr id="38" name="SK-9-text-37"/>
          <p:cNvSpPr/>
          <p:nvPr/>
        </p:nvSpPr>
        <p:spPr>
          <a:xfrm>
            <a:off x="685800" y="2076450"/>
            <a:ext cx="296608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Value Guardian</a:t>
            </a:r>
            <a:endParaRPr lang="en-US" sz="1350" dirty="0"/>
          </a:p>
        </p:txBody>
      </p:sp>
      <p:sp>
        <p:nvSpPr>
          <p:cNvPr id="39" name="SK-9-text-38"/>
          <p:cNvSpPr/>
          <p:nvPr/>
        </p:nvSpPr>
        <p:spPr>
          <a:xfrm>
            <a:off x="762000" y="2409825"/>
            <a:ext cx="9886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가치/편익 감시</a:t>
            </a:r>
            <a:endParaRPr lang="en-US" sz="900" dirty="0"/>
          </a:p>
        </p:txBody>
      </p:sp>
      <p:sp>
        <p:nvSpPr>
          <p:cNvPr id="40" name="SK-9-text-39"/>
          <p:cNvSpPr/>
          <p:nvPr/>
        </p:nvSpPr>
        <p:spPr>
          <a:xfrm>
            <a:off x="685800" y="2809875"/>
            <a:ext cx="193551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spc="33" kern="0" dirty="0">
                <a:solidFill>
                  <a:srgbClr val="9CA3AF"/>
                </a:solidFill>
              </a:rPr>
              <a:t>LOGIC</a:t>
            </a:r>
            <a:endParaRPr lang="en-US" sz="825" dirty="0"/>
          </a:p>
        </p:txBody>
      </p:sp>
      <p:sp>
        <p:nvSpPr>
          <p:cNvPr id="41" name="SK-9-text-40"/>
          <p:cNvSpPr/>
          <p:nvPr/>
        </p:nvSpPr>
        <p:spPr>
          <a:xfrm>
            <a:off x="685800" y="3024188"/>
            <a:ext cx="185931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Outcome(편익) 실시간 추적. 기능 완성도와 고객 사용성 간의 괴리를 선행지표(Leading Indicator)로 감시.</a:t>
            </a:r>
            <a:endParaRPr lang="en-US" sz="1050" dirty="0"/>
          </a:p>
        </p:txBody>
      </p:sp>
      <p:sp>
        <p:nvSpPr>
          <p:cNvPr id="42" name="SK-9-text-41"/>
          <p:cNvSpPr/>
          <p:nvPr/>
        </p:nvSpPr>
        <p:spPr>
          <a:xfrm>
            <a:off x="685800" y="3976687"/>
            <a:ext cx="193551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spc="33" kern="0" dirty="0">
                <a:solidFill>
                  <a:srgbClr val="9CA3AF"/>
                </a:solidFill>
              </a:rPr>
              <a:t>KEY INDICATORS</a:t>
            </a:r>
            <a:endParaRPr lang="en-US" sz="825" dirty="0"/>
          </a:p>
        </p:txBody>
      </p:sp>
      <p:sp>
        <p:nvSpPr>
          <p:cNvPr id="43" name="SK-9-text-42"/>
          <p:cNvSpPr/>
          <p:nvPr/>
        </p:nvSpPr>
        <p:spPr>
          <a:xfrm>
            <a:off x="800100" y="4191000"/>
            <a:ext cx="23289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무개입 완주율 (AS 절감)</a:t>
            </a:r>
            <a:endParaRPr lang="en-US" sz="1050" dirty="0"/>
          </a:p>
        </p:txBody>
      </p:sp>
      <p:sp>
        <p:nvSpPr>
          <p:cNvPr id="44" name="SK-9-text-43"/>
          <p:cNvSpPr/>
          <p:nvPr/>
        </p:nvSpPr>
        <p:spPr>
          <a:xfrm>
            <a:off x="800100" y="4429125"/>
            <a:ext cx="18212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자율운영 사업장 비율</a:t>
            </a:r>
            <a:endParaRPr lang="en-US" sz="1050" dirty="0"/>
          </a:p>
        </p:txBody>
      </p:sp>
      <p:sp>
        <p:nvSpPr>
          <p:cNvPr id="45" name="SK-9-text-44"/>
          <p:cNvSpPr/>
          <p:nvPr/>
        </p:nvSpPr>
        <p:spPr>
          <a:xfrm>
            <a:off x="800100" y="4667250"/>
            <a:ext cx="18783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콘솔 일일 활성 사용자</a:t>
            </a:r>
            <a:endParaRPr lang="en-US" sz="1050" dirty="0"/>
          </a:p>
        </p:txBody>
      </p:sp>
      <p:sp>
        <p:nvSpPr>
          <p:cNvPr id="46" name="SK-9-text-45"/>
          <p:cNvSpPr/>
          <p:nvPr/>
        </p:nvSpPr>
        <p:spPr>
          <a:xfrm>
            <a:off x="840581" y="5876925"/>
            <a:ext cx="185931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06B6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파일럿 무개입 6.1% 적신호 포착</a:t>
            </a:r>
            <a:endParaRPr lang="en-US" sz="975" dirty="0"/>
          </a:p>
        </p:txBody>
      </p:sp>
      <p:sp>
        <p:nvSpPr>
          <p:cNvPr id="47" name="SK-9-text-46"/>
          <p:cNvSpPr/>
          <p:nvPr/>
        </p:nvSpPr>
        <p:spPr>
          <a:xfrm>
            <a:off x="2926110" y="2076450"/>
            <a:ext cx="358330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Integrity Checker</a:t>
            </a:r>
            <a:endParaRPr lang="en-US" sz="1350" dirty="0"/>
          </a:p>
        </p:txBody>
      </p:sp>
      <p:sp>
        <p:nvSpPr>
          <p:cNvPr id="48" name="SK-9-text-47"/>
          <p:cNvSpPr/>
          <p:nvPr/>
        </p:nvSpPr>
        <p:spPr>
          <a:xfrm>
            <a:off x="3002310" y="2409825"/>
            <a:ext cx="126182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무결성 검증</a:t>
            </a:r>
            <a:endParaRPr lang="en-US" sz="900" dirty="0"/>
          </a:p>
        </p:txBody>
      </p:sp>
      <p:sp>
        <p:nvSpPr>
          <p:cNvPr id="49" name="SK-9-text-48"/>
          <p:cNvSpPr/>
          <p:nvPr/>
        </p:nvSpPr>
        <p:spPr>
          <a:xfrm>
            <a:off x="2926110" y="2809875"/>
            <a:ext cx="193551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spc="33" kern="0" dirty="0">
                <a:solidFill>
                  <a:srgbClr val="9CA3AF"/>
                </a:solidFill>
              </a:rPr>
              <a:t>LOGIC</a:t>
            </a:r>
            <a:endParaRPr lang="en-US" sz="825" dirty="0"/>
          </a:p>
        </p:txBody>
      </p:sp>
      <p:sp>
        <p:nvSpPr>
          <p:cNvPr id="50" name="SK-9-text-49"/>
          <p:cNvSpPr/>
          <p:nvPr/>
        </p:nvSpPr>
        <p:spPr>
          <a:xfrm>
            <a:off x="2926110" y="3024188"/>
            <a:ext cx="185931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 지표와 원자료의 일관성 자동 검증. EVM 부분 보고 및 DoD 변경에 따른 완료율 부풀림 필터링.</a:t>
            </a:r>
            <a:endParaRPr lang="en-US" sz="1050" dirty="0"/>
          </a:p>
        </p:txBody>
      </p:sp>
      <p:sp>
        <p:nvSpPr>
          <p:cNvPr id="51" name="SK-9-text-50"/>
          <p:cNvSpPr/>
          <p:nvPr/>
        </p:nvSpPr>
        <p:spPr>
          <a:xfrm>
            <a:off x="2926110" y="3976687"/>
            <a:ext cx="193551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spc="33" kern="0" dirty="0">
                <a:solidFill>
                  <a:srgbClr val="9CA3AF"/>
                </a:solidFill>
              </a:rPr>
              <a:t>KEY FUNCTIONS</a:t>
            </a:r>
            <a:endParaRPr lang="en-US" sz="825" dirty="0"/>
          </a:p>
        </p:txBody>
      </p:sp>
      <p:sp>
        <p:nvSpPr>
          <p:cNvPr id="52" name="SK-9-text-51"/>
          <p:cNvSpPr/>
          <p:nvPr/>
        </p:nvSpPr>
        <p:spPr>
          <a:xfrm>
            <a:off x="3040410" y="4191000"/>
            <a:ext cx="23289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EVM 전체 vs 부분 대조</a:t>
            </a:r>
            <a:endParaRPr lang="en-US" sz="1050" dirty="0"/>
          </a:p>
        </p:txBody>
      </p:sp>
      <p:sp>
        <p:nvSpPr>
          <p:cNvPr id="53" name="SK-9-text-52"/>
          <p:cNvSpPr/>
          <p:nvPr/>
        </p:nvSpPr>
        <p:spPr>
          <a:xfrm>
            <a:off x="3040410" y="4429125"/>
            <a:ext cx="23790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SC-03 측정범위 정합성</a:t>
            </a:r>
            <a:endParaRPr lang="en-US" sz="1050" dirty="0"/>
          </a:p>
        </p:txBody>
      </p:sp>
      <p:sp>
        <p:nvSpPr>
          <p:cNvPr id="54" name="SK-9-text-53"/>
          <p:cNvSpPr/>
          <p:nvPr/>
        </p:nvSpPr>
        <p:spPr>
          <a:xfrm>
            <a:off x="3040410" y="4667250"/>
            <a:ext cx="23289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DoD 버전별 완료율 재집계</a:t>
            </a:r>
            <a:endParaRPr lang="en-US" sz="1050" dirty="0"/>
          </a:p>
        </p:txBody>
      </p:sp>
      <p:sp>
        <p:nvSpPr>
          <p:cNvPr id="55" name="SK-9-text-54"/>
          <p:cNvSpPr/>
          <p:nvPr/>
        </p:nvSpPr>
        <p:spPr>
          <a:xfrm>
            <a:off x="3080891" y="5876925"/>
            <a:ext cx="185931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06B6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실제 CPI 0.944 괴리 자동 감지</a:t>
            </a:r>
            <a:endParaRPr lang="en-US" sz="975" dirty="0"/>
          </a:p>
        </p:txBody>
      </p:sp>
      <p:sp>
        <p:nvSpPr>
          <p:cNvPr id="56" name="SK-9-text-55"/>
          <p:cNvSpPr/>
          <p:nvPr/>
        </p:nvSpPr>
        <p:spPr>
          <a:xfrm>
            <a:off x="5166420" y="2076450"/>
            <a:ext cx="31718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Change Sentinel</a:t>
            </a:r>
            <a:endParaRPr lang="en-US" sz="1350" dirty="0"/>
          </a:p>
        </p:txBody>
      </p:sp>
      <p:sp>
        <p:nvSpPr>
          <p:cNvPr id="57" name="SK-9-text-56"/>
          <p:cNvSpPr/>
          <p:nvPr/>
        </p:nvSpPr>
        <p:spPr>
          <a:xfrm>
            <a:off x="5242620" y="2409825"/>
            <a:ext cx="112430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비공식 변경 감지</a:t>
            </a:r>
            <a:endParaRPr lang="en-US" sz="900" dirty="0"/>
          </a:p>
        </p:txBody>
      </p:sp>
      <p:sp>
        <p:nvSpPr>
          <p:cNvPr id="58" name="SK-9-text-57"/>
          <p:cNvSpPr/>
          <p:nvPr/>
        </p:nvSpPr>
        <p:spPr>
          <a:xfrm>
            <a:off x="5166420" y="2809875"/>
            <a:ext cx="193551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spc="33" kern="0" dirty="0">
                <a:solidFill>
                  <a:srgbClr val="9CA3AF"/>
                </a:solidFill>
              </a:rPr>
              <a:t>LOGIC</a:t>
            </a:r>
            <a:endParaRPr lang="en-US" sz="825" dirty="0"/>
          </a:p>
        </p:txBody>
      </p:sp>
      <p:sp>
        <p:nvSpPr>
          <p:cNvPr id="59" name="SK-9-text-58"/>
          <p:cNvSpPr/>
          <p:nvPr/>
        </p:nvSpPr>
        <p:spPr>
          <a:xfrm>
            <a:off x="5166420" y="3024188"/>
            <a:ext cx="185931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메신저, 이메일, 회의록 등 비공식 채널 내 Scope 변경 대화 패턴을 감지하여 정식 CR 생성 유도.</a:t>
            </a:r>
            <a:endParaRPr lang="en-US" sz="1050" dirty="0"/>
          </a:p>
        </p:txBody>
      </p:sp>
      <p:sp>
        <p:nvSpPr>
          <p:cNvPr id="60" name="SK-9-text-59"/>
          <p:cNvSpPr/>
          <p:nvPr/>
        </p:nvSpPr>
        <p:spPr>
          <a:xfrm>
            <a:off x="5166420" y="3976687"/>
            <a:ext cx="221361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spc="33" kern="0" dirty="0">
                <a:solidFill>
                  <a:srgbClr val="9CA3AF"/>
                </a:solidFill>
              </a:rPr>
              <a:t>DETECTION PATTERN</a:t>
            </a:r>
            <a:endParaRPr lang="en-US" sz="825" dirty="0"/>
          </a:p>
        </p:txBody>
      </p:sp>
      <p:sp>
        <p:nvSpPr>
          <p:cNvPr id="61" name="SK-9-text-60"/>
          <p:cNvSpPr/>
          <p:nvPr/>
        </p:nvSpPr>
        <p:spPr>
          <a:xfrm>
            <a:off x="5280720" y="4191000"/>
            <a:ext cx="20285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"그냥 넣읍시다" 키워드</a:t>
            </a:r>
            <a:endParaRPr lang="en-US" sz="1050" dirty="0"/>
          </a:p>
        </p:txBody>
      </p:sp>
      <p:sp>
        <p:nvSpPr>
          <p:cNvPr id="62" name="SK-9-text-61"/>
          <p:cNvSpPr/>
          <p:nvPr/>
        </p:nvSpPr>
        <p:spPr>
          <a:xfrm>
            <a:off x="5280720" y="4429125"/>
            <a:ext cx="20285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영향도 미반영 변경</a:t>
            </a:r>
            <a:endParaRPr lang="en-US" sz="1050" dirty="0"/>
          </a:p>
        </p:txBody>
      </p:sp>
      <p:sp>
        <p:nvSpPr>
          <p:cNvPr id="63" name="SK-9-text-62"/>
          <p:cNvSpPr/>
          <p:nvPr/>
        </p:nvSpPr>
        <p:spPr>
          <a:xfrm>
            <a:off x="5280720" y="4667250"/>
            <a:ext cx="23289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Baseline 미갱신 항목</a:t>
            </a:r>
            <a:endParaRPr lang="en-US" sz="1050" dirty="0"/>
          </a:p>
        </p:txBody>
      </p:sp>
      <p:sp>
        <p:nvSpPr>
          <p:cNvPr id="64" name="SK-9-text-63"/>
          <p:cNvSpPr/>
          <p:nvPr/>
        </p:nvSpPr>
        <p:spPr>
          <a:xfrm>
            <a:off x="5321201" y="5876925"/>
            <a:ext cx="185931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06B6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비공식 변경 35건 CR 초안 생성</a:t>
            </a:r>
            <a:endParaRPr lang="en-US" sz="975" dirty="0"/>
          </a:p>
        </p:txBody>
      </p:sp>
      <p:sp>
        <p:nvSpPr>
          <p:cNvPr id="65" name="SK-9-text-64"/>
          <p:cNvSpPr/>
          <p:nvPr/>
        </p:nvSpPr>
        <p:spPr>
          <a:xfrm>
            <a:off x="7406729" y="2076450"/>
            <a:ext cx="276034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Decision Sync</a:t>
            </a:r>
            <a:endParaRPr lang="en-US" sz="1350" dirty="0"/>
          </a:p>
        </p:txBody>
      </p:sp>
      <p:sp>
        <p:nvSpPr>
          <p:cNvPr id="66" name="SK-9-text-65"/>
          <p:cNvSpPr/>
          <p:nvPr/>
        </p:nvSpPr>
        <p:spPr>
          <a:xfrm>
            <a:off x="7482929" y="2409825"/>
            <a:ext cx="100302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동기화</a:t>
            </a:r>
            <a:endParaRPr lang="en-US" sz="900" dirty="0"/>
          </a:p>
        </p:txBody>
      </p:sp>
      <p:sp>
        <p:nvSpPr>
          <p:cNvPr id="67" name="SK-9-text-66"/>
          <p:cNvSpPr/>
          <p:nvPr/>
        </p:nvSpPr>
        <p:spPr>
          <a:xfrm>
            <a:off x="7406729" y="2809875"/>
            <a:ext cx="193551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spc="33" kern="0" dirty="0">
                <a:solidFill>
                  <a:srgbClr val="9CA3AF"/>
                </a:solidFill>
              </a:rPr>
              <a:t>LOGIC</a:t>
            </a:r>
            <a:endParaRPr lang="en-US" sz="825" dirty="0"/>
          </a:p>
        </p:txBody>
      </p:sp>
      <p:sp>
        <p:nvSpPr>
          <p:cNvPr id="68" name="SK-9-text-67"/>
          <p:cNvSpPr/>
          <p:nvPr/>
        </p:nvSpPr>
        <p:spPr>
          <a:xfrm>
            <a:off x="7406729" y="3024188"/>
            <a:ext cx="185931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 리전(미국/인도/한국) 및 다중 채널의 기록을 대조하여 의사결정 불일치 항목 즉시 알림.</a:t>
            </a:r>
            <a:endParaRPr lang="en-US" sz="1050" dirty="0"/>
          </a:p>
        </p:txBody>
      </p:sp>
      <p:sp>
        <p:nvSpPr>
          <p:cNvPr id="69" name="SK-9-text-68"/>
          <p:cNvSpPr/>
          <p:nvPr/>
        </p:nvSpPr>
        <p:spPr>
          <a:xfrm>
            <a:off x="7406729" y="3776662"/>
            <a:ext cx="193551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spc="33" kern="0" dirty="0">
                <a:solidFill>
                  <a:srgbClr val="9CA3AF"/>
                </a:solidFill>
              </a:rPr>
              <a:t>CHECK POINT</a:t>
            </a:r>
            <a:endParaRPr lang="en-US" sz="825" dirty="0"/>
          </a:p>
        </p:txBody>
      </p:sp>
      <p:sp>
        <p:nvSpPr>
          <p:cNvPr id="70" name="SK-9-text-69"/>
          <p:cNvSpPr/>
          <p:nvPr/>
        </p:nvSpPr>
        <p:spPr>
          <a:xfrm>
            <a:off x="7521029" y="3990975"/>
            <a:ext cx="18783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리전별 정책 상이 항목</a:t>
            </a:r>
            <a:endParaRPr lang="en-US" sz="1050" dirty="0"/>
          </a:p>
        </p:txBody>
      </p:sp>
      <p:sp>
        <p:nvSpPr>
          <p:cNvPr id="71" name="SK-9-text-70"/>
          <p:cNvSpPr/>
          <p:nvPr/>
        </p:nvSpPr>
        <p:spPr>
          <a:xfrm>
            <a:off x="7521029" y="4229100"/>
            <a:ext cx="20285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SSOT(단일원천) 위반</a:t>
            </a:r>
            <a:endParaRPr lang="en-US" sz="1050" dirty="0"/>
          </a:p>
        </p:txBody>
      </p:sp>
      <p:sp>
        <p:nvSpPr>
          <p:cNvPr id="72" name="SK-9-text-71"/>
          <p:cNvSpPr/>
          <p:nvPr/>
        </p:nvSpPr>
        <p:spPr>
          <a:xfrm>
            <a:off x="7521029" y="4467225"/>
            <a:ext cx="18212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미기재 결정사항 추출</a:t>
            </a:r>
            <a:endParaRPr lang="en-US" sz="1050" dirty="0"/>
          </a:p>
        </p:txBody>
      </p:sp>
      <p:sp>
        <p:nvSpPr>
          <p:cNvPr id="73" name="SK-9-text-72"/>
          <p:cNvSpPr/>
          <p:nvPr/>
        </p:nvSpPr>
        <p:spPr>
          <a:xfrm>
            <a:off x="7561511" y="5876925"/>
            <a:ext cx="185931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06B6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DEC-07 폴백 방침 불일치 해결</a:t>
            </a:r>
            <a:endParaRPr lang="en-US" sz="975" dirty="0"/>
          </a:p>
        </p:txBody>
      </p:sp>
      <p:sp>
        <p:nvSpPr>
          <p:cNvPr id="74" name="SK-9-text-73"/>
          <p:cNvSpPr/>
          <p:nvPr/>
        </p:nvSpPr>
        <p:spPr>
          <a:xfrm>
            <a:off x="9647039" y="2076450"/>
            <a:ext cx="21431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Risk Radar</a:t>
            </a:r>
            <a:endParaRPr lang="en-US" sz="1350" dirty="0"/>
          </a:p>
        </p:txBody>
      </p:sp>
      <p:sp>
        <p:nvSpPr>
          <p:cNvPr id="75" name="SK-9-text-74"/>
          <p:cNvSpPr/>
          <p:nvPr/>
        </p:nvSpPr>
        <p:spPr>
          <a:xfrm>
            <a:off x="9723239" y="2409825"/>
            <a:ext cx="112430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리스크 스캔</a:t>
            </a:r>
            <a:endParaRPr lang="en-US" sz="900" dirty="0"/>
          </a:p>
        </p:txBody>
      </p:sp>
      <p:sp>
        <p:nvSpPr>
          <p:cNvPr id="76" name="SK-9-text-75"/>
          <p:cNvSpPr/>
          <p:nvPr/>
        </p:nvSpPr>
        <p:spPr>
          <a:xfrm>
            <a:off x="9647039" y="2809875"/>
            <a:ext cx="193551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spc="33" kern="0" dirty="0">
                <a:solidFill>
                  <a:srgbClr val="9CA3AF"/>
                </a:solidFill>
              </a:rPr>
              <a:t>LOGIC</a:t>
            </a:r>
            <a:endParaRPr lang="en-US" sz="825" dirty="0"/>
          </a:p>
        </p:txBody>
      </p:sp>
      <p:sp>
        <p:nvSpPr>
          <p:cNvPr id="77" name="SK-9-text-76"/>
          <p:cNvSpPr/>
          <p:nvPr/>
        </p:nvSpPr>
        <p:spPr>
          <a:xfrm>
            <a:off x="9647039" y="3024188"/>
            <a:ext cx="185931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파트너 로드맵, 기술 EOL, 규제 변경 등 외부 신호를 상시 감지하여 리스크 등록 자동 제안.</a:t>
            </a:r>
            <a:endParaRPr lang="en-US" sz="1050" dirty="0"/>
          </a:p>
        </p:txBody>
      </p:sp>
      <p:sp>
        <p:nvSpPr>
          <p:cNvPr id="78" name="SK-9-text-77"/>
          <p:cNvSpPr/>
          <p:nvPr/>
        </p:nvSpPr>
        <p:spPr>
          <a:xfrm>
            <a:off x="9647039" y="3976687"/>
            <a:ext cx="193551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spc="33" kern="0" dirty="0">
                <a:solidFill>
                  <a:srgbClr val="9CA3AF"/>
                </a:solidFill>
              </a:rPr>
              <a:t>SOURCES</a:t>
            </a:r>
            <a:endParaRPr lang="en-US" sz="825" dirty="0"/>
          </a:p>
        </p:txBody>
      </p:sp>
      <p:sp>
        <p:nvSpPr>
          <p:cNvPr id="79" name="SK-9-text-78"/>
          <p:cNvSpPr/>
          <p:nvPr/>
        </p:nvSpPr>
        <p:spPr>
          <a:xfrm>
            <a:off x="9761339" y="4191000"/>
            <a:ext cx="18783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파트너 공지 메일 분석</a:t>
            </a:r>
            <a:endParaRPr lang="en-US" sz="1050" dirty="0"/>
          </a:p>
        </p:txBody>
      </p:sp>
      <p:sp>
        <p:nvSpPr>
          <p:cNvPr id="80" name="SK-9-text-79"/>
          <p:cNvSpPr/>
          <p:nvPr/>
        </p:nvSpPr>
        <p:spPr>
          <a:xfrm>
            <a:off x="9761339" y="4429125"/>
            <a:ext cx="18783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부채/EOL 일정</a:t>
            </a:r>
            <a:endParaRPr lang="en-US" sz="1050" dirty="0"/>
          </a:p>
        </p:txBody>
      </p:sp>
      <p:sp>
        <p:nvSpPr>
          <p:cNvPr id="81" name="SK-9-text-80"/>
          <p:cNvSpPr/>
          <p:nvPr/>
        </p:nvSpPr>
        <p:spPr>
          <a:xfrm>
            <a:off x="9761339" y="4667250"/>
            <a:ext cx="18212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소진 추세 예측</a:t>
            </a:r>
            <a:endParaRPr lang="en-US" sz="1050" dirty="0"/>
          </a:p>
        </p:txBody>
      </p:sp>
      <p:sp>
        <p:nvSpPr>
          <p:cNvPr id="82" name="SK-9-text-81"/>
          <p:cNvSpPr/>
          <p:nvPr/>
        </p:nvSpPr>
        <p:spPr>
          <a:xfrm>
            <a:off x="9801820" y="6062663"/>
            <a:ext cx="239018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06B6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Helion EOL 자동 리스크 등록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0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0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0975"/>
            <a:ext cx="2122289" cy="276225"/>
          </a:xfrm>
          <a:prstGeom prst="rect">
            <a:avLst/>
          </a:prstGeom>
        </p:spPr>
      </p:pic>
      <p:pic>
        <p:nvPicPr>
          <p:cNvPr id="4" name="SK-10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8089" y="314325"/>
            <a:ext cx="8812411" cy="9525"/>
          </a:xfrm>
          <a:prstGeom prst="rect">
            <a:avLst/>
          </a:prstGeom>
        </p:spPr>
      </p:pic>
      <p:pic>
        <p:nvPicPr>
          <p:cNvPr id="5" name="SK-10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152525"/>
            <a:ext cx="904875" cy="333375"/>
          </a:xfrm>
          <a:prstGeom prst="rect">
            <a:avLst/>
          </a:prstGeom>
        </p:spPr>
      </p:pic>
      <p:pic>
        <p:nvPicPr>
          <p:cNvPr id="6" name="SK-10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600200"/>
            <a:ext cx="5143500" cy="565696"/>
          </a:xfrm>
          <a:prstGeom prst="rect">
            <a:avLst/>
          </a:prstGeom>
        </p:spPr>
      </p:pic>
      <p:pic>
        <p:nvPicPr>
          <p:cNvPr id="7" name="SK-10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685925"/>
            <a:ext cx="166688" cy="137220"/>
          </a:xfrm>
          <a:prstGeom prst="rect">
            <a:avLst/>
          </a:prstGeom>
        </p:spPr>
      </p:pic>
      <p:pic>
        <p:nvPicPr>
          <p:cNvPr id="8" name="SK-10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2232571"/>
            <a:ext cx="5143500" cy="565696"/>
          </a:xfrm>
          <a:prstGeom prst="rect">
            <a:avLst/>
          </a:prstGeom>
        </p:spPr>
      </p:pic>
      <p:pic>
        <p:nvPicPr>
          <p:cNvPr id="9" name="SK-10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2318296"/>
            <a:ext cx="166688" cy="137220"/>
          </a:xfrm>
          <a:prstGeom prst="rect">
            <a:avLst/>
          </a:prstGeom>
        </p:spPr>
      </p:pic>
      <p:pic>
        <p:nvPicPr>
          <p:cNvPr id="10" name="SK-10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2864941"/>
            <a:ext cx="5143500" cy="565696"/>
          </a:xfrm>
          <a:prstGeom prst="rect">
            <a:avLst/>
          </a:prstGeom>
        </p:spPr>
      </p:pic>
      <p:pic>
        <p:nvPicPr>
          <p:cNvPr id="11" name="SK-10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2950666"/>
            <a:ext cx="166688" cy="137220"/>
          </a:xfrm>
          <a:prstGeom prst="rect">
            <a:avLst/>
          </a:prstGeom>
        </p:spPr>
      </p:pic>
      <p:pic>
        <p:nvPicPr>
          <p:cNvPr id="12" name="SK-10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3497312"/>
            <a:ext cx="5143500" cy="565696"/>
          </a:xfrm>
          <a:prstGeom prst="rect">
            <a:avLst/>
          </a:prstGeom>
        </p:spPr>
      </p:pic>
      <p:pic>
        <p:nvPicPr>
          <p:cNvPr id="13" name="SK-10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" y="3583037"/>
            <a:ext cx="166688" cy="137220"/>
          </a:xfrm>
          <a:prstGeom prst="rect">
            <a:avLst/>
          </a:prstGeom>
        </p:spPr>
      </p:pic>
      <p:pic>
        <p:nvPicPr>
          <p:cNvPr id="14" name="SK-10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4129683"/>
            <a:ext cx="5143500" cy="565696"/>
          </a:xfrm>
          <a:prstGeom prst="rect">
            <a:avLst/>
          </a:prstGeom>
        </p:spPr>
      </p:pic>
      <p:pic>
        <p:nvPicPr>
          <p:cNvPr id="15" name="SK-10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800" y="4215408"/>
            <a:ext cx="166688" cy="137220"/>
          </a:xfrm>
          <a:prstGeom prst="rect">
            <a:avLst/>
          </a:prstGeom>
        </p:spPr>
      </p:pic>
      <p:pic>
        <p:nvPicPr>
          <p:cNvPr id="16" name="SK-10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96000" y="1152525"/>
            <a:ext cx="5524500" cy="3542854"/>
          </a:xfrm>
          <a:prstGeom prst="rect">
            <a:avLst/>
          </a:prstGeom>
        </p:spPr>
      </p:pic>
      <p:pic>
        <p:nvPicPr>
          <p:cNvPr id="17" name="SK-10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77000" y="1152525"/>
            <a:ext cx="790575" cy="314325"/>
          </a:xfrm>
          <a:prstGeom prst="rect">
            <a:avLst/>
          </a:prstGeom>
        </p:spPr>
      </p:pic>
      <p:pic>
        <p:nvPicPr>
          <p:cNvPr id="18" name="SK-10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77000" y="1581150"/>
            <a:ext cx="5143500" cy="546646"/>
          </a:xfrm>
          <a:prstGeom prst="rect">
            <a:avLst/>
          </a:prstGeom>
        </p:spPr>
      </p:pic>
      <p:pic>
        <p:nvPicPr>
          <p:cNvPr id="19" name="SK-10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91300" y="1657350"/>
            <a:ext cx="166688" cy="137220"/>
          </a:xfrm>
          <a:prstGeom prst="rect">
            <a:avLst/>
          </a:prstGeom>
        </p:spPr>
      </p:pic>
      <p:pic>
        <p:nvPicPr>
          <p:cNvPr id="20" name="SK-10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77000" y="2194471"/>
            <a:ext cx="5143500" cy="546646"/>
          </a:xfrm>
          <a:prstGeom prst="rect">
            <a:avLst/>
          </a:prstGeom>
        </p:spPr>
      </p:pic>
      <p:pic>
        <p:nvPicPr>
          <p:cNvPr id="21" name="SK-10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91300" y="2270671"/>
            <a:ext cx="166688" cy="137220"/>
          </a:xfrm>
          <a:prstGeom prst="rect">
            <a:avLst/>
          </a:prstGeom>
        </p:spPr>
      </p:pic>
      <p:pic>
        <p:nvPicPr>
          <p:cNvPr id="22" name="SK-10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77000" y="2807791"/>
            <a:ext cx="5143500" cy="546646"/>
          </a:xfrm>
          <a:prstGeom prst="rect">
            <a:avLst/>
          </a:prstGeom>
        </p:spPr>
      </p:pic>
      <p:pic>
        <p:nvPicPr>
          <p:cNvPr id="23" name="SK-10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91300" y="2883991"/>
            <a:ext cx="166688" cy="137220"/>
          </a:xfrm>
          <a:prstGeom prst="rect">
            <a:avLst/>
          </a:prstGeom>
        </p:spPr>
      </p:pic>
      <p:pic>
        <p:nvPicPr>
          <p:cNvPr id="24" name="SK-10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77000" y="3421112"/>
            <a:ext cx="5143500" cy="546646"/>
          </a:xfrm>
          <a:prstGeom prst="rect">
            <a:avLst/>
          </a:prstGeom>
        </p:spPr>
      </p:pic>
      <p:pic>
        <p:nvPicPr>
          <p:cNvPr id="25" name="SK-10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591300" y="3497312"/>
            <a:ext cx="166688" cy="137220"/>
          </a:xfrm>
          <a:prstGeom prst="rect">
            <a:avLst/>
          </a:prstGeom>
        </p:spPr>
      </p:pic>
      <p:pic>
        <p:nvPicPr>
          <p:cNvPr id="26" name="SK-10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77000" y="4034433"/>
            <a:ext cx="5143500" cy="546646"/>
          </a:xfrm>
          <a:prstGeom prst="rect">
            <a:avLst/>
          </a:prstGeom>
        </p:spPr>
      </p:pic>
      <p:pic>
        <p:nvPicPr>
          <p:cNvPr id="27" name="SK-10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591300" y="4110633"/>
            <a:ext cx="166688" cy="137220"/>
          </a:xfrm>
          <a:prstGeom prst="rect">
            <a:avLst/>
          </a:prstGeom>
        </p:spPr>
      </p:pic>
      <p:pic>
        <p:nvPicPr>
          <p:cNvPr id="28" name="SK-10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71500" y="4828729"/>
            <a:ext cx="11049000" cy="1862138"/>
          </a:xfrm>
          <a:prstGeom prst="rect">
            <a:avLst/>
          </a:prstGeom>
        </p:spPr>
      </p:pic>
      <p:pic>
        <p:nvPicPr>
          <p:cNvPr id="29" name="SK-10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71500" y="4828729"/>
            <a:ext cx="2621310" cy="314325"/>
          </a:xfrm>
          <a:prstGeom prst="rect">
            <a:avLst/>
          </a:prstGeom>
        </p:spPr>
      </p:pic>
      <p:pic>
        <p:nvPicPr>
          <p:cNvPr id="30" name="SK-10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192810" y="4828729"/>
            <a:ext cx="1861096" cy="314325"/>
          </a:xfrm>
          <a:prstGeom prst="rect">
            <a:avLst/>
          </a:prstGeom>
        </p:spPr>
      </p:pic>
      <p:pic>
        <p:nvPicPr>
          <p:cNvPr id="31" name="SK-10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053905" y="4828729"/>
            <a:ext cx="1926580" cy="314325"/>
          </a:xfrm>
          <a:prstGeom prst="rect">
            <a:avLst/>
          </a:prstGeom>
        </p:spPr>
      </p:pic>
      <p:pic>
        <p:nvPicPr>
          <p:cNvPr id="32" name="SK-10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980486" y="4828729"/>
            <a:ext cx="4640014" cy="314325"/>
          </a:xfrm>
          <a:prstGeom prst="rect">
            <a:avLst/>
          </a:prstGeom>
        </p:spPr>
      </p:pic>
      <p:pic>
        <p:nvPicPr>
          <p:cNvPr id="33" name="SK-10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71500" y="5143054"/>
            <a:ext cx="2621310" cy="309563"/>
          </a:xfrm>
          <a:prstGeom prst="rect">
            <a:avLst/>
          </a:prstGeom>
        </p:spPr>
      </p:pic>
      <p:pic>
        <p:nvPicPr>
          <p:cNvPr id="34" name="SK-10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192810" y="5143054"/>
            <a:ext cx="1861096" cy="309563"/>
          </a:xfrm>
          <a:prstGeom prst="rect">
            <a:avLst/>
          </a:prstGeom>
        </p:spPr>
      </p:pic>
      <p:pic>
        <p:nvPicPr>
          <p:cNvPr id="35" name="SK-10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053905" y="5143054"/>
            <a:ext cx="1926580" cy="309563"/>
          </a:xfrm>
          <a:prstGeom prst="rect">
            <a:avLst/>
          </a:prstGeom>
        </p:spPr>
      </p:pic>
      <p:pic>
        <p:nvPicPr>
          <p:cNvPr id="36" name="SK-10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980486" y="5143054"/>
            <a:ext cx="4640014" cy="309563"/>
          </a:xfrm>
          <a:prstGeom prst="rect">
            <a:avLst/>
          </a:prstGeom>
        </p:spPr>
      </p:pic>
      <p:pic>
        <p:nvPicPr>
          <p:cNvPr id="37" name="SK-10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571500" y="5452616"/>
            <a:ext cx="2621310" cy="309563"/>
          </a:xfrm>
          <a:prstGeom prst="rect">
            <a:avLst/>
          </a:prstGeom>
        </p:spPr>
      </p:pic>
      <p:pic>
        <p:nvPicPr>
          <p:cNvPr id="38" name="SK-10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3192810" y="5452616"/>
            <a:ext cx="1861096" cy="309563"/>
          </a:xfrm>
          <a:prstGeom prst="rect">
            <a:avLst/>
          </a:prstGeom>
        </p:spPr>
      </p:pic>
      <p:pic>
        <p:nvPicPr>
          <p:cNvPr id="39" name="SK-10-img-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5053905" y="5452616"/>
            <a:ext cx="1926580" cy="309563"/>
          </a:xfrm>
          <a:prstGeom prst="rect">
            <a:avLst/>
          </a:prstGeom>
        </p:spPr>
      </p:pic>
      <p:pic>
        <p:nvPicPr>
          <p:cNvPr id="40" name="SK-10-img-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6980486" y="5452616"/>
            <a:ext cx="4640014" cy="309563"/>
          </a:xfrm>
          <a:prstGeom prst="rect">
            <a:avLst/>
          </a:prstGeom>
        </p:spPr>
      </p:pic>
      <p:pic>
        <p:nvPicPr>
          <p:cNvPr id="41" name="SK-10-img-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571500" y="5762179"/>
            <a:ext cx="2621310" cy="309563"/>
          </a:xfrm>
          <a:prstGeom prst="rect">
            <a:avLst/>
          </a:prstGeom>
        </p:spPr>
      </p:pic>
      <p:pic>
        <p:nvPicPr>
          <p:cNvPr id="42" name="SK-10-img-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3192810" y="5762179"/>
            <a:ext cx="1861096" cy="309563"/>
          </a:xfrm>
          <a:prstGeom prst="rect">
            <a:avLst/>
          </a:prstGeom>
        </p:spPr>
      </p:pic>
      <p:pic>
        <p:nvPicPr>
          <p:cNvPr id="43" name="SK-10-img-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053905" y="5762179"/>
            <a:ext cx="1926580" cy="309563"/>
          </a:xfrm>
          <a:prstGeom prst="rect">
            <a:avLst/>
          </a:prstGeom>
        </p:spPr>
      </p:pic>
      <p:pic>
        <p:nvPicPr>
          <p:cNvPr id="44" name="SK-10-img-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6980486" y="5762179"/>
            <a:ext cx="4640014" cy="309563"/>
          </a:xfrm>
          <a:prstGeom prst="rect">
            <a:avLst/>
          </a:prstGeom>
        </p:spPr>
      </p:pic>
      <p:pic>
        <p:nvPicPr>
          <p:cNvPr id="45" name="SK-10-img-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571500" y="6071741"/>
            <a:ext cx="2621310" cy="309563"/>
          </a:xfrm>
          <a:prstGeom prst="rect">
            <a:avLst/>
          </a:prstGeom>
        </p:spPr>
      </p:pic>
      <p:pic>
        <p:nvPicPr>
          <p:cNvPr id="46" name="SK-10-img-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3192810" y="6071741"/>
            <a:ext cx="1861096" cy="309563"/>
          </a:xfrm>
          <a:prstGeom prst="rect">
            <a:avLst/>
          </a:prstGeom>
        </p:spPr>
      </p:pic>
      <p:pic>
        <p:nvPicPr>
          <p:cNvPr id="47" name="SK-10-img-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5053905" y="6071741"/>
            <a:ext cx="1926580" cy="309563"/>
          </a:xfrm>
          <a:prstGeom prst="rect">
            <a:avLst/>
          </a:prstGeom>
        </p:spPr>
      </p:pic>
      <p:pic>
        <p:nvPicPr>
          <p:cNvPr id="48" name="SK-10-img-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6980486" y="6071741"/>
            <a:ext cx="4640014" cy="309563"/>
          </a:xfrm>
          <a:prstGeom prst="rect">
            <a:avLst/>
          </a:prstGeom>
        </p:spPr>
      </p:pic>
      <p:sp>
        <p:nvSpPr>
          <p:cNvPr id="49" name="SK-10-text-48"/>
          <p:cNvSpPr/>
          <p:nvPr/>
        </p:nvSpPr>
        <p:spPr>
          <a:xfrm>
            <a:off x="647700" y="180975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50" name="SK-10-text-49"/>
          <p:cNvSpPr/>
          <p:nvPr/>
        </p:nvSpPr>
        <p:spPr>
          <a:xfrm>
            <a:off x="571500" y="533400"/>
            <a:ext cx="11620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C-4 &amp; C-5. 가치 중심의 Before/After 및 기대효과</a:t>
            </a:r>
            <a:endParaRPr lang="en-US" sz="2550" dirty="0"/>
          </a:p>
        </p:txBody>
      </p:sp>
      <p:sp>
        <p:nvSpPr>
          <p:cNvPr id="51" name="SK-10-text-50"/>
          <p:cNvSpPr/>
          <p:nvPr/>
        </p:nvSpPr>
        <p:spPr>
          <a:xfrm>
            <a:off x="685800" y="1152525"/>
            <a:ext cx="1008306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BEFORE</a:t>
            </a:r>
            <a:endParaRPr lang="en-US" sz="1350" dirty="0"/>
          </a:p>
        </p:txBody>
      </p:sp>
      <p:sp>
        <p:nvSpPr>
          <p:cNvPr id="52" name="SK-10-text-51"/>
          <p:cNvSpPr/>
          <p:nvPr/>
        </p:nvSpPr>
        <p:spPr>
          <a:xfrm>
            <a:off x="1571625" y="1176338"/>
            <a:ext cx="6953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관리의 맹목 (Existing AI Assistant)</a:t>
            </a:r>
            <a:endParaRPr lang="en-US" sz="1500" dirty="0"/>
          </a:p>
        </p:txBody>
      </p:sp>
      <p:sp>
        <p:nvSpPr>
          <p:cNvPr id="53" name="SK-10-text-52"/>
          <p:cNvSpPr/>
          <p:nvPr/>
        </p:nvSpPr>
        <p:spPr>
          <a:xfrm>
            <a:off x="966788" y="1666875"/>
            <a:ext cx="47101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 체계</a:t>
            </a:r>
            <a:endParaRPr lang="en-US" sz="1050" dirty="0"/>
          </a:p>
        </p:txBody>
      </p:sp>
      <p:sp>
        <p:nvSpPr>
          <p:cNvPr id="54" name="SK-10-text-53"/>
          <p:cNvSpPr/>
          <p:nvPr/>
        </p:nvSpPr>
        <p:spPr>
          <a:xfrm>
            <a:off x="966788" y="1885950"/>
            <a:ext cx="55016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 중심 (SC-01~08) 지표만 관리</a:t>
            </a:r>
            <a:endParaRPr lang="en-US" sz="1200" dirty="0"/>
          </a:p>
        </p:txBody>
      </p:sp>
      <p:sp>
        <p:nvSpPr>
          <p:cNvPr id="55" name="SK-10-text-54"/>
          <p:cNvSpPr/>
          <p:nvPr/>
        </p:nvSpPr>
        <p:spPr>
          <a:xfrm>
            <a:off x="966788" y="2299246"/>
            <a:ext cx="47101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 프로세스</a:t>
            </a:r>
            <a:endParaRPr lang="en-US" sz="1050" dirty="0"/>
          </a:p>
        </p:txBody>
      </p:sp>
      <p:sp>
        <p:nvSpPr>
          <p:cNvPr id="56" name="SK-10-text-55"/>
          <p:cNvSpPr/>
          <p:nvPr/>
        </p:nvSpPr>
        <p:spPr>
          <a:xfrm>
            <a:off x="966788" y="2518321"/>
            <a:ext cx="471011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자동 생성 후 검토 없이 즉시 배포</a:t>
            </a:r>
            <a:endParaRPr lang="en-US" sz="1200" dirty="0"/>
          </a:p>
        </p:txBody>
      </p:sp>
      <p:sp>
        <p:nvSpPr>
          <p:cNvPr id="57" name="SK-10-text-56"/>
          <p:cNvSpPr/>
          <p:nvPr/>
        </p:nvSpPr>
        <p:spPr>
          <a:xfrm>
            <a:off x="966788" y="2931616"/>
            <a:ext cx="47101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 관리</a:t>
            </a:r>
            <a:endParaRPr lang="en-US" sz="1050" dirty="0"/>
          </a:p>
        </p:txBody>
      </p:sp>
      <p:sp>
        <p:nvSpPr>
          <p:cNvPr id="58" name="SK-10-text-57"/>
          <p:cNvSpPr/>
          <p:nvPr/>
        </p:nvSpPr>
        <p:spPr>
          <a:xfrm>
            <a:off x="966788" y="3150691"/>
            <a:ext cx="471011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비공식 변경 35건 방치 및 통제 불능</a:t>
            </a:r>
            <a:endParaRPr lang="en-US" sz="1200" dirty="0"/>
          </a:p>
        </p:txBody>
      </p:sp>
      <p:sp>
        <p:nvSpPr>
          <p:cNvPr id="59" name="SK-10-text-58"/>
          <p:cNvSpPr/>
          <p:nvPr/>
        </p:nvSpPr>
        <p:spPr>
          <a:xfrm>
            <a:off x="966788" y="3563987"/>
            <a:ext cx="47101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대응</a:t>
            </a:r>
            <a:endParaRPr lang="en-US" sz="1050" dirty="0"/>
          </a:p>
        </p:txBody>
      </p:sp>
      <p:sp>
        <p:nvSpPr>
          <p:cNvPr id="60" name="SK-10-text-59"/>
          <p:cNvSpPr/>
          <p:nvPr/>
        </p:nvSpPr>
        <p:spPr>
          <a:xfrm>
            <a:off x="966788" y="3783062"/>
            <a:ext cx="471011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4/11 이후 리스크 대장 갱신 중단</a:t>
            </a:r>
            <a:endParaRPr lang="en-US" sz="1200" dirty="0"/>
          </a:p>
        </p:txBody>
      </p:sp>
      <p:sp>
        <p:nvSpPr>
          <p:cNvPr id="61" name="SK-10-text-60"/>
          <p:cNvSpPr/>
          <p:nvPr/>
        </p:nvSpPr>
        <p:spPr>
          <a:xfrm>
            <a:off x="966788" y="4196358"/>
            <a:ext cx="47101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</a:t>
            </a:r>
            <a:endParaRPr lang="en-US" sz="1050" dirty="0"/>
          </a:p>
        </p:txBody>
      </p:sp>
      <p:sp>
        <p:nvSpPr>
          <p:cNvPr id="62" name="SK-10-text-61"/>
          <p:cNvSpPr/>
          <p:nvPr/>
        </p:nvSpPr>
        <p:spPr>
          <a:xfrm>
            <a:off x="966788" y="4415433"/>
            <a:ext cx="483108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지표 우선 (SPI 위주) 및 리전별 소통 단절</a:t>
            </a:r>
            <a:endParaRPr lang="en-US" sz="1200" dirty="0"/>
          </a:p>
        </p:txBody>
      </p:sp>
      <p:sp>
        <p:nvSpPr>
          <p:cNvPr id="63" name="SK-10-text-62"/>
          <p:cNvSpPr/>
          <p:nvPr/>
        </p:nvSpPr>
        <p:spPr>
          <a:xfrm>
            <a:off x="6591300" y="1152525"/>
            <a:ext cx="81697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AFTER</a:t>
            </a:r>
            <a:endParaRPr lang="en-US" sz="1350" dirty="0"/>
          </a:p>
        </p:txBody>
      </p:sp>
      <p:sp>
        <p:nvSpPr>
          <p:cNvPr id="64" name="SK-10-text-63"/>
          <p:cNvSpPr/>
          <p:nvPr/>
        </p:nvSpPr>
        <p:spPr>
          <a:xfrm>
            <a:off x="7362825" y="1166813"/>
            <a:ext cx="48291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 중심의 통찰 (Value Guardian)</a:t>
            </a:r>
            <a:endParaRPr lang="en-US" sz="1500" dirty="0"/>
          </a:p>
        </p:txBody>
      </p:sp>
      <p:sp>
        <p:nvSpPr>
          <p:cNvPr id="65" name="SK-10-text-64"/>
          <p:cNvSpPr/>
          <p:nvPr/>
        </p:nvSpPr>
        <p:spPr>
          <a:xfrm>
            <a:off x="6872288" y="1638300"/>
            <a:ext cx="47101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 체계</a:t>
            </a:r>
            <a:endParaRPr lang="en-US" sz="1050" dirty="0"/>
          </a:p>
        </p:txBody>
      </p:sp>
      <p:sp>
        <p:nvSpPr>
          <p:cNvPr id="66" name="SK-10-text-65"/>
          <p:cNvSpPr/>
          <p:nvPr/>
        </p:nvSpPr>
        <p:spPr>
          <a:xfrm>
            <a:off x="6872288" y="1857375"/>
            <a:ext cx="531971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 + Outcome (편익 선행지표) 통합 추적</a:t>
            </a:r>
            <a:endParaRPr lang="en-US" sz="1200" dirty="0"/>
          </a:p>
        </p:txBody>
      </p:sp>
      <p:sp>
        <p:nvSpPr>
          <p:cNvPr id="67" name="SK-10-text-66"/>
          <p:cNvSpPr/>
          <p:nvPr/>
        </p:nvSpPr>
        <p:spPr>
          <a:xfrm>
            <a:off x="6872288" y="2251621"/>
            <a:ext cx="47101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 프로세스</a:t>
            </a:r>
            <a:endParaRPr lang="en-US" sz="1050" dirty="0"/>
          </a:p>
        </p:txBody>
      </p:sp>
      <p:sp>
        <p:nvSpPr>
          <p:cNvPr id="68" name="SK-10-text-67"/>
          <p:cNvSpPr/>
          <p:nvPr/>
        </p:nvSpPr>
        <p:spPr>
          <a:xfrm>
            <a:off x="6872288" y="2470696"/>
            <a:ext cx="471011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생성 → 사람 검토 및 서명 필수화</a:t>
            </a:r>
            <a:endParaRPr lang="en-US" sz="1200" dirty="0"/>
          </a:p>
        </p:txBody>
      </p:sp>
      <p:sp>
        <p:nvSpPr>
          <p:cNvPr id="69" name="SK-10-text-68"/>
          <p:cNvSpPr/>
          <p:nvPr/>
        </p:nvSpPr>
        <p:spPr>
          <a:xfrm>
            <a:off x="6872288" y="2864941"/>
            <a:ext cx="47101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 관리</a:t>
            </a:r>
            <a:endParaRPr lang="en-US" sz="1050" dirty="0"/>
          </a:p>
        </p:txBody>
      </p:sp>
      <p:sp>
        <p:nvSpPr>
          <p:cNvPr id="70" name="SK-10-text-69"/>
          <p:cNvSpPr/>
          <p:nvPr/>
        </p:nvSpPr>
        <p:spPr>
          <a:xfrm>
            <a:off x="6872288" y="3084016"/>
            <a:ext cx="483108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비공식 채널 감지 → CR 초안 자동 생성 유도</a:t>
            </a:r>
            <a:endParaRPr lang="en-US" sz="1200" dirty="0"/>
          </a:p>
        </p:txBody>
      </p:sp>
      <p:sp>
        <p:nvSpPr>
          <p:cNvPr id="71" name="SK-10-text-70"/>
          <p:cNvSpPr/>
          <p:nvPr/>
        </p:nvSpPr>
        <p:spPr>
          <a:xfrm>
            <a:off x="6872288" y="3478262"/>
            <a:ext cx="47101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대응</a:t>
            </a:r>
            <a:endParaRPr lang="en-US" sz="1050" dirty="0"/>
          </a:p>
        </p:txBody>
      </p:sp>
      <p:sp>
        <p:nvSpPr>
          <p:cNvPr id="72" name="SK-10-text-71"/>
          <p:cNvSpPr/>
          <p:nvPr/>
        </p:nvSpPr>
        <p:spPr>
          <a:xfrm>
            <a:off x="6872288" y="3697337"/>
            <a:ext cx="471011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상시 외부 신호 감지 및 리스크 등록 제안</a:t>
            </a:r>
            <a:endParaRPr lang="en-US" sz="1200" dirty="0"/>
          </a:p>
        </p:txBody>
      </p:sp>
      <p:sp>
        <p:nvSpPr>
          <p:cNvPr id="73" name="SK-10-text-72"/>
          <p:cNvSpPr/>
          <p:nvPr/>
        </p:nvSpPr>
        <p:spPr>
          <a:xfrm>
            <a:off x="6872288" y="4091583"/>
            <a:ext cx="47101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</a:t>
            </a:r>
            <a:endParaRPr lang="en-US" sz="1050" dirty="0"/>
          </a:p>
        </p:txBody>
      </p:sp>
      <p:sp>
        <p:nvSpPr>
          <p:cNvPr id="74" name="SK-10-text-73"/>
          <p:cNvSpPr/>
          <p:nvPr/>
        </p:nvSpPr>
        <p:spPr>
          <a:xfrm>
            <a:off x="6872288" y="4310658"/>
            <a:ext cx="531971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 우선 (Outcome 중심) 및 리전 간 동기화</a:t>
            </a:r>
            <a:endParaRPr lang="en-US" sz="1200" dirty="0"/>
          </a:p>
        </p:txBody>
      </p:sp>
      <p:sp>
        <p:nvSpPr>
          <p:cNvPr id="75" name="SK-10-text-74"/>
          <p:cNvSpPr/>
          <p:nvPr/>
        </p:nvSpPr>
        <p:spPr>
          <a:xfrm>
            <a:off x="723900" y="4828729"/>
            <a:ext cx="239271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성과 지표 (KPI)</a:t>
            </a:r>
            <a:endParaRPr lang="en-US" sz="1050" dirty="0"/>
          </a:p>
        </p:txBody>
      </p:sp>
      <p:sp>
        <p:nvSpPr>
          <p:cNvPr id="76" name="SK-10-text-75"/>
          <p:cNvSpPr/>
          <p:nvPr/>
        </p:nvSpPr>
        <p:spPr>
          <a:xfrm>
            <a:off x="3345210" y="4828729"/>
            <a:ext cx="181576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상태 (AS-IS)</a:t>
            </a:r>
            <a:endParaRPr lang="en-US" sz="1050" dirty="0"/>
          </a:p>
        </p:txBody>
      </p:sp>
      <p:sp>
        <p:nvSpPr>
          <p:cNvPr id="77" name="SK-10-text-76"/>
          <p:cNvSpPr/>
          <p:nvPr/>
        </p:nvSpPr>
        <p:spPr>
          <a:xfrm>
            <a:off x="5206305" y="4828729"/>
            <a:ext cx="182734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 상태 (TO-BE)</a:t>
            </a:r>
            <a:endParaRPr lang="en-US" sz="1050" dirty="0"/>
          </a:p>
        </p:txBody>
      </p:sp>
      <p:sp>
        <p:nvSpPr>
          <p:cNvPr id="78" name="SK-10-text-77"/>
          <p:cNvSpPr/>
          <p:nvPr/>
        </p:nvSpPr>
        <p:spPr>
          <a:xfrm>
            <a:off x="7132886" y="4828729"/>
            <a:ext cx="441141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 근거 및 기대 효과</a:t>
            </a:r>
            <a:endParaRPr lang="en-US" sz="1050" dirty="0"/>
          </a:p>
        </p:txBody>
      </p:sp>
      <p:sp>
        <p:nvSpPr>
          <p:cNvPr id="79" name="SK-10-text-78"/>
          <p:cNvSpPr/>
          <p:nvPr/>
        </p:nvSpPr>
        <p:spPr>
          <a:xfrm>
            <a:off x="723900" y="5143054"/>
            <a:ext cx="2392710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편익(BEN) 측정 활성화율</a:t>
            </a:r>
            <a:endParaRPr lang="en-US" sz="1125" dirty="0"/>
          </a:p>
        </p:txBody>
      </p:sp>
      <p:sp>
        <p:nvSpPr>
          <p:cNvPr id="80" name="SK-10-text-79"/>
          <p:cNvSpPr/>
          <p:nvPr/>
        </p:nvSpPr>
        <p:spPr>
          <a:xfrm>
            <a:off x="3345210" y="5200204"/>
            <a:ext cx="17907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0% (0/5)</a:t>
            </a:r>
            <a:endParaRPr lang="en-US" sz="1125" dirty="0"/>
          </a:p>
        </p:txBody>
      </p:sp>
      <p:sp>
        <p:nvSpPr>
          <p:cNvPr id="81" name="SK-10-text-80"/>
          <p:cNvSpPr/>
          <p:nvPr/>
        </p:nvSpPr>
        <p:spPr>
          <a:xfrm>
            <a:off x="5206305" y="5200204"/>
            <a:ext cx="23622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100% (5/5)</a:t>
            </a:r>
            <a:endParaRPr lang="en-US" sz="1125" dirty="0"/>
          </a:p>
        </p:txBody>
      </p:sp>
      <p:sp>
        <p:nvSpPr>
          <p:cNvPr id="82" name="SK-10-text-81"/>
          <p:cNvSpPr/>
          <p:nvPr/>
        </p:nvSpPr>
        <p:spPr>
          <a:xfrm>
            <a:off x="7132886" y="5143054"/>
            <a:ext cx="5042014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i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Value Guardian의 선행지표 자동 추적 메커니즘</a:t>
            </a:r>
            <a:endParaRPr lang="en-US" sz="1125" dirty="0"/>
          </a:p>
        </p:txBody>
      </p:sp>
      <p:sp>
        <p:nvSpPr>
          <p:cNvPr id="83" name="SK-10-text-82"/>
          <p:cNvSpPr/>
          <p:nvPr/>
        </p:nvSpPr>
        <p:spPr>
          <a:xfrm>
            <a:off x="723900" y="5452616"/>
            <a:ext cx="2392710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지표 괴리 감지 리드타임</a:t>
            </a:r>
            <a:endParaRPr lang="en-US" sz="1125" dirty="0"/>
          </a:p>
        </p:txBody>
      </p:sp>
      <p:sp>
        <p:nvSpPr>
          <p:cNvPr id="84" name="SK-10-text-83"/>
          <p:cNvSpPr/>
          <p:nvPr/>
        </p:nvSpPr>
        <p:spPr>
          <a:xfrm>
            <a:off x="3345210" y="5509766"/>
            <a:ext cx="12763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∞ (미감지)</a:t>
            </a:r>
            <a:endParaRPr lang="en-US" sz="1125" dirty="0"/>
          </a:p>
        </p:txBody>
      </p:sp>
      <p:sp>
        <p:nvSpPr>
          <p:cNvPr id="85" name="SK-10-text-84"/>
          <p:cNvSpPr/>
          <p:nvPr/>
        </p:nvSpPr>
        <p:spPr>
          <a:xfrm>
            <a:off x="5206305" y="5509766"/>
            <a:ext cx="13335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≤ 24시간</a:t>
            </a:r>
            <a:endParaRPr lang="en-US" sz="1125" dirty="0"/>
          </a:p>
        </p:txBody>
      </p:sp>
      <p:sp>
        <p:nvSpPr>
          <p:cNvPr id="86" name="SK-10-text-85"/>
          <p:cNvSpPr/>
          <p:nvPr/>
        </p:nvSpPr>
        <p:spPr>
          <a:xfrm>
            <a:off x="7132886" y="5452616"/>
            <a:ext cx="4881826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i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Integrity Checker의 자동 크로스체크 실행</a:t>
            </a:r>
            <a:endParaRPr lang="en-US" sz="1125" dirty="0"/>
          </a:p>
        </p:txBody>
      </p:sp>
      <p:sp>
        <p:nvSpPr>
          <p:cNvPr id="87" name="SK-10-text-86"/>
          <p:cNvSpPr/>
          <p:nvPr/>
        </p:nvSpPr>
        <p:spPr>
          <a:xfrm>
            <a:off x="723900" y="5762179"/>
            <a:ext cx="2392710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비공식 변경 CR 전환율</a:t>
            </a:r>
            <a:endParaRPr lang="en-US" sz="1125" dirty="0"/>
          </a:p>
        </p:txBody>
      </p:sp>
      <p:sp>
        <p:nvSpPr>
          <p:cNvPr id="88" name="SK-10-text-87"/>
          <p:cNvSpPr/>
          <p:nvPr/>
        </p:nvSpPr>
        <p:spPr>
          <a:xfrm>
            <a:off x="3345210" y="5819329"/>
            <a:ext cx="23050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0% (35건 방치)</a:t>
            </a:r>
            <a:endParaRPr lang="en-US" sz="1125" dirty="0"/>
          </a:p>
        </p:txBody>
      </p:sp>
      <p:sp>
        <p:nvSpPr>
          <p:cNvPr id="89" name="SK-10-text-88"/>
          <p:cNvSpPr/>
          <p:nvPr/>
        </p:nvSpPr>
        <p:spPr>
          <a:xfrm>
            <a:off x="5206305" y="5819329"/>
            <a:ext cx="11620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≥ 80%</a:t>
            </a:r>
            <a:endParaRPr lang="en-US" sz="1125" dirty="0"/>
          </a:p>
        </p:txBody>
      </p:sp>
      <p:sp>
        <p:nvSpPr>
          <p:cNvPr id="90" name="SK-10-text-89"/>
          <p:cNvSpPr/>
          <p:nvPr/>
        </p:nvSpPr>
        <p:spPr>
          <a:xfrm>
            <a:off x="7132886" y="5762179"/>
            <a:ext cx="5042014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i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Change Sentinel의 메신저/회의록 실시간 감지</a:t>
            </a:r>
            <a:endParaRPr lang="en-US" sz="1125" dirty="0"/>
          </a:p>
        </p:txBody>
      </p:sp>
      <p:sp>
        <p:nvSpPr>
          <p:cNvPr id="91" name="SK-10-text-90"/>
          <p:cNvSpPr/>
          <p:nvPr/>
        </p:nvSpPr>
        <p:spPr>
          <a:xfrm>
            <a:off x="723900" y="6071741"/>
            <a:ext cx="2392710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리전 간 결정 불일치 건수</a:t>
            </a:r>
            <a:endParaRPr lang="en-US" sz="1125" dirty="0"/>
          </a:p>
        </p:txBody>
      </p:sp>
      <p:sp>
        <p:nvSpPr>
          <p:cNvPr id="92" name="SK-10-text-91"/>
          <p:cNvSpPr/>
          <p:nvPr/>
        </p:nvSpPr>
        <p:spPr>
          <a:xfrm>
            <a:off x="3345210" y="6128891"/>
            <a:ext cx="5334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5건</a:t>
            </a:r>
            <a:endParaRPr lang="en-US" sz="1125" dirty="0"/>
          </a:p>
        </p:txBody>
      </p:sp>
      <p:sp>
        <p:nvSpPr>
          <p:cNvPr id="93" name="SK-10-text-92"/>
          <p:cNvSpPr/>
          <p:nvPr/>
        </p:nvSpPr>
        <p:spPr>
          <a:xfrm>
            <a:off x="5206305" y="6128891"/>
            <a:ext cx="5334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0건</a:t>
            </a:r>
            <a:endParaRPr lang="en-US" sz="1125" dirty="0"/>
          </a:p>
        </p:txBody>
      </p:sp>
      <p:sp>
        <p:nvSpPr>
          <p:cNvPr id="94" name="SK-10-text-93"/>
          <p:cNvSpPr/>
          <p:nvPr/>
        </p:nvSpPr>
        <p:spPr>
          <a:xfrm>
            <a:off x="7132886" y="6071741"/>
            <a:ext cx="5042014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i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Decision Sync의 다중 채널 기록 대조 및 알림</a:t>
            </a:r>
            <a:endParaRPr lang="en-US" sz="1125" dirty="0"/>
          </a:p>
        </p:txBody>
      </p:sp>
      <p:sp>
        <p:nvSpPr>
          <p:cNvPr id="95" name="SK-10-text-94"/>
          <p:cNvSpPr/>
          <p:nvPr/>
        </p:nvSpPr>
        <p:spPr>
          <a:xfrm>
            <a:off x="723900" y="6381304"/>
            <a:ext cx="2392710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보고서 사람 검토율</a:t>
            </a:r>
            <a:endParaRPr lang="en-US" sz="1125" dirty="0"/>
          </a:p>
        </p:txBody>
      </p:sp>
      <p:sp>
        <p:nvSpPr>
          <p:cNvPr id="96" name="SK-10-text-95"/>
          <p:cNvSpPr/>
          <p:nvPr/>
        </p:nvSpPr>
        <p:spPr>
          <a:xfrm>
            <a:off x="3345210" y="6438454"/>
            <a:ext cx="17907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0% (16주)</a:t>
            </a:r>
            <a:endParaRPr lang="en-US" sz="1125" dirty="0"/>
          </a:p>
        </p:txBody>
      </p:sp>
      <p:sp>
        <p:nvSpPr>
          <p:cNvPr id="97" name="SK-10-text-96"/>
          <p:cNvSpPr/>
          <p:nvPr/>
        </p:nvSpPr>
        <p:spPr>
          <a:xfrm>
            <a:off x="5206305" y="6438454"/>
            <a:ext cx="11049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100%</a:t>
            </a:r>
            <a:endParaRPr lang="en-US" sz="1125" dirty="0"/>
          </a:p>
        </p:txBody>
      </p:sp>
      <p:sp>
        <p:nvSpPr>
          <p:cNvPr id="98" name="SK-10-text-97"/>
          <p:cNvSpPr/>
          <p:nvPr/>
        </p:nvSpPr>
        <p:spPr>
          <a:xfrm>
            <a:off x="7132886" y="6381304"/>
            <a:ext cx="4411414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i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거버넌스 시스템 내 승인 워크플로우 강제 적용</a:t>
            </a:r>
            <a:endParaRPr lang="en-US" sz="11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1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1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0975"/>
            <a:ext cx="2122289" cy="276225"/>
          </a:xfrm>
          <a:prstGeom prst="rect">
            <a:avLst/>
          </a:prstGeom>
        </p:spPr>
      </p:pic>
      <p:pic>
        <p:nvPicPr>
          <p:cNvPr id="4" name="SK-11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8089" y="314325"/>
            <a:ext cx="8812411" cy="9525"/>
          </a:xfrm>
          <a:prstGeom prst="rect">
            <a:avLst/>
          </a:prstGeom>
        </p:spPr>
      </p:pic>
      <p:pic>
        <p:nvPicPr>
          <p:cNvPr id="5" name="SK-11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114425"/>
            <a:ext cx="11049000" cy="357188"/>
          </a:xfrm>
          <a:prstGeom prst="rect">
            <a:avLst/>
          </a:prstGeom>
        </p:spPr>
      </p:pic>
      <p:pic>
        <p:nvPicPr>
          <p:cNvPr id="6" name="SK-11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1217563"/>
            <a:ext cx="202406" cy="163711"/>
          </a:xfrm>
          <a:prstGeom prst="rect">
            <a:avLst/>
          </a:prstGeom>
        </p:spPr>
      </p:pic>
      <p:pic>
        <p:nvPicPr>
          <p:cNvPr id="7" name="SK-11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576388"/>
            <a:ext cx="11049000" cy="830461"/>
          </a:xfrm>
          <a:prstGeom prst="rect">
            <a:avLst/>
          </a:prstGeom>
        </p:spPr>
      </p:pic>
      <p:pic>
        <p:nvPicPr>
          <p:cNvPr id="8" name="SK-11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1633538"/>
            <a:ext cx="762000" cy="716161"/>
          </a:xfrm>
          <a:prstGeom prst="rect">
            <a:avLst/>
          </a:prstGeom>
        </p:spPr>
      </p:pic>
      <p:pic>
        <p:nvPicPr>
          <p:cNvPr id="9" name="SK-11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7250" y="1777305"/>
            <a:ext cx="266700" cy="238125"/>
          </a:xfrm>
          <a:prstGeom prst="rect">
            <a:avLst/>
          </a:prstGeom>
        </p:spPr>
      </p:pic>
      <p:pic>
        <p:nvPicPr>
          <p:cNvPr id="10" name="SK-11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00200" y="1667173"/>
            <a:ext cx="178594" cy="147042"/>
          </a:xfrm>
          <a:prstGeom prst="rect">
            <a:avLst/>
          </a:prstGeom>
        </p:spPr>
      </p:pic>
      <p:pic>
        <p:nvPicPr>
          <p:cNvPr id="11" name="SK-11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0" y="1633538"/>
            <a:ext cx="4343400" cy="716161"/>
          </a:xfrm>
          <a:prstGeom prst="rect">
            <a:avLst/>
          </a:prstGeom>
        </p:spPr>
      </p:pic>
      <p:pic>
        <p:nvPicPr>
          <p:cNvPr id="12" name="SK-11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24300" y="1703040"/>
            <a:ext cx="166688" cy="137220"/>
          </a:xfrm>
          <a:prstGeom prst="rect">
            <a:avLst/>
          </a:prstGeom>
        </p:spPr>
      </p:pic>
      <p:pic>
        <p:nvPicPr>
          <p:cNvPr id="13" name="SK-11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05800" y="1633538"/>
            <a:ext cx="3200400" cy="716161"/>
          </a:xfrm>
          <a:prstGeom prst="rect">
            <a:avLst/>
          </a:prstGeom>
        </p:spPr>
      </p:pic>
      <p:pic>
        <p:nvPicPr>
          <p:cNvPr id="14" name="SK-11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2444948"/>
            <a:ext cx="11049000" cy="830461"/>
          </a:xfrm>
          <a:prstGeom prst="rect">
            <a:avLst/>
          </a:prstGeom>
        </p:spPr>
      </p:pic>
      <p:pic>
        <p:nvPicPr>
          <p:cNvPr id="15" name="SK-11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800" y="2502098"/>
            <a:ext cx="762000" cy="716161"/>
          </a:xfrm>
          <a:prstGeom prst="rect">
            <a:avLst/>
          </a:prstGeom>
        </p:spPr>
      </p:pic>
      <p:pic>
        <p:nvPicPr>
          <p:cNvPr id="16" name="SK-11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7250" y="2645866"/>
            <a:ext cx="266700" cy="238125"/>
          </a:xfrm>
          <a:prstGeom prst="rect">
            <a:avLst/>
          </a:prstGeom>
        </p:spPr>
      </p:pic>
      <p:pic>
        <p:nvPicPr>
          <p:cNvPr id="17" name="SK-11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600200" y="2535734"/>
            <a:ext cx="178594" cy="147042"/>
          </a:xfrm>
          <a:prstGeom prst="rect">
            <a:avLst/>
          </a:prstGeom>
        </p:spPr>
      </p:pic>
      <p:pic>
        <p:nvPicPr>
          <p:cNvPr id="18" name="SK-11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810000" y="2502098"/>
            <a:ext cx="4343400" cy="716161"/>
          </a:xfrm>
          <a:prstGeom prst="rect">
            <a:avLst/>
          </a:prstGeom>
        </p:spPr>
      </p:pic>
      <p:pic>
        <p:nvPicPr>
          <p:cNvPr id="19" name="SK-11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924300" y="2571601"/>
            <a:ext cx="166688" cy="137220"/>
          </a:xfrm>
          <a:prstGeom prst="rect">
            <a:avLst/>
          </a:prstGeom>
        </p:spPr>
      </p:pic>
      <p:pic>
        <p:nvPicPr>
          <p:cNvPr id="20" name="SK-11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05800" y="2502098"/>
            <a:ext cx="3200400" cy="716161"/>
          </a:xfrm>
          <a:prstGeom prst="rect">
            <a:avLst/>
          </a:prstGeom>
        </p:spPr>
      </p:pic>
      <p:pic>
        <p:nvPicPr>
          <p:cNvPr id="21" name="SK-11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1500" y="3313509"/>
            <a:ext cx="11049000" cy="830461"/>
          </a:xfrm>
          <a:prstGeom prst="rect">
            <a:avLst/>
          </a:prstGeom>
        </p:spPr>
      </p:pic>
      <p:pic>
        <p:nvPicPr>
          <p:cNvPr id="22" name="SK-11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85800" y="3370659"/>
            <a:ext cx="762000" cy="716161"/>
          </a:xfrm>
          <a:prstGeom prst="rect">
            <a:avLst/>
          </a:prstGeom>
        </p:spPr>
      </p:pic>
      <p:pic>
        <p:nvPicPr>
          <p:cNvPr id="23" name="SK-11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19150" y="3514427"/>
            <a:ext cx="342900" cy="238125"/>
          </a:xfrm>
          <a:prstGeom prst="rect">
            <a:avLst/>
          </a:prstGeom>
        </p:spPr>
      </p:pic>
      <p:pic>
        <p:nvPicPr>
          <p:cNvPr id="24" name="SK-11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600200" y="3404295"/>
            <a:ext cx="178594" cy="147042"/>
          </a:xfrm>
          <a:prstGeom prst="rect">
            <a:avLst/>
          </a:prstGeom>
        </p:spPr>
      </p:pic>
      <p:pic>
        <p:nvPicPr>
          <p:cNvPr id="25" name="SK-11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810000" y="3370659"/>
            <a:ext cx="4343400" cy="716161"/>
          </a:xfrm>
          <a:prstGeom prst="rect">
            <a:avLst/>
          </a:prstGeom>
        </p:spPr>
      </p:pic>
      <p:pic>
        <p:nvPicPr>
          <p:cNvPr id="26" name="SK-11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924300" y="3440162"/>
            <a:ext cx="166688" cy="137220"/>
          </a:xfrm>
          <a:prstGeom prst="rect">
            <a:avLst/>
          </a:prstGeom>
        </p:spPr>
      </p:pic>
      <p:pic>
        <p:nvPicPr>
          <p:cNvPr id="27" name="SK-11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305800" y="3370659"/>
            <a:ext cx="3200400" cy="716161"/>
          </a:xfrm>
          <a:prstGeom prst="rect">
            <a:avLst/>
          </a:prstGeom>
        </p:spPr>
      </p:pic>
      <p:pic>
        <p:nvPicPr>
          <p:cNvPr id="28" name="SK-11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71500" y="4182070"/>
            <a:ext cx="11049000" cy="830461"/>
          </a:xfrm>
          <a:prstGeom prst="rect">
            <a:avLst/>
          </a:prstGeom>
        </p:spPr>
      </p:pic>
      <p:pic>
        <p:nvPicPr>
          <p:cNvPr id="29" name="SK-11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85800" y="4239220"/>
            <a:ext cx="762000" cy="716161"/>
          </a:xfrm>
          <a:prstGeom prst="rect">
            <a:avLst/>
          </a:prstGeom>
        </p:spPr>
      </p:pic>
      <p:pic>
        <p:nvPicPr>
          <p:cNvPr id="30" name="SK-11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19150" y="4382988"/>
            <a:ext cx="342900" cy="238125"/>
          </a:xfrm>
          <a:prstGeom prst="rect">
            <a:avLst/>
          </a:prstGeom>
        </p:spPr>
      </p:pic>
      <p:pic>
        <p:nvPicPr>
          <p:cNvPr id="31" name="SK-11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600200" y="4272855"/>
            <a:ext cx="178594" cy="147042"/>
          </a:xfrm>
          <a:prstGeom prst="rect">
            <a:avLst/>
          </a:prstGeom>
        </p:spPr>
      </p:pic>
      <p:pic>
        <p:nvPicPr>
          <p:cNvPr id="32" name="SK-11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810000" y="4239220"/>
            <a:ext cx="4343400" cy="716161"/>
          </a:xfrm>
          <a:prstGeom prst="rect">
            <a:avLst/>
          </a:prstGeom>
        </p:spPr>
      </p:pic>
      <p:pic>
        <p:nvPicPr>
          <p:cNvPr id="33" name="SK-11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924300" y="4308723"/>
            <a:ext cx="166688" cy="137220"/>
          </a:xfrm>
          <a:prstGeom prst="rect">
            <a:avLst/>
          </a:prstGeom>
        </p:spPr>
      </p:pic>
      <p:pic>
        <p:nvPicPr>
          <p:cNvPr id="34" name="SK-11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305800" y="4239220"/>
            <a:ext cx="3200400" cy="716161"/>
          </a:xfrm>
          <a:prstGeom prst="rect">
            <a:avLst/>
          </a:prstGeom>
        </p:spPr>
      </p:pic>
      <p:pic>
        <p:nvPicPr>
          <p:cNvPr id="35" name="SK-11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71500" y="5050631"/>
            <a:ext cx="11049000" cy="830461"/>
          </a:xfrm>
          <a:prstGeom prst="rect">
            <a:avLst/>
          </a:prstGeom>
        </p:spPr>
      </p:pic>
      <p:pic>
        <p:nvPicPr>
          <p:cNvPr id="36" name="SK-11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85800" y="5107781"/>
            <a:ext cx="762000" cy="716161"/>
          </a:xfrm>
          <a:prstGeom prst="rect">
            <a:avLst/>
          </a:prstGeom>
        </p:spPr>
      </p:pic>
      <p:pic>
        <p:nvPicPr>
          <p:cNvPr id="37" name="SK-11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819150" y="5251549"/>
            <a:ext cx="342900" cy="238125"/>
          </a:xfrm>
          <a:prstGeom prst="rect">
            <a:avLst/>
          </a:prstGeom>
        </p:spPr>
      </p:pic>
      <p:pic>
        <p:nvPicPr>
          <p:cNvPr id="38" name="SK-11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600200" y="5141416"/>
            <a:ext cx="178594" cy="147042"/>
          </a:xfrm>
          <a:prstGeom prst="rect">
            <a:avLst/>
          </a:prstGeom>
        </p:spPr>
      </p:pic>
      <p:pic>
        <p:nvPicPr>
          <p:cNvPr id="39" name="SK-11-img-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810000" y="5107781"/>
            <a:ext cx="4343400" cy="716161"/>
          </a:xfrm>
          <a:prstGeom prst="rect">
            <a:avLst/>
          </a:prstGeom>
        </p:spPr>
      </p:pic>
      <p:pic>
        <p:nvPicPr>
          <p:cNvPr id="40" name="SK-11-img-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3924300" y="5177284"/>
            <a:ext cx="166688" cy="137220"/>
          </a:xfrm>
          <a:prstGeom prst="rect">
            <a:avLst/>
          </a:prstGeom>
        </p:spPr>
      </p:pic>
      <p:pic>
        <p:nvPicPr>
          <p:cNvPr id="41" name="SK-11-img-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8305800" y="5107781"/>
            <a:ext cx="3200400" cy="716161"/>
          </a:xfrm>
          <a:prstGeom prst="rect">
            <a:avLst/>
          </a:prstGeom>
        </p:spPr>
      </p:pic>
      <p:pic>
        <p:nvPicPr>
          <p:cNvPr id="42" name="SK-11-img-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571500" y="6004917"/>
            <a:ext cx="11049000" cy="528638"/>
          </a:xfrm>
          <a:prstGeom prst="rect">
            <a:avLst/>
          </a:prstGeom>
        </p:spPr>
      </p:pic>
      <p:pic>
        <p:nvPicPr>
          <p:cNvPr id="43" name="SK-11-img-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62000" y="6154936"/>
            <a:ext cx="285750" cy="228600"/>
          </a:xfrm>
          <a:prstGeom prst="rect">
            <a:avLst/>
          </a:prstGeom>
        </p:spPr>
      </p:pic>
      <p:sp>
        <p:nvSpPr>
          <p:cNvPr id="44" name="SK-11-text-43"/>
          <p:cNvSpPr/>
          <p:nvPr/>
        </p:nvSpPr>
        <p:spPr>
          <a:xfrm>
            <a:off x="647700" y="180975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45" name="SK-11-text-44"/>
          <p:cNvSpPr/>
          <p:nvPr/>
        </p:nvSpPr>
        <p:spPr>
          <a:xfrm>
            <a:off x="571500" y="533400"/>
            <a:ext cx="11620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C-6. 타임라인별 개입 포인트 및 핵심 실패 분석</a:t>
            </a:r>
            <a:endParaRPr lang="en-US" sz="2550" dirty="0"/>
          </a:p>
        </p:txBody>
      </p:sp>
      <p:sp>
        <p:nvSpPr>
          <p:cNvPr id="46" name="SK-11-text-45"/>
          <p:cNvSpPr/>
          <p:nvPr/>
        </p:nvSpPr>
        <p:spPr>
          <a:xfrm>
            <a:off x="1040606" y="1171575"/>
            <a:ext cx="106680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"당시로 돌아갔다면?" — 프로젝트 수명주기별 결정적 개입 시점 및 조치 사항 복기</a:t>
            </a:r>
            <a:endParaRPr lang="en-US" sz="1275" dirty="0"/>
          </a:p>
        </p:txBody>
      </p:sp>
      <p:sp>
        <p:nvSpPr>
          <p:cNvPr id="47" name="SK-11-text-46"/>
          <p:cNvSpPr/>
          <p:nvPr/>
        </p:nvSpPr>
        <p:spPr>
          <a:xfrm>
            <a:off x="914400" y="1777305"/>
            <a:ext cx="3200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5AEE"/>
                </a:solidFill>
              </a:rPr>
              <a:t>W1</a:t>
            </a:r>
            <a:endParaRPr lang="en-US" sz="1050" dirty="0"/>
          </a:p>
        </p:txBody>
      </p:sp>
      <p:sp>
        <p:nvSpPr>
          <p:cNvPr id="48" name="SK-11-text-47"/>
          <p:cNvSpPr/>
          <p:nvPr/>
        </p:nvSpPr>
        <p:spPr>
          <a:xfrm>
            <a:off x="838200" y="2034480"/>
            <a:ext cx="11277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01/05</a:t>
            </a:r>
            <a:endParaRPr lang="en-US" sz="900" dirty="0"/>
          </a:p>
        </p:txBody>
      </p:sp>
      <p:sp>
        <p:nvSpPr>
          <p:cNvPr id="49" name="SK-11-text-48"/>
          <p:cNvSpPr/>
          <p:nvPr/>
        </p:nvSpPr>
        <p:spPr>
          <a:xfrm>
            <a:off x="1854994" y="1633538"/>
            <a:ext cx="20574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착수</a:t>
            </a:r>
            <a:endParaRPr lang="en-US" sz="1125" dirty="0"/>
          </a:p>
        </p:txBody>
      </p:sp>
      <p:sp>
        <p:nvSpPr>
          <p:cNvPr id="50" name="SK-11-text-49"/>
          <p:cNvSpPr/>
          <p:nvPr/>
        </p:nvSpPr>
        <p:spPr>
          <a:xfrm>
            <a:off x="1600200" y="1866900"/>
            <a:ext cx="205740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편익 측정 방침 미정의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(기각된 PO 제안)</a:t>
            </a:r>
            <a:endParaRPr lang="en-US" sz="1050" dirty="0"/>
          </a:p>
        </p:txBody>
      </p:sp>
      <p:sp>
        <p:nvSpPr>
          <p:cNvPr id="51" name="SK-11-text-50"/>
          <p:cNvSpPr/>
          <p:nvPr/>
        </p:nvSpPr>
        <p:spPr>
          <a:xfrm>
            <a:off x="4148137" y="1671638"/>
            <a:ext cx="41148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취했어야 할 조치</a:t>
            </a:r>
            <a:endParaRPr lang="en-US" sz="1050" dirty="0"/>
          </a:p>
        </p:txBody>
      </p:sp>
      <p:sp>
        <p:nvSpPr>
          <p:cNvPr id="52" name="SK-11-text-51"/>
          <p:cNvSpPr/>
          <p:nvPr/>
        </p:nvSpPr>
        <p:spPr>
          <a:xfrm>
            <a:off x="4048125" y="1900238"/>
            <a:ext cx="42367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편익 측정 체계 수립 및 책임자(RACI) 지정</a:t>
            </a:r>
            <a:endParaRPr lang="en-US" sz="1050" dirty="0"/>
          </a:p>
        </p:txBody>
      </p:sp>
      <p:sp>
        <p:nvSpPr>
          <p:cNvPr id="53" name="SK-11-text-52"/>
          <p:cNvSpPr/>
          <p:nvPr/>
        </p:nvSpPr>
        <p:spPr>
          <a:xfrm>
            <a:off x="4048125" y="2105918"/>
            <a:ext cx="41910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성공기준(SC)에 BEN 선행지표 강제 포함</a:t>
            </a:r>
            <a:endParaRPr lang="en-US" sz="1050" dirty="0"/>
          </a:p>
        </p:txBody>
      </p:sp>
      <p:sp>
        <p:nvSpPr>
          <p:cNvPr id="54" name="SK-11-text-53"/>
          <p:cNvSpPr/>
          <p:nvPr/>
        </p:nvSpPr>
        <p:spPr>
          <a:xfrm>
            <a:off x="8420100" y="1633538"/>
            <a:ext cx="31623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효과</a:t>
            </a:r>
            <a:endParaRPr lang="en-US" sz="900" dirty="0"/>
          </a:p>
        </p:txBody>
      </p:sp>
      <p:sp>
        <p:nvSpPr>
          <p:cNvPr id="55" name="SK-11-text-54"/>
          <p:cNvSpPr/>
          <p:nvPr/>
        </p:nvSpPr>
        <p:spPr>
          <a:xfrm>
            <a:off x="8420100" y="1824038"/>
            <a:ext cx="308610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Outcome 추적 시작으로 파일럿 이상 징후 조기 감지 가능</a:t>
            </a:r>
            <a:endParaRPr lang="en-US" sz="975" dirty="0"/>
          </a:p>
        </p:txBody>
      </p:sp>
      <p:sp>
        <p:nvSpPr>
          <p:cNvPr id="56" name="SK-11-text-55"/>
          <p:cNvSpPr/>
          <p:nvPr/>
        </p:nvSpPr>
        <p:spPr>
          <a:xfrm>
            <a:off x="914400" y="2645866"/>
            <a:ext cx="3200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5AEE"/>
                </a:solidFill>
              </a:rPr>
              <a:t>W9</a:t>
            </a:r>
            <a:endParaRPr lang="en-US" sz="1050" dirty="0"/>
          </a:p>
        </p:txBody>
      </p:sp>
      <p:sp>
        <p:nvSpPr>
          <p:cNvPr id="57" name="SK-11-text-56"/>
          <p:cNvSpPr/>
          <p:nvPr/>
        </p:nvSpPr>
        <p:spPr>
          <a:xfrm>
            <a:off x="819150" y="2903041"/>
            <a:ext cx="11277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03/03</a:t>
            </a:r>
            <a:endParaRPr lang="en-US" sz="900" dirty="0"/>
          </a:p>
        </p:txBody>
      </p:sp>
      <p:sp>
        <p:nvSpPr>
          <p:cNvPr id="58" name="SK-11-text-57"/>
          <p:cNvSpPr/>
          <p:nvPr/>
        </p:nvSpPr>
        <p:spPr>
          <a:xfrm>
            <a:off x="1854994" y="2502098"/>
            <a:ext cx="20574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DoD v2 변경</a:t>
            </a:r>
            <a:endParaRPr lang="en-US" sz="1125" dirty="0"/>
          </a:p>
        </p:txBody>
      </p:sp>
      <p:sp>
        <p:nvSpPr>
          <p:cNvPr id="59" name="SK-11-text-58"/>
          <p:cNvSpPr/>
          <p:nvPr/>
        </p:nvSpPr>
        <p:spPr>
          <a:xfrm>
            <a:off x="1600200" y="2735461"/>
            <a:ext cx="205740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 통과 조건 삭제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(글로벌 공유 누락)</a:t>
            </a:r>
            <a:endParaRPr lang="en-US" sz="1050" dirty="0"/>
          </a:p>
        </p:txBody>
      </p:sp>
      <p:sp>
        <p:nvSpPr>
          <p:cNvPr id="60" name="SK-11-text-59"/>
          <p:cNvSpPr/>
          <p:nvPr/>
        </p:nvSpPr>
        <p:spPr>
          <a:xfrm>
            <a:off x="4148137" y="2540198"/>
            <a:ext cx="41148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취했어야 할 조치</a:t>
            </a:r>
            <a:endParaRPr lang="en-US" sz="1050" dirty="0"/>
          </a:p>
        </p:txBody>
      </p:sp>
      <p:sp>
        <p:nvSpPr>
          <p:cNvPr id="61" name="SK-11-text-60"/>
          <p:cNvSpPr/>
          <p:nvPr/>
        </p:nvSpPr>
        <p:spPr>
          <a:xfrm>
            <a:off x="4048125" y="2768798"/>
            <a:ext cx="41910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 리전 동시 공유 및 공식 합의 절차 이행</a:t>
            </a:r>
            <a:endParaRPr lang="en-US" sz="1050" dirty="0"/>
          </a:p>
        </p:txBody>
      </p:sp>
      <p:sp>
        <p:nvSpPr>
          <p:cNvPr id="62" name="SK-11-text-61"/>
          <p:cNvSpPr/>
          <p:nvPr/>
        </p:nvSpPr>
        <p:spPr>
          <a:xfrm>
            <a:off x="4048125" y="2974479"/>
            <a:ext cx="43967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 통과를 삭제가 아닌 별도 완료 조건으로 유지</a:t>
            </a:r>
            <a:endParaRPr lang="en-US" sz="1050" dirty="0"/>
          </a:p>
        </p:txBody>
      </p:sp>
      <p:sp>
        <p:nvSpPr>
          <p:cNvPr id="63" name="SK-11-text-62"/>
          <p:cNvSpPr/>
          <p:nvPr/>
        </p:nvSpPr>
        <p:spPr>
          <a:xfrm>
            <a:off x="8420100" y="2502098"/>
            <a:ext cx="31623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효과</a:t>
            </a:r>
            <a:endParaRPr lang="en-US" sz="900" dirty="0"/>
          </a:p>
        </p:txBody>
      </p:sp>
      <p:sp>
        <p:nvSpPr>
          <p:cNvPr id="64" name="SK-11-text-63"/>
          <p:cNvSpPr/>
          <p:nvPr/>
        </p:nvSpPr>
        <p:spPr>
          <a:xfrm>
            <a:off x="8420100" y="2692598"/>
            <a:ext cx="37719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 미검증 방지 및 리전 간 개발 산출물 품질 통일</a:t>
            </a:r>
            <a:endParaRPr lang="en-US" sz="975" dirty="0"/>
          </a:p>
        </p:txBody>
      </p:sp>
      <p:sp>
        <p:nvSpPr>
          <p:cNvPr id="65" name="SK-11-text-64"/>
          <p:cNvSpPr/>
          <p:nvPr/>
        </p:nvSpPr>
        <p:spPr>
          <a:xfrm>
            <a:off x="876300" y="3514427"/>
            <a:ext cx="53848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5AEE"/>
                </a:solidFill>
              </a:rPr>
              <a:t>W14</a:t>
            </a:r>
            <a:endParaRPr lang="en-US" sz="1050" dirty="0"/>
          </a:p>
        </p:txBody>
      </p:sp>
      <p:sp>
        <p:nvSpPr>
          <p:cNvPr id="66" name="SK-11-text-65"/>
          <p:cNvSpPr/>
          <p:nvPr/>
        </p:nvSpPr>
        <p:spPr>
          <a:xfrm>
            <a:off x="847725" y="3771602"/>
            <a:ext cx="11277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04/11</a:t>
            </a:r>
            <a:endParaRPr lang="en-US" sz="900" dirty="0"/>
          </a:p>
        </p:txBody>
      </p:sp>
      <p:sp>
        <p:nvSpPr>
          <p:cNvPr id="67" name="SK-11-text-66"/>
          <p:cNvSpPr/>
          <p:nvPr/>
        </p:nvSpPr>
        <p:spPr>
          <a:xfrm>
            <a:off x="1854994" y="3370659"/>
            <a:ext cx="20574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관리 중단</a:t>
            </a:r>
            <a:endParaRPr lang="en-US" sz="1125" dirty="0"/>
          </a:p>
        </p:txBody>
      </p:sp>
      <p:sp>
        <p:nvSpPr>
          <p:cNvPr id="68" name="SK-11-text-67"/>
          <p:cNvSpPr/>
          <p:nvPr/>
        </p:nvSpPr>
        <p:spPr>
          <a:xfrm>
            <a:off x="1600200" y="3604022"/>
            <a:ext cx="205740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마지막 리스크 갱신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(이후 4개월 방치)</a:t>
            </a:r>
            <a:endParaRPr lang="en-US" sz="1050" dirty="0"/>
          </a:p>
        </p:txBody>
      </p:sp>
      <p:sp>
        <p:nvSpPr>
          <p:cNvPr id="69" name="SK-11-text-68"/>
          <p:cNvSpPr/>
          <p:nvPr/>
        </p:nvSpPr>
        <p:spPr>
          <a:xfrm>
            <a:off x="4148137" y="3408759"/>
            <a:ext cx="41148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취했어야 할 조치</a:t>
            </a:r>
            <a:endParaRPr lang="en-US" sz="1050" dirty="0"/>
          </a:p>
        </p:txBody>
      </p:sp>
      <p:sp>
        <p:nvSpPr>
          <p:cNvPr id="70" name="SK-11-text-69"/>
          <p:cNvSpPr/>
          <p:nvPr/>
        </p:nvSpPr>
        <p:spPr>
          <a:xfrm>
            <a:off x="4048125" y="3637359"/>
            <a:ext cx="41910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1회 정기 리스크 리뷰 세션 의무화</a:t>
            </a:r>
            <a:endParaRPr lang="en-US" sz="1050" dirty="0"/>
          </a:p>
        </p:txBody>
      </p:sp>
      <p:sp>
        <p:nvSpPr>
          <p:cNvPr id="71" name="SK-11-text-70"/>
          <p:cNvSpPr/>
          <p:nvPr/>
        </p:nvSpPr>
        <p:spPr>
          <a:xfrm>
            <a:off x="4048125" y="3843040"/>
            <a:ext cx="41910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등급 하향 시 데이터 기반 정량 근거 필수화</a:t>
            </a:r>
            <a:endParaRPr lang="en-US" sz="1050" dirty="0"/>
          </a:p>
        </p:txBody>
      </p:sp>
      <p:sp>
        <p:nvSpPr>
          <p:cNvPr id="72" name="SK-11-text-71"/>
          <p:cNvSpPr/>
          <p:nvPr/>
        </p:nvSpPr>
        <p:spPr>
          <a:xfrm>
            <a:off x="8420100" y="3370659"/>
            <a:ext cx="31623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효과</a:t>
            </a:r>
            <a:endParaRPr lang="en-US" sz="900" dirty="0"/>
          </a:p>
        </p:txBody>
      </p:sp>
      <p:sp>
        <p:nvSpPr>
          <p:cNvPr id="73" name="SK-11-text-72"/>
          <p:cNvSpPr/>
          <p:nvPr/>
        </p:nvSpPr>
        <p:spPr>
          <a:xfrm>
            <a:off x="8420100" y="3561159"/>
            <a:ext cx="37719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Helion EOL 등 외부 리스크 적시 등록 및 대응 가능</a:t>
            </a:r>
            <a:endParaRPr lang="en-US" sz="975" dirty="0"/>
          </a:p>
        </p:txBody>
      </p:sp>
      <p:sp>
        <p:nvSpPr>
          <p:cNvPr id="74" name="SK-11-text-73"/>
          <p:cNvSpPr/>
          <p:nvPr/>
        </p:nvSpPr>
        <p:spPr>
          <a:xfrm>
            <a:off x="876300" y="4382988"/>
            <a:ext cx="53848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5AEE"/>
                </a:solidFill>
              </a:rPr>
              <a:t>W18</a:t>
            </a:r>
            <a:endParaRPr lang="en-US" sz="1050" dirty="0"/>
          </a:p>
        </p:txBody>
      </p:sp>
      <p:sp>
        <p:nvSpPr>
          <p:cNvPr id="75" name="SK-11-text-74"/>
          <p:cNvSpPr/>
          <p:nvPr/>
        </p:nvSpPr>
        <p:spPr>
          <a:xfrm>
            <a:off x="828675" y="4640163"/>
            <a:ext cx="11277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05/05</a:t>
            </a:r>
            <a:endParaRPr lang="en-US" sz="900" dirty="0"/>
          </a:p>
        </p:txBody>
      </p:sp>
      <p:sp>
        <p:nvSpPr>
          <p:cNvPr id="76" name="SK-11-text-75"/>
          <p:cNvSpPr/>
          <p:nvPr/>
        </p:nvSpPr>
        <p:spPr>
          <a:xfrm>
            <a:off x="1854994" y="4239220"/>
            <a:ext cx="20574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보고 자동화</a:t>
            </a:r>
            <a:endParaRPr lang="en-US" sz="1125" dirty="0"/>
          </a:p>
        </p:txBody>
      </p:sp>
      <p:sp>
        <p:nvSpPr>
          <p:cNvPr id="77" name="SK-11-text-76"/>
          <p:cNvSpPr/>
          <p:nvPr/>
        </p:nvSpPr>
        <p:spPr>
          <a:xfrm>
            <a:off x="1600200" y="4472583"/>
            <a:ext cx="205740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검토 없는 자동 배포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(16주 Green 반복)</a:t>
            </a:r>
            <a:endParaRPr lang="en-US" sz="1050" dirty="0"/>
          </a:p>
        </p:txBody>
      </p:sp>
      <p:sp>
        <p:nvSpPr>
          <p:cNvPr id="78" name="SK-11-text-77"/>
          <p:cNvSpPr/>
          <p:nvPr/>
        </p:nvSpPr>
        <p:spPr>
          <a:xfrm>
            <a:off x="4148137" y="4277320"/>
            <a:ext cx="41148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취했어야 할 조치</a:t>
            </a:r>
            <a:endParaRPr lang="en-US" sz="1050" dirty="0"/>
          </a:p>
        </p:txBody>
      </p:sp>
      <p:sp>
        <p:nvSpPr>
          <p:cNvPr id="79" name="SK-11-text-78"/>
          <p:cNvSpPr/>
          <p:nvPr/>
        </p:nvSpPr>
        <p:spPr>
          <a:xfrm>
            <a:off x="4048125" y="4505920"/>
            <a:ext cx="51968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보고서 인간 검토자 지정(RACI) 및 승인 프로세스</a:t>
            </a:r>
            <a:endParaRPr lang="en-US" sz="1050" dirty="0"/>
          </a:p>
        </p:txBody>
      </p:sp>
      <p:sp>
        <p:nvSpPr>
          <p:cNvPr id="80" name="SK-11-text-79"/>
          <p:cNvSpPr/>
          <p:nvPr/>
        </p:nvSpPr>
        <p:spPr>
          <a:xfrm>
            <a:off x="4048125" y="4711601"/>
            <a:ext cx="43967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참조 데이터 범위에 파일럿/편익 데이터 강제 포함</a:t>
            </a:r>
            <a:endParaRPr lang="en-US" sz="1050" dirty="0"/>
          </a:p>
        </p:txBody>
      </p:sp>
      <p:sp>
        <p:nvSpPr>
          <p:cNvPr id="81" name="SK-11-text-80"/>
          <p:cNvSpPr/>
          <p:nvPr/>
        </p:nvSpPr>
        <p:spPr>
          <a:xfrm>
            <a:off x="8420100" y="4239220"/>
            <a:ext cx="31623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효과</a:t>
            </a:r>
            <a:endParaRPr lang="en-US" sz="900" dirty="0"/>
          </a:p>
        </p:txBody>
      </p:sp>
      <p:sp>
        <p:nvSpPr>
          <p:cNvPr id="82" name="SK-11-text-81"/>
          <p:cNvSpPr/>
          <p:nvPr/>
        </p:nvSpPr>
        <p:spPr>
          <a:xfrm>
            <a:off x="8420100" y="4429720"/>
            <a:ext cx="37719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"전 지표 정상"이라는 허위 보고 체계의 고착화 방지</a:t>
            </a:r>
            <a:endParaRPr lang="en-US" sz="975" dirty="0"/>
          </a:p>
        </p:txBody>
      </p:sp>
      <p:sp>
        <p:nvSpPr>
          <p:cNvPr id="83" name="SK-11-text-82"/>
          <p:cNvSpPr/>
          <p:nvPr/>
        </p:nvSpPr>
        <p:spPr>
          <a:xfrm>
            <a:off x="876300" y="5251549"/>
            <a:ext cx="53848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5AEE"/>
                </a:solidFill>
              </a:rPr>
              <a:t>W21</a:t>
            </a:r>
            <a:endParaRPr lang="en-US" sz="1050" dirty="0"/>
          </a:p>
        </p:txBody>
      </p:sp>
      <p:sp>
        <p:nvSpPr>
          <p:cNvPr id="84" name="SK-11-text-83"/>
          <p:cNvSpPr/>
          <p:nvPr/>
        </p:nvSpPr>
        <p:spPr>
          <a:xfrm>
            <a:off x="828675" y="5508724"/>
            <a:ext cx="11277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05/29</a:t>
            </a:r>
            <a:endParaRPr lang="en-US" sz="900" dirty="0"/>
          </a:p>
        </p:txBody>
      </p:sp>
      <p:sp>
        <p:nvSpPr>
          <p:cNvPr id="85" name="SK-11-text-84"/>
          <p:cNvSpPr/>
          <p:nvPr/>
        </p:nvSpPr>
        <p:spPr>
          <a:xfrm>
            <a:off x="1854994" y="5107781"/>
            <a:ext cx="20574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비공식 의사결정</a:t>
            </a:r>
            <a:endParaRPr lang="en-US" sz="1125" dirty="0"/>
          </a:p>
        </p:txBody>
      </p:sp>
      <p:sp>
        <p:nvSpPr>
          <p:cNvPr id="86" name="SK-11-text-85"/>
          <p:cNvSpPr/>
          <p:nvPr/>
        </p:nvSpPr>
        <p:spPr>
          <a:xfrm>
            <a:off x="1600200" y="5341144"/>
            <a:ext cx="205740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메신저로 주요 기능 연기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(비용 영향 무시)</a:t>
            </a:r>
            <a:endParaRPr lang="en-US" sz="1050" dirty="0"/>
          </a:p>
        </p:txBody>
      </p:sp>
      <p:sp>
        <p:nvSpPr>
          <p:cNvPr id="87" name="SK-11-text-86"/>
          <p:cNvSpPr/>
          <p:nvPr/>
        </p:nvSpPr>
        <p:spPr>
          <a:xfrm>
            <a:off x="4148137" y="5145881"/>
            <a:ext cx="41148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취했어야 할 조치</a:t>
            </a:r>
            <a:endParaRPr lang="en-US" sz="1050" dirty="0"/>
          </a:p>
        </p:txBody>
      </p:sp>
      <p:sp>
        <p:nvSpPr>
          <p:cNvPr id="88" name="SK-11-text-87"/>
          <p:cNvSpPr/>
          <p:nvPr/>
        </p:nvSpPr>
        <p:spPr>
          <a:xfrm>
            <a:off x="4048125" y="5374481"/>
            <a:ext cx="43967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비공식 결정의 정식 CR 등록 및 영향 평가 실시</a:t>
            </a:r>
            <a:endParaRPr lang="en-US" sz="1050" dirty="0"/>
          </a:p>
        </p:txBody>
      </p:sp>
      <p:sp>
        <p:nvSpPr>
          <p:cNvPr id="89" name="SK-11-text-88"/>
          <p:cNvSpPr/>
          <p:nvPr/>
        </p:nvSpPr>
        <p:spPr>
          <a:xfrm>
            <a:off x="4048125" y="5580162"/>
            <a:ext cx="48768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예산 Baseline 갱신 및 재무 리스크 에스컬레이션</a:t>
            </a:r>
            <a:endParaRPr lang="en-US" sz="1050" dirty="0"/>
          </a:p>
        </p:txBody>
      </p:sp>
      <p:sp>
        <p:nvSpPr>
          <p:cNvPr id="90" name="SK-11-text-89"/>
          <p:cNvSpPr/>
          <p:nvPr/>
        </p:nvSpPr>
        <p:spPr>
          <a:xfrm>
            <a:off x="8420100" y="5107781"/>
            <a:ext cx="31623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효과</a:t>
            </a:r>
            <a:endParaRPr lang="en-US" sz="900" dirty="0"/>
          </a:p>
        </p:txBody>
      </p:sp>
      <p:sp>
        <p:nvSpPr>
          <p:cNvPr id="91" name="SK-11-text-90"/>
          <p:cNvSpPr/>
          <p:nvPr/>
        </p:nvSpPr>
        <p:spPr>
          <a:xfrm>
            <a:off x="8420100" y="5298281"/>
            <a:ext cx="37719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인프라 비용 폭증 사전 인지 및 가용 예산 통제</a:t>
            </a:r>
            <a:endParaRPr lang="en-US" sz="975" dirty="0"/>
          </a:p>
        </p:txBody>
      </p:sp>
      <p:sp>
        <p:nvSpPr>
          <p:cNvPr id="92" name="SK-11-text-91"/>
          <p:cNvSpPr/>
          <p:nvPr/>
        </p:nvSpPr>
        <p:spPr>
          <a:xfrm>
            <a:off x="1190625" y="6062067"/>
            <a:ext cx="86201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6B6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CORE LESSON: 거버넌스는 자동화될 수 없다</a:t>
            </a:r>
            <a:endParaRPr lang="en-US" sz="1050" dirty="0"/>
          </a:p>
        </p:txBody>
      </p:sp>
      <p:sp>
        <p:nvSpPr>
          <p:cNvPr id="93" name="SK-11-text-92"/>
          <p:cNvSpPr/>
          <p:nvPr/>
        </p:nvSpPr>
        <p:spPr>
          <a:xfrm>
            <a:off x="1190625" y="6262092"/>
            <a:ext cx="1100137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AI는 효율성을 강화하지만, </a:t>
            </a:r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질문을 설계하고 가치를 판단하는 Mindset</a:t>
            </a:r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부재할 때 실패를 가장 효율적으로 은폐하는 도구가 됨을 증명.</a:t>
            </a:r>
            <a:endParaRPr lang="en-US" sz="11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2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2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2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5" name="SK-12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pic>
        <p:nvPicPr>
          <p:cNvPr id="6" name="SK-12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504950"/>
            <a:ext cx="5162550" cy="2733675"/>
          </a:xfrm>
          <a:prstGeom prst="rect">
            <a:avLst/>
          </a:prstGeom>
        </p:spPr>
      </p:pic>
      <p:pic>
        <p:nvPicPr>
          <p:cNvPr id="7" name="SK-12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619250"/>
            <a:ext cx="4933950" cy="361950"/>
          </a:xfrm>
          <a:prstGeom prst="rect">
            <a:avLst/>
          </a:prstGeom>
        </p:spPr>
      </p:pic>
      <p:pic>
        <p:nvPicPr>
          <p:cNvPr id="8" name="SK-12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1666875"/>
            <a:ext cx="238125" cy="190500"/>
          </a:xfrm>
          <a:prstGeom prst="rect">
            <a:avLst/>
          </a:prstGeom>
        </p:spPr>
      </p:pic>
      <p:pic>
        <p:nvPicPr>
          <p:cNvPr id="9" name="SK-12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00600" y="1638300"/>
            <a:ext cx="819150" cy="247650"/>
          </a:xfrm>
          <a:prstGeom prst="rect">
            <a:avLst/>
          </a:prstGeom>
        </p:spPr>
      </p:pic>
      <p:pic>
        <p:nvPicPr>
          <p:cNvPr id="10" name="SK-12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3257550"/>
            <a:ext cx="4933950" cy="866775"/>
          </a:xfrm>
          <a:prstGeom prst="rect">
            <a:avLst/>
          </a:prstGeom>
        </p:spPr>
      </p:pic>
      <p:pic>
        <p:nvPicPr>
          <p:cNvPr id="11" name="SK-12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57950" y="1504950"/>
            <a:ext cx="5162550" cy="2733675"/>
          </a:xfrm>
          <a:prstGeom prst="rect">
            <a:avLst/>
          </a:prstGeom>
        </p:spPr>
      </p:pic>
      <p:pic>
        <p:nvPicPr>
          <p:cNvPr id="12" name="SK-12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72250" y="1619250"/>
            <a:ext cx="4933950" cy="361950"/>
          </a:xfrm>
          <a:prstGeom prst="rect">
            <a:avLst/>
          </a:prstGeom>
        </p:spPr>
      </p:pic>
      <p:pic>
        <p:nvPicPr>
          <p:cNvPr id="13" name="SK-12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72250" y="1666875"/>
            <a:ext cx="238125" cy="190500"/>
          </a:xfrm>
          <a:prstGeom prst="rect">
            <a:avLst/>
          </a:prstGeom>
        </p:spPr>
      </p:pic>
      <p:pic>
        <p:nvPicPr>
          <p:cNvPr id="14" name="SK-12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496550" y="1638300"/>
            <a:ext cx="1009650" cy="247650"/>
          </a:xfrm>
          <a:prstGeom prst="rect">
            <a:avLst/>
          </a:prstGeom>
        </p:spPr>
      </p:pic>
      <p:pic>
        <p:nvPicPr>
          <p:cNvPr id="15" name="SK-12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72250" y="3257550"/>
            <a:ext cx="4933950" cy="866775"/>
          </a:xfrm>
          <a:prstGeom prst="rect">
            <a:avLst/>
          </a:prstGeom>
        </p:spPr>
      </p:pic>
      <p:pic>
        <p:nvPicPr>
          <p:cNvPr id="16" name="SK-12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4467225"/>
            <a:ext cx="11049000" cy="1605855"/>
          </a:xfrm>
          <a:prstGeom prst="rect">
            <a:avLst/>
          </a:prstGeom>
        </p:spPr>
      </p:pic>
      <p:pic>
        <p:nvPicPr>
          <p:cNvPr id="17" name="SK-12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5800" y="4619625"/>
            <a:ext cx="190500" cy="152400"/>
          </a:xfrm>
          <a:prstGeom prst="rect">
            <a:avLst/>
          </a:prstGeom>
        </p:spPr>
      </p:pic>
      <p:pic>
        <p:nvPicPr>
          <p:cNvPr id="18" name="SK-12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5800" y="4924425"/>
            <a:ext cx="2619375" cy="1034355"/>
          </a:xfrm>
          <a:prstGeom prst="rect">
            <a:avLst/>
          </a:prstGeom>
        </p:spPr>
      </p:pic>
      <p:pic>
        <p:nvPicPr>
          <p:cNvPr id="19" name="SK-12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419475" y="4924425"/>
            <a:ext cx="2619375" cy="1034355"/>
          </a:xfrm>
          <a:prstGeom prst="rect">
            <a:avLst/>
          </a:prstGeom>
        </p:spPr>
      </p:pic>
      <p:pic>
        <p:nvPicPr>
          <p:cNvPr id="20" name="SK-12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153150" y="4924425"/>
            <a:ext cx="2619375" cy="1034355"/>
          </a:xfrm>
          <a:prstGeom prst="rect">
            <a:avLst/>
          </a:prstGeom>
        </p:spPr>
      </p:pic>
      <p:pic>
        <p:nvPicPr>
          <p:cNvPr id="21" name="SK-12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886825" y="4924425"/>
            <a:ext cx="2619375" cy="1034355"/>
          </a:xfrm>
          <a:prstGeom prst="rect">
            <a:avLst/>
          </a:prstGeom>
        </p:spPr>
      </p:pic>
      <p:sp>
        <p:nvSpPr>
          <p:cNvPr id="22" name="SK-12-text-21"/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23" name="SK-12-text-22"/>
          <p:cNvSpPr/>
          <p:nvPr/>
        </p:nvSpPr>
        <p:spPr>
          <a:xfrm>
            <a:off x="571500" y="733425"/>
            <a:ext cx="11620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D-1 &amp; D-2. AI POC 구현 계획 및 시연 시나리오</a:t>
            </a:r>
            <a:endParaRPr lang="en-US" sz="2550" dirty="0"/>
          </a:p>
        </p:txBody>
      </p:sp>
      <p:sp>
        <p:nvSpPr>
          <p:cNvPr id="24" name="SK-12-text-23"/>
          <p:cNvSpPr/>
          <p:nvPr/>
        </p:nvSpPr>
        <p:spPr>
          <a:xfrm>
            <a:off x="1019175" y="1619250"/>
            <a:ext cx="44386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Legacy AI Assistant</a:t>
            </a:r>
            <a:endParaRPr lang="en-US" sz="1500" dirty="0"/>
          </a:p>
        </p:txBody>
      </p:sp>
      <p:sp>
        <p:nvSpPr>
          <p:cNvPr id="25" name="SK-12-text-24"/>
          <p:cNvSpPr/>
          <p:nvPr/>
        </p:nvSpPr>
        <p:spPr>
          <a:xfrm>
            <a:off x="4895850" y="1638300"/>
            <a:ext cx="102356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ALL GREEN</a:t>
            </a:r>
            <a:endParaRPr lang="en-US" sz="900" dirty="0"/>
          </a:p>
        </p:txBody>
      </p:sp>
      <p:sp>
        <p:nvSpPr>
          <p:cNvPr id="26" name="SK-12-text-25"/>
          <p:cNvSpPr/>
          <p:nvPr/>
        </p:nvSpPr>
        <p:spPr>
          <a:xfrm>
            <a:off x="685800" y="2133600"/>
            <a:ext cx="5010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REFERENCE SCOPE</a:t>
            </a:r>
            <a:endParaRPr lang="en-US" sz="900" dirty="0"/>
          </a:p>
        </p:txBody>
      </p:sp>
      <p:sp>
        <p:nvSpPr>
          <p:cNvPr id="27" name="SK-12-text-26"/>
          <p:cNvSpPr/>
          <p:nvPr/>
        </p:nvSpPr>
        <p:spPr>
          <a:xfrm>
            <a:off x="685800" y="2343150"/>
            <a:ext cx="550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SC-01 ~ SC-08 (Output Only)</a:t>
            </a:r>
            <a:endParaRPr lang="en-US" sz="1200" dirty="0"/>
          </a:p>
        </p:txBody>
      </p:sp>
      <p:sp>
        <p:nvSpPr>
          <p:cNvPr id="28" name="SK-12-text-27"/>
          <p:cNvSpPr/>
          <p:nvPr/>
        </p:nvSpPr>
        <p:spPr>
          <a:xfrm>
            <a:off x="685800" y="2667000"/>
            <a:ext cx="5010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METRIC (W33)</a:t>
            </a:r>
            <a:endParaRPr lang="en-US" sz="900" dirty="0"/>
          </a:p>
        </p:txBody>
      </p:sp>
      <p:sp>
        <p:nvSpPr>
          <p:cNvPr id="29" name="SK-12-text-28"/>
          <p:cNvSpPr/>
          <p:nvPr/>
        </p:nvSpPr>
        <p:spPr>
          <a:xfrm>
            <a:off x="685800" y="2876550"/>
            <a:ext cx="6294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SPI 1.02 / CPI 0.98 (Dev Only)</a:t>
            </a:r>
            <a:endParaRPr lang="en-US" sz="1200" dirty="0"/>
          </a:p>
        </p:txBody>
      </p:sp>
      <p:sp>
        <p:nvSpPr>
          <p:cNvPr id="30" name="SK-12-text-29"/>
          <p:cNvSpPr/>
          <p:nvPr/>
        </p:nvSpPr>
        <p:spPr>
          <a:xfrm>
            <a:off x="800100" y="3371850"/>
            <a:ext cx="47815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결과: 정상 (Blindness)</a:t>
            </a:r>
            <a:endParaRPr lang="en-US" sz="1050" dirty="0"/>
          </a:p>
        </p:txBody>
      </p:sp>
      <p:sp>
        <p:nvSpPr>
          <p:cNvPr id="31" name="SK-12-text-30"/>
          <p:cNvSpPr/>
          <p:nvPr/>
        </p:nvSpPr>
        <p:spPr>
          <a:xfrm>
            <a:off x="800100" y="3609975"/>
            <a:ext cx="47053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"모든 개발 지표가 계획 대비 정상이며, High 리스크가 식별되지 않았습니다. 프로젝트를 지속하십시오."</a:t>
            </a:r>
            <a:endParaRPr lang="en-US" sz="1050" dirty="0"/>
          </a:p>
        </p:txBody>
      </p:sp>
      <p:sp>
        <p:nvSpPr>
          <p:cNvPr id="32" name="SK-12-text-31"/>
          <p:cNvSpPr/>
          <p:nvPr/>
        </p:nvSpPr>
        <p:spPr>
          <a:xfrm>
            <a:off x="5962650" y="1504950"/>
            <a:ext cx="662940" cy="273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9CA3AF"/>
                </a:solidFill>
              </a:rPr>
              <a:t>VS</a:t>
            </a:r>
            <a:endParaRPr lang="en-US" sz="1800" dirty="0"/>
          </a:p>
        </p:txBody>
      </p:sp>
      <p:sp>
        <p:nvSpPr>
          <p:cNvPr id="33" name="SK-12-text-32"/>
          <p:cNvSpPr/>
          <p:nvPr/>
        </p:nvSpPr>
        <p:spPr>
          <a:xfrm>
            <a:off x="6905625" y="1619250"/>
            <a:ext cx="4667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Value Guardian Agent</a:t>
            </a:r>
            <a:endParaRPr lang="en-US" sz="1500" dirty="0"/>
          </a:p>
        </p:txBody>
      </p:sp>
      <p:sp>
        <p:nvSpPr>
          <p:cNvPr id="34" name="SK-12-text-33"/>
          <p:cNvSpPr/>
          <p:nvPr/>
        </p:nvSpPr>
        <p:spPr>
          <a:xfrm>
            <a:off x="10591800" y="1638300"/>
            <a:ext cx="15228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 RISK</a:t>
            </a:r>
            <a:endParaRPr lang="en-US" sz="900" dirty="0"/>
          </a:p>
        </p:txBody>
      </p:sp>
      <p:sp>
        <p:nvSpPr>
          <p:cNvPr id="35" name="SK-12-text-34"/>
          <p:cNvSpPr/>
          <p:nvPr/>
        </p:nvSpPr>
        <p:spPr>
          <a:xfrm>
            <a:off x="6572250" y="2133600"/>
            <a:ext cx="5010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REFERENCE SCOPE</a:t>
            </a:r>
            <a:endParaRPr lang="en-US" sz="900" dirty="0"/>
          </a:p>
        </p:txBody>
      </p:sp>
      <p:sp>
        <p:nvSpPr>
          <p:cNvPr id="36" name="SK-12-text-35"/>
          <p:cNvSpPr/>
          <p:nvPr/>
        </p:nvSpPr>
        <p:spPr>
          <a:xfrm>
            <a:off x="6572250" y="2343150"/>
            <a:ext cx="5619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 + BEN + Pilot Telemetry + Infra Cost</a:t>
            </a:r>
            <a:endParaRPr lang="en-US" sz="1200" dirty="0"/>
          </a:p>
        </p:txBody>
      </p:sp>
      <p:sp>
        <p:nvSpPr>
          <p:cNvPr id="37" name="SK-12-text-36"/>
          <p:cNvSpPr/>
          <p:nvPr/>
        </p:nvSpPr>
        <p:spPr>
          <a:xfrm>
            <a:off x="6572250" y="2667000"/>
            <a:ext cx="5010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METRIC (W33)</a:t>
            </a:r>
            <a:endParaRPr lang="en-US" sz="900" dirty="0"/>
          </a:p>
        </p:txBody>
      </p:sp>
      <p:sp>
        <p:nvSpPr>
          <p:cNvPr id="38" name="SK-12-text-37"/>
          <p:cNvSpPr/>
          <p:nvPr/>
        </p:nvSpPr>
        <p:spPr>
          <a:xfrm>
            <a:off x="6572250" y="2876550"/>
            <a:ext cx="556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무개입완주율 6.1% / 실제 CPI 0.944</a:t>
            </a:r>
            <a:endParaRPr lang="en-US" sz="1200" dirty="0"/>
          </a:p>
        </p:txBody>
      </p:sp>
      <p:sp>
        <p:nvSpPr>
          <p:cNvPr id="39" name="SK-12-text-38"/>
          <p:cNvSpPr/>
          <p:nvPr/>
        </p:nvSpPr>
        <p:spPr>
          <a:xfrm>
            <a:off x="6686550" y="3371850"/>
            <a:ext cx="47815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결과: 위기 (Insight)</a:t>
            </a:r>
            <a:endParaRPr lang="en-US" sz="1050" dirty="0"/>
          </a:p>
        </p:txBody>
      </p:sp>
      <p:sp>
        <p:nvSpPr>
          <p:cNvPr id="40" name="SK-12-text-39"/>
          <p:cNvSpPr/>
          <p:nvPr/>
        </p:nvSpPr>
        <p:spPr>
          <a:xfrm>
            <a:off x="6686550" y="3609975"/>
            <a:ext cx="47053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"보고 지표와 실사업장 데이터 간 34.8%p 괴리 발견. 가치 실현 불가능 상태이며 긴급 거버넌스 소집을 권고합니다."</a:t>
            </a:r>
            <a:endParaRPr lang="en-US" sz="1050" dirty="0"/>
          </a:p>
        </p:txBody>
      </p:sp>
      <p:sp>
        <p:nvSpPr>
          <p:cNvPr id="41" name="SK-12-text-40"/>
          <p:cNvSpPr/>
          <p:nvPr/>
        </p:nvSpPr>
        <p:spPr>
          <a:xfrm>
            <a:off x="952500" y="4581525"/>
            <a:ext cx="1082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POC 구현 계획 및 시연 단계</a:t>
            </a:r>
            <a:endParaRPr lang="en-US" sz="1200" dirty="0"/>
          </a:p>
        </p:txBody>
      </p:sp>
      <p:sp>
        <p:nvSpPr>
          <p:cNvPr id="42" name="SK-12-text-41"/>
          <p:cNvSpPr/>
          <p:nvPr/>
        </p:nvSpPr>
        <p:spPr>
          <a:xfrm>
            <a:off x="800100" y="5038725"/>
            <a:ext cx="24669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05AEE"/>
                </a:solidFill>
              </a:rPr>
              <a:t>STEP 01</a:t>
            </a:r>
            <a:endParaRPr lang="en-US" sz="900" dirty="0"/>
          </a:p>
        </p:txBody>
      </p:sp>
      <p:sp>
        <p:nvSpPr>
          <p:cNvPr id="43" name="SK-12-text-42"/>
          <p:cNvSpPr/>
          <p:nvPr/>
        </p:nvSpPr>
        <p:spPr>
          <a:xfrm>
            <a:off x="800100" y="5267325"/>
            <a:ext cx="24669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수집 및 정제</a:t>
            </a:r>
            <a:endParaRPr lang="en-US" sz="1050" dirty="0"/>
          </a:p>
        </p:txBody>
      </p:sp>
      <p:sp>
        <p:nvSpPr>
          <p:cNvPr id="44" name="SK-12-text-43"/>
          <p:cNvSpPr/>
          <p:nvPr/>
        </p:nvSpPr>
        <p:spPr>
          <a:xfrm>
            <a:off x="800100" y="5524500"/>
            <a:ext cx="239077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W33 당시의 Jira, EVM, 텔레메트리, 메신저 로그 등 원천 데이터 Ingestion.</a:t>
            </a:r>
            <a:endParaRPr lang="en-US" sz="900" dirty="0"/>
          </a:p>
        </p:txBody>
      </p:sp>
      <p:sp>
        <p:nvSpPr>
          <p:cNvPr id="45" name="SK-12-text-44"/>
          <p:cNvSpPr/>
          <p:nvPr/>
        </p:nvSpPr>
        <p:spPr>
          <a:xfrm>
            <a:off x="3533775" y="5038725"/>
            <a:ext cx="24669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05AEE"/>
                </a:solidFill>
              </a:rPr>
              <a:t>STEP 02</a:t>
            </a:r>
            <a:endParaRPr lang="en-US" sz="900" dirty="0"/>
          </a:p>
        </p:txBody>
      </p:sp>
      <p:sp>
        <p:nvSpPr>
          <p:cNvPr id="46" name="SK-12-text-45"/>
          <p:cNvSpPr/>
          <p:nvPr/>
        </p:nvSpPr>
        <p:spPr>
          <a:xfrm>
            <a:off x="3533775" y="5267325"/>
            <a:ext cx="24669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Agent 병렬 구동</a:t>
            </a:r>
            <a:endParaRPr lang="en-US" sz="1050" dirty="0"/>
          </a:p>
        </p:txBody>
      </p:sp>
      <p:sp>
        <p:nvSpPr>
          <p:cNvPr id="47" name="SK-12-text-46"/>
          <p:cNvSpPr/>
          <p:nvPr/>
        </p:nvSpPr>
        <p:spPr>
          <a:xfrm>
            <a:off x="3533775" y="5524500"/>
            <a:ext cx="239077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AI와 Value Guardian을 동일 시점 데이터로 독립 구동 및 리포트 생성.</a:t>
            </a:r>
            <a:endParaRPr lang="en-US" sz="900" dirty="0"/>
          </a:p>
        </p:txBody>
      </p:sp>
      <p:sp>
        <p:nvSpPr>
          <p:cNvPr id="48" name="SK-12-text-47"/>
          <p:cNvSpPr/>
          <p:nvPr/>
        </p:nvSpPr>
        <p:spPr>
          <a:xfrm>
            <a:off x="6267450" y="5038725"/>
            <a:ext cx="24669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05AEE"/>
                </a:solidFill>
              </a:rPr>
              <a:t>STEP 03</a:t>
            </a:r>
            <a:endParaRPr lang="en-US" sz="900" dirty="0"/>
          </a:p>
        </p:txBody>
      </p:sp>
      <p:sp>
        <p:nvSpPr>
          <p:cNvPr id="49" name="SK-12-text-48"/>
          <p:cNvSpPr/>
          <p:nvPr/>
        </p:nvSpPr>
        <p:spPr>
          <a:xfrm>
            <a:off x="6267450" y="5267325"/>
            <a:ext cx="24669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괴리(Gap) 분석 시연</a:t>
            </a:r>
            <a:endParaRPr lang="en-US" sz="1050" dirty="0"/>
          </a:p>
        </p:txBody>
      </p:sp>
      <p:sp>
        <p:nvSpPr>
          <p:cNvPr id="50" name="SK-12-text-49"/>
          <p:cNvSpPr/>
          <p:nvPr/>
        </p:nvSpPr>
        <p:spPr>
          <a:xfrm>
            <a:off x="6267450" y="5524500"/>
            <a:ext cx="239077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Integrity Checker가 어떻게 보고서의 허구성을 찾아내는지 시각화 비교.</a:t>
            </a:r>
            <a:endParaRPr lang="en-US" sz="900" dirty="0"/>
          </a:p>
        </p:txBody>
      </p:sp>
      <p:sp>
        <p:nvSpPr>
          <p:cNvPr id="51" name="SK-12-text-50"/>
          <p:cNvSpPr/>
          <p:nvPr/>
        </p:nvSpPr>
        <p:spPr>
          <a:xfrm>
            <a:off x="9001125" y="5038725"/>
            <a:ext cx="24669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05AEE"/>
                </a:solidFill>
              </a:rPr>
              <a:t>STEP 04</a:t>
            </a:r>
            <a:endParaRPr lang="en-US" sz="900" dirty="0"/>
          </a:p>
        </p:txBody>
      </p:sp>
      <p:sp>
        <p:nvSpPr>
          <p:cNvPr id="52" name="SK-12-text-51"/>
          <p:cNvSpPr/>
          <p:nvPr/>
        </p:nvSpPr>
        <p:spPr>
          <a:xfrm>
            <a:off x="9001125" y="5267325"/>
            <a:ext cx="24669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에스컬레이션 검증</a:t>
            </a:r>
            <a:endParaRPr lang="en-US" sz="1050" dirty="0"/>
          </a:p>
        </p:txBody>
      </p:sp>
      <p:sp>
        <p:nvSpPr>
          <p:cNvPr id="53" name="SK-12-text-52"/>
          <p:cNvSpPr/>
          <p:nvPr/>
        </p:nvSpPr>
        <p:spPr>
          <a:xfrm>
            <a:off x="9001125" y="5524500"/>
            <a:ext cx="239077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임계치 이탈 시 스폰서에게 자동 알림 및 CR 초안 생성 기능 실효성 확인.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3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3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3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04800"/>
            <a:ext cx="2122289" cy="257175"/>
          </a:xfrm>
          <a:prstGeom prst="rect">
            <a:avLst/>
          </a:prstGeom>
        </p:spPr>
      </p:pic>
      <p:pic>
        <p:nvPicPr>
          <p:cNvPr id="5" name="SK-13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428625"/>
            <a:ext cx="8812411" cy="9525"/>
          </a:xfrm>
          <a:prstGeom prst="rect">
            <a:avLst/>
          </a:prstGeom>
        </p:spPr>
      </p:pic>
      <p:pic>
        <p:nvPicPr>
          <p:cNvPr id="6" name="SK-13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333500"/>
            <a:ext cx="5410200" cy="1943100"/>
          </a:xfrm>
          <a:prstGeom prst="rect">
            <a:avLst/>
          </a:prstGeom>
        </p:spPr>
      </p:pic>
      <p:pic>
        <p:nvPicPr>
          <p:cNvPr id="7" name="SK-13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485900"/>
            <a:ext cx="5029200" cy="361950"/>
          </a:xfrm>
          <a:prstGeom prst="rect">
            <a:avLst/>
          </a:prstGeom>
        </p:spPr>
      </p:pic>
      <p:pic>
        <p:nvPicPr>
          <p:cNvPr id="8" name="SK-13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1533525"/>
            <a:ext cx="238125" cy="190500"/>
          </a:xfrm>
          <a:prstGeom prst="rect">
            <a:avLst/>
          </a:prstGeom>
        </p:spPr>
      </p:pic>
      <p:pic>
        <p:nvPicPr>
          <p:cNvPr id="9" name="SK-13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1943100"/>
            <a:ext cx="5029200" cy="342900"/>
          </a:xfrm>
          <a:prstGeom prst="rect">
            <a:avLst/>
          </a:prstGeom>
        </p:spPr>
      </p:pic>
      <p:pic>
        <p:nvPicPr>
          <p:cNvPr id="10" name="SK-13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2362200"/>
            <a:ext cx="5029200" cy="342900"/>
          </a:xfrm>
          <a:prstGeom prst="rect">
            <a:avLst/>
          </a:prstGeom>
        </p:spPr>
      </p:pic>
      <p:pic>
        <p:nvPicPr>
          <p:cNvPr id="11" name="SK-13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2781300"/>
            <a:ext cx="5029200" cy="342900"/>
          </a:xfrm>
          <a:prstGeom prst="rect">
            <a:avLst/>
          </a:prstGeom>
        </p:spPr>
      </p:pic>
      <p:pic>
        <p:nvPicPr>
          <p:cNvPr id="12" name="SK-13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3429000"/>
            <a:ext cx="5410200" cy="3124200"/>
          </a:xfrm>
          <a:prstGeom prst="rect">
            <a:avLst/>
          </a:prstGeom>
        </p:spPr>
      </p:pic>
      <p:pic>
        <p:nvPicPr>
          <p:cNvPr id="13" name="SK-13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2000" y="3581400"/>
            <a:ext cx="5029200" cy="361950"/>
          </a:xfrm>
          <a:prstGeom prst="rect">
            <a:avLst/>
          </a:prstGeom>
        </p:spPr>
      </p:pic>
      <p:pic>
        <p:nvPicPr>
          <p:cNvPr id="14" name="SK-13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2000" y="3629025"/>
            <a:ext cx="238125" cy="190500"/>
          </a:xfrm>
          <a:prstGeom prst="rect">
            <a:avLst/>
          </a:prstGeom>
        </p:spPr>
      </p:pic>
      <p:pic>
        <p:nvPicPr>
          <p:cNvPr id="15" name="SK-13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2000" y="4038600"/>
            <a:ext cx="762000" cy="352425"/>
          </a:xfrm>
          <a:prstGeom prst="rect">
            <a:avLst/>
          </a:prstGeom>
        </p:spPr>
      </p:pic>
      <p:pic>
        <p:nvPicPr>
          <p:cNvPr id="16" name="SK-13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24000" y="4038600"/>
            <a:ext cx="3124200" cy="352425"/>
          </a:xfrm>
          <a:prstGeom prst="rect">
            <a:avLst/>
          </a:prstGeom>
        </p:spPr>
      </p:pic>
      <p:pic>
        <p:nvPicPr>
          <p:cNvPr id="17" name="SK-13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648200" y="4038600"/>
            <a:ext cx="1143000" cy="352425"/>
          </a:xfrm>
          <a:prstGeom prst="rect">
            <a:avLst/>
          </a:prstGeom>
        </p:spPr>
      </p:pic>
      <p:pic>
        <p:nvPicPr>
          <p:cNvPr id="18" name="SK-13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2000" y="4391025"/>
            <a:ext cx="762000" cy="401836"/>
          </a:xfrm>
          <a:prstGeom prst="rect">
            <a:avLst/>
          </a:prstGeom>
        </p:spPr>
      </p:pic>
      <p:pic>
        <p:nvPicPr>
          <p:cNvPr id="19" name="SK-13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524000" y="4391025"/>
            <a:ext cx="3124200" cy="401836"/>
          </a:xfrm>
          <a:prstGeom prst="rect">
            <a:avLst/>
          </a:prstGeom>
        </p:spPr>
      </p:pic>
      <p:pic>
        <p:nvPicPr>
          <p:cNvPr id="20" name="SK-13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648200" y="4391025"/>
            <a:ext cx="1143000" cy="401836"/>
          </a:xfrm>
          <a:prstGeom prst="rect">
            <a:avLst/>
          </a:prstGeom>
        </p:spPr>
      </p:pic>
      <p:pic>
        <p:nvPicPr>
          <p:cNvPr id="21" name="SK-13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62000" y="4792861"/>
            <a:ext cx="762000" cy="401836"/>
          </a:xfrm>
          <a:prstGeom prst="rect">
            <a:avLst/>
          </a:prstGeom>
        </p:spPr>
      </p:pic>
      <p:pic>
        <p:nvPicPr>
          <p:cNvPr id="22" name="SK-13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524000" y="4792861"/>
            <a:ext cx="3124200" cy="401836"/>
          </a:xfrm>
          <a:prstGeom prst="rect">
            <a:avLst/>
          </a:prstGeom>
        </p:spPr>
      </p:pic>
      <p:pic>
        <p:nvPicPr>
          <p:cNvPr id="23" name="SK-13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648200" y="4792861"/>
            <a:ext cx="1143000" cy="401836"/>
          </a:xfrm>
          <a:prstGeom prst="rect">
            <a:avLst/>
          </a:prstGeom>
        </p:spPr>
      </p:pic>
      <p:pic>
        <p:nvPicPr>
          <p:cNvPr id="24" name="SK-13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62000" y="5194697"/>
            <a:ext cx="762000" cy="401836"/>
          </a:xfrm>
          <a:prstGeom prst="rect">
            <a:avLst/>
          </a:prstGeom>
        </p:spPr>
      </p:pic>
      <p:pic>
        <p:nvPicPr>
          <p:cNvPr id="25" name="SK-13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524000" y="5194697"/>
            <a:ext cx="3124200" cy="401836"/>
          </a:xfrm>
          <a:prstGeom prst="rect">
            <a:avLst/>
          </a:prstGeom>
        </p:spPr>
      </p:pic>
      <p:pic>
        <p:nvPicPr>
          <p:cNvPr id="26" name="SK-13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648200" y="5194697"/>
            <a:ext cx="1143000" cy="401836"/>
          </a:xfrm>
          <a:prstGeom prst="rect">
            <a:avLst/>
          </a:prstGeom>
        </p:spPr>
      </p:pic>
      <p:pic>
        <p:nvPicPr>
          <p:cNvPr id="27" name="SK-13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62000" y="5596533"/>
            <a:ext cx="762000" cy="401836"/>
          </a:xfrm>
          <a:prstGeom prst="rect">
            <a:avLst/>
          </a:prstGeom>
        </p:spPr>
      </p:pic>
      <p:pic>
        <p:nvPicPr>
          <p:cNvPr id="28" name="SK-13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524000" y="5596533"/>
            <a:ext cx="3124200" cy="401836"/>
          </a:xfrm>
          <a:prstGeom prst="rect">
            <a:avLst/>
          </a:prstGeom>
        </p:spPr>
      </p:pic>
      <p:pic>
        <p:nvPicPr>
          <p:cNvPr id="29" name="SK-13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648200" y="5596533"/>
            <a:ext cx="1143000" cy="401836"/>
          </a:xfrm>
          <a:prstGeom prst="rect">
            <a:avLst/>
          </a:prstGeom>
        </p:spPr>
      </p:pic>
      <p:pic>
        <p:nvPicPr>
          <p:cNvPr id="30" name="SK-13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62000" y="5998369"/>
            <a:ext cx="762000" cy="402431"/>
          </a:xfrm>
          <a:prstGeom prst="rect">
            <a:avLst/>
          </a:prstGeom>
        </p:spPr>
      </p:pic>
      <p:pic>
        <p:nvPicPr>
          <p:cNvPr id="31" name="SK-13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524000" y="5998369"/>
            <a:ext cx="3124200" cy="402431"/>
          </a:xfrm>
          <a:prstGeom prst="rect">
            <a:avLst/>
          </a:prstGeom>
        </p:spPr>
      </p:pic>
      <p:pic>
        <p:nvPicPr>
          <p:cNvPr id="32" name="SK-13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648200" y="5998369"/>
            <a:ext cx="1143000" cy="402431"/>
          </a:xfrm>
          <a:prstGeom prst="rect">
            <a:avLst/>
          </a:prstGeom>
        </p:spPr>
      </p:pic>
      <p:pic>
        <p:nvPicPr>
          <p:cNvPr id="33" name="SK-13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210300" y="1333500"/>
            <a:ext cx="5410200" cy="5219700"/>
          </a:xfrm>
          <a:prstGeom prst="rect">
            <a:avLst/>
          </a:prstGeom>
        </p:spPr>
      </p:pic>
      <p:pic>
        <p:nvPicPr>
          <p:cNvPr id="34" name="SK-13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438900" y="1609725"/>
            <a:ext cx="238125" cy="190500"/>
          </a:xfrm>
          <a:prstGeom prst="rect">
            <a:avLst/>
          </a:prstGeom>
        </p:spPr>
      </p:pic>
      <p:pic>
        <p:nvPicPr>
          <p:cNvPr id="35" name="SK-13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438900" y="2114550"/>
            <a:ext cx="381000" cy="381000"/>
          </a:xfrm>
          <a:prstGeom prst="rect">
            <a:avLst/>
          </a:prstGeom>
        </p:spPr>
      </p:pic>
      <p:pic>
        <p:nvPicPr>
          <p:cNvPr id="36" name="SK-13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522244" y="2217390"/>
            <a:ext cx="214313" cy="175320"/>
          </a:xfrm>
          <a:prstGeom prst="rect">
            <a:avLst/>
          </a:prstGeom>
        </p:spPr>
      </p:pic>
      <p:pic>
        <p:nvPicPr>
          <p:cNvPr id="37" name="SK-13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438900" y="3000375"/>
            <a:ext cx="381000" cy="381000"/>
          </a:xfrm>
          <a:prstGeom prst="rect">
            <a:avLst/>
          </a:prstGeom>
        </p:spPr>
      </p:pic>
      <p:pic>
        <p:nvPicPr>
          <p:cNvPr id="38" name="SK-13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522244" y="3103215"/>
            <a:ext cx="214313" cy="175320"/>
          </a:xfrm>
          <a:prstGeom prst="rect">
            <a:avLst/>
          </a:prstGeom>
        </p:spPr>
      </p:pic>
      <p:pic>
        <p:nvPicPr>
          <p:cNvPr id="39" name="SK-13-img-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438900" y="3886200"/>
            <a:ext cx="381000" cy="381000"/>
          </a:xfrm>
          <a:prstGeom prst="rect">
            <a:avLst/>
          </a:prstGeom>
        </p:spPr>
      </p:pic>
      <p:pic>
        <p:nvPicPr>
          <p:cNvPr id="40" name="SK-13-img-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6522244" y="3989040"/>
            <a:ext cx="214313" cy="175320"/>
          </a:xfrm>
          <a:prstGeom prst="rect">
            <a:avLst/>
          </a:prstGeom>
        </p:spPr>
      </p:pic>
      <p:pic>
        <p:nvPicPr>
          <p:cNvPr id="41" name="SK-13-img-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438900" y="5391150"/>
            <a:ext cx="4953000" cy="933450"/>
          </a:xfrm>
          <a:prstGeom prst="rect">
            <a:avLst/>
          </a:prstGeom>
        </p:spPr>
      </p:pic>
      <p:pic>
        <p:nvPicPr>
          <p:cNvPr id="42" name="SK-13-img-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6591300" y="5797897"/>
            <a:ext cx="186333" cy="148977"/>
          </a:xfrm>
          <a:prstGeom prst="rect">
            <a:avLst/>
          </a:prstGeom>
        </p:spPr>
      </p:pic>
      <p:sp>
        <p:nvSpPr>
          <p:cNvPr id="43" name="SK-13-text-42"/>
          <p:cNvSpPr/>
          <p:nvPr/>
        </p:nvSpPr>
        <p:spPr>
          <a:xfrm>
            <a:off x="647700" y="304800"/>
            <a:ext cx="373991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44" name="SK-13-text-43"/>
          <p:cNvSpPr/>
          <p:nvPr/>
        </p:nvSpPr>
        <p:spPr>
          <a:xfrm>
            <a:off x="571500" y="619125"/>
            <a:ext cx="11620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D-6. 돌발 이슈 대응 (Daniel Suh 에스컬레이션)</a:t>
            </a:r>
            <a:endParaRPr lang="en-US" sz="2550" dirty="0"/>
          </a:p>
        </p:txBody>
      </p:sp>
      <p:sp>
        <p:nvSpPr>
          <p:cNvPr id="45" name="SK-13-text-44"/>
          <p:cNvSpPr/>
          <p:nvPr/>
        </p:nvSpPr>
        <p:spPr>
          <a:xfrm>
            <a:off x="1076325" y="1485900"/>
            <a:ext cx="64008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글로벌 소통 단절: Daniel Suh 에스컬레이션</a:t>
            </a:r>
            <a:endParaRPr lang="en-US" sz="1500" dirty="0"/>
          </a:p>
        </p:txBody>
      </p:sp>
      <p:sp>
        <p:nvSpPr>
          <p:cNvPr id="46" name="SK-13-text-45"/>
          <p:cNvSpPr/>
          <p:nvPr/>
        </p:nvSpPr>
        <p:spPr>
          <a:xfrm>
            <a:off x="876300" y="2000250"/>
            <a:ext cx="1478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F4444"/>
                </a:solidFill>
              </a:rPr>
              <a:t>08/10</a:t>
            </a:r>
            <a:endParaRPr lang="en-US" sz="1200" dirty="0"/>
          </a:p>
        </p:txBody>
      </p:sp>
      <p:sp>
        <p:nvSpPr>
          <p:cNvPr id="47" name="SK-13-text-46"/>
          <p:cNvSpPr/>
          <p:nvPr/>
        </p:nvSpPr>
        <p:spPr>
          <a:xfrm>
            <a:off x="1562100" y="2007394"/>
            <a:ext cx="49911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1차 메일: US 리전 테스트베드 정합성 문제 제기</a:t>
            </a:r>
            <a:endParaRPr lang="en-US" sz="1125" dirty="0"/>
          </a:p>
        </p:txBody>
      </p:sp>
      <p:sp>
        <p:nvSpPr>
          <p:cNvPr id="48" name="SK-13-text-47"/>
          <p:cNvSpPr/>
          <p:nvPr/>
        </p:nvSpPr>
        <p:spPr>
          <a:xfrm>
            <a:off x="876300" y="2419350"/>
            <a:ext cx="1478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F4444"/>
                </a:solidFill>
              </a:rPr>
              <a:t>08/17</a:t>
            </a:r>
            <a:endParaRPr lang="en-US" sz="1200" dirty="0"/>
          </a:p>
        </p:txBody>
      </p:sp>
      <p:sp>
        <p:nvSpPr>
          <p:cNvPr id="49" name="SK-13-text-48"/>
          <p:cNvSpPr/>
          <p:nvPr/>
        </p:nvSpPr>
        <p:spPr>
          <a:xfrm>
            <a:off x="1562100" y="2426494"/>
            <a:ext cx="53340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2차 메일: 리전별 DoD 불일치 및 품질 우려 재강조</a:t>
            </a:r>
            <a:endParaRPr lang="en-US" sz="1125" dirty="0"/>
          </a:p>
        </p:txBody>
      </p:sp>
      <p:sp>
        <p:nvSpPr>
          <p:cNvPr id="50" name="SK-13-text-49"/>
          <p:cNvSpPr/>
          <p:nvPr/>
        </p:nvSpPr>
        <p:spPr>
          <a:xfrm>
            <a:off x="876300" y="2838450"/>
            <a:ext cx="1478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F4444"/>
                </a:solidFill>
              </a:rPr>
              <a:t>08/21</a:t>
            </a:r>
            <a:endParaRPr lang="en-US" sz="1200" dirty="0"/>
          </a:p>
        </p:txBody>
      </p:sp>
      <p:sp>
        <p:nvSpPr>
          <p:cNvPr id="51" name="SK-13-text-50"/>
          <p:cNvSpPr/>
          <p:nvPr/>
        </p:nvSpPr>
        <p:spPr>
          <a:xfrm>
            <a:off x="1562100" y="2845594"/>
            <a:ext cx="56769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3차 메일: 최종 경고 및 PM 직접 응답 요구 (무회신)</a:t>
            </a:r>
            <a:endParaRPr lang="en-US" sz="1125" dirty="0"/>
          </a:p>
        </p:txBody>
      </p:sp>
      <p:sp>
        <p:nvSpPr>
          <p:cNvPr id="52" name="SK-13-text-51"/>
          <p:cNvSpPr/>
          <p:nvPr/>
        </p:nvSpPr>
        <p:spPr>
          <a:xfrm>
            <a:off x="1076325" y="3581400"/>
            <a:ext cx="61722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리전별 의사결정 불일치 현황 (Conflicts)</a:t>
            </a:r>
            <a:endParaRPr lang="en-US" sz="1500" dirty="0"/>
          </a:p>
        </p:txBody>
      </p:sp>
      <p:sp>
        <p:nvSpPr>
          <p:cNvPr id="53" name="SK-13-text-52"/>
          <p:cNvSpPr/>
          <p:nvPr/>
        </p:nvSpPr>
        <p:spPr>
          <a:xfrm>
            <a:off x="857250" y="4038600"/>
            <a:ext cx="6477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ID</a:t>
            </a:r>
            <a:endParaRPr lang="en-US" sz="1050" dirty="0"/>
          </a:p>
        </p:txBody>
      </p:sp>
      <p:sp>
        <p:nvSpPr>
          <p:cNvPr id="54" name="SK-13-text-53"/>
          <p:cNvSpPr/>
          <p:nvPr/>
        </p:nvSpPr>
        <p:spPr>
          <a:xfrm>
            <a:off x="1619250" y="4038600"/>
            <a:ext cx="30099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항목</a:t>
            </a:r>
            <a:endParaRPr lang="en-US" sz="1050" dirty="0"/>
          </a:p>
        </p:txBody>
      </p:sp>
      <p:sp>
        <p:nvSpPr>
          <p:cNvPr id="55" name="SK-13-text-54"/>
          <p:cNvSpPr/>
          <p:nvPr/>
        </p:nvSpPr>
        <p:spPr>
          <a:xfrm>
            <a:off x="4743450" y="4038600"/>
            <a:ext cx="10287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</a:t>
            </a:r>
            <a:endParaRPr lang="en-US" sz="1050" dirty="0"/>
          </a:p>
        </p:txBody>
      </p:sp>
      <p:sp>
        <p:nvSpPr>
          <p:cNvPr id="56" name="SK-13-text-55"/>
          <p:cNvSpPr/>
          <p:nvPr/>
        </p:nvSpPr>
        <p:spPr>
          <a:xfrm>
            <a:off x="857250" y="4391025"/>
            <a:ext cx="956310" cy="4018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DEC-04</a:t>
            </a:r>
            <a:endParaRPr lang="en-US" sz="1050" dirty="0"/>
          </a:p>
        </p:txBody>
      </p:sp>
      <p:sp>
        <p:nvSpPr>
          <p:cNvPr id="57" name="SK-13-text-56"/>
          <p:cNvSpPr/>
          <p:nvPr/>
        </p:nvSpPr>
        <p:spPr>
          <a:xfrm>
            <a:off x="1619250" y="4391025"/>
            <a:ext cx="3983030" cy="4018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VLM 추론 모델 티어 고정 (US vs KR)</a:t>
            </a:r>
            <a:endParaRPr lang="en-US" sz="1050" dirty="0"/>
          </a:p>
        </p:txBody>
      </p:sp>
      <p:sp>
        <p:nvSpPr>
          <p:cNvPr id="58" name="SK-13-textBg-57"/>
          <p:cNvSpPr/>
          <p:nvPr/>
        </p:nvSpPr>
        <p:spPr>
          <a:xfrm>
            <a:off x="4743450" y="4520505"/>
            <a:ext cx="428625" cy="171450"/>
          </a:xfrm>
          <a:prstGeom prst="roundRect">
            <a:avLst>
              <a:gd name="adj" fmla="val 11111"/>
            </a:avLst>
          </a:prstGeom>
          <a:solidFill>
            <a:srgbClr val="FEE2E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9" name="SK-13-text-58"/>
          <p:cNvSpPr/>
          <p:nvPr/>
        </p:nvSpPr>
        <p:spPr>
          <a:xfrm>
            <a:off x="4800600" y="4520505"/>
            <a:ext cx="3143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불일치</a:t>
            </a:r>
            <a:endParaRPr lang="en-US" sz="825" dirty="0"/>
          </a:p>
        </p:txBody>
      </p:sp>
      <p:sp>
        <p:nvSpPr>
          <p:cNvPr id="60" name="SK-13-text-59"/>
          <p:cNvSpPr/>
          <p:nvPr/>
        </p:nvSpPr>
        <p:spPr>
          <a:xfrm>
            <a:off x="857250" y="4792861"/>
            <a:ext cx="956310" cy="4018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DEC-05</a:t>
            </a:r>
            <a:endParaRPr lang="en-US" sz="1050" dirty="0"/>
          </a:p>
        </p:txBody>
      </p:sp>
      <p:sp>
        <p:nvSpPr>
          <p:cNvPr id="61" name="SK-13-text-60"/>
          <p:cNvSpPr/>
          <p:nvPr/>
        </p:nvSpPr>
        <p:spPr>
          <a:xfrm>
            <a:off x="1619250" y="4792861"/>
            <a:ext cx="3009900" cy="4018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등급 하향 조정 근거</a:t>
            </a:r>
            <a:endParaRPr lang="en-US" sz="1050" dirty="0"/>
          </a:p>
        </p:txBody>
      </p:sp>
      <p:sp>
        <p:nvSpPr>
          <p:cNvPr id="62" name="SK-13-textBg-61"/>
          <p:cNvSpPr/>
          <p:nvPr/>
        </p:nvSpPr>
        <p:spPr>
          <a:xfrm>
            <a:off x="4743450" y="4922341"/>
            <a:ext cx="428625" cy="171450"/>
          </a:xfrm>
          <a:prstGeom prst="roundRect">
            <a:avLst>
              <a:gd name="adj" fmla="val 11111"/>
            </a:avLst>
          </a:prstGeom>
          <a:solidFill>
            <a:srgbClr val="FEE2E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3" name="SK-13-text-62"/>
          <p:cNvSpPr/>
          <p:nvPr/>
        </p:nvSpPr>
        <p:spPr>
          <a:xfrm>
            <a:off x="4800600" y="4922341"/>
            <a:ext cx="3143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불일치</a:t>
            </a:r>
            <a:endParaRPr lang="en-US" sz="825" dirty="0"/>
          </a:p>
        </p:txBody>
      </p:sp>
      <p:sp>
        <p:nvSpPr>
          <p:cNvPr id="64" name="SK-13-text-63"/>
          <p:cNvSpPr/>
          <p:nvPr/>
        </p:nvSpPr>
        <p:spPr>
          <a:xfrm>
            <a:off x="857250" y="5194697"/>
            <a:ext cx="956310" cy="4018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DEC-07</a:t>
            </a:r>
            <a:endParaRPr lang="en-US" sz="1050" dirty="0"/>
          </a:p>
        </p:txBody>
      </p:sp>
      <p:sp>
        <p:nvSpPr>
          <p:cNvPr id="65" name="SK-13-text-64"/>
          <p:cNvSpPr/>
          <p:nvPr/>
        </p:nvSpPr>
        <p:spPr>
          <a:xfrm>
            <a:off x="1619250" y="5194697"/>
            <a:ext cx="3231716" cy="4018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내비게이션 폴백(Fallback) 방침</a:t>
            </a:r>
            <a:endParaRPr lang="en-US" sz="1050" dirty="0"/>
          </a:p>
        </p:txBody>
      </p:sp>
      <p:sp>
        <p:nvSpPr>
          <p:cNvPr id="66" name="SK-13-textBg-65"/>
          <p:cNvSpPr/>
          <p:nvPr/>
        </p:nvSpPr>
        <p:spPr>
          <a:xfrm>
            <a:off x="4743450" y="5324177"/>
            <a:ext cx="819150" cy="171450"/>
          </a:xfrm>
          <a:prstGeom prst="roundRect">
            <a:avLst>
              <a:gd name="adj" fmla="val 11111"/>
            </a:avLst>
          </a:prstGeom>
          <a:solidFill>
            <a:srgbClr val="FEE2E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7" name="SK-13-text-66"/>
          <p:cNvSpPr/>
          <p:nvPr/>
        </p:nvSpPr>
        <p:spPr>
          <a:xfrm>
            <a:off x="4800600" y="5324177"/>
            <a:ext cx="8654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심각(중복개발)</a:t>
            </a:r>
            <a:endParaRPr lang="en-US" sz="825" dirty="0"/>
          </a:p>
        </p:txBody>
      </p:sp>
      <p:sp>
        <p:nvSpPr>
          <p:cNvPr id="68" name="SK-13-text-67"/>
          <p:cNvSpPr/>
          <p:nvPr/>
        </p:nvSpPr>
        <p:spPr>
          <a:xfrm>
            <a:off x="857250" y="5596533"/>
            <a:ext cx="956310" cy="4018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DEC-11</a:t>
            </a:r>
            <a:endParaRPr lang="en-US" sz="1050" dirty="0"/>
          </a:p>
        </p:txBody>
      </p:sp>
      <p:sp>
        <p:nvSpPr>
          <p:cNvPr id="69" name="SK-13-text-68"/>
          <p:cNvSpPr/>
          <p:nvPr/>
        </p:nvSpPr>
        <p:spPr>
          <a:xfrm>
            <a:off x="1619250" y="5596533"/>
            <a:ext cx="3009900" cy="4018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사업장 텔레메트리 공유 범위</a:t>
            </a:r>
            <a:endParaRPr lang="en-US" sz="1050" dirty="0"/>
          </a:p>
        </p:txBody>
      </p:sp>
      <p:sp>
        <p:nvSpPr>
          <p:cNvPr id="70" name="SK-13-textBg-69"/>
          <p:cNvSpPr/>
          <p:nvPr/>
        </p:nvSpPr>
        <p:spPr>
          <a:xfrm>
            <a:off x="4743450" y="5726013"/>
            <a:ext cx="428625" cy="171450"/>
          </a:xfrm>
          <a:prstGeom prst="roundRect">
            <a:avLst>
              <a:gd name="adj" fmla="val 11111"/>
            </a:avLst>
          </a:prstGeom>
          <a:solidFill>
            <a:srgbClr val="FEE2E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1" name="SK-13-text-70"/>
          <p:cNvSpPr/>
          <p:nvPr/>
        </p:nvSpPr>
        <p:spPr>
          <a:xfrm>
            <a:off x="4800600" y="5726013"/>
            <a:ext cx="3143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불일치</a:t>
            </a:r>
            <a:endParaRPr lang="en-US" sz="825" dirty="0"/>
          </a:p>
        </p:txBody>
      </p:sp>
      <p:sp>
        <p:nvSpPr>
          <p:cNvPr id="72" name="SK-13-text-71"/>
          <p:cNvSpPr/>
          <p:nvPr/>
        </p:nvSpPr>
        <p:spPr>
          <a:xfrm>
            <a:off x="857250" y="5998369"/>
            <a:ext cx="956310" cy="40243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DEC-06</a:t>
            </a:r>
            <a:endParaRPr lang="en-US" sz="1050" dirty="0"/>
          </a:p>
        </p:txBody>
      </p:sp>
      <p:sp>
        <p:nvSpPr>
          <p:cNvPr id="73" name="SK-13-text-72"/>
          <p:cNvSpPr/>
          <p:nvPr/>
        </p:nvSpPr>
        <p:spPr>
          <a:xfrm>
            <a:off x="1619250" y="5998369"/>
            <a:ext cx="3009900" cy="40243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엣지캐시 도입 우선순위</a:t>
            </a:r>
            <a:endParaRPr lang="en-US" sz="1050" dirty="0"/>
          </a:p>
        </p:txBody>
      </p:sp>
      <p:sp>
        <p:nvSpPr>
          <p:cNvPr id="74" name="SK-13-textBg-73"/>
          <p:cNvSpPr/>
          <p:nvPr/>
        </p:nvSpPr>
        <p:spPr>
          <a:xfrm>
            <a:off x="4743450" y="6128147"/>
            <a:ext cx="638175" cy="171450"/>
          </a:xfrm>
          <a:prstGeom prst="roundRect">
            <a:avLst>
              <a:gd name="adj" fmla="val 11111"/>
            </a:avLst>
          </a:prstGeom>
          <a:solidFill>
            <a:srgbClr val="FEE2E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5" name="SK-13-text-74"/>
          <p:cNvSpPr/>
          <p:nvPr/>
        </p:nvSpPr>
        <p:spPr>
          <a:xfrm>
            <a:off x="4800600" y="6128147"/>
            <a:ext cx="5238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비공식변경</a:t>
            </a:r>
            <a:endParaRPr lang="en-US" sz="825" dirty="0"/>
          </a:p>
        </p:txBody>
      </p:sp>
      <p:sp>
        <p:nvSpPr>
          <p:cNvPr id="76" name="SK-13-text-75"/>
          <p:cNvSpPr/>
          <p:nvPr/>
        </p:nvSpPr>
        <p:spPr>
          <a:xfrm>
            <a:off x="6753225" y="1562100"/>
            <a:ext cx="54387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Decision Sync Agent 개입 프로세스</a:t>
            </a:r>
            <a:endParaRPr lang="en-US" sz="1500" dirty="0"/>
          </a:p>
        </p:txBody>
      </p:sp>
      <p:sp>
        <p:nvSpPr>
          <p:cNvPr id="77" name="SK-13-text-76"/>
          <p:cNvSpPr/>
          <p:nvPr/>
        </p:nvSpPr>
        <p:spPr>
          <a:xfrm>
            <a:off x="6972300" y="2114550"/>
            <a:ext cx="45053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다중 채널 데이터 대조</a:t>
            </a:r>
            <a:endParaRPr lang="en-US" sz="1350" dirty="0"/>
          </a:p>
        </p:txBody>
      </p:sp>
      <p:sp>
        <p:nvSpPr>
          <p:cNvPr id="78" name="SK-13-text-77"/>
          <p:cNvSpPr/>
          <p:nvPr/>
        </p:nvSpPr>
        <p:spPr>
          <a:xfrm>
            <a:off x="6972300" y="2409825"/>
            <a:ext cx="44196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Email, Jira, Confluence, 메신저 기록을 실시간 스캔하여 동일 아젠다에 대한 리전별 기록 차이를 추출합니다.</a:t>
            </a:r>
            <a:endParaRPr lang="en-US" sz="1125" dirty="0"/>
          </a:p>
        </p:txBody>
      </p:sp>
      <p:sp>
        <p:nvSpPr>
          <p:cNvPr id="79" name="SK-13-text-78"/>
          <p:cNvSpPr/>
          <p:nvPr/>
        </p:nvSpPr>
        <p:spPr>
          <a:xfrm>
            <a:off x="6972300" y="3000375"/>
            <a:ext cx="45053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에스컬레이션 알림</a:t>
            </a:r>
            <a:endParaRPr lang="en-US" sz="1350" dirty="0"/>
          </a:p>
        </p:txBody>
      </p:sp>
      <p:sp>
        <p:nvSpPr>
          <p:cNvPr id="80" name="SK-13-text-79"/>
          <p:cNvSpPr/>
          <p:nvPr/>
        </p:nvSpPr>
        <p:spPr>
          <a:xfrm>
            <a:off x="6972300" y="3295650"/>
            <a:ext cx="44196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Daniel Suh의 메일처럼 '중요 이해관계자'의 신호가 일정 시간(24h) 내 처리되지 않을 경우 PM 및 스폰서에게 즉시 경고합니다.</a:t>
            </a:r>
            <a:endParaRPr lang="en-US" sz="1125" dirty="0"/>
          </a:p>
        </p:txBody>
      </p:sp>
      <p:sp>
        <p:nvSpPr>
          <p:cNvPr id="81" name="SK-13-text-80"/>
          <p:cNvSpPr/>
          <p:nvPr/>
        </p:nvSpPr>
        <p:spPr>
          <a:xfrm>
            <a:off x="6972300" y="3886200"/>
            <a:ext cx="45053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Consistency Report 생성</a:t>
            </a:r>
            <a:endParaRPr lang="en-US" sz="1350" dirty="0"/>
          </a:p>
        </p:txBody>
      </p:sp>
      <p:sp>
        <p:nvSpPr>
          <p:cNvPr id="82" name="SK-13-text-81"/>
          <p:cNvSpPr/>
          <p:nvPr/>
        </p:nvSpPr>
        <p:spPr>
          <a:xfrm>
            <a:off x="6972300" y="4181475"/>
            <a:ext cx="44196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리전 간 폴백 방침(DEC-07) 불일치를 감지하여 2.3MM의 중복 개발이 발생하기 전 단일 원천(SSOT) 합의를 유도합니다.</a:t>
            </a:r>
            <a:endParaRPr lang="en-US" sz="1125" dirty="0"/>
          </a:p>
        </p:txBody>
      </p:sp>
      <p:sp>
        <p:nvSpPr>
          <p:cNvPr id="83" name="SK-13-text-82"/>
          <p:cNvSpPr/>
          <p:nvPr/>
        </p:nvSpPr>
        <p:spPr>
          <a:xfrm>
            <a:off x="6891933" y="5562600"/>
            <a:ext cx="17221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6B6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가치 증명:</a:t>
            </a:r>
            <a:endParaRPr lang="en-US" sz="1200" dirty="0"/>
          </a:p>
        </p:txBody>
      </p:sp>
      <p:sp>
        <p:nvSpPr>
          <p:cNvPr id="84" name="SK-13-text-83"/>
          <p:cNvSpPr/>
          <p:nvPr/>
        </p:nvSpPr>
        <p:spPr>
          <a:xfrm>
            <a:off x="6891933" y="5772150"/>
            <a:ext cx="434756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불일치 감지 즉시 알림을 통해 의사결정 투명성을 확보하고, 리전 간 소통 단절로 인한 자원 낭비를 원천 차단합니다.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4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4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4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5" name="SK-14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pic>
        <p:nvPicPr>
          <p:cNvPr id="6" name="SK-14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504950"/>
            <a:ext cx="2647950" cy="2457450"/>
          </a:xfrm>
          <a:prstGeom prst="rect">
            <a:avLst/>
          </a:prstGeom>
        </p:spPr>
      </p:pic>
      <p:pic>
        <p:nvPicPr>
          <p:cNvPr id="7" name="SK-14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619250"/>
            <a:ext cx="266700" cy="266700"/>
          </a:xfrm>
          <a:prstGeom prst="rect">
            <a:avLst/>
          </a:prstGeom>
        </p:spPr>
      </p:pic>
      <p:pic>
        <p:nvPicPr>
          <p:cNvPr id="8" name="SK-14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2071985"/>
            <a:ext cx="285750" cy="228600"/>
          </a:xfrm>
          <a:prstGeom prst="rect">
            <a:avLst/>
          </a:prstGeom>
        </p:spPr>
      </p:pic>
      <p:pic>
        <p:nvPicPr>
          <p:cNvPr id="9" name="SK-14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71850" y="1504950"/>
            <a:ext cx="2647950" cy="2457450"/>
          </a:xfrm>
          <a:prstGeom prst="rect">
            <a:avLst/>
          </a:prstGeom>
        </p:spPr>
      </p:pic>
      <p:pic>
        <p:nvPicPr>
          <p:cNvPr id="10" name="SK-14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86150" y="1619250"/>
            <a:ext cx="266700" cy="266700"/>
          </a:xfrm>
          <a:prstGeom prst="rect">
            <a:avLst/>
          </a:prstGeom>
        </p:spPr>
      </p:pic>
      <p:pic>
        <p:nvPicPr>
          <p:cNvPr id="11" name="SK-14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6150" y="2071985"/>
            <a:ext cx="285750" cy="228600"/>
          </a:xfrm>
          <a:prstGeom prst="rect">
            <a:avLst/>
          </a:prstGeom>
        </p:spPr>
      </p:pic>
      <p:pic>
        <p:nvPicPr>
          <p:cNvPr id="12" name="SK-14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72200" y="1504950"/>
            <a:ext cx="2647950" cy="2457450"/>
          </a:xfrm>
          <a:prstGeom prst="rect">
            <a:avLst/>
          </a:prstGeom>
        </p:spPr>
      </p:pic>
      <p:pic>
        <p:nvPicPr>
          <p:cNvPr id="13" name="SK-14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86500" y="1619250"/>
            <a:ext cx="266700" cy="266700"/>
          </a:xfrm>
          <a:prstGeom prst="rect">
            <a:avLst/>
          </a:prstGeom>
        </p:spPr>
      </p:pic>
      <p:pic>
        <p:nvPicPr>
          <p:cNvPr id="14" name="SK-14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86500" y="2071985"/>
            <a:ext cx="285750" cy="228600"/>
          </a:xfrm>
          <a:prstGeom prst="rect">
            <a:avLst/>
          </a:prstGeom>
        </p:spPr>
      </p:pic>
      <p:pic>
        <p:nvPicPr>
          <p:cNvPr id="15" name="SK-14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972550" y="1504950"/>
            <a:ext cx="2647950" cy="2457450"/>
          </a:xfrm>
          <a:prstGeom prst="rect">
            <a:avLst/>
          </a:prstGeom>
        </p:spPr>
      </p:pic>
      <p:pic>
        <p:nvPicPr>
          <p:cNvPr id="16" name="SK-14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86850" y="1619250"/>
            <a:ext cx="266700" cy="266700"/>
          </a:xfrm>
          <a:prstGeom prst="rect">
            <a:avLst/>
          </a:prstGeom>
        </p:spPr>
      </p:pic>
      <p:pic>
        <p:nvPicPr>
          <p:cNvPr id="17" name="SK-14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86850" y="2071985"/>
            <a:ext cx="285750" cy="228600"/>
          </a:xfrm>
          <a:prstGeom prst="rect">
            <a:avLst/>
          </a:prstGeom>
        </p:spPr>
      </p:pic>
      <p:pic>
        <p:nvPicPr>
          <p:cNvPr id="18" name="SK-14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1500" y="4191000"/>
            <a:ext cx="11049000" cy="1982986"/>
          </a:xfrm>
          <a:prstGeom prst="rect">
            <a:avLst/>
          </a:prstGeom>
        </p:spPr>
      </p:pic>
      <p:pic>
        <p:nvPicPr>
          <p:cNvPr id="19" name="SK-14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1500" y="6210300"/>
            <a:ext cx="11049000" cy="361950"/>
          </a:xfrm>
          <a:prstGeom prst="rect">
            <a:avLst/>
          </a:prstGeom>
        </p:spPr>
      </p:pic>
      <p:pic>
        <p:nvPicPr>
          <p:cNvPr id="20" name="SK-14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639300" y="6362700"/>
            <a:ext cx="1981200" cy="209550"/>
          </a:xfrm>
          <a:prstGeom prst="rect">
            <a:avLst/>
          </a:prstGeom>
        </p:spPr>
      </p:pic>
      <p:sp>
        <p:nvSpPr>
          <p:cNvPr id="21" name="SK-14-text-20"/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22" name="SK-14-text-21"/>
          <p:cNvSpPr/>
          <p:nvPr/>
        </p:nvSpPr>
        <p:spPr>
          <a:xfrm>
            <a:off x="571500" y="733425"/>
            <a:ext cx="1121092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E-1. 발표 스토리라인 및 핵심 메시지</a:t>
            </a:r>
            <a:endParaRPr lang="en-US" sz="2550" dirty="0"/>
          </a:p>
        </p:txBody>
      </p:sp>
      <p:sp>
        <p:nvSpPr>
          <p:cNvPr id="23" name="SK-14-text-22"/>
          <p:cNvSpPr/>
          <p:nvPr/>
        </p:nvSpPr>
        <p:spPr>
          <a:xfrm>
            <a:off x="790575" y="1619250"/>
            <a:ext cx="342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050" dirty="0"/>
          </a:p>
        </p:txBody>
      </p:sp>
      <p:sp>
        <p:nvSpPr>
          <p:cNvPr id="24" name="SK-14-text-23"/>
          <p:cNvSpPr/>
          <p:nvPr/>
        </p:nvSpPr>
        <p:spPr>
          <a:xfrm>
            <a:off x="1028700" y="1624013"/>
            <a:ext cx="132016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사건의 식별</a:t>
            </a:r>
            <a:endParaRPr lang="en-US" sz="1350" dirty="0"/>
          </a:p>
        </p:txBody>
      </p:sp>
      <p:sp>
        <p:nvSpPr>
          <p:cNvPr id="25" name="SK-14-text-24"/>
          <p:cNvSpPr/>
          <p:nvPr/>
        </p:nvSpPr>
        <p:spPr>
          <a:xfrm>
            <a:off x="800100" y="2495550"/>
            <a:ext cx="23050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"수박 프로젝트"의 10가지 이상징후 제시</a:t>
            </a:r>
            <a:endParaRPr lang="en-US" sz="1125" dirty="0"/>
          </a:p>
        </p:txBody>
      </p:sp>
      <p:sp>
        <p:nvSpPr>
          <p:cNvPr id="26" name="SK-14-text-25"/>
          <p:cNvSpPr/>
          <p:nvPr/>
        </p:nvSpPr>
        <p:spPr>
          <a:xfrm>
            <a:off x="800100" y="2971800"/>
            <a:ext cx="23050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보고상의 All Green과 실제 데이터의 괴리 폭로</a:t>
            </a:r>
            <a:endParaRPr lang="en-US" sz="1125" dirty="0"/>
          </a:p>
        </p:txBody>
      </p:sp>
      <p:sp>
        <p:nvSpPr>
          <p:cNvPr id="27" name="SK-14-text-26"/>
          <p:cNvSpPr/>
          <p:nvPr/>
        </p:nvSpPr>
        <p:spPr>
          <a:xfrm>
            <a:off x="800100" y="3448050"/>
            <a:ext cx="28531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 체계의 무력화 현상 시각화</a:t>
            </a:r>
            <a:endParaRPr lang="en-US" sz="1125" dirty="0"/>
          </a:p>
        </p:txBody>
      </p:sp>
      <p:sp>
        <p:nvSpPr>
          <p:cNvPr id="28" name="SK-14-text-27"/>
          <p:cNvSpPr/>
          <p:nvPr/>
        </p:nvSpPr>
        <p:spPr>
          <a:xfrm>
            <a:off x="3576638" y="1619250"/>
            <a:ext cx="342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050" dirty="0"/>
          </a:p>
        </p:txBody>
      </p:sp>
      <p:sp>
        <p:nvSpPr>
          <p:cNvPr id="29" name="SK-14-text-28"/>
          <p:cNvSpPr/>
          <p:nvPr/>
        </p:nvSpPr>
        <p:spPr>
          <a:xfrm>
            <a:off x="3829050" y="1624013"/>
            <a:ext cx="11144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심층 진단</a:t>
            </a:r>
            <a:endParaRPr lang="en-US" sz="1350" dirty="0"/>
          </a:p>
        </p:txBody>
      </p:sp>
      <p:sp>
        <p:nvSpPr>
          <p:cNvPr id="30" name="SK-14-text-29"/>
          <p:cNvSpPr/>
          <p:nvPr/>
        </p:nvSpPr>
        <p:spPr>
          <a:xfrm>
            <a:off x="3600450" y="2495550"/>
            <a:ext cx="23050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Root Cause: "측정이 관리를 대체했다" (Goodhart's Law)</a:t>
            </a:r>
            <a:endParaRPr lang="en-US" sz="1125" dirty="0"/>
          </a:p>
        </p:txBody>
      </p:sp>
      <p:sp>
        <p:nvSpPr>
          <p:cNvPr id="31" name="SK-14-text-30"/>
          <p:cNvSpPr/>
          <p:nvPr/>
        </p:nvSpPr>
        <p:spPr>
          <a:xfrm>
            <a:off x="3600450" y="2971800"/>
            <a:ext cx="23050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PMBOK 8판 기준 Mindset 및 성과 영역 결핍 증명</a:t>
            </a:r>
            <a:endParaRPr lang="en-US" sz="1125" dirty="0"/>
          </a:p>
        </p:txBody>
      </p:sp>
      <p:sp>
        <p:nvSpPr>
          <p:cNvPr id="32" name="SK-14-text-31"/>
          <p:cNvSpPr/>
          <p:nvPr/>
        </p:nvSpPr>
        <p:spPr>
          <a:xfrm>
            <a:off x="3600450" y="3448050"/>
            <a:ext cx="36699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자동화가 만든 '구조적 맹목' 분석</a:t>
            </a:r>
            <a:endParaRPr lang="en-US" sz="1125" dirty="0"/>
          </a:p>
        </p:txBody>
      </p:sp>
      <p:sp>
        <p:nvSpPr>
          <p:cNvPr id="33" name="SK-14-text-32"/>
          <p:cNvSpPr/>
          <p:nvPr/>
        </p:nvSpPr>
        <p:spPr>
          <a:xfrm>
            <a:off x="6376988" y="1619250"/>
            <a:ext cx="342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050" dirty="0"/>
          </a:p>
        </p:txBody>
      </p:sp>
      <p:sp>
        <p:nvSpPr>
          <p:cNvPr id="34" name="SK-14-text-33"/>
          <p:cNvSpPr/>
          <p:nvPr/>
        </p:nvSpPr>
        <p:spPr>
          <a:xfrm>
            <a:off x="6629400" y="1624013"/>
            <a:ext cx="132016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기술적 처방</a:t>
            </a:r>
            <a:endParaRPr lang="en-US" sz="1350" dirty="0"/>
          </a:p>
        </p:txBody>
      </p:sp>
      <p:sp>
        <p:nvSpPr>
          <p:cNvPr id="35" name="SK-14-text-34"/>
          <p:cNvSpPr/>
          <p:nvPr/>
        </p:nvSpPr>
        <p:spPr>
          <a:xfrm>
            <a:off x="6400800" y="2495550"/>
            <a:ext cx="23050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Value-Driven AI Agent 아키텍처 제안</a:t>
            </a:r>
            <a:endParaRPr lang="en-US" sz="1125" dirty="0"/>
          </a:p>
        </p:txBody>
      </p:sp>
      <p:sp>
        <p:nvSpPr>
          <p:cNvPr id="36" name="SK-14-text-35"/>
          <p:cNvSpPr/>
          <p:nvPr/>
        </p:nvSpPr>
        <p:spPr>
          <a:xfrm>
            <a:off x="6400800" y="2971800"/>
            <a:ext cx="23050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5대 핵심 Agent의 상세 로직 및 검증 메커니즘</a:t>
            </a:r>
            <a:endParaRPr lang="en-US" sz="1125" dirty="0"/>
          </a:p>
        </p:txBody>
      </p:sp>
      <p:sp>
        <p:nvSpPr>
          <p:cNvPr id="37" name="SK-14-text-36"/>
          <p:cNvSpPr/>
          <p:nvPr/>
        </p:nvSpPr>
        <p:spPr>
          <a:xfrm>
            <a:off x="6400800" y="3448050"/>
            <a:ext cx="23050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Human-in-the-loop 거버넌스 복원 모델</a:t>
            </a:r>
            <a:endParaRPr lang="en-US" sz="1125" dirty="0"/>
          </a:p>
        </p:txBody>
      </p:sp>
      <p:sp>
        <p:nvSpPr>
          <p:cNvPr id="38" name="SK-14-text-37"/>
          <p:cNvSpPr/>
          <p:nvPr/>
        </p:nvSpPr>
        <p:spPr>
          <a:xfrm>
            <a:off x="9177338" y="1619250"/>
            <a:ext cx="342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050" dirty="0"/>
          </a:p>
        </p:txBody>
      </p:sp>
      <p:sp>
        <p:nvSpPr>
          <p:cNvPr id="39" name="SK-14-text-38"/>
          <p:cNvSpPr/>
          <p:nvPr/>
        </p:nvSpPr>
        <p:spPr>
          <a:xfrm>
            <a:off x="9429750" y="1624013"/>
            <a:ext cx="11144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 복원</a:t>
            </a:r>
            <a:endParaRPr lang="en-US" sz="1350" dirty="0"/>
          </a:p>
        </p:txBody>
      </p:sp>
      <p:sp>
        <p:nvSpPr>
          <p:cNvPr id="40" name="SK-14-text-39"/>
          <p:cNvSpPr/>
          <p:nvPr/>
        </p:nvSpPr>
        <p:spPr>
          <a:xfrm>
            <a:off x="9201150" y="2495550"/>
            <a:ext cx="23050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Outcome 중심의 Before/After 지표 변화</a:t>
            </a:r>
            <a:endParaRPr lang="en-US" sz="1125" dirty="0"/>
          </a:p>
        </p:txBody>
      </p:sp>
      <p:sp>
        <p:nvSpPr>
          <p:cNvPr id="41" name="SK-14-text-40"/>
          <p:cNvSpPr/>
          <p:nvPr/>
        </p:nvSpPr>
        <p:spPr>
          <a:xfrm>
            <a:off x="9201150" y="2971800"/>
            <a:ext cx="23050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편익(Benefit) 가시화 및 실질적 KPI 개선 효과</a:t>
            </a:r>
            <a:endParaRPr lang="en-US" sz="1125" dirty="0"/>
          </a:p>
        </p:txBody>
      </p:sp>
      <p:sp>
        <p:nvSpPr>
          <p:cNvPr id="42" name="SK-14-text-41"/>
          <p:cNvSpPr/>
          <p:nvPr/>
        </p:nvSpPr>
        <p:spPr>
          <a:xfrm>
            <a:off x="9201150" y="3448050"/>
            <a:ext cx="23050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PM의 역할 재정의 및 미래 관리 전략</a:t>
            </a:r>
            <a:endParaRPr lang="en-US" sz="1125" dirty="0"/>
          </a:p>
        </p:txBody>
      </p:sp>
      <p:sp>
        <p:nvSpPr>
          <p:cNvPr id="43" name="SK-14-text-42"/>
          <p:cNvSpPr/>
          <p:nvPr/>
        </p:nvSpPr>
        <p:spPr>
          <a:xfrm>
            <a:off x="800100" y="4419600"/>
            <a:ext cx="10668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6B6D4"/>
                </a:solidFill>
              </a:rPr>
              <a:t>CORE MESSAGE</a:t>
            </a:r>
            <a:endParaRPr lang="en-US" sz="1050" dirty="0"/>
          </a:p>
        </p:txBody>
      </p:sp>
      <p:sp>
        <p:nvSpPr>
          <p:cNvPr id="44" name="SK-14-text-43"/>
          <p:cNvSpPr/>
          <p:nvPr/>
        </p:nvSpPr>
        <p:spPr>
          <a:xfrm>
            <a:off x="800100" y="4733925"/>
            <a:ext cx="1059180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"AI는 거짓말을 하지 않았습니다. 다만 질문을 받지 않았을 뿐입니다.</a:t>
            </a:r>
            <a:endParaRPr lang="en-US" sz="1800" dirty="0"/>
          </a:p>
          <a:p>
            <a:pPr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측정이 목표가 아닌 가치가 목표인 프로젝트로 회귀해야 합니다."</a:t>
            </a:r>
            <a:endParaRPr lang="en-US" sz="1800" dirty="0"/>
          </a:p>
        </p:txBody>
      </p:sp>
      <p:sp>
        <p:nvSpPr>
          <p:cNvPr id="45" name="SK-14-text-44"/>
          <p:cNvSpPr/>
          <p:nvPr/>
        </p:nvSpPr>
        <p:spPr>
          <a:xfrm>
            <a:off x="800100" y="5488186"/>
            <a:ext cx="1059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데이터의 무결성을 검증하고 고객 가치(Outcome)를 실시간으로 추적하는 AI Agent는 PM의 눈을 가리는 도구가 아닌, 보이지 않는 위험을 드러내는 가장 강력한 거버넌스 파트너가 될 것입니다.</a:t>
            </a:r>
            <a:endParaRPr lang="en-US" sz="1200" dirty="0"/>
          </a:p>
        </p:txBody>
      </p:sp>
      <p:sp>
        <p:nvSpPr>
          <p:cNvPr id="46" name="SK-14-text-45"/>
          <p:cNvSpPr/>
          <p:nvPr/>
        </p:nvSpPr>
        <p:spPr>
          <a:xfrm>
            <a:off x="571500" y="6367463"/>
            <a:ext cx="91973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SW PM Competition 2026 본선 — 사건번호 PMB-2026-0826</a:t>
            </a:r>
            <a:endParaRPr lang="en-US" sz="1050" dirty="0"/>
          </a:p>
        </p:txBody>
      </p:sp>
      <p:sp>
        <p:nvSpPr>
          <p:cNvPr id="47" name="SK-14-text-46"/>
          <p:cNvSpPr/>
          <p:nvPr/>
        </p:nvSpPr>
        <p:spPr>
          <a:xfrm>
            <a:off x="9696450" y="6362700"/>
            <a:ext cx="2495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Presentation Duration: 15min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5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5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5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80975"/>
            <a:ext cx="2122289" cy="276225"/>
          </a:xfrm>
          <a:prstGeom prst="rect">
            <a:avLst/>
          </a:prstGeom>
        </p:spPr>
      </p:pic>
      <p:pic>
        <p:nvPicPr>
          <p:cNvPr id="5" name="SK-15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314325"/>
            <a:ext cx="8812411" cy="9525"/>
          </a:xfrm>
          <a:prstGeom prst="rect">
            <a:avLst/>
          </a:prstGeom>
        </p:spPr>
      </p:pic>
      <p:pic>
        <p:nvPicPr>
          <p:cNvPr id="6" name="SK-15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152525"/>
            <a:ext cx="5429250" cy="2497931"/>
          </a:xfrm>
          <a:prstGeom prst="rect">
            <a:avLst/>
          </a:prstGeom>
        </p:spPr>
      </p:pic>
      <p:pic>
        <p:nvPicPr>
          <p:cNvPr id="7" name="SK-15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1257300"/>
            <a:ext cx="381000" cy="381000"/>
          </a:xfrm>
          <a:prstGeom prst="rect">
            <a:avLst/>
          </a:prstGeom>
        </p:spPr>
      </p:pic>
      <p:pic>
        <p:nvPicPr>
          <p:cNvPr id="8" name="SK-15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1538" y="1352550"/>
            <a:ext cx="238125" cy="190500"/>
          </a:xfrm>
          <a:prstGeom prst="rect">
            <a:avLst/>
          </a:prstGeom>
        </p:spPr>
      </p:pic>
      <p:pic>
        <p:nvPicPr>
          <p:cNvPr id="9" name="SK-15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1714500"/>
            <a:ext cx="4972050" cy="213271"/>
          </a:xfrm>
          <a:prstGeom prst="rect">
            <a:avLst/>
          </a:prstGeom>
        </p:spPr>
      </p:pic>
      <p:pic>
        <p:nvPicPr>
          <p:cNvPr id="10" name="SK-15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91250" y="1152525"/>
            <a:ext cx="5429250" cy="2497931"/>
          </a:xfrm>
          <a:prstGeom prst="rect">
            <a:avLst/>
          </a:prstGeom>
        </p:spPr>
      </p:pic>
      <p:pic>
        <p:nvPicPr>
          <p:cNvPr id="11" name="SK-15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9850" y="1257300"/>
            <a:ext cx="381000" cy="381000"/>
          </a:xfrm>
          <a:prstGeom prst="rect">
            <a:avLst/>
          </a:prstGeom>
        </p:spPr>
      </p:pic>
      <p:pic>
        <p:nvPicPr>
          <p:cNvPr id="12" name="SK-15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91288" y="1352550"/>
            <a:ext cx="238125" cy="190500"/>
          </a:xfrm>
          <a:prstGeom prst="rect">
            <a:avLst/>
          </a:prstGeom>
        </p:spPr>
      </p:pic>
      <p:pic>
        <p:nvPicPr>
          <p:cNvPr id="13" name="SK-15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19850" y="1714500"/>
            <a:ext cx="4972050" cy="213271"/>
          </a:xfrm>
          <a:prstGeom prst="rect">
            <a:avLst/>
          </a:prstGeom>
        </p:spPr>
      </p:pic>
      <p:pic>
        <p:nvPicPr>
          <p:cNvPr id="14" name="SK-15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3745706"/>
            <a:ext cx="5429250" cy="2497931"/>
          </a:xfrm>
          <a:prstGeom prst="rect">
            <a:avLst/>
          </a:prstGeom>
        </p:spPr>
      </p:pic>
      <p:pic>
        <p:nvPicPr>
          <p:cNvPr id="15" name="SK-15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0100" y="3850481"/>
            <a:ext cx="381000" cy="381000"/>
          </a:xfrm>
          <a:prstGeom prst="rect">
            <a:avLst/>
          </a:prstGeom>
        </p:spPr>
      </p:pic>
      <p:pic>
        <p:nvPicPr>
          <p:cNvPr id="16" name="SK-15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71538" y="3945731"/>
            <a:ext cx="238125" cy="190500"/>
          </a:xfrm>
          <a:prstGeom prst="rect">
            <a:avLst/>
          </a:prstGeom>
        </p:spPr>
      </p:pic>
      <p:pic>
        <p:nvPicPr>
          <p:cNvPr id="17" name="SK-15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0100" y="4307681"/>
            <a:ext cx="4972050" cy="213271"/>
          </a:xfrm>
          <a:prstGeom prst="rect">
            <a:avLst/>
          </a:prstGeom>
        </p:spPr>
      </p:pic>
      <p:pic>
        <p:nvPicPr>
          <p:cNvPr id="18" name="SK-15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191250" y="3745706"/>
            <a:ext cx="5429250" cy="2497931"/>
          </a:xfrm>
          <a:prstGeom prst="rect">
            <a:avLst/>
          </a:prstGeom>
        </p:spPr>
      </p:pic>
      <p:pic>
        <p:nvPicPr>
          <p:cNvPr id="19" name="SK-15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19850" y="3850481"/>
            <a:ext cx="381000" cy="381000"/>
          </a:xfrm>
          <a:prstGeom prst="rect">
            <a:avLst/>
          </a:prstGeom>
        </p:spPr>
      </p:pic>
      <p:pic>
        <p:nvPicPr>
          <p:cNvPr id="20" name="SK-15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91288" y="3945731"/>
            <a:ext cx="238125" cy="190500"/>
          </a:xfrm>
          <a:prstGeom prst="rect">
            <a:avLst/>
          </a:prstGeom>
        </p:spPr>
      </p:pic>
      <p:pic>
        <p:nvPicPr>
          <p:cNvPr id="21" name="SK-15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19850" y="4307681"/>
            <a:ext cx="4972050" cy="213271"/>
          </a:xfrm>
          <a:prstGeom prst="rect">
            <a:avLst/>
          </a:prstGeom>
        </p:spPr>
      </p:pic>
      <p:pic>
        <p:nvPicPr>
          <p:cNvPr id="22" name="SK-15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71500" y="6348413"/>
            <a:ext cx="11049000" cy="328613"/>
          </a:xfrm>
          <a:prstGeom prst="rect">
            <a:avLst/>
          </a:prstGeom>
        </p:spPr>
      </p:pic>
      <p:pic>
        <p:nvPicPr>
          <p:cNvPr id="23" name="SK-15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62000" y="6438305"/>
            <a:ext cx="178594" cy="148828"/>
          </a:xfrm>
          <a:prstGeom prst="rect">
            <a:avLst/>
          </a:prstGeom>
        </p:spPr>
      </p:pic>
      <p:sp>
        <p:nvSpPr>
          <p:cNvPr id="24" name="SK-15-text-23"/>
          <p:cNvSpPr/>
          <p:nvPr/>
        </p:nvSpPr>
        <p:spPr>
          <a:xfrm>
            <a:off x="647700" y="180975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25" name="SK-15-text-24"/>
          <p:cNvSpPr/>
          <p:nvPr/>
        </p:nvSpPr>
        <p:spPr>
          <a:xfrm>
            <a:off x="571500" y="533400"/>
            <a:ext cx="11620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E-2. 예상 질의응답 (Q&amp;A) 대응 전략</a:t>
            </a:r>
            <a:endParaRPr lang="en-US" sz="2550" dirty="0"/>
          </a:p>
        </p:txBody>
      </p:sp>
      <p:sp>
        <p:nvSpPr>
          <p:cNvPr id="26" name="SK-15-text-25"/>
          <p:cNvSpPr/>
          <p:nvPr/>
        </p:nvSpPr>
        <p:spPr>
          <a:xfrm>
            <a:off x="1295400" y="1304925"/>
            <a:ext cx="21526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PM의 책임 수준</a:t>
            </a:r>
            <a:endParaRPr lang="en-US" sz="1500" dirty="0"/>
          </a:p>
        </p:txBody>
      </p:sp>
      <p:sp>
        <p:nvSpPr>
          <p:cNvPr id="27" name="SK-15-text-26"/>
          <p:cNvSpPr/>
          <p:nvPr/>
        </p:nvSpPr>
        <p:spPr>
          <a:xfrm>
            <a:off x="914400" y="1714500"/>
            <a:ext cx="543647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"PM 한도경은 의도적으로 실적을 조작한 주범입니까?"</a:t>
            </a:r>
            <a:endParaRPr lang="en-US" sz="1200" dirty="0"/>
          </a:p>
        </p:txBody>
      </p:sp>
      <p:sp>
        <p:nvSpPr>
          <p:cNvPr id="28" name="SK-15-text-27"/>
          <p:cNvSpPr/>
          <p:nvPr/>
        </p:nvSpPr>
        <p:spPr>
          <a:xfrm>
            <a:off x="942975" y="2003971"/>
            <a:ext cx="617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단순한 악의적 은폐보다는</a:t>
            </a:r>
            <a:pPr algn="l"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'구조적 맹목'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방치 책임이 큽니다.</a:t>
            </a:r>
            <a:endParaRPr lang="en-US" sz="1125" dirty="0"/>
          </a:p>
        </p:txBody>
      </p:sp>
      <p:sp>
        <p:nvSpPr>
          <p:cNvPr id="29" name="SK-15-text-28"/>
          <p:cNvSpPr/>
          <p:nvPr/>
        </p:nvSpPr>
        <p:spPr>
          <a:xfrm>
            <a:off x="942975" y="2261146"/>
            <a:ext cx="4972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 체계의 결함(Outcome 배제)을 인지하지 못하고 AI 자동 보고를 무비판 수용한 것이 본질적 과실입니다.</a:t>
            </a:r>
            <a:endParaRPr lang="en-US" sz="1125" dirty="0"/>
          </a:p>
        </p:txBody>
      </p:sp>
      <p:sp>
        <p:nvSpPr>
          <p:cNvPr id="30" name="SK-15-text-29"/>
          <p:cNvSpPr/>
          <p:nvPr/>
        </p:nvSpPr>
        <p:spPr>
          <a:xfrm>
            <a:off x="942975" y="2746921"/>
            <a:ext cx="4972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불편한 신호(파일럿 데이터, 외부 메일)를 의사결정에서 차단한 것은 PM의 명백한 책임입니다.</a:t>
            </a:r>
            <a:endParaRPr lang="en-US" sz="1125" dirty="0"/>
          </a:p>
        </p:txBody>
      </p:sp>
      <p:sp>
        <p:nvSpPr>
          <p:cNvPr id="31" name="SK-15-text-30"/>
          <p:cNvSpPr/>
          <p:nvPr/>
        </p:nvSpPr>
        <p:spPr>
          <a:xfrm>
            <a:off x="6915150" y="1304925"/>
            <a:ext cx="28384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구조적 문제 해결 방안</a:t>
            </a:r>
            <a:endParaRPr lang="en-US" sz="1500" dirty="0"/>
          </a:p>
        </p:txBody>
      </p:sp>
      <p:sp>
        <p:nvSpPr>
          <p:cNvPr id="32" name="SK-15-text-31"/>
          <p:cNvSpPr/>
          <p:nvPr/>
        </p:nvSpPr>
        <p:spPr>
          <a:xfrm>
            <a:off x="6534150" y="1714500"/>
            <a:ext cx="507912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"PM 개인의 교체만으로 재발 방지가 가능합니까?"</a:t>
            </a:r>
            <a:endParaRPr lang="en-US" sz="1200" dirty="0"/>
          </a:p>
        </p:txBody>
      </p:sp>
      <p:sp>
        <p:nvSpPr>
          <p:cNvPr id="33" name="SK-15-text-32"/>
          <p:cNvSpPr/>
          <p:nvPr/>
        </p:nvSpPr>
        <p:spPr>
          <a:xfrm>
            <a:off x="6562725" y="2003971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아니오.</a:t>
            </a:r>
            <a:pPr algn="l"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시스템적 거버넌스 복원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병행되어야 합니다.</a:t>
            </a:r>
            <a:endParaRPr lang="en-US" sz="1125" dirty="0"/>
          </a:p>
        </p:txBody>
      </p:sp>
      <p:sp>
        <p:nvSpPr>
          <p:cNvPr id="34" name="SK-15-text-33"/>
          <p:cNvSpPr/>
          <p:nvPr/>
        </p:nvSpPr>
        <p:spPr>
          <a:xfrm>
            <a:off x="6562725" y="2261146"/>
            <a:ext cx="4972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RACI 공백(AI 인프라 예산, 편익 측정)을 해소하고, 3개 리전의 의사결정을 통합하는 SSOT 체계를 구축해야 합니다.</a:t>
            </a:r>
            <a:endParaRPr lang="en-US" sz="1125" dirty="0"/>
          </a:p>
        </p:txBody>
      </p:sp>
      <p:sp>
        <p:nvSpPr>
          <p:cNvPr id="35" name="SK-15-text-34"/>
          <p:cNvSpPr/>
          <p:nvPr/>
        </p:nvSpPr>
        <p:spPr>
          <a:xfrm>
            <a:off x="6562725" y="2746921"/>
            <a:ext cx="4972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'지표가 목표가 되는 현상(Goodhart's Law)'을 방지하기 위한 Outcome 중심의 성과 관리가 필수입니다.</a:t>
            </a:r>
            <a:endParaRPr lang="en-US" sz="1125" dirty="0"/>
          </a:p>
        </p:txBody>
      </p:sp>
      <p:sp>
        <p:nvSpPr>
          <p:cNvPr id="36" name="SK-15-text-35"/>
          <p:cNvSpPr/>
          <p:nvPr/>
        </p:nvSpPr>
        <p:spPr>
          <a:xfrm>
            <a:off x="1295400" y="3898106"/>
            <a:ext cx="26098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에이전트 실효성</a:t>
            </a:r>
            <a:endParaRPr lang="en-US" sz="1500" dirty="0"/>
          </a:p>
        </p:txBody>
      </p:sp>
      <p:sp>
        <p:nvSpPr>
          <p:cNvPr id="37" name="SK-15-text-36"/>
          <p:cNvSpPr/>
          <p:nvPr/>
        </p:nvSpPr>
        <p:spPr>
          <a:xfrm>
            <a:off x="914400" y="4307681"/>
            <a:ext cx="597250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"AI가 어떻게 '수박 프로젝트'를 원천적으로 차단합니까?"</a:t>
            </a:r>
            <a:endParaRPr lang="en-US" sz="1200" dirty="0"/>
          </a:p>
        </p:txBody>
      </p:sp>
      <p:sp>
        <p:nvSpPr>
          <p:cNvPr id="38" name="SK-15-text-37"/>
          <p:cNvSpPr/>
          <p:nvPr/>
        </p:nvSpPr>
        <p:spPr>
          <a:xfrm>
            <a:off x="942975" y="4597152"/>
            <a:ext cx="4972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Value Guardian: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보고용 지표와 실제 고객 가치(무개입완주율 등)의 괴리를 실시간 교차 검증합니다.</a:t>
            </a:r>
            <a:endParaRPr lang="en-US" sz="1125" dirty="0"/>
          </a:p>
        </p:txBody>
      </p:sp>
      <p:sp>
        <p:nvSpPr>
          <p:cNvPr id="39" name="SK-15-text-38"/>
          <p:cNvSpPr/>
          <p:nvPr/>
        </p:nvSpPr>
        <p:spPr>
          <a:xfrm>
            <a:off x="942975" y="5082927"/>
            <a:ext cx="4972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Change Sentinel: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메신저 등 비공식 채널의 변경 사항을 감지하여 투명한 변경 통제를 강제합니다.</a:t>
            </a:r>
            <a:endParaRPr lang="en-US" sz="1125" dirty="0"/>
          </a:p>
        </p:txBody>
      </p:sp>
      <p:sp>
        <p:nvSpPr>
          <p:cNvPr id="40" name="SK-15-text-39"/>
          <p:cNvSpPr/>
          <p:nvPr/>
        </p:nvSpPr>
        <p:spPr>
          <a:xfrm>
            <a:off x="942975" y="5568702"/>
            <a:ext cx="4972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Risk Radar: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신호(EOL 등)를 감지하여 리스크 등록을 자동 제안함으로써 '정보의 단절'을 막습니다.</a:t>
            </a:r>
            <a:endParaRPr lang="en-US" sz="1125" dirty="0"/>
          </a:p>
        </p:txBody>
      </p:sp>
      <p:sp>
        <p:nvSpPr>
          <p:cNvPr id="41" name="SK-15-text-40"/>
          <p:cNvSpPr/>
          <p:nvPr/>
        </p:nvSpPr>
        <p:spPr>
          <a:xfrm>
            <a:off x="6915150" y="3898106"/>
            <a:ext cx="26098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비용 및 실행력</a:t>
            </a:r>
            <a:endParaRPr lang="en-US" sz="1500" dirty="0"/>
          </a:p>
        </p:txBody>
      </p:sp>
      <p:sp>
        <p:nvSpPr>
          <p:cNvPr id="42" name="SK-15-text-41"/>
          <p:cNvSpPr/>
          <p:nvPr/>
        </p:nvSpPr>
        <p:spPr>
          <a:xfrm>
            <a:off x="6534150" y="4307681"/>
            <a:ext cx="56578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"새로운 에이전트 도입으로 인한 예산 초과 우려는 없습니까?"</a:t>
            </a:r>
            <a:endParaRPr lang="en-US" sz="1200" dirty="0"/>
          </a:p>
        </p:txBody>
      </p:sp>
      <p:sp>
        <p:nvSpPr>
          <p:cNvPr id="43" name="SK-15-text-42"/>
          <p:cNvSpPr/>
          <p:nvPr/>
        </p:nvSpPr>
        <p:spPr>
          <a:xfrm>
            <a:off x="6562725" y="4597152"/>
            <a:ext cx="4972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낭비되고 있는</a:t>
            </a:r>
            <a:pPr algn="l"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인프라 비용(21.4억)의 최적화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통해 충분한 재원을 확보할 수 있습니다.</a:t>
            </a:r>
            <a:endParaRPr lang="en-US" sz="1125" dirty="0"/>
          </a:p>
        </p:txBody>
      </p:sp>
      <p:sp>
        <p:nvSpPr>
          <p:cNvPr id="44" name="SK-15-text-43"/>
          <p:cNvSpPr/>
          <p:nvPr/>
        </p:nvSpPr>
        <p:spPr>
          <a:xfrm>
            <a:off x="6562725" y="5082927"/>
            <a:ext cx="4972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VLM 티어 조정 및 엣지캐시 적용만으로도 연간 수억 원의 비용 절감이 가능하며, 이를 에이전트 고도화에 재투자합니다.</a:t>
            </a:r>
            <a:endParaRPr lang="en-US" sz="1125" dirty="0"/>
          </a:p>
        </p:txBody>
      </p:sp>
      <p:sp>
        <p:nvSpPr>
          <p:cNvPr id="45" name="SK-15-text-44"/>
          <p:cNvSpPr/>
          <p:nvPr/>
        </p:nvSpPr>
        <p:spPr>
          <a:xfrm>
            <a:off x="6562725" y="5568702"/>
            <a:ext cx="4972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기술적 구현보다 중요한 것은 '사람의 검토(Human-in-the-loop)'를 강제하는 프로세스 정립입니다.</a:t>
            </a:r>
            <a:endParaRPr lang="en-US" sz="1125" dirty="0"/>
          </a:p>
        </p:txBody>
      </p:sp>
      <p:sp>
        <p:nvSpPr>
          <p:cNvPr id="46" name="SK-15-text-45"/>
          <p:cNvSpPr/>
          <p:nvPr/>
        </p:nvSpPr>
        <p:spPr>
          <a:xfrm>
            <a:off x="1054894" y="6405563"/>
            <a:ext cx="11137106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메시지:</a:t>
            </a:r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AI는 거짓말을 하지 않습니다. 단지 질문하지 않았을 뿐입니다. Value-Driven AI Agent는 </a:t>
            </a:r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'가치에 대한 올바른 질문'</a:t>
            </a:r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자동화하는 도구입니다.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2026-08-26T02:10:37Z</dcterms:created>
  <dcterms:modified xsi:type="dcterms:W3CDTF">2026-08-26T02:10:37Z</dcterms:modified>
</cp:coreProperties>
</file>
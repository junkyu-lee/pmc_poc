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85</c:v>
                </c:pt>
                <c:pt idx="2">
                  <c:v>70</c:v>
                </c:pt>
                <c:pt idx="3">
                  <c:v>55</c:v>
                </c:pt>
                <c:pt idx="4">
                  <c:v>40</c:v>
                </c:pt>
                <c:pt idx="5">
                  <c:v>25</c:v>
                </c:pt>
                <c:pt idx="6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(Scope Creep)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85</c:v>
                </c:pt>
                <c:pt idx="2">
                  <c:v>75</c:v>
                </c:pt>
                <c:pt idx="3">
                  <c:v>75</c:v>
                </c:pt>
                <c:pt idx="4">
                  <c:v>70</c:v>
                </c:pt>
                <c:pt idx="5">
                  <c:v>85</c:v>
                </c:pt>
                <c:pt idx="6">
                  <c:v>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LCL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  <c:pt idx="4">
                  <c:v>300</c:v>
                </c:pt>
                <c:pt idx="5">
                  <c:v>300</c:v>
                </c:pt>
                <c:pt idx="6">
                  <c:v>300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p95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220</c:v>
                </c:pt>
                <c:pt idx="1">
                  <c:v>240</c:v>
                </c:pt>
                <c:pt idx="2">
                  <c:v>270</c:v>
                </c:pt>
                <c:pt idx="3">
                  <c:v>310</c:v>
                </c:pt>
                <c:pt idx="4">
                  <c:v>350</c:v>
                </c:pt>
                <c:pt idx="5">
                  <c:v>380</c:v>
                </c:pt>
                <c:pt idx="6">
                  <c:v>410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Scope Creep</c:v>
                </c:pt>
                <c:pt idx="1">
                  <c:v>Build Conflict</c:v>
                </c:pt>
                <c:pt idx="2">
                  <c:v>Overtime</c:v>
                </c:pt>
                <c:pt idx="3">
                  <c:v>Translation Err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28</c:v>
                </c:pt>
                <c:pt idx="2">
                  <c:v>15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39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Relationship Id="rId9" Type="http://schemas.openxmlformats.org/officeDocument/2006/relationships/image" Target="../media/image41.png"/><Relationship Id="rId10" Type="http://schemas.openxmlformats.org/officeDocument/2006/relationships/image" Target="../media/image35.png"/><Relationship Id="rId11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Relationship Id="rId9" Type="http://schemas.openxmlformats.org/officeDocument/2006/relationships/image" Target="../media/image41.png"/><Relationship Id="rId10" Type="http://schemas.openxmlformats.org/officeDocument/2006/relationships/image" Target="../media/image35.png"/><Relationship Id="rId11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Relationship Id="rId9" Type="http://schemas.openxmlformats.org/officeDocument/2006/relationships/image" Target="../media/image41.png"/><Relationship Id="rId10" Type="http://schemas.openxmlformats.org/officeDocument/2006/relationships/image" Target="../media/image35.png"/><Relationship Id="rId11" Type="http://schemas.openxmlformats.org/officeDocument/2006/relationships/image" Target="../media/image40.png"/><Relationship Id="rId1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Relationship Id="rId9" Type="http://schemas.openxmlformats.org/officeDocument/2006/relationships/image" Target="../media/image41.png"/><Relationship Id="rId10" Type="http://schemas.openxmlformats.org/officeDocument/2006/relationships/image" Target="../media/image35.png"/><Relationship Id="rId11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Relationship Id="rId9" Type="http://schemas.openxmlformats.org/officeDocument/2006/relationships/image" Target="../media/image41.png"/><Relationship Id="rId10" Type="http://schemas.openxmlformats.org/officeDocument/2006/relationships/image" Target="../media/image35.png"/><Relationship Id="rId11" Type="http://schemas.openxmlformats.org/officeDocument/2006/relationships/image" Target="../media/image40.png"/><Relationship Id="rId1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5" Type="http://schemas.openxmlformats.org/officeDocument/2006/relationships/image" Target="../media/image6.png"/><Relationship Id="rId6" Type="http://schemas.openxmlformats.org/officeDocument/2006/relationships/image" Target="../media/image46.png"/><Relationship Id="rId7" Type="http://schemas.openxmlformats.org/officeDocument/2006/relationships/image" Target="../media/image50.png"/><Relationship Id="rId8" Type="http://schemas.openxmlformats.org/officeDocument/2006/relationships/image" Target="../media/image45.png"/><Relationship Id="rId9" Type="http://schemas.openxmlformats.org/officeDocument/2006/relationships/image" Target="../media/image49.png"/><Relationship Id="rId10" Type="http://schemas.openxmlformats.org/officeDocument/2006/relationships/image" Target="../media/image44.png"/><Relationship Id="rId11" Type="http://schemas.openxmlformats.org/officeDocument/2006/relationships/image" Target="../media/image4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18.png"/><Relationship Id="rId4" Type="http://schemas.openxmlformats.org/officeDocument/2006/relationships/image" Target="../media/image54.png"/><Relationship Id="rId5" Type="http://schemas.openxmlformats.org/officeDocument/2006/relationships/image" Target="../media/image6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1.png"/><Relationship Id="rId9" Type="http://schemas.openxmlformats.org/officeDocument/2006/relationships/image" Target="../media/image56.png"/><Relationship Id="rId10" Type="http://schemas.openxmlformats.org/officeDocument/2006/relationships/chart" Target="../charts/char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56494"/>
            <a:ext cx="6948837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sz="4050" b="0" i="0" u="none">
                <a:solidFill>
                  <a:srgbClr val="FFFFFF"/>
                </a:solidFill>
                <a:latin typeface="Montserrat Black"/>
              </a:rPr>
              <a:t>STAGE ① IDENTIFY &amp;</a:t>
            </a:r>
            <a:r>
              <a:t>
</a:t>
            </a:r>
            <a:r>
              <a:rPr sz="4050" b="0" i="0" u="none">
                <a:solidFill>
                  <a:srgbClr val="FFFFFF"/>
                </a:solidFill>
                <a:latin typeface="Montserrat Black"/>
              </a:rPr>
              <a:t> STAGE ②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381375"/>
            <a:ext cx="69488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종합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분석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보고서</a:t>
            </a:r>
            <a:endParaRPr sz="18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025" y="4114800"/>
            <a:ext cx="5294262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시나리오: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NovaHome Connect 통합 프로젝트 + 돌발 이슈 01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(내부 갈등: 베타 D-15 소셜 로그인 강행 및 대립)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044380"/>
            <a:ext cx="959048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948" y="5044380"/>
            <a:ext cx="1095523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347" y="5044380"/>
            <a:ext cx="1082873" cy="29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시나리오: NovaHome Connect 통합 프로젝트 + 돌발 이슈 01 (내부 갈등: 베타 D-15 소셜 로그인 강행 및 대립)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8018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9890" y="1219348"/>
            <a:ext cx="4719339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610123"/>
            <a:ext cx="519064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E5FF"/>
                </a:solidFill>
                <a:latin typeface="Montserrat"/>
              </a:rPr>
              <a:t>5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문제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실물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도구</a:t>
            </a:r>
            <a:endParaRPr sz="1350" b="1" i="0" u="none" dirty="0">
              <a:solidFill>
                <a:srgbClr val="00E5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050" y="2133748"/>
            <a:ext cx="477059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위기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상황</a:t>
            </a:r>
            <a:endParaRPr sz="15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050" y="2486173"/>
            <a:ext cx="45434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FFFFF"/>
                </a:solidFill>
                <a:latin typeface="Noto Sans KR"/>
              </a:rPr>
              <a:t>NovaHome Connect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 론칭 D-15 시점, 소셜 로그인 기습 반영으로 인한 빌드 충돌, 약관 누락, 품질 붕괴 발생. 현상은 '일정 지연'이나 근본 원인은 </a:t>
            </a:r>
            <a:r>
              <a:rPr sz="1125" b="1" i="0" u="none">
                <a:solidFill>
                  <a:srgbClr val="FFFFFF"/>
                </a:solidFill>
                <a:latin typeface="Noto Sans KR"/>
              </a:rPr>
              <a:t>거버넌스 붕괴 및 비공식적 의사결정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에 있음.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981598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거버넌스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 </a:t>
            </a: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붕괴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:</a:t>
            </a:r>
            <a:r>
              <a:rPr sz="1200" b="0" i="0" u="none" dirty="0">
                <a:solidFill>
                  <a:srgbClr val="A0A0A0"/>
                </a:solidFill>
                <a:latin typeface="Noto Sans KR"/>
              </a:rPr>
              <a:t> RACI, Stakeholder Matrix, 5 Whys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33967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Scope Creep: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RTM, Burndown Chart, Mindset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69775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품질 파이프라인 붕괴: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Control Chart, Variance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05584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Compliance 리스크: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Risk Matrix, Quant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41392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팀 간 대립: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Causal Map, Pareto Chart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</a:defRPr>
            </a:pPr>
            <a:r>
              <a:t>핵심 진단: 현상은 '일정 지연 및 직무 대립'이나, 근본 원인은 PMBOK 8판 체계 미비, 변경 통제(CRB) 부재, 그리고 비공식적 의사결정 방식에 있습니다.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17920" y="25603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16459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문제 영역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핵심 내용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디텍팅 도구 (3종)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거버넌스 붕괴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PO 독단 / 스폰서 소외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RACI, Stakeholder, 5Whys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Scope Creep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D-15 소셜로그인 반영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RTM, Burndown, Mindset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품질 보증 붕괴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SDK 충돌 &amp; 40TC급증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Control Chart, Fishbone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개인정보 약관 누락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Risk P-I, Quant Risk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조직 갈등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개발/QA 집단 직무거부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Causal Map, Pareto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7250" y="224313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72542" y="2243137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7275" y="3514725"/>
            <a:ext cx="463057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007F"/>
                </a:solidFill>
                <a:latin typeface="Montserrat"/>
              </a:rPr>
              <a:t>🚨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돌발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이슈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01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상세</a:t>
            </a:r>
            <a:endParaRPr sz="12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7275" y="3857625"/>
            <a:ext cx="44100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FFFFF"/>
                </a:solidFill>
                <a:latin typeface="Noto Sans KR"/>
              </a:rPr>
              <a:t>PO가 마케팅 압박에 밀려 소셜 로그인을 기습 반영. 기술 충돌, 품질 검증 불가, 약관 미비 동시 폭발.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62725" y="22431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84381" y="22431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09484" y="22431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52712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72542" y="2652712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250" y="306228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62725" y="265271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84381" y="265271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09484" y="265271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306228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84381" y="306228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09484" y="306228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47186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4381" y="347186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09484" y="347186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8814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84381" y="38814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09484" y="38814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PROJECT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NOVAHOME CONNECT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47850"/>
          <a:ext cx="4810124" cy="1228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292"/>
                <a:gridCol w="3894832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목표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가전 연동, RTM 확인, 개인화 캠페인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2025.08 ~ 2025.11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방식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Agile 스크럼 + Milestone 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MILESTONE GATE STATUS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47850"/>
          <a:ext cx="4810124" cy="244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656"/>
                <a:gridCol w="825103"/>
                <a:gridCol w="2163365"/>
              </a:tblGrid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일정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현재 상태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G1 Scope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09/15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(REQ-017 혼선)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G2 Design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(약관 누락)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G3 Beta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(D-15 충돌)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G4 LRR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(p95 초과)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9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G5 Launch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291072" y="1280160"/>
          <a:ext cx="53035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게이트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일정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상태 &amp; 리스크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G1 Scope Freeze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범위 확정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09/15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97316"/>
                          </a:solidFill>
                        </a:defRPr>
                      </a:pPr>
                      <a:r>
                        <a:t>위반 (범위혼선)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G2 Design Freeze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아키텍처 승인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10/01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97316"/>
                          </a:solidFill>
                        </a:defRPr>
                      </a:pPr>
                      <a:r>
                        <a:t>위반 (약관지연)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G3 Beta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제한공개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10/20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43F5E"/>
                          </a:solidFill>
                        </a:defRPr>
                      </a:pPr>
                      <a:r>
                        <a:t>CRITICAL (소셜로그인 충돌)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G4 LRR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최종검증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11/05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43F5E"/>
                          </a:solidFill>
                        </a:defRPr>
                      </a:pPr>
                      <a:r>
                        <a:t>CRITICAL (p95 410ms)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G5 Launch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정식론칭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11/15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43F5E"/>
                          </a:solidFill>
                        </a:defRPr>
                      </a:pPr>
                      <a:r>
                        <a:t>위험 (미해소시 실패)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485900"/>
            <a:ext cx="767506" cy="247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7250" y="227171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67607" y="227171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9305" y="227171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1485900"/>
            <a:ext cx="767506" cy="2476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62725" y="227171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27565" y="227171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70331" y="227171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81287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7607" y="2681287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9305" y="2681287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7250" y="309086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67607" y="309086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9305" y="309086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268128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27565" y="268128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270331" y="268128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09086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27565" y="309086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70331" y="309086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50043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27565" y="350043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70331" y="350043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IDENTIFY: KPI GAP &amp;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KPI GAP ANALYSIS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76425"/>
          <a:ext cx="4810124" cy="1628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357"/>
                <a:gridCol w="1441698"/>
                <a:gridCol w="1458069"/>
              </a:tblGrid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KPI 지표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응답속도 (p95)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300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410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5xx 오류율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0.35%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CI 성공률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≥ 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78%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PRIORITIZATION MATRIX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76425"/>
          <a:ext cx="4810124" cy="203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840"/>
                <a:gridCol w="2842766"/>
                <a:gridCol w="1102518"/>
              </a:tblGrid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핵심 문제명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긴급/영향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거버넌스 붕괴 &amp; 비공식 변경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요구사항 통제 미비 (Scope Creep)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검증 파이프라인 붕괴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Compliance 리스크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2179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</a:defRPr>
            </a:pPr>
            <a:r>
              <a:t>PO / 마케팅: '마케팅 캠페인 연동 필수. 통합 테스트 강행해야 함.'</a:t>
            </a:r>
            <a:br/>
            <a:br/>
            <a:r>
              <a:t>서비스 BE (오지후): 'SDK 2.4 빌드 충돌 발생. 자원/QA 지원 불가.'</a:t>
            </a:r>
            <a:br/>
            <a:br/>
            <a:r>
              <a:t>품질/QA (문해인): '테스트 매트릭스 2배 급증. 전수 검증 불가능.'</a:t>
            </a:r>
            <a:br/>
            <a:br/>
            <a:r>
              <a:t>보안/법무 (윤세라): '약관 초안 누락. CRB 승인 불가시 론칭 불가.'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400"/>
            <a:ext cx="5286375" cy="7180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215637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0075" y="3112591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299245"/>
            <a:ext cx="400198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255466"/>
            <a:ext cx="400198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P1.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거버넌스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비공식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변경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Mindset &amp;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공식 체계(CRB) 무시. Governance &amp; Stakeholder Domain 붕괴.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RACI Matrix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61357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PO가 독단적(A) 결정. 스폰서 누락(I), QA/개발 소외(I).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255466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5 Whys Root 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569791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F007F"/>
                </a:solidFill>
                <a:latin typeface="Noto Sans KR"/>
              </a:rPr>
              <a:t>결론: PMBOK 8판 공식 거버넌스 부재가 근본 원인.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91072" y="128016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KPI 지표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실적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응답속도 (p95)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≤ 300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410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43F5E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서버 5xx 오류율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≤ 0.2%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0.35%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43F5E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RTM 장애 건수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0 건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간헐적 실패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CI 빌드 성공률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≥ 85%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0015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156368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34302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299245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P2. SCOPE CREEP &amp; RTM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134302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RTM Traceability 파괴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REQ-017(소셜로그인)이 의존성(약관 REQ-021)과 단절된 채 기습 강행됨.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Sprint 3 Burndown 굴절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89944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스프린트 중간 요구사항 추가로 상향 굴절 발생.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91072" y="128016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우선순위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핵심 문제명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긴급도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영향도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Rank 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거버넌스 붕괴 &amp; 비공식 변경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43F5E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Rank 2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요구사항 통제미비 (Scope Creep)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43F5E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Rank 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검증/품질 보증 붕괴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Rank 4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법무/보안 Compliance 리스크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Rank 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팀 간 R&amp;R 대립 &amp; 사기저하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🔍 [문제 1] 거버넌스 붕괴 &amp; 권한/스폰서십 비공식 변경 (분석)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</a:defRPr>
            </a:pPr>
            <a:r>
              <a:t>1. Mindset: 의사결정을 공식 체계(CRB)가 아닌 '영업/마케팅 단독 압박 및 임기응변식 타협'으로 처리함.</a:t>
            </a:r>
            <a:br/>
            <a:br/>
            <a:r>
              <a:t>2. Domain: Governance Performance Domain &amp; Stakeholder Performance Domain 붕괴.</a:t>
            </a:r>
            <a:br/>
            <a:br/>
            <a:r>
              <a:t>3. AI Use Case: AI 기반 의사결정 영향도 자동 검증 &amp; RACI 승인 에이전트 구축.</a:t>
            </a:r>
            <a:br/>
            <a:br/>
            <a:r>
              <a:t>4. Future State: 스폰서-PO-PM 3자 공식 승인 절차 미거친 변경 요청의 투입 0건 달성.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251618"/>
            <a:ext cx="5286375" cy="12971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43827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394495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P4. COMPLIANCE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리스크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7475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Risk P-I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개인정보 약관 누락 및 Geo-IP 미대응 ➔ Score 25 (Critical)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Quant Risk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223170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CRB 미통과 시 론칭 불가 및 유럽 지역 차단 과징금 발생.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🔍 [문제 4] 법무/보안 규제 준수(Compliance) 리스크 (분석)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</a:defRPr>
            </a:pPr>
            <a:r>
              <a:t>1. Mindset: 보안/법무 약관을 프로젝트 론칭 직전의 형식적 절차로 치부하는 민감도 결여.</a:t>
            </a:r>
            <a:br/>
            <a:br/>
            <a:r>
              <a:t>2. Domain: Risk Performance Domain &amp; Compliance Domain 붕괴.</a:t>
            </a:r>
            <a:br/>
            <a:br/>
            <a:r>
              <a:t>3. AI Use Case: AI 컴플라이언스 사전 약관 검증기 &amp; Geo-IP 자동 신청 에이전트.</a:t>
            </a:r>
            <a:br/>
            <a:br/>
            <a:r>
              <a:t>4. Future State: CRB 승인 100% 사전 확보 및 글로벌 법적 과징금 리스크 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75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0075" y="2251621"/>
            <a:ext cx="5286375" cy="10266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94495"/>
            <a:ext cx="473273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P5. 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팀 간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대립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사기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저하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Pareto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불만 원인: '일방적 스코프 변경'과 '기술부채'가 전체의 60.8% 차지 (Vital Few).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Causal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708820"/>
            <a:ext cx="5000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거버넌스 붕괴 ➔ Scope Creep ➔ 품질 붕괴 ➔ </a:t>
            </a:r>
            <a:r>
              <a:rPr sz="1050" b="1" i="0" u="none">
                <a:solidFill>
                  <a:srgbClr val="A0A0A0"/>
                </a:solidFill>
                <a:latin typeface="Noto Sans KR"/>
              </a:rPr>
              <a:t>최종적으로 조직 문화 붕괴(퇴사 위험)로 수렴.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🔍 [문제 5] 팀 간 R&amp;R 대립 및 조직 사기 저하 (분석)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</a:defRPr>
            </a:pPr>
            <a:r>
              <a:t>1. Mindset: 리더십을 일방 통제로 인식하고 팀원과의 투명한 소통 제공 실패.</a:t>
            </a:r>
            <a:br/>
            <a:br/>
            <a:r>
              <a:t>2. Domain: Team Performance Domain &amp; Culture Domain 붕괴.</a:t>
            </a:r>
            <a:br/>
            <a:br/>
            <a:r>
              <a:t>3. AI Use Case: AI 다국어 회의록/의사결정 요약 봇 &amp; 팀 사기 감지 에이전트.</a:t>
            </a:r>
            <a:br/>
            <a:br/>
            <a:r>
              <a:t>4. Future State: 의사결정의 100% 투명 공유 및 글로벌 팀 협업 만족도 90% 달성.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24493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6983" y="1708100"/>
            <a:ext cx="4781691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  <a:latin typeface="Montserrat Black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346275"/>
            <a:ext cx="4943475" cy="1851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15종의 분석 도구를 통해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'공식 거버넌스 부재'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라는 근본 원인을 증명했습니다.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단기적 지혈(워크어라운드)을 넘어, 이제 Stage ③ Design으로 진입하여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Value-Driven AI Agentic 시스템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을 구축하고 프로젝트를 정상 궤도로 복귀시키겠습니다.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731912"/>
            <a:ext cx="246608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</a:defRPr>
            </a:pPr>
            <a:r>
              <a:t>🚀 Stage ① &amp; ② 종합 결론 및 Stage ③ Design 이행 로드맵</a:t>
            </a:r>
            <a:br/>
            <a:br/>
            <a:r>
              <a:t>종합 진단 총평: 5개 문제에 매핑된 실물 분석 도구 15종을 통해 근본 원인을 증명했습니다. 이제 Value-Driven AI Agentic 시스템 설계로 즉시 이행합니다.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0015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198492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2769691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554462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4537323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495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6400" y="134302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https://www.infinityparkeventcenter.com/wp-content/uploads/2025/12/corporate-event-ideas.jpg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158874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www.infinityparkeventcenter.com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34344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76400" y="212779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https://pic-microcontroller.com/wp-content/uploads/2026/05/Illustrative-View-of-the-Concept-2.png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237351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pic-microcontroller.com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19114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76400" y="2912566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https://orca.security/wp-content/uploads/2026/06/orca-blog-best-ai-code-security-solutions-1.png?w=1044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3158281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orca.security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0300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76400" y="3697337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https://media.istockphoto.com/id/1313291958/vector/business-teamwork-and-partnership-help-to-achieve-team-success-think-together-to-solve.jpg?s=612x612&amp;w=0&amp;k=20&amp;c=fX0dn-I9xqw1nsGxsNazXUgETdyjjB-w7VUReIF_te8=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6400" y="4141142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www.istockphoto.com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785866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76400" y="4680198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https://static.vecteezy.com/system/resources/previews/059/471/448/non_2x/futuristic-glowing-rocket-with-plexus-lines-and-glitter-particles-a-startup-business-launch-concept-in-the-neon-light-style-3d-abstract-copy-space-in-the-night-view-digital-technology-background-vector.jpg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6400" y="5124003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www.vecteezy.com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66960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76400" y="5663058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https://png.pngtree.com/thumb_back/fw800/background/20251202/pngtree-vibrant-diagonal-neon-lines-on-dark-background-image_20679882.webp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6400" y="5908774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pngtree.com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IMAGE 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</a:defRPr>
            </a:pPr>
            <a:r>
              <a:t>📚 Appendix 1 — 사용된 20개 PM 분석 도구 세부 목록</a:t>
            </a:r>
            <a:br/>
            <a:br/>
            <a:r>
              <a:t>1. KPI Gap Analysis</a:t>
            </a:r>
            <a:br/>
            <a:r>
              <a:t>2. RTM</a:t>
            </a:r>
            <a:br/>
            <a:r>
              <a:t>3. RACI</a:t>
            </a:r>
            <a:br/>
            <a:r>
              <a:t>4. Risk Matrix</a:t>
            </a:r>
            <a:br/>
            <a:r>
              <a:t>5. Symptom Mapping</a:t>
            </a:r>
            <a:br/>
            <a:r>
              <a:t>6. Impact-Urgency Matrix</a:t>
            </a:r>
            <a:br/>
            <a:r>
              <a:t>7. EVM</a:t>
            </a:r>
            <a:br/>
            <a:r>
              <a:t>8. Variance Analysis</a:t>
            </a:r>
            <a:br/>
            <a:r>
              <a:t>9. 5 Whys</a:t>
            </a:r>
            <a:br/>
            <a:r>
              <a:t>10. Fishbone</a:t>
            </a:r>
            <a:br/>
            <a:r>
              <a:t>11. Mindset Mapping</a:t>
            </a:r>
            <a:br/>
            <a:r>
              <a:t>12. Performance Domain Mapping</a:t>
            </a:r>
            <a:br/>
            <a:r>
              <a:t>13. Stakeholder Matrix</a:t>
            </a:r>
            <a:br/>
            <a:r>
              <a:t>14. Feedback Loop</a:t>
            </a:r>
            <a:br/>
            <a:r>
              <a:t>15. Causal Map</a:t>
            </a:r>
            <a:br/>
            <a:r>
              <a:t>16. Quant Risk</a:t>
            </a:r>
            <a:br/>
            <a:r>
              <a:t>17. Control Chart</a:t>
            </a:r>
            <a:br/>
            <a:r>
              <a:t>18. Burndown</a:t>
            </a:r>
            <a:br/>
            <a:r>
              <a:t>19. Pareto</a:t>
            </a:r>
            <a:br/>
            <a:r>
              <a:t>20. Trend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📊 [문제 1] 디텍팅 실물 도구 3종 풀패키지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Tool #3: RACI Matrix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182880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활동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스폰서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PO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개발/QA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소셜로그인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A (독단)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SDK 2.4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A/R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 (충돌)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Tool #13: Stakeholder Engagement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0" y="182880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이해관계자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현재(C)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바람직(D)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갭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스폰서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Unaware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Leading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단절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Resistant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Supportive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대립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QA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Resistant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Supportive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거부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</a:defRPr>
            </a:pPr>
            <a:r>
              <a:t>Tool #9: 5 Whys Root Cause Flow</a:t>
            </a:r>
            <a:br/>
            <a:br/>
            <a:r>
              <a:t>1. 기습 반영 ➔ 2. PO 일방수용 ➔ 3. PM 미제지 ➔ 4. 통제불가 ➔ 5. Root Cause: PMBOK 거버넌스 부재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🔍 [문제 2] 요구사항 변경 통제 미비 &amp; Scope Creep (분석)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</a:defRPr>
            </a:pPr>
            <a:r>
              <a:t>1. Mindset: G1 Scope Freeze 베이스라인을 경시하고 기술적 의존관계를 통제하지 않음.</a:t>
            </a:r>
            <a:br/>
            <a:br/>
            <a:r>
              <a:t>2. Domain: Planning Performance Domain &amp; Scope Management Domain 붕괴.</a:t>
            </a:r>
            <a:br/>
            <a:br/>
            <a:r>
              <a:t>3. AI Use Case: AI RTM 추적성 분석기 &amp; 스코프 변동 자동 경고 봇 구축.</a:t>
            </a:r>
            <a:br/>
            <a:br/>
            <a:r>
              <a:t>4. Future State: 베이스라인 변경 시 자동 영향도 분석 및 스코프 크립 0건 달성.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📊 [문제 2] 디텍팅 실물 도구 3종 풀패키지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Tool #2: RTM Traceability</a:t>
            </a:r>
            <a:br/>
            <a:r>
              <a:t>REQ-017(소셜로그인) ➔ REQ-021약관 의존성 파괴</a:t>
            </a:r>
            <a:br/>
            <a:r>
              <a:t>REQ-011(RTM알림) ➔ SDK 2.4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Tool #18: Sprint 3 Burndown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400800" y="1828800"/>
          <a:ext cx="5029200" cy="228600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</a:defRPr>
            </a:pPr>
            <a:r>
              <a:t>Tool #11: Mindset Mapping</a:t>
            </a:r>
            <a:br/>
            <a:r>
              <a:t>기존: '요구사항 추가는 흔한 일, 개발자가 버티면 됨'</a:t>
            </a:r>
            <a:br/>
            <a:r>
              <a:t>PMBOK: 'Scope Freeze 준수 및 영향도 자동 통제 체계 수립'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🔍 [문제 3] 검증/품질 보증 파이프라인 붕괴 (분석)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</a:defRPr>
            </a:pPr>
            <a:r>
              <a:t>1. Mindset: 단기 임시 대책이 전체 테스트 파이프라인을 붕괴시키는 품질 부채 간과.</a:t>
            </a:r>
            <a:br/>
            <a:br/>
            <a:r>
              <a:t>2. Domain: Delivery Performance Domain &amp; Quality Performance Domain 붕괴.</a:t>
            </a:r>
            <a:br/>
            <a:br/>
            <a:r>
              <a:t>3. AI Use Case: AI 자동 테스트 케이스 생성기 &amp; 회귀 성능 예측 모니터링 에이전트.</a:t>
            </a:r>
            <a:br/>
            <a:br/>
            <a:r>
              <a:t>4. Future State: CI 빌드 성공률 90% 이상 확보 및 p95 ≤ 300ms 목표 안정 달성.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📊 [문제 3] 디텍팅 실물 도구 3종 풀패키지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Tool #17: Control Chart (SVG/Line)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1828800"/>
          <a:ext cx="5029200" cy="228600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Tool #8: Variance Analysis</a:t>
            </a:r>
            <a:br/>
            <a:r>
              <a:t>응답속도 p95: 410ms (+110ms 분산)</a:t>
            </a:r>
            <a:br/>
            <a:r>
              <a:t>CI 성공률: 78% (-7%p 분산)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</a:defRPr>
            </a:pPr>
            <a:r>
              <a:t>Tool #10: Fishbone Diagram</a:t>
            </a:r>
            <a:br/>
            <a:r>
              <a:t>People: QA 40TC 전수불능 | Process: 캐시 임시적용 | Tech: SDK 충돌 ➔ CI 78% 추락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251618"/>
            <a:ext cx="5286375" cy="12971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43827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394495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P4. COMPLIANCE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리스크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7475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Risk P-I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개인정보 약관 누락 및 Geo-IP 미대응 ➔ Score 25 (Critical)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Quant Risk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223170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CRB 미통과 시 론칭 불가 및 유럽 지역 차단 과징금 발생.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📊 [문제 4] 디텍팅 실물 도구 3종 풀패키지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Tool #4: Risk P-I Heatmap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182880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리스크 항목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8BDF8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개인정보 약관 누락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25 (Crit)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Geo-IP 미대응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20 (Crit)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Tool #16: Quant Risk Impact</a:t>
            </a:r>
            <a:br/>
            <a:r>
              <a:t>- 유럽 지역 차단</a:t>
            </a:r>
            <a:br/>
            <a:r>
              <a:t>- 과징금 정량: 매출대비 패널티</a:t>
            </a:r>
            <a:br/>
            <a:r>
              <a:t>- 론칭 불가: CRB 미통과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</a:defRPr>
            </a:pPr>
            <a:r>
              <a:t>Tool #14: Feedback Loop</a:t>
            </a:r>
            <a:br/>
            <a:r>
              <a:t>약관 검토 지연 ➔ CRB 승인 실패 ➔ 론칭 연기 ➔ 마케팅 손실 (악순환 반복)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75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0075" y="2251621"/>
            <a:ext cx="5286375" cy="10266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94495"/>
            <a:ext cx="473273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P5. 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팀 간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대립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사기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저하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Pareto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불만 원인: '일방적 스코프 변경'과 '기술부채'가 전체의 60.8% 차지 (Vital Few).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Causal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708820"/>
            <a:ext cx="5000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거버넌스 붕괴 ➔ Scope Creep ➔ 품질 붕괴 ➔ </a:t>
            </a:r>
            <a:r>
              <a:rPr sz="1050" b="1" i="0" u="none">
                <a:solidFill>
                  <a:srgbClr val="A0A0A0"/>
                </a:solidFill>
                <a:latin typeface="Noto Sans KR"/>
              </a:rPr>
              <a:t>최종적으로 조직 문화 붕괴(퇴사 위험)로 수렴.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📊 [문제 5] 디텍팅 실물 도구 3종 풀패키지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Tool #15: Causal Relationship Map</a:t>
            </a:r>
            <a:br/>
            <a:r>
              <a:t>거버넌스붕괴 ➔ Scope Creep ➔ 품질/약관붕괴 ➔ 팀대립/퇴사위험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Tool #19: Pareto Chart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400800" y="1828800"/>
          <a:ext cx="5029200" cy="228600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</a:defRPr>
            </a:pPr>
            <a:r>
              <a:t>Tool #20: Trend Analysis</a:t>
            </a:r>
            <a:br/>
            <a:r>
              <a:t>해외 QA 번역오해 발생률 증가, 블라인드 불만 폭발 ➔ 동력 상실 위험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56494"/>
            <a:ext cx="6948837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sz="4050" b="0" i="0" u="none">
                <a:solidFill>
                  <a:srgbClr val="FFFFFF"/>
                </a:solidFill>
                <a:latin typeface="Montserrat Black"/>
              </a:rPr>
              <a:t>STAGE ① IDENTIFY &amp;</a:t>
            </a:r>
            <a:r>
              <a:t>
</a:t>
            </a:r>
            <a:r>
              <a:rPr sz="4050" b="0" i="0" u="none">
                <a:solidFill>
                  <a:srgbClr val="FFFFFF"/>
                </a:solidFill>
                <a:latin typeface="Montserrat Black"/>
              </a:rPr>
              <a:t> STAGE ②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381375"/>
            <a:ext cx="69488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종합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분석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보고서</a:t>
            </a:r>
            <a:endParaRPr sz="18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025" y="4114800"/>
            <a:ext cx="5294262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시나리오: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NovaHome Connect 통합 프로젝트 + 돌발 이슈 01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(내부 갈등: 베타 D-15 소셜 로그인 강행 및 대립)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044380"/>
            <a:ext cx="959048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948" y="5044380"/>
            <a:ext cx="1095523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347" y="5044380"/>
            <a:ext cx="1082873" cy="29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감사합니다 (Thank You)</a:t>
            </a:r>
            <a:br/>
            <a:r>
              <a:t>LG SW PM Competition 2025 Final</a:t>
            </a:r>
            <a:br/>
            <a:r>
              <a:t>Next Step: Stage ③ Design &amp; Stage ④ Develop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574</Words>
  <Application>Microsoft Office PowerPoint</Application>
  <PresentationFormat>와이드스크린</PresentationFormat>
  <Paragraphs>122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Noto Sans KR</vt:lpstr>
      <vt:lpstr>Noto Sans KR Black</vt:lpstr>
      <vt:lpstr>Arial</vt:lpstr>
      <vt:lpstr>Calibri</vt:lpstr>
      <vt:lpstr>Montserrat</vt:lpstr>
      <vt:lpstr>Montserrat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이준규/책임연구원/webOS ACP RP개발팀</dc:creator>
  <cp:keywords/>
  <dc:description>generated using python-pptx</dc:description>
  <cp:lastModifiedBy>이준규/책임연구원/SW Platform(연)Multimedia TP(zunkyu.lee@lge.com)</cp:lastModifiedBy>
  <cp:revision>2</cp:revision>
  <dcterms:created xsi:type="dcterms:W3CDTF">2013-01-27T09:14:16Z</dcterms:created>
  <dcterms:modified xsi:type="dcterms:W3CDTF">2026-08-22T07:09:50Z</dcterms:modified>
  <cp:category/>
</cp:coreProperties>
</file>
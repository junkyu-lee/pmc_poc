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39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6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36.png"/><Relationship Id="rId9" Type="http://schemas.openxmlformats.org/officeDocument/2006/relationships/image" Target="../media/image41.png"/><Relationship Id="rId10" Type="http://schemas.openxmlformats.org/officeDocument/2006/relationships/image" Target="../media/image35.png"/><Relationship Id="rId11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6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36.png"/><Relationship Id="rId9" Type="http://schemas.openxmlformats.org/officeDocument/2006/relationships/image" Target="../media/image41.png"/><Relationship Id="rId10" Type="http://schemas.openxmlformats.org/officeDocument/2006/relationships/image" Target="../media/image35.png"/><Relationship Id="rId1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18344"/>
            <a:ext cx="2156073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56494"/>
            <a:ext cx="6948837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sz="4050" b="0" i="0" u="none">
                <a:solidFill>
                  <a:srgbClr val="FFFFFF"/>
                </a:solidFill>
                <a:latin typeface="Montserrat Black"/>
              </a:rPr>
              <a:t>STAGE ① IDENTIFY &amp;</a:t>
            </a:r>
            <a:r>
              <a:t>
</a:t>
            </a:r>
            <a:r>
              <a:rPr sz="4050" b="0" i="0" u="none">
                <a:solidFill>
                  <a:srgbClr val="FFFFFF"/>
                </a:solidFill>
                <a:latin typeface="Montserrat Black"/>
              </a:rPr>
              <a:t> STAGE ② 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381375"/>
            <a:ext cx="694883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종합</a:t>
            </a:r>
            <a:r>
              <a:rPr sz="18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분석</a:t>
            </a:r>
            <a:r>
              <a:rPr sz="18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보고서</a:t>
            </a:r>
            <a:endParaRPr sz="18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1025" y="4114800"/>
            <a:ext cx="5294262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Noto Sans KR"/>
              </a:rPr>
              <a:t>시나리오: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NovaHome Connect 통합 프로젝트 + 돌발 이슈 01</a:t>
            </a:r>
            <a:r>
              <a:t>
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 (내부 갈등: 베타 D-15 소셜 로그인 강행 및 대립)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044380"/>
            <a:ext cx="959048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948" y="5044380"/>
            <a:ext cx="1095523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347" y="5044380"/>
            <a:ext cx="1082873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8018" y="485775"/>
            <a:ext cx="186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9890" y="1219348"/>
            <a:ext cx="4719339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610123"/>
            <a:ext cx="519064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0E5FF"/>
                </a:solidFill>
                <a:latin typeface="Montserrat"/>
              </a:rPr>
              <a:t>5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문제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실물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도구</a:t>
            </a:r>
            <a:endParaRPr sz="1350" b="1" i="0" u="none" dirty="0">
              <a:solidFill>
                <a:srgbClr val="00E5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050" y="2133748"/>
            <a:ext cx="477059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프로젝트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위기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상황</a:t>
            </a:r>
            <a:endParaRPr sz="1500" b="1" i="0" u="none" dirty="0">
              <a:solidFill>
                <a:srgbClr val="FF007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050" y="2486173"/>
            <a:ext cx="45434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FFFFF"/>
                </a:solidFill>
                <a:latin typeface="Noto Sans KR"/>
              </a:rPr>
              <a:t>NovaHome Connect</a:t>
            </a:r>
            <a:r>
              <a:rPr sz="1125" b="0" i="0" u="none">
                <a:solidFill>
                  <a:srgbClr val="FFFFFF"/>
                </a:solidFill>
                <a:latin typeface="Noto Sans KR"/>
              </a:rPr>
              <a:t> 론칭 D-15 시점, 소셜 로그인 기습 반영으로 인한 빌드 충돌, 약관 누락, 품질 붕괴 발생. 현상은 '일정 지연'이나 근본 원인은 </a:t>
            </a:r>
            <a:r>
              <a:rPr sz="1125" b="1" i="0" u="none">
                <a:solidFill>
                  <a:srgbClr val="FFFFFF"/>
                </a:solidFill>
                <a:latin typeface="Noto Sans KR"/>
              </a:rPr>
              <a:t>거버넌스 붕괴 및 비공식적 의사결정</a:t>
            </a:r>
            <a:r>
              <a:rPr sz="1125" b="0" i="0" u="none">
                <a:solidFill>
                  <a:srgbClr val="FFFFFF"/>
                </a:solidFill>
                <a:latin typeface="Noto Sans KR"/>
              </a:rPr>
              <a:t>에 있음.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981598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 err="1">
                <a:solidFill>
                  <a:srgbClr val="A0A0A0"/>
                </a:solidFill>
                <a:latin typeface="Noto Sans KR"/>
              </a:rPr>
              <a:t>거버넌스</a:t>
            </a:r>
            <a:r>
              <a:rPr sz="1200" b="1" i="0" u="none" dirty="0">
                <a:solidFill>
                  <a:srgbClr val="A0A0A0"/>
                </a:solidFill>
                <a:latin typeface="Noto Sans KR"/>
              </a:rPr>
              <a:t> </a:t>
            </a:r>
            <a:r>
              <a:rPr sz="1200" b="1" i="0" u="none" dirty="0" err="1">
                <a:solidFill>
                  <a:srgbClr val="A0A0A0"/>
                </a:solidFill>
                <a:latin typeface="Noto Sans KR"/>
              </a:rPr>
              <a:t>붕괴</a:t>
            </a:r>
            <a:r>
              <a:rPr sz="1200" b="1" i="0" u="none" dirty="0">
                <a:solidFill>
                  <a:srgbClr val="A0A0A0"/>
                </a:solidFill>
                <a:latin typeface="Noto Sans KR"/>
              </a:rPr>
              <a:t>:</a:t>
            </a:r>
            <a:r>
              <a:rPr sz="1200" b="0" i="0" u="none" dirty="0">
                <a:solidFill>
                  <a:srgbClr val="A0A0A0"/>
                </a:solidFill>
                <a:latin typeface="Noto Sans KR"/>
              </a:rPr>
              <a:t> RACI, Stakeholder Matrix, 5 Whys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339679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Scope Creep: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RTM, Burndown Chart, Mindset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697759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품질 파이프라인 붕괴: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Control Chart, Variance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055840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Compliance 리스크: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Risk Matrix, Quant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413920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팀 간 대립: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Causal Map, Pareto Chart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5324475" cy="517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24475" cy="517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314700"/>
            <a:ext cx="4810125" cy="11694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0075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05550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7250" y="2243137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72542" y="2243137"/>
            <a:ext cx="3894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7275" y="3514725"/>
            <a:ext cx="463057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007F"/>
                </a:solidFill>
                <a:latin typeface="Montserrat"/>
              </a:rPr>
              <a:t>🚨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돌발</a:t>
            </a:r>
            <a:r>
              <a:rPr sz="12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이슈</a:t>
            </a:r>
            <a:r>
              <a:rPr sz="12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01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상세</a:t>
            </a:r>
            <a:endParaRPr sz="1200" b="1" i="0" u="none" dirty="0">
              <a:solidFill>
                <a:srgbClr val="FF007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7275" y="3857625"/>
            <a:ext cx="44100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FFFFF"/>
                </a:solidFill>
                <a:latin typeface="Noto Sans KR"/>
              </a:rPr>
              <a:t>PO가 마케팅 압박에 밀려 소셜 로그인을 기습 반영. 기술 충돌, 품질 검증 불가, 약관 미비 동시 폭발.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62725" y="224313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84381" y="224313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09484" y="224313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250" y="2652712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72542" y="2652712"/>
            <a:ext cx="3894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250" y="3062287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62725" y="2652712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84381" y="2652712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09484" y="2652712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62725" y="306228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84381" y="306228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09484" y="306228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2725" y="3471862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84381" y="3471862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09484" y="3471862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2725" y="388143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84381" y="388143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09484" y="388143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PROJECT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" y="1438275"/>
            <a:ext cx="5050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E5FF"/>
                </a:solidFill>
                <a:latin typeface="Montserrat"/>
              </a:rPr>
              <a:t>NOVAHOME CONNECT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57250" y="1847850"/>
          <a:ext cx="4810124" cy="1228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292"/>
                <a:gridCol w="3894832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목표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가전 연동, RTM 확인, 개인화 캠페인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2025.08 ~ 2025.11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방식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Agile 스크럼 + Milestone 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62725" y="1438275"/>
            <a:ext cx="5050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007F"/>
                </a:solidFill>
                <a:latin typeface="Montserrat"/>
              </a:rPr>
              <a:t>MILESTONE GATE STATUS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62725" y="1847850"/>
          <a:ext cx="4810124" cy="244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656"/>
                <a:gridCol w="825103"/>
                <a:gridCol w="2163365"/>
              </a:tblGrid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일정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현재 상태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G1 Scope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09/15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 (REQ-017 혼선)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G2 Design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10/01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 (약관 누락)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G3 Beta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10/20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 (D-15 충돌)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G4 LRR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11/05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 (p95 초과)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9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G5 Launch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11/15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5324475" cy="517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24475" cy="517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75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5550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485900"/>
            <a:ext cx="767506" cy="2476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7250" y="2271712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67607" y="2271712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9305" y="2271712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1485900"/>
            <a:ext cx="767506" cy="2476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62725" y="2271712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27565" y="2271712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270331" y="2271712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250" y="2681287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67607" y="2681287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9305" y="2681287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7250" y="3090862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67607" y="3090862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09305" y="3090862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62725" y="2681287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27565" y="2681287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270331" y="2681287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2725" y="3090862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27565" y="3090862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70331" y="3090862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2725" y="3500437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27565" y="3500437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270331" y="3500437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IDENTIFY: KPI GAP &amp; PRIORITY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" y="1438275"/>
            <a:ext cx="505063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E5FF"/>
                </a:solidFill>
                <a:latin typeface="Montserrat"/>
              </a:rPr>
              <a:t>KPI GAP ANALYSIS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57250" y="1876425"/>
          <a:ext cx="4810124" cy="1628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357"/>
                <a:gridCol w="1441698"/>
                <a:gridCol w="1458069"/>
              </a:tblGrid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KPI 지표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Actual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응답속도 (p95)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300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410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5xx 오류율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0.2%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0.35%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CI 성공률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≥ 85%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78%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62725" y="1438275"/>
            <a:ext cx="505063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007F"/>
                </a:solidFill>
                <a:latin typeface="Montserrat"/>
              </a:rPr>
              <a:t>PRIORITIZATION MATRIX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62725" y="1876425"/>
          <a:ext cx="4810124" cy="203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840"/>
                <a:gridCol w="2842766"/>
                <a:gridCol w="1102518"/>
              </a:tblGrid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Rank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핵심 문제명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긴급/영향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거버넌스 붕괴 &amp; 비공식 변경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요구사항 통제 미비 (Scope Creep)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검증 파이프라인 붕괴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Compliance 리스크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7180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156370"/>
            <a:ext cx="5324475" cy="8133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112591"/>
            <a:ext cx="5324475" cy="8133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400"/>
            <a:ext cx="5286375" cy="7180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215637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0075" y="3112591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299245"/>
            <a:ext cx="400198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255466"/>
            <a:ext cx="400198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P1.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거버넌스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비공식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변경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Mindset &amp;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65735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공식 체계(CRB) 무시. Governance &amp; Stakeholder Domain 붕괴.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29924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RACI Matrix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61357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PO가 독단적(A) 결정. 스폰서 누락(I), QA/개발 소외(I).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255466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5 Whys Root Cause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569791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FF007F"/>
                </a:solidFill>
                <a:latin typeface="Noto Sans KR"/>
              </a:rPr>
              <a:t>결론: PMBOK 8판 공식 거버넌스 부재가 근본 원인.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5324475" cy="517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2447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156370"/>
            <a:ext cx="5324475" cy="20687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2708820"/>
            <a:ext cx="5000625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1219200"/>
            <a:ext cx="5286375" cy="51339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0015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156368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34302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29924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2813595"/>
            <a:ext cx="4791075" cy="933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P2. SCOPE CREEP &amp; RTM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134302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RTM Traceability 파괴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165735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REQ-017(소셜로그인)이 의존성(약관 REQ-021)과 단절된 채 기습 강행됨.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229924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Sprint 3 Burndown 굴절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89944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스프린트 중간 요구사항 추가로 상향 굴절 발생.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20687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06985"/>
            <a:ext cx="5324475" cy="8133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847850"/>
            <a:ext cx="5000625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1952625"/>
            <a:ext cx="4791075" cy="933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Control Chart (응답속도)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3847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LCL(목표치) 이탈 (410ms) 및 Rule of 7 징후.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49860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Fishbone: 근본 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64185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QA 40개 TC 전수검증 불가 + SDK 빌드 충돌 복합 작용.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95400"/>
            <a:ext cx="532447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251620"/>
            <a:ext cx="5324475" cy="12971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2756445"/>
            <a:ext cx="5000625" cy="371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251618"/>
            <a:ext cx="5286375" cy="12971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43827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39449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2861220"/>
            <a:ext cx="4791075" cy="161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P4. COMPLIANCE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리스크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67475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Risk P-I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175260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개인정보 약관 누락 및 Geo-IP 미대응 ➔ Score 25 (Critical)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239449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Quant Risk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223170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CRB 미통과 시 론칭 불가 및 유럽 지역 차단 과징금 발생.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251620"/>
            <a:ext cx="5324475" cy="10266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0075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0075" y="2251621"/>
            <a:ext cx="5286375" cy="10266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394495"/>
            <a:ext cx="473273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P5. 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팀 간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대립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사기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저하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Pareto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75260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불만 원인: '일방적 스코프 변경'과 '기술부채'가 전체의 60.8% 차지 (Vital Few).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39449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Causal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708820"/>
            <a:ext cx="5000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거버넌스 붕괴 ➔ Scope Creep ➔ 품질 붕괴 ➔ </a:t>
            </a:r>
            <a:r>
              <a:rPr sz="1050" b="1" i="0" u="none">
                <a:solidFill>
                  <a:srgbClr val="A0A0A0"/>
                </a:solidFill>
                <a:latin typeface="Noto Sans KR"/>
              </a:rPr>
              <a:t>최종적으로 조직 문화 붕괴(퇴사 위험)로 수렴.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4387899"/>
            <a:ext cx="4943475" cy="342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4826049"/>
            <a:ext cx="4943475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4493" y="485775"/>
            <a:ext cx="186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56983" y="1708100"/>
            <a:ext cx="4781691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  <a:latin typeface="Montserrat Black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2346275"/>
            <a:ext cx="4943475" cy="1851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FFFFFF"/>
                </a:solidFill>
                <a:latin typeface="Noto Sans KR"/>
              </a:rPr>
              <a:t>15종의 분석 도구를 통해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'공식 거버넌스 부재'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라는 근본 원인을 증명했습니다.</a:t>
            </a:r>
            <a:r>
              <a:t>
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 단기적 지혈(워크어라운드)을 넘어, 이제 Stage ③ Design으로 진입하여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Value-Driven AI Agentic 시스템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을 구축하고 프로젝트를 정상 궤도로 복귀시키겠습니다.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731912"/>
            <a:ext cx="246608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9525"/>
            <a:ext cx="60864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00150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1984920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2769691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3554462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4537323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19753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19753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27601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27601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54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354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52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52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55106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55106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4957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76400" y="1343025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https://www.infinityparkeventcenter.com/wp-content/uploads/2025/12/corporate-event-ideas.jpg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1588740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www.infinityparkeventcenter.com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34344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76400" y="2127795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https://pic-microcontroller.com/wp-content/uploads/2026/05/Illustrative-View-of-the-Concept-2.png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2373510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pic-microcontroller.com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19114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76400" y="2912566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https://orca.security/wp-content/uploads/2026/06/orca-blog-best-ai-code-security-solutions-1.png?w=1044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6400" y="3158281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orca.security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0300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76400" y="3697337"/>
            <a:ext cx="993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https://media.istockphoto.com/id/1313291958/vector/business-teamwork-and-partnership-help-to-achieve-team-success-think-together-to-solve.jpg?s=612x612&amp;w=0&amp;k=20&amp;c=fX0dn-I9xqw1nsGxsNazXUgETdyjjB-w7VUReIF_te8=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6400" y="4141142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www.istockphoto.com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785866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76400" y="4680198"/>
            <a:ext cx="993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https://static.vecteezy.com/system/resources/previews/059/471/448/non_2x/futuristic-glowing-rocket-with-plexus-lines-and-glitter-particles-a-startup-business-launch-concept-in-the-neon-light-style-3d-abstract-copy-space-in-the-night-view-digital-technology-background-vector.jpg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6400" y="5124003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www.vecteezy.com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5669607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76400" y="5663058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https://png.pngtree.com/thumb_back/fw800/background/20251202/pngtree-vibrant-diagonal-neon-lines-on-dark-background-image_20679882.webp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6400" y="5908774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pngtree.com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IMAGE SOURCES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20687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06985"/>
            <a:ext cx="5324475" cy="8133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847850"/>
            <a:ext cx="5000625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1952625"/>
            <a:ext cx="4791075" cy="933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Control Chart (응답속도)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3847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LCL(목표치) 이탈 (410ms) 및 Rule of 7 징후.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49860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Fishbone: 근본 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64185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QA 40개 TC 전수검증 불가 + SDK 빌드 충돌 복합 작용.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20687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06985"/>
            <a:ext cx="5324475" cy="8133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847850"/>
            <a:ext cx="5000625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1952625"/>
            <a:ext cx="4791075" cy="933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Control Chart (응답속도)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3847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LCL(목표치) 이탈 (410ms) 및 Rule of 7 징후.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49860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Fishbone: 근본 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64185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QA 40개 TC 전수검증 불가 + SDK 빌드 충돌 복합 작용.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574</Words>
  <Application>Microsoft Office PowerPoint</Application>
  <PresentationFormat>와이드스크린</PresentationFormat>
  <Paragraphs>122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Noto Sans KR</vt:lpstr>
      <vt:lpstr>Noto Sans KR Black</vt:lpstr>
      <vt:lpstr>Arial</vt:lpstr>
      <vt:lpstr>Calibri</vt:lpstr>
      <vt:lpstr>Montserrat</vt:lpstr>
      <vt:lpstr>Montserrat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이준규/책임연구원/webOS ACP RP개발팀</dc:creator>
  <cp:keywords/>
  <dc:description>generated using python-pptx</dc:description>
  <cp:lastModifiedBy>이준규/책임연구원/SW Platform(연)Multimedia TP(zunkyu.lee@lge.com)</cp:lastModifiedBy>
  <cp:revision>2</cp:revision>
  <dcterms:created xsi:type="dcterms:W3CDTF">2013-01-27T09:14:16Z</dcterms:created>
  <dcterms:modified xsi:type="dcterms:W3CDTF">2026-08-22T07:09:50Z</dcterms:modified>
  <cp:category/>
</cp:coreProperties>
</file>